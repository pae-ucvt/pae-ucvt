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6"/>
  </p:notesMasterIdLst>
  <p:sldIdLst>
    <p:sldId id="256" r:id="rId2"/>
    <p:sldId id="259" r:id="rId3"/>
    <p:sldId id="257" r:id="rId4"/>
    <p:sldId id="258" r:id="rId5"/>
    <p:sldId id="287" r:id="rId6"/>
    <p:sldId id="260" r:id="rId7"/>
    <p:sldId id="261" r:id="rId8"/>
    <p:sldId id="273" r:id="rId9"/>
    <p:sldId id="274" r:id="rId10"/>
    <p:sldId id="275" r:id="rId11"/>
    <p:sldId id="284" r:id="rId12"/>
    <p:sldId id="293" r:id="rId13"/>
    <p:sldId id="262" r:id="rId14"/>
    <p:sldId id="286" r:id="rId15"/>
    <p:sldId id="264" r:id="rId16"/>
    <p:sldId id="289" r:id="rId17"/>
    <p:sldId id="294" r:id="rId18"/>
    <p:sldId id="295" r:id="rId19"/>
    <p:sldId id="333" r:id="rId20"/>
    <p:sldId id="358" r:id="rId21"/>
    <p:sldId id="362" r:id="rId22"/>
    <p:sldId id="359" r:id="rId23"/>
    <p:sldId id="360" r:id="rId24"/>
    <p:sldId id="361" r:id="rId25"/>
    <p:sldId id="334" r:id="rId26"/>
    <p:sldId id="335" r:id="rId27"/>
    <p:sldId id="336" r:id="rId28"/>
    <p:sldId id="337" r:id="rId29"/>
    <p:sldId id="338" r:id="rId30"/>
    <p:sldId id="365" r:id="rId31"/>
    <p:sldId id="339" r:id="rId32"/>
    <p:sldId id="340" r:id="rId33"/>
    <p:sldId id="364" r:id="rId34"/>
    <p:sldId id="341" r:id="rId35"/>
    <p:sldId id="342" r:id="rId36"/>
    <p:sldId id="343" r:id="rId37"/>
    <p:sldId id="344" r:id="rId38"/>
    <p:sldId id="345" r:id="rId39"/>
    <p:sldId id="346" r:id="rId40"/>
    <p:sldId id="347" r:id="rId41"/>
    <p:sldId id="348" r:id="rId42"/>
    <p:sldId id="349" r:id="rId43"/>
    <p:sldId id="350" r:id="rId44"/>
    <p:sldId id="351" r:id="rId45"/>
    <p:sldId id="352" r:id="rId46"/>
    <p:sldId id="353" r:id="rId47"/>
    <p:sldId id="355" r:id="rId48"/>
    <p:sldId id="356" r:id="rId49"/>
    <p:sldId id="357" r:id="rId50"/>
    <p:sldId id="297" r:id="rId51"/>
    <p:sldId id="366" r:id="rId52"/>
    <p:sldId id="298" r:id="rId53"/>
    <p:sldId id="299" r:id="rId54"/>
    <p:sldId id="368" r:id="rId55"/>
    <p:sldId id="369" r:id="rId56"/>
    <p:sldId id="363" r:id="rId57"/>
    <p:sldId id="370" r:id="rId58"/>
    <p:sldId id="300" r:id="rId59"/>
    <p:sldId id="329" r:id="rId60"/>
    <p:sldId id="314" r:id="rId61"/>
    <p:sldId id="371" r:id="rId62"/>
    <p:sldId id="372" r:id="rId63"/>
    <p:sldId id="373" r:id="rId64"/>
    <p:sldId id="374" r:id="rId65"/>
    <p:sldId id="316" r:id="rId66"/>
    <p:sldId id="375" r:id="rId67"/>
    <p:sldId id="317" r:id="rId68"/>
    <p:sldId id="331" r:id="rId69"/>
    <p:sldId id="330" r:id="rId70"/>
    <p:sldId id="332" r:id="rId71"/>
    <p:sldId id="321" r:id="rId72"/>
    <p:sldId id="376" r:id="rId73"/>
    <p:sldId id="322" r:id="rId74"/>
    <p:sldId id="377" r:id="rId75"/>
  </p:sldIdLst>
  <p:sldSz cx="12192000" cy="6858000"/>
  <p:notesSz cx="9926638" cy="679767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A67A"/>
    <a:srgbClr val="FFCC99"/>
    <a:srgbClr val="EE9426"/>
    <a:srgbClr val="B15F2D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Средний стиль 1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844" autoAdjust="0"/>
  </p:normalViewPr>
  <p:slideViewPr>
    <p:cSldViewPr snapToGrid="0">
      <p:cViewPr>
        <p:scale>
          <a:sx n="80" d="100"/>
          <a:sy n="80" d="100"/>
        </p:scale>
        <p:origin x="354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583816-A01D-4AAD-A38B-9C4AFAA430AC}" type="datetimeFigureOut">
              <a:rPr lang="ru-RU" smtClean="0"/>
              <a:pPr/>
              <a:t>05.05.2024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0F3962-B942-457A-A839-E9174612918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0392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0F3962-B942-457A-A839-E91746129188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541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0F3962-B942-457A-A839-E91746129188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6234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0F3962-B942-457A-A839-E91746129188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70796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FBBF81A0-ADA6-4623-BE4F-40CFB8BBCB3D}" type="slidenum">
              <a:rPr lang="ru-RU" smtClean="0">
                <a:latin typeface="Calibri" panose="020F0502020204030204" pitchFamily="34" charset="0"/>
              </a:rPr>
              <a:t>17</a:t>
            </a:fld>
            <a:endParaRPr lang="ru-RU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5488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78097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0F3962-B942-457A-A839-E91746129188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66717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0F4008-71AE-4325-8786-AD442DBE575B}" type="slidenum">
              <a:rPr lang="ru-RU" altLang="ru-RU"/>
              <a:pPr/>
              <a:t>25</a:t>
            </a:fld>
            <a:endParaRPr lang="ru-RU" altLang="ru-RU"/>
          </a:p>
        </p:txBody>
      </p:sp>
      <p:sp>
        <p:nvSpPr>
          <p:cNvPr id="21913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10648219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2993EB-E0DD-472E-AE63-8F7F255ECA55}" type="slidenum">
              <a:rPr lang="ru-RU" altLang="ru-RU"/>
              <a:pPr/>
              <a:t>26</a:t>
            </a:fld>
            <a:endParaRPr lang="ru-RU" altLang="ru-RU"/>
          </a:p>
        </p:txBody>
      </p:sp>
      <p:sp>
        <p:nvSpPr>
          <p:cNvPr id="22118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703462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24AA5C-C300-4CDD-B126-93178CC41E65}" type="slidenum">
              <a:rPr lang="ru-RU" altLang="ru-RU"/>
              <a:pPr/>
              <a:t>27</a:t>
            </a:fld>
            <a:endParaRPr lang="ru-RU" altLang="ru-RU"/>
          </a:p>
        </p:txBody>
      </p:sp>
      <p:sp>
        <p:nvSpPr>
          <p:cNvPr id="21709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220567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C465701-DCE0-4D9F-B25D-9563C3DC203B}" type="slidenum">
              <a:rPr lang="ru-RU" altLang="ru-RU"/>
              <a:pPr/>
              <a:t>28</a:t>
            </a:fld>
            <a:endParaRPr lang="ru-RU" altLang="ru-RU"/>
          </a:p>
        </p:txBody>
      </p:sp>
      <p:sp>
        <p:nvSpPr>
          <p:cNvPr id="26419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4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513046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851492-1966-4C77-9730-F4786EBC8E27}" type="slidenum">
              <a:rPr lang="ru-RU" altLang="ru-RU"/>
              <a:pPr/>
              <a:t>29</a:t>
            </a:fld>
            <a:endParaRPr lang="ru-RU" altLang="ru-RU"/>
          </a:p>
        </p:txBody>
      </p:sp>
      <p:sp>
        <p:nvSpPr>
          <p:cNvPr id="22323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1781001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D4F4C9-EB1B-4B7A-89AB-79ACE2A22C00}" type="slidenum">
              <a:rPr lang="ru-RU" altLang="ru-RU"/>
              <a:pPr/>
              <a:t>31</a:t>
            </a:fld>
            <a:endParaRPr lang="ru-RU" altLang="ru-RU"/>
          </a:p>
        </p:txBody>
      </p:sp>
      <p:sp>
        <p:nvSpPr>
          <p:cNvPr id="23142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940429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C61DD8-FC5D-437C-9BB0-B6E158C9F26E}" type="slidenum">
              <a:rPr lang="ru-RU" altLang="ru-RU"/>
              <a:pPr/>
              <a:t>32</a:t>
            </a:fld>
            <a:endParaRPr lang="ru-RU" altLang="ru-RU"/>
          </a:p>
        </p:txBody>
      </p:sp>
      <p:sp>
        <p:nvSpPr>
          <p:cNvPr id="23552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214015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DB3211-29D4-4A2A-A1A5-248CF8B952C4}" type="slidenum">
              <a:rPr lang="ru-RU" altLang="ru-RU"/>
              <a:pPr/>
              <a:t>34</a:t>
            </a:fld>
            <a:endParaRPr lang="ru-RU" altLang="ru-RU"/>
          </a:p>
        </p:txBody>
      </p:sp>
      <p:sp>
        <p:nvSpPr>
          <p:cNvPr id="22528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97223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16E02F-2DA2-409E-A3A5-3BA26FC62C63}" type="slidenum">
              <a:rPr lang="ru-RU" altLang="ru-RU"/>
              <a:pPr/>
              <a:t>35</a:t>
            </a:fld>
            <a:endParaRPr lang="ru-RU" altLang="ru-RU"/>
          </a:p>
        </p:txBody>
      </p:sp>
      <p:sp>
        <p:nvSpPr>
          <p:cNvPr id="22733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044738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681ED2-CE0B-47A2-8420-DEB4D362833C}" type="slidenum">
              <a:rPr lang="ru-RU" altLang="ru-RU"/>
              <a:pPr/>
              <a:t>36</a:t>
            </a:fld>
            <a:endParaRPr lang="ru-RU" altLang="ru-RU"/>
          </a:p>
        </p:txBody>
      </p:sp>
      <p:sp>
        <p:nvSpPr>
          <p:cNvPr id="22937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477232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F6B311-C5E4-43DF-9ABE-675C1B166D7B}" type="slidenum">
              <a:rPr lang="ru-RU" altLang="ru-RU"/>
              <a:pPr/>
              <a:t>37</a:t>
            </a:fld>
            <a:endParaRPr lang="ru-RU" altLang="ru-RU"/>
          </a:p>
        </p:txBody>
      </p:sp>
      <p:sp>
        <p:nvSpPr>
          <p:cNvPr id="23347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887770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A3E348-3B24-4107-B68D-DE012AB6F99C}" type="slidenum">
              <a:rPr lang="ru-RU" altLang="ru-RU"/>
              <a:pPr/>
              <a:t>38</a:t>
            </a:fld>
            <a:endParaRPr lang="ru-RU" altLang="ru-RU"/>
          </a:p>
        </p:txBody>
      </p:sp>
      <p:sp>
        <p:nvSpPr>
          <p:cNvPr id="23757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7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3772387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3FE226-27DC-4D4A-BDA3-2A983BA39E54}" type="slidenum">
              <a:rPr lang="ru-RU" altLang="ru-RU"/>
              <a:pPr/>
              <a:t>39</a:t>
            </a:fld>
            <a:endParaRPr lang="ru-RU" altLang="ru-RU"/>
          </a:p>
        </p:txBody>
      </p:sp>
      <p:sp>
        <p:nvSpPr>
          <p:cNvPr id="23961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6373641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71CD018-94CA-4631-AC17-0B8255719CB6}" type="slidenum">
              <a:rPr lang="ru-RU" altLang="ru-RU"/>
              <a:pPr/>
              <a:t>40</a:t>
            </a:fld>
            <a:endParaRPr lang="ru-RU" altLang="ru-RU"/>
          </a:p>
        </p:txBody>
      </p:sp>
      <p:sp>
        <p:nvSpPr>
          <p:cNvPr id="26214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2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6346124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D30A3E-E3AB-47FF-8667-38CAEAB47944}" type="slidenum">
              <a:rPr lang="ru-RU" altLang="ru-RU"/>
              <a:pPr/>
              <a:t>41</a:t>
            </a:fld>
            <a:endParaRPr lang="ru-RU" altLang="ru-RU"/>
          </a:p>
        </p:txBody>
      </p:sp>
      <p:sp>
        <p:nvSpPr>
          <p:cNvPr id="24166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304362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516A29-2129-40F1-B972-D0C2A9D7E34A}" type="slidenum">
              <a:rPr lang="ru-RU" altLang="ru-RU"/>
              <a:pPr/>
              <a:t>42</a:t>
            </a:fld>
            <a:endParaRPr lang="ru-RU" altLang="ru-RU"/>
          </a:p>
        </p:txBody>
      </p:sp>
      <p:sp>
        <p:nvSpPr>
          <p:cNvPr id="24371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431556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4EB6E3-E610-4D11-B3D8-BBE380356B27}" type="slidenum">
              <a:rPr lang="ru-RU" altLang="ru-RU"/>
              <a:pPr/>
              <a:t>43</a:t>
            </a:fld>
            <a:endParaRPr lang="ru-RU" altLang="ru-RU"/>
          </a:p>
        </p:txBody>
      </p:sp>
      <p:sp>
        <p:nvSpPr>
          <p:cNvPr id="24576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553088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3AB38D-52B5-45B6-BB29-D8FA4AF91391}" type="slidenum">
              <a:rPr lang="ru-RU" altLang="ru-RU"/>
              <a:pPr/>
              <a:t>44</a:t>
            </a:fld>
            <a:endParaRPr lang="ru-RU" altLang="ru-RU"/>
          </a:p>
        </p:txBody>
      </p:sp>
      <p:sp>
        <p:nvSpPr>
          <p:cNvPr id="24781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368175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4C8620-2087-4056-BEB4-052987D7642B}" type="slidenum">
              <a:rPr lang="ru-RU" altLang="ru-RU"/>
              <a:pPr/>
              <a:t>45</a:t>
            </a:fld>
            <a:endParaRPr lang="ru-RU" altLang="ru-RU"/>
          </a:p>
        </p:txBody>
      </p:sp>
      <p:sp>
        <p:nvSpPr>
          <p:cNvPr id="25190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1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6255813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19453B6-49D5-40FA-A4FC-20800A739B44}" type="slidenum">
              <a:rPr lang="ru-RU" altLang="ru-RU"/>
              <a:pPr/>
              <a:t>46</a:t>
            </a:fld>
            <a:endParaRPr lang="ru-RU" altLang="ru-RU"/>
          </a:p>
        </p:txBody>
      </p:sp>
      <p:sp>
        <p:nvSpPr>
          <p:cNvPr id="24985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726836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377C4B-3258-4AEC-A590-69D60D8CAC9C}" type="slidenum">
              <a:rPr lang="ru-RU" altLang="ru-RU"/>
              <a:pPr/>
              <a:t>47</a:t>
            </a:fld>
            <a:endParaRPr lang="ru-RU" altLang="ru-RU"/>
          </a:p>
        </p:txBody>
      </p:sp>
      <p:sp>
        <p:nvSpPr>
          <p:cNvPr id="25395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7844286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2BAF41-3ECF-4C8A-8829-CD87057235C2}" type="slidenum">
              <a:rPr lang="ru-RU" altLang="ru-RU"/>
              <a:pPr/>
              <a:t>48</a:t>
            </a:fld>
            <a:endParaRPr lang="ru-RU" altLang="ru-RU"/>
          </a:p>
        </p:txBody>
      </p:sp>
      <p:sp>
        <p:nvSpPr>
          <p:cNvPr id="25805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8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342112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617418-051A-48E4-95CA-04D347B5C2A0}" type="slidenum">
              <a:rPr lang="ru-RU" altLang="ru-RU"/>
              <a:pPr/>
              <a:t>49</a:t>
            </a:fld>
            <a:endParaRPr lang="ru-RU" altLang="ru-RU"/>
          </a:p>
        </p:txBody>
      </p:sp>
      <p:sp>
        <p:nvSpPr>
          <p:cNvPr id="25600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80044842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ru-RU" noProof="0" smtClean="0"/>
              <a:pPr/>
              <a:t>50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44091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ru-RU" noProof="0" smtClean="0"/>
              <a:pPr/>
              <a:t>51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1852481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ru-RU" noProof="0" smtClean="0"/>
              <a:pPr/>
              <a:t>52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6084961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ru-RU" noProof="0" smtClean="0"/>
              <a:pPr/>
              <a:t>53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5190329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ru-RU" noProof="0" smtClean="0"/>
              <a:pPr/>
              <a:t>54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6108738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ru-RU" noProof="0" smtClean="0"/>
              <a:pPr/>
              <a:t>55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4407259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ru-RU" noProof="0" smtClean="0"/>
              <a:pPr/>
              <a:t>57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89283893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ru-RU" noProof="0" smtClean="0"/>
              <a:pPr/>
              <a:t>58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22006030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ru-RU" noProof="0" smtClean="0"/>
              <a:pPr/>
              <a:t>59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47864032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ru-RU" noProof="0" smtClean="0"/>
              <a:pPr/>
              <a:t>60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76500472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ru-RU" noProof="0" smtClean="0"/>
              <a:pPr/>
              <a:t>61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44921032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ru-RU" noProof="0" smtClean="0"/>
              <a:pPr/>
              <a:t>62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53746439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ru-RU" noProof="0" smtClean="0"/>
              <a:pPr/>
              <a:t>63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24884916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ru-RU" noProof="0" smtClean="0"/>
              <a:pPr/>
              <a:t>64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68687901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ru-RU" noProof="0" smtClean="0"/>
              <a:pPr/>
              <a:t>65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07371187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ru-RU" noProof="0" smtClean="0"/>
              <a:pPr/>
              <a:t>66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97594167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ru-RU" noProof="0" smtClean="0"/>
              <a:pPr/>
              <a:t>67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01002285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ru-RU" noProof="0" smtClean="0"/>
              <a:pPr/>
              <a:t>68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19804220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ru-RU" noProof="0" smtClean="0"/>
              <a:pPr/>
              <a:t>69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92981758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ru-RU" noProof="0" smtClean="0"/>
              <a:pPr/>
              <a:t>70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98334085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ru-RU" noProof="0" smtClean="0"/>
              <a:pPr/>
              <a:t>71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05199362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Чтобы начать настройку BIOS, для большинства компьютеров можно нажать клавиши F2, F10, ESC или DEL.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ru-RU" noProof="0" smtClean="0"/>
              <a:pPr/>
              <a:t>72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21870305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ru-RU" noProof="0" smtClean="0"/>
              <a:pPr/>
              <a:t>73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3389345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ru-RU" noProof="0" smtClean="0"/>
              <a:pPr/>
              <a:t>74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43321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227CA6C3-5EE5-13BA-7158-62A14125B7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="" xmlns:a16="http://schemas.microsoft.com/office/drawing/2014/main" id="{6477DAD3-CF8A-1A6A-C8B2-A3F8473D5A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C2445056-B895-AFAB-E8CC-D0F4855BD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C9A0-0362-4CEF-ACC3-45998E4340C0}" type="datetimeFigureOut">
              <a:rPr lang="ru-RU" smtClean="0"/>
              <a:pPr/>
              <a:t>05.05.2024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5CF887EA-5D63-72C6-05AD-003680FF0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BEBCB6B3-C9C7-B983-E2D7-A84B97B5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1D228-B8FA-47A3-A02B-C5F860AF7D6B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49220AA6-B652-D827-C9A6-D398FA0640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4" y="0"/>
            <a:ext cx="121783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42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A3F18A32-550C-AC37-6819-36534FD29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4A67A"/>
                </a:solidFill>
                <a:effectLst>
                  <a:glow>
                    <a:srgbClr val="24A67A">
                      <a:alpha val="60000"/>
                    </a:srgbClr>
                  </a:glow>
                </a:effectLst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98B9E342-ED2A-7238-3C06-E0F66494D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50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0100F567-1197-E871-5177-AA803D4D7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C9A0-0362-4CEF-ACC3-45998E4340C0}" type="datetimeFigureOut">
              <a:rPr lang="ru-RU" smtClean="0"/>
              <a:pPr/>
              <a:t>05.05.2024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3FA394C3-93CC-26D9-43F1-C7850F997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F93BDD49-136C-42C0-32D0-B81742BE8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1D228-B8FA-47A3-A02B-C5F860AF7D6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1363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74140646-6C7C-8789-A25E-4E805B2C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7D46B53F-311D-B170-FC61-4D6A8DCA6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54F36196-342A-C2D1-33BA-2D0697B7A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C9A0-0362-4CEF-ACC3-45998E4340C0}" type="datetimeFigureOut">
              <a:rPr lang="ru-RU" smtClean="0"/>
              <a:pPr/>
              <a:t>05.05.2024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AD3E811F-BE9C-A1AC-DE5D-57123597B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208DE530-649E-5372-E35F-2B42627D3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1D228-B8FA-47A3-A02B-C5F860AF7D6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9388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44977F81-B0B6-F633-EBAA-9F52F80EE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4EBFC2AE-1CAC-737E-FE54-6FE2F3ECAD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="" xmlns:a16="http://schemas.microsoft.com/office/drawing/2014/main" id="{F0B28108-AD5D-BBFE-2BC1-B31833909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BF286869-1716-3043-5109-DC0AC5655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C9A0-0362-4CEF-ACC3-45998E4340C0}" type="datetimeFigureOut">
              <a:rPr lang="ru-RU" smtClean="0"/>
              <a:pPr/>
              <a:t>05.05.2024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79C00958-4E90-5AC8-2288-0BD47BDCB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C70D37F2-F707-6191-1534-7B0818259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1D228-B8FA-47A3-A02B-C5F860AF7D6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1227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D8D3495-D8FC-4AB3-AA46-8C7EE8256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CD6985C4-2873-8CAF-438A-E09C89D15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="" xmlns:a16="http://schemas.microsoft.com/office/drawing/2014/main" id="{3BB3A7D2-E86B-889E-2892-FB44B2D562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="" xmlns:a16="http://schemas.microsoft.com/office/drawing/2014/main" id="{FEBAC144-270F-67C8-EA0A-3817136BFE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="" xmlns:a16="http://schemas.microsoft.com/office/drawing/2014/main" id="{3AB7E264-AFA6-1CFD-E5A7-4A9AAC255C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="" xmlns:a16="http://schemas.microsoft.com/office/drawing/2014/main" id="{6D510263-3767-BE1A-0954-0C29B0D76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C9A0-0362-4CEF-ACC3-45998E4340C0}" type="datetimeFigureOut">
              <a:rPr lang="ru-RU" smtClean="0"/>
              <a:pPr/>
              <a:t>05.05.2024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="" xmlns:a16="http://schemas.microsoft.com/office/drawing/2014/main" id="{B41CB70A-C6B2-1CF9-4377-59768833F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="" xmlns:a16="http://schemas.microsoft.com/office/drawing/2014/main" id="{D55D1577-0A86-18D2-4545-81108E1D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1D228-B8FA-47A3-A02B-C5F860AF7D6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1094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4833EC1-C505-3D7C-DAD7-C889BDE90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="" xmlns:a16="http://schemas.microsoft.com/office/drawing/2014/main" id="{1CDE1489-D93F-FF3F-233F-C9852042E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C9A0-0362-4CEF-ACC3-45998E4340C0}" type="datetimeFigureOut">
              <a:rPr lang="ru-RU" smtClean="0"/>
              <a:pPr/>
              <a:t>05.05.2024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="" xmlns:a16="http://schemas.microsoft.com/office/drawing/2014/main" id="{CEDEBBC5-AA55-DABC-B296-63F1EF9D1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="" xmlns:a16="http://schemas.microsoft.com/office/drawing/2014/main" id="{24A38627-07AF-D56E-0D21-B8BA54059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1D228-B8FA-47A3-A02B-C5F860AF7D6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0619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="" xmlns:a16="http://schemas.microsoft.com/office/drawing/2014/main" id="{D3F5A6B7-3958-9C4F-AD6D-4B6A67F2C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C9A0-0362-4CEF-ACC3-45998E4340C0}" type="datetimeFigureOut">
              <a:rPr lang="ru-RU" smtClean="0"/>
              <a:pPr/>
              <a:t>05.05.2024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="" xmlns:a16="http://schemas.microsoft.com/office/drawing/2014/main" id="{27E8E97B-8540-AE7F-FE71-71C7E9C01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591C0966-FEA3-228A-B4A6-1073CC1A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1D228-B8FA-47A3-A02B-C5F860AF7D6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673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93BEFE2-8843-BAC1-2BDD-A509A20EA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EC8AF5BC-6B71-377F-439E-4924AFB1F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C35877A4-5ADA-C81F-D25D-F70BE0257B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1B528232-2C54-F0A8-F057-A5AD32D3A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C9A0-0362-4CEF-ACC3-45998E4340C0}" type="datetimeFigureOut">
              <a:rPr lang="ru-RU" smtClean="0"/>
              <a:pPr/>
              <a:t>05.05.2024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F43FECB0-2144-4023-543F-E95B4441B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2EB006A9-A47E-826E-13E0-6045CC2E5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1D228-B8FA-47A3-A02B-C5F860AF7D6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7327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1D0D6EB-65F6-8DEE-AED1-F7B7B0E11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="" xmlns:a16="http://schemas.microsoft.com/office/drawing/2014/main" id="{2F59C2FD-57D3-20F5-31D2-DD56674FA7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580BD9FF-87F0-5644-F475-0793D541B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9102F909-A21A-823F-57A7-8B8C394C6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C9A0-0362-4CEF-ACC3-45998E4340C0}" type="datetimeFigureOut">
              <a:rPr lang="ru-RU" smtClean="0"/>
              <a:pPr/>
              <a:t>05.05.2024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184DAAF1-9A72-66E4-80D8-A03D1A9E2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2D0B6291-5B81-EE5D-48E1-4EB2E4180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1D228-B8FA-47A3-A02B-C5F860AF7D6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0889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4A6CFAF9-2369-2E9E-6432-E5E83CD8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="" xmlns:a16="http://schemas.microsoft.com/office/drawing/2014/main" id="{BDA3367A-7816-7E1B-AE18-CFD01D50CC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9A77E8A6-9250-A14A-47CC-8C09B70E4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C9A0-0362-4CEF-ACC3-45998E4340C0}" type="datetimeFigureOut">
              <a:rPr lang="ru-RU" smtClean="0"/>
              <a:pPr/>
              <a:t>05.05.2024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B56EE338-6AB2-9B4D-46B6-DF8C7DE3D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49D6F110-E98F-8BD0-65DD-17B8EBE85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1D228-B8FA-47A3-A02B-C5F860AF7D6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8084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="" xmlns:a16="http://schemas.microsoft.com/office/drawing/2014/main" id="{826305E5-8E6A-2A68-67BA-36142D1535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="" xmlns:a16="http://schemas.microsoft.com/office/drawing/2014/main" id="{F5F92F55-F411-E3D8-21ED-13E0707704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F3B20BE0-AA09-AEBD-CD63-AF6C75F80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C9A0-0362-4CEF-ACC3-45998E4340C0}" type="datetimeFigureOut">
              <a:rPr lang="ru-RU" smtClean="0"/>
              <a:pPr/>
              <a:t>05.05.2024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B2A9E7DE-BC52-869E-A961-206606A8E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5986C2B4-7556-CE36-578A-E9868D1CC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1D228-B8FA-47A3-A02B-C5F860AF7D6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4827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E386013C-C9A7-4352-9D6D-8207200847EB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4" y="0"/>
            <a:ext cx="12178332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8949D1EA-8CEC-7669-1FD1-E165737FB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8334" y="781396"/>
            <a:ext cx="5975465" cy="909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EBF75666-FC34-3F5E-D801-4DFE6D105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27564" y="1825625"/>
            <a:ext cx="90262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C7B2237C-492B-843F-3C8C-9188F6CB04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4C9A0-0362-4CEF-ACC3-45998E4340C0}" type="datetimeFigureOut">
              <a:rPr lang="ru-RU" smtClean="0"/>
              <a:pPr/>
              <a:t>05.05.2024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2A241957-A33B-6B3F-E951-49691FEB1F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FF0DF69F-3C39-46CB-2795-E5A30B6999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41D228-B8FA-47A3-A02B-C5F860AF7D6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194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24A67A"/>
          </a:solidFill>
          <a:latin typeface="Franklin Gothic Medium Cond" panose="020B06060304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2">
              <a:lumMod val="50000"/>
            </a:schemeClr>
          </a:solidFill>
          <a:latin typeface="Franklin Gothic Medium Cond" panose="020B06060304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2">
              <a:lumMod val="50000"/>
            </a:schemeClr>
          </a:solidFill>
          <a:latin typeface="Franklin Gothic Medium Cond" panose="020B06060304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2">
              <a:lumMod val="50000"/>
            </a:schemeClr>
          </a:solidFill>
          <a:latin typeface="Franklin Gothic Medium Cond" panose="020B06060304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2">
              <a:lumMod val="50000"/>
            </a:schemeClr>
          </a:solidFill>
          <a:latin typeface="Franklin Gothic Medium Cond" panose="020B06060304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2">
              <a:lumMod val="50000"/>
            </a:schemeClr>
          </a:solidFill>
          <a:latin typeface="Franklin Gothic Medium Cond" panose="020B06060304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jpeg"/><Relationship Id="rId9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13" Type="http://schemas.openxmlformats.org/officeDocument/2006/relationships/image" Target="../media/image23.jpe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jpeg"/><Relationship Id="rId5" Type="http://schemas.openxmlformats.org/officeDocument/2006/relationships/image" Target="../media/image15.png"/><Relationship Id="rId10" Type="http://schemas.openxmlformats.org/officeDocument/2006/relationships/image" Target="../media/image20.jpe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13" Type="http://schemas.openxmlformats.org/officeDocument/2006/relationships/image" Target="../media/image35.jpeg"/><Relationship Id="rId3" Type="http://schemas.openxmlformats.org/officeDocument/2006/relationships/image" Target="../media/image25.jpeg"/><Relationship Id="rId7" Type="http://schemas.openxmlformats.org/officeDocument/2006/relationships/image" Target="../media/image29.jpeg"/><Relationship Id="rId12" Type="http://schemas.openxmlformats.org/officeDocument/2006/relationships/image" Target="../media/image34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jpeg"/><Relationship Id="rId5" Type="http://schemas.openxmlformats.org/officeDocument/2006/relationships/image" Target="../media/image27.jpeg"/><Relationship Id="rId10" Type="http://schemas.openxmlformats.org/officeDocument/2006/relationships/image" Target="../media/image32.jpeg"/><Relationship Id="rId4" Type="http://schemas.openxmlformats.org/officeDocument/2006/relationships/image" Target="../media/image26.png"/><Relationship Id="rId9" Type="http://schemas.openxmlformats.org/officeDocument/2006/relationships/image" Target="../media/image3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jpeg"/><Relationship Id="rId5" Type="http://schemas.openxmlformats.org/officeDocument/2006/relationships/image" Target="../media/image39.jpeg"/><Relationship Id="rId4" Type="http://schemas.openxmlformats.org/officeDocument/2006/relationships/image" Target="../media/image3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jpeg"/><Relationship Id="rId4" Type="http://schemas.openxmlformats.org/officeDocument/2006/relationships/image" Target="../media/image4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jpeg"/><Relationship Id="rId5" Type="http://schemas.openxmlformats.org/officeDocument/2006/relationships/image" Target="../media/image48.jpeg"/><Relationship Id="rId4" Type="http://schemas.openxmlformats.org/officeDocument/2006/relationships/image" Target="../media/image4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jpeg"/><Relationship Id="rId4" Type="http://schemas.openxmlformats.org/officeDocument/2006/relationships/image" Target="../media/image5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jpeg"/><Relationship Id="rId4" Type="http://schemas.openxmlformats.org/officeDocument/2006/relationships/image" Target="../media/image5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vk.com/teach_spb?w=wall-176744060_192" TargetMode="External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7" Type="http://schemas.openxmlformats.org/officeDocument/2006/relationships/slide" Target="slide6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7.xml"/><Relationship Id="rId5" Type="http://schemas.openxmlformats.org/officeDocument/2006/relationships/slide" Target="slide58.xml"/><Relationship Id="rId4" Type="http://schemas.openxmlformats.org/officeDocument/2006/relationships/slide" Target="slide5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3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6.wmf"/><Relationship Id="rId4" Type="http://schemas.openxmlformats.org/officeDocument/2006/relationships/image" Target="../media/image65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ail.ru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ozilla.org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://server/" TargetMode="External"/><Relationship Id="rId4" Type="http://schemas.openxmlformats.org/officeDocument/2006/relationships/hyperlink" Target="http://www.opera.com/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5.wmf"/><Relationship Id="rId4" Type="http://schemas.openxmlformats.org/officeDocument/2006/relationships/image" Target="../media/image64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itlabs.com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" TargetMode="External"/><Relationship Id="rId7" Type="http://schemas.openxmlformats.org/officeDocument/2006/relationships/hyperlink" Target="http://www.mail.ru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www.yahoo.com/" TargetMode="External"/><Relationship Id="rId5" Type="http://schemas.openxmlformats.org/officeDocument/2006/relationships/hyperlink" Target="http://www.rambler.ru/" TargetMode="External"/><Relationship Id="rId4" Type="http://schemas.openxmlformats.org/officeDocument/2006/relationships/hyperlink" Target="http://www.yandex.ru/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hyperlink" Target="http://www.skype.com/" TargetMode="External"/><Relationship Id="rId7" Type="http://schemas.openxmlformats.org/officeDocument/2006/relationships/image" Target="../media/image66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4" Type="http://schemas.openxmlformats.org/officeDocument/2006/relationships/hyperlink" Target="http://www.skype.ru/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9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2820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81D66C5C-2C52-01A2-5DFB-95D7A9496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Академии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1"/>
          <a:stretch/>
        </p:blipFill>
        <p:spPr>
          <a:xfrm>
            <a:off x="2858703" y="1690688"/>
            <a:ext cx="6504696" cy="484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937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6D3F61B7-B336-8258-2535-9A5EA3D01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Лицензия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A8F394E5-E572-C78C-3FA5-F6915C3F2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6539" y="2367299"/>
            <a:ext cx="5975465" cy="287145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Академия имеет бессрочную лицензию на осуществление образовательной деятельности:</a:t>
            </a:r>
          </a:p>
          <a:p>
            <a:r>
              <a:rPr lang="ru-RU" sz="2400" dirty="0"/>
              <a:t>дополнительное образование детей и взрослых</a:t>
            </a:r>
          </a:p>
          <a:p>
            <a:r>
              <a:rPr lang="ru-RU" sz="2400" dirty="0"/>
              <a:t>дополнительное профессиональное образование</a:t>
            </a:r>
          </a:p>
          <a:p>
            <a:r>
              <a:rPr lang="ru-RU" sz="2400" dirty="0"/>
              <a:t>профессиональное обучение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D4ACE37-E3FA-4264-DCCB-8FC89BA6923A}"/>
              </a:ext>
            </a:extLst>
          </p:cNvPr>
          <p:cNvSpPr txBox="1"/>
          <p:nvPr/>
        </p:nvSpPr>
        <p:spPr>
          <a:xfrm>
            <a:off x="5493794" y="5238750"/>
            <a:ext cx="62836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ru-RU" sz="1600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chemeClr val="accent2">
                    <a:lumMod val="75000"/>
                  </a:schemeClr>
                </a:solidFill>
              </a:rPr>
              <a:t>Возврат налогового вычета в размере 13% от затрат на обучение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chemeClr val="accent2">
                    <a:lumMod val="75000"/>
                  </a:schemeClr>
                </a:solidFill>
              </a:rPr>
              <a:t>Оплата материнским капиталом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E3DE6695-961E-8AFD-E2E2-507BF7A2D54D}"/>
              </a:ext>
            </a:extLst>
          </p:cNvPr>
          <p:cNvSpPr txBox="1"/>
          <p:nvPr/>
        </p:nvSpPr>
        <p:spPr>
          <a:xfrm>
            <a:off x="4903836" y="1536302"/>
            <a:ext cx="64499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400" i="1" dirty="0">
                <a:solidFill>
                  <a:schemeClr val="accent3">
                    <a:lumMod val="50000"/>
                  </a:schemeClr>
                </a:solidFill>
              </a:rPr>
              <a:t>от 11.09.2022 рег.№ Л035-01271-78/00346889</a:t>
            </a: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5720982"/>
              </p:ext>
            </p:extLst>
          </p:nvPr>
        </p:nvGraphicFramePr>
        <p:xfrm>
          <a:off x="1773115" y="1376054"/>
          <a:ext cx="3261539" cy="4615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" name="PDF" r:id="rId3" imgW="0" imgH="0" progId="FoxitReader.Document">
                  <p:embed/>
                </p:oleObj>
              </mc:Choice>
              <mc:Fallback>
                <p:oleObj name="PDF" r:id="rId3" imgW="0" imgH="0" progId="FoxitReader.Document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3115" y="1376054"/>
                        <a:ext cx="3261539" cy="461510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bg1">
                            <a:lumMod val="85000"/>
                          </a:schemeClr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3974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Рисунок 26">
            <a:extLst>
              <a:ext uri="{FF2B5EF4-FFF2-40B4-BE49-F238E27FC236}">
                <a16:creationId xmlns="" xmlns:a16="http://schemas.microsoft.com/office/drawing/2014/main" id="{36E285DD-A284-59B7-CA9D-2CB570411ED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4885" y="3750479"/>
            <a:ext cx="2160000" cy="1440000"/>
          </a:xfrm>
          <a:prstGeom prst="rect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43142F7C-898C-CDAD-E9B5-853D52F7F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Учебные площадки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="" xmlns:a16="http://schemas.microsoft.com/office/drawing/2014/main" id="{E4401464-C07D-6508-CAE5-D60526C5A965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92621" y="2310479"/>
            <a:ext cx="2160000" cy="1440000"/>
          </a:xfrm>
          <a:prstGeom prst="rect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</p:pic>
      <p:pic>
        <p:nvPicPr>
          <p:cNvPr id="23" name="Рисунок 22">
            <a:extLst>
              <a:ext uri="{FF2B5EF4-FFF2-40B4-BE49-F238E27FC236}">
                <a16:creationId xmlns="" xmlns:a16="http://schemas.microsoft.com/office/drawing/2014/main" id="{935F4144-F980-9F96-2C35-9D9DB652FAFB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788649" y="1126662"/>
            <a:ext cx="2160000" cy="1440000"/>
          </a:xfrm>
          <a:prstGeom prst="rect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</p:pic>
      <p:pic>
        <p:nvPicPr>
          <p:cNvPr id="26" name="Рисунок 25">
            <a:extLst>
              <a:ext uri="{FF2B5EF4-FFF2-40B4-BE49-F238E27FC236}">
                <a16:creationId xmlns="" xmlns:a16="http://schemas.microsoft.com/office/drawing/2014/main" id="{2BF94F8B-C1B0-87E2-D504-653520C77801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820702" y="2921993"/>
            <a:ext cx="2160000" cy="1440000"/>
          </a:xfrm>
          <a:prstGeom prst="rect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</p:pic>
      <p:pic>
        <p:nvPicPr>
          <p:cNvPr id="28" name="Рисунок 27">
            <a:extLst>
              <a:ext uri="{FF2B5EF4-FFF2-40B4-BE49-F238E27FC236}">
                <a16:creationId xmlns="" xmlns:a16="http://schemas.microsoft.com/office/drawing/2014/main" id="{B793AC4A-08EA-B6B3-AA0A-A069DA622EC8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583492" y="1412495"/>
            <a:ext cx="2160000" cy="1440000"/>
          </a:xfrm>
          <a:prstGeom prst="rect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26" b="6853"/>
          <a:stretch/>
        </p:blipFill>
        <p:spPr>
          <a:xfrm>
            <a:off x="5615873" y="1455175"/>
            <a:ext cx="6394175" cy="4827639"/>
          </a:xfrm>
          <a:prstGeom prst="rect">
            <a:avLst/>
          </a:prstGeom>
        </p:spPr>
      </p:pic>
      <p:pic>
        <p:nvPicPr>
          <p:cNvPr id="2050" name="Picture 2" descr="https://obuchim.com/wp-content/uploads/2023/10/nalich-2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792" y="5199396"/>
            <a:ext cx="2320457" cy="1440000"/>
          </a:xfrm>
          <a:prstGeom prst="rect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Рисунок 24">
            <a:extLst>
              <a:ext uri="{FF2B5EF4-FFF2-40B4-BE49-F238E27FC236}">
                <a16:creationId xmlns="" xmlns:a16="http://schemas.microsoft.com/office/drawing/2014/main" id="{A50032AF-B90F-7C36-0838-98F9241B8D04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/>
          <a:srcRect l="1345" t="1741" r="1978" b="1845"/>
          <a:stretch/>
        </p:blipFill>
        <p:spPr>
          <a:xfrm>
            <a:off x="2814818" y="4587882"/>
            <a:ext cx="2165884" cy="1440000"/>
          </a:xfrm>
          <a:prstGeom prst="rect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55065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7714F011-E1CF-3F07-37EC-7EBDFAC27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Сотрудничество</a:t>
            </a:r>
          </a:p>
        </p:txBody>
      </p:sp>
      <p:pic>
        <p:nvPicPr>
          <p:cNvPr id="4" name="Picture 2" descr="C:\Documents and Settings\mesheryakova\Ольга Дизайнер\ЛОГОТИПЫ\логотипы ВУЗОВ\polytech_logo.png">
            <a:extLst>
              <a:ext uri="{FF2B5EF4-FFF2-40B4-BE49-F238E27FC236}">
                <a16:creationId xmlns="" xmlns:a16="http://schemas.microsoft.com/office/drawing/2014/main" id="{AEF18F2A-C700-FC5A-EAF7-8110BBBFA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37510" y="3718542"/>
            <a:ext cx="2012573" cy="532285"/>
          </a:xfrm>
          <a:prstGeom prst="rect">
            <a:avLst/>
          </a:prstGeom>
          <a:noFill/>
        </p:spPr>
      </p:pic>
      <p:pic>
        <p:nvPicPr>
          <p:cNvPr id="5" name="Picture 3" descr="C:\Documents and Settings\mesheryakova\Ольга Дизайнер\ЛОГОТИПЫ\логотипы ВУЗОВ\guap_logo.png">
            <a:extLst>
              <a:ext uri="{FF2B5EF4-FFF2-40B4-BE49-F238E27FC236}">
                <a16:creationId xmlns="" xmlns:a16="http://schemas.microsoft.com/office/drawing/2014/main" id="{0E90CA10-4633-B384-3308-C06982755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412905" y="2659283"/>
            <a:ext cx="2061784" cy="805077"/>
          </a:xfrm>
          <a:prstGeom prst="rect">
            <a:avLst/>
          </a:prstGeom>
          <a:noFill/>
        </p:spPr>
      </p:pic>
      <p:pic>
        <p:nvPicPr>
          <p:cNvPr id="6" name="Picture 4" descr="C:\Documents and Settings\mesheryakova\Ольга Дизайнер\ЛОГОТИПЫ\логотипы ВУЗОВ\1155153.png">
            <a:extLst>
              <a:ext uri="{FF2B5EF4-FFF2-40B4-BE49-F238E27FC236}">
                <a16:creationId xmlns="" xmlns:a16="http://schemas.microsoft.com/office/drawing/2014/main" id="{86E5CA69-CB73-DC9C-3058-C25EED144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860820" y="2722010"/>
            <a:ext cx="1110859" cy="1720288"/>
          </a:xfrm>
          <a:prstGeom prst="rect">
            <a:avLst/>
          </a:prstGeom>
          <a:noFill/>
        </p:spPr>
      </p:pic>
      <p:pic>
        <p:nvPicPr>
          <p:cNvPr id="7" name="Picture 9" descr="C:\Documents and Settings\mesheryakova\Ольга Дизайнер\ЛОГОТИПЫ\логотипы ВУЗОВ\206872_html_30d05341.png">
            <a:extLst>
              <a:ext uri="{FF2B5EF4-FFF2-40B4-BE49-F238E27FC236}">
                <a16:creationId xmlns="" xmlns:a16="http://schemas.microsoft.com/office/drawing/2014/main" id="{8F6231B6-ACC2-0438-58B9-048B9F424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380240" y="1924265"/>
            <a:ext cx="3047421" cy="683124"/>
          </a:xfrm>
          <a:prstGeom prst="rect">
            <a:avLst/>
          </a:prstGeom>
          <a:noFill/>
        </p:spPr>
      </p:pic>
      <p:pic>
        <p:nvPicPr>
          <p:cNvPr id="8" name="Picture 5" descr="C:\Documents and Settings\mesheryakova\Ольга Дизайнер\Hermitage_logo.svg.png">
            <a:extLst>
              <a:ext uri="{FF2B5EF4-FFF2-40B4-BE49-F238E27FC236}">
                <a16:creationId xmlns="" xmlns:a16="http://schemas.microsoft.com/office/drawing/2014/main" id="{0E688421-451A-EBCC-D449-9B9A6D6B0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269476" y="1511059"/>
            <a:ext cx="2450896" cy="1012527"/>
          </a:xfrm>
          <a:prstGeom prst="rect">
            <a:avLst/>
          </a:prstGeom>
          <a:noFill/>
        </p:spPr>
      </p:pic>
      <p:pic>
        <p:nvPicPr>
          <p:cNvPr id="1026" name="Picture 2">
            <a:extLst>
              <a:ext uri="{FF2B5EF4-FFF2-40B4-BE49-F238E27FC236}">
                <a16:creationId xmlns="" xmlns:a16="http://schemas.microsoft.com/office/drawing/2014/main" id="{553EBD96-DAC3-3082-6C15-4E572DB7E3C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3799" y="1783080"/>
            <a:ext cx="1905000" cy="189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="" xmlns:a16="http://schemas.microsoft.com/office/drawing/2014/main" id="{EBF61BB9-86A2-20ED-B5A4-083285AAE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066" y="2801353"/>
            <a:ext cx="2946580" cy="532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L:\2016-2017\логотипы предприятий\7d63dc6b0187b99041f8bbfada372470.jpg">
            <a:extLst>
              <a:ext uri="{FF2B5EF4-FFF2-40B4-BE49-F238E27FC236}">
                <a16:creationId xmlns="" xmlns:a16="http://schemas.microsoft.com/office/drawing/2014/main" id="{6E5D4CB7-2A99-DC43-7705-982C215F62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8242203" y="3464360"/>
            <a:ext cx="3444365" cy="805077"/>
          </a:xfrm>
          <a:prstGeom prst="rect">
            <a:avLst/>
          </a:prstGeom>
          <a:noFill/>
        </p:spPr>
      </p:pic>
      <p:pic>
        <p:nvPicPr>
          <p:cNvPr id="10" name="Picture 3" descr="L:\2016-2017\логотипы предприятий\obuhovskiy.jpg">
            <a:extLst>
              <a:ext uri="{FF2B5EF4-FFF2-40B4-BE49-F238E27FC236}">
                <a16:creationId xmlns="" xmlns:a16="http://schemas.microsoft.com/office/drawing/2014/main" id="{15C897B5-9681-58EF-095B-442687BB1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915916" y="3905058"/>
            <a:ext cx="1942657" cy="1387613"/>
          </a:xfrm>
          <a:prstGeom prst="rect">
            <a:avLst/>
          </a:prstGeom>
          <a:noFill/>
        </p:spPr>
      </p:pic>
      <p:pic>
        <p:nvPicPr>
          <p:cNvPr id="12" name="Рисунок 11" descr="https://test.poimi.ru/wp-content/uploads/2024/02/logo_spbgu.png"/>
          <p:cNvPicPr/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7510" y="4598864"/>
            <a:ext cx="1970913" cy="1022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99" t="27357" r="5238" b="24437"/>
          <a:stretch/>
        </p:blipFill>
        <p:spPr>
          <a:xfrm>
            <a:off x="8366066" y="4381061"/>
            <a:ext cx="2807599" cy="1137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954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449D15D9-5FD7-07D4-B434-7FBCC17BF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Сотрудничество</a:t>
            </a:r>
          </a:p>
        </p:txBody>
      </p:sp>
      <p:sp>
        <p:nvSpPr>
          <p:cNvPr id="5" name="Скругленный прямоугольник 23">
            <a:extLst>
              <a:ext uri="{FF2B5EF4-FFF2-40B4-BE49-F238E27FC236}">
                <a16:creationId xmlns="" xmlns:a16="http://schemas.microsoft.com/office/drawing/2014/main" id="{017E97CF-FC10-9AC5-D36A-9FCD387C79EE}"/>
              </a:ext>
            </a:extLst>
          </p:cNvPr>
          <p:cNvSpPr/>
          <p:nvPr/>
        </p:nvSpPr>
        <p:spPr>
          <a:xfrm>
            <a:off x="7955660" y="1695191"/>
            <a:ext cx="3951875" cy="2985174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24A6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133CCA40-4D5C-D626-20DF-1FB0D0845B59}"/>
              </a:ext>
            </a:extLst>
          </p:cNvPr>
          <p:cNvSpPr txBox="1"/>
          <p:nvPr/>
        </p:nvSpPr>
        <p:spPr>
          <a:xfrm>
            <a:off x="8036184" y="2278567"/>
            <a:ext cx="3795270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 </a:t>
            </a:r>
            <a:r>
              <a:rPr lang="ru-RU" b="1" dirty="0"/>
              <a:t>РАЙОННЫЕ </a:t>
            </a:r>
          </a:p>
          <a:p>
            <a:pPr algn="ctr"/>
            <a:r>
              <a:rPr lang="ru-RU" b="1" dirty="0"/>
              <a:t>МЕТОДИЧЕСКИЕ ЦЕНТРЫ </a:t>
            </a:r>
          </a:p>
          <a:p>
            <a:pPr algn="ctr"/>
            <a:r>
              <a:rPr lang="ru-RU" sz="1400" b="1" dirty="0">
                <a:solidFill>
                  <a:srgbClr val="24A67A"/>
                </a:solidFill>
              </a:rPr>
              <a:t>Выборгского, Калининского, </a:t>
            </a:r>
            <a:br>
              <a:rPr lang="ru-RU" sz="1400" b="1" dirty="0">
                <a:solidFill>
                  <a:srgbClr val="24A67A"/>
                </a:solidFill>
              </a:rPr>
            </a:br>
            <a:r>
              <a:rPr lang="ru-RU" sz="1400" b="1" dirty="0" smtClean="0">
                <a:solidFill>
                  <a:srgbClr val="24A67A"/>
                </a:solidFill>
              </a:rPr>
              <a:t>Невского, Приморского,</a:t>
            </a:r>
            <a:br>
              <a:rPr lang="ru-RU" sz="1400" b="1" dirty="0" smtClean="0">
                <a:solidFill>
                  <a:srgbClr val="24A67A"/>
                </a:solidFill>
              </a:rPr>
            </a:br>
            <a:r>
              <a:rPr lang="ru-RU" sz="1400" b="1" dirty="0" smtClean="0">
                <a:solidFill>
                  <a:srgbClr val="24A67A"/>
                </a:solidFill>
              </a:rPr>
              <a:t>Василеостровского районов </a:t>
            </a:r>
            <a:endParaRPr lang="ru-RU" sz="1400" b="1" dirty="0">
              <a:solidFill>
                <a:srgbClr val="24A67A"/>
              </a:solidFill>
            </a:endParaRPr>
          </a:p>
          <a:p>
            <a:pPr algn="ctr"/>
            <a:endParaRPr lang="ru-RU" sz="1400" b="1" dirty="0">
              <a:solidFill>
                <a:srgbClr val="24A67A"/>
              </a:solidFill>
            </a:endParaRPr>
          </a:p>
          <a:p>
            <a:pPr algn="ctr"/>
            <a:r>
              <a:rPr lang="ru-RU" sz="1400" b="1" dirty="0"/>
              <a:t>ПО НАЧАЛЬНОЙ ШКОЛЕ, ИНФОРМАТИКЕ и ПРОФОРИЕНТАЦИОННОЙ РАБОТЕ </a:t>
            </a:r>
            <a:endParaRPr lang="ru-RU" sz="1400" b="1" dirty="0">
              <a:solidFill>
                <a:srgbClr val="24A67A"/>
              </a:solidFill>
            </a:endParaRPr>
          </a:p>
        </p:txBody>
      </p:sp>
      <p:sp>
        <p:nvSpPr>
          <p:cNvPr id="8" name="Скругленный прямоугольник 25">
            <a:extLst>
              <a:ext uri="{FF2B5EF4-FFF2-40B4-BE49-F238E27FC236}">
                <a16:creationId xmlns="" xmlns:a16="http://schemas.microsoft.com/office/drawing/2014/main" id="{E8D693D6-1473-9DD0-9B45-87843D012EC3}"/>
              </a:ext>
            </a:extLst>
          </p:cNvPr>
          <p:cNvSpPr/>
          <p:nvPr/>
        </p:nvSpPr>
        <p:spPr>
          <a:xfrm>
            <a:off x="1107706" y="3384527"/>
            <a:ext cx="3185175" cy="129583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24A6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FC794C0C-A0CA-C8A3-0D11-48BEB6A9B38A}"/>
              </a:ext>
            </a:extLst>
          </p:cNvPr>
          <p:cNvSpPr txBox="1"/>
          <p:nvPr/>
        </p:nvSpPr>
        <p:spPr>
          <a:xfrm>
            <a:off x="1293010" y="3384527"/>
            <a:ext cx="2903692" cy="11695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 </a:t>
            </a:r>
            <a:r>
              <a:rPr lang="ru-RU" b="1" dirty="0"/>
              <a:t>ЦЕНТРАЛЬНАЯ</a:t>
            </a:r>
          </a:p>
          <a:p>
            <a:pPr algn="ctr"/>
            <a:r>
              <a:rPr lang="ru-RU" b="1" dirty="0"/>
              <a:t>ДЕТСКАЯ БИБЛИОТЕКА</a:t>
            </a:r>
            <a:r>
              <a:rPr lang="ru-RU" sz="1600" b="1" dirty="0"/>
              <a:t> </a:t>
            </a:r>
          </a:p>
          <a:p>
            <a:pPr algn="ctr"/>
            <a:r>
              <a:rPr lang="ru-RU" sz="1600" b="1" dirty="0">
                <a:solidFill>
                  <a:srgbClr val="24A67A"/>
                </a:solidFill>
              </a:rPr>
              <a:t>Выборгского</a:t>
            </a:r>
            <a:r>
              <a:rPr lang="en-US" sz="1600" b="1" dirty="0">
                <a:solidFill>
                  <a:srgbClr val="24A67A"/>
                </a:solidFill>
              </a:rPr>
              <a:t> </a:t>
            </a:r>
            <a:r>
              <a:rPr lang="ru-RU" sz="1600" b="1" dirty="0">
                <a:solidFill>
                  <a:srgbClr val="24A67A"/>
                </a:solidFill>
              </a:rPr>
              <a:t>и Приморского районов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="" xmlns:a16="http://schemas.microsoft.com/office/drawing/2014/main" id="{91F042C2-E006-938D-49AA-679C637C3974}"/>
              </a:ext>
            </a:extLst>
          </p:cNvPr>
          <p:cNvGrpSpPr/>
          <p:nvPr/>
        </p:nvGrpSpPr>
        <p:grpSpPr>
          <a:xfrm>
            <a:off x="1123035" y="1750246"/>
            <a:ext cx="3518248" cy="1214446"/>
            <a:chOff x="109107" y="1845223"/>
            <a:chExt cx="3876702" cy="1214446"/>
          </a:xfrm>
        </p:grpSpPr>
        <p:sp>
          <p:nvSpPr>
            <p:cNvPr id="11" name="Скругленный прямоугольник 28">
              <a:extLst>
                <a:ext uri="{FF2B5EF4-FFF2-40B4-BE49-F238E27FC236}">
                  <a16:creationId xmlns="" xmlns:a16="http://schemas.microsoft.com/office/drawing/2014/main" id="{50320B7C-CA3E-0E78-411D-51352FF660B5}"/>
                </a:ext>
              </a:extLst>
            </p:cNvPr>
            <p:cNvSpPr/>
            <p:nvPr/>
          </p:nvSpPr>
          <p:spPr>
            <a:xfrm>
              <a:off x="109107" y="1845223"/>
              <a:ext cx="3876702" cy="1214446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24A6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TextBox 11">
              <a:extLst>
                <a:ext uri="{FF2B5EF4-FFF2-40B4-BE49-F238E27FC236}">
                  <a16:creationId xmlns="" xmlns:a16="http://schemas.microsoft.com/office/drawing/2014/main" id="{769A2684-7C50-3D27-6584-5D3125E1683C}"/>
                </a:ext>
              </a:extLst>
            </p:cNvPr>
            <p:cNvSpPr txBox="1"/>
            <p:nvPr/>
          </p:nvSpPr>
          <p:spPr>
            <a:xfrm>
              <a:off x="112709" y="1961550"/>
              <a:ext cx="3857652" cy="9541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000" dirty="0"/>
                <a:t> </a:t>
              </a:r>
              <a:r>
                <a:rPr lang="ru-RU" b="1" dirty="0"/>
                <a:t>ГОРОДСКАЯ ПУБЛИЧНАЯ БИБЛИОТЕКА им. В.Маяковского </a:t>
              </a:r>
              <a:r>
                <a:rPr lang="ru-RU" sz="1600" b="1" dirty="0">
                  <a:solidFill>
                    <a:srgbClr val="24A67A"/>
                  </a:solidFill>
                </a:rPr>
                <a:t>Калининский район</a:t>
              </a:r>
            </a:p>
          </p:txBody>
        </p:sp>
      </p:grpSp>
      <p:sp>
        <p:nvSpPr>
          <p:cNvPr id="14" name="Скругленный прямоугольник 29">
            <a:extLst>
              <a:ext uri="{FF2B5EF4-FFF2-40B4-BE49-F238E27FC236}">
                <a16:creationId xmlns="" xmlns:a16="http://schemas.microsoft.com/office/drawing/2014/main" id="{3A38E433-0650-ACB1-A281-D66ED8F8E170}"/>
              </a:ext>
            </a:extLst>
          </p:cNvPr>
          <p:cNvSpPr/>
          <p:nvPr/>
        </p:nvSpPr>
        <p:spPr>
          <a:xfrm>
            <a:off x="3782810" y="4873128"/>
            <a:ext cx="4774043" cy="1479545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24A6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B13807FD-97DE-55F5-C59C-2BEF580C5E5F}"/>
              </a:ext>
            </a:extLst>
          </p:cNvPr>
          <p:cNvSpPr txBox="1"/>
          <p:nvPr/>
        </p:nvSpPr>
        <p:spPr>
          <a:xfrm>
            <a:off x="4196702" y="4935866"/>
            <a:ext cx="3762673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 </a:t>
            </a:r>
            <a:r>
              <a:rPr lang="ru-RU" b="1" dirty="0"/>
              <a:t>Более 70 школ </a:t>
            </a:r>
          </a:p>
          <a:p>
            <a:pPr algn="ctr"/>
            <a:r>
              <a:rPr lang="ru-RU" sz="1400" b="1" dirty="0">
                <a:solidFill>
                  <a:srgbClr val="24A67A"/>
                </a:solidFill>
              </a:rPr>
              <a:t>Приморского, Калининского</a:t>
            </a:r>
            <a:r>
              <a:rPr lang="ru-RU" sz="1400" b="1" dirty="0" smtClean="0">
                <a:solidFill>
                  <a:srgbClr val="24A67A"/>
                </a:solidFill>
              </a:rPr>
              <a:t>, Выборгского</a:t>
            </a:r>
            <a:r>
              <a:rPr lang="ru-RU" sz="1400" b="1" dirty="0">
                <a:solidFill>
                  <a:srgbClr val="24A67A"/>
                </a:solidFill>
              </a:rPr>
              <a:t>, </a:t>
            </a:r>
            <a:r>
              <a:rPr lang="ru-RU" sz="1400" b="1" dirty="0" smtClean="0">
                <a:solidFill>
                  <a:srgbClr val="24A67A"/>
                </a:solidFill>
              </a:rPr>
              <a:t>Невского, Красногвардейского, </a:t>
            </a:r>
            <a:r>
              <a:rPr lang="ru-RU" sz="1400" b="1" dirty="0">
                <a:solidFill>
                  <a:srgbClr val="24A67A"/>
                </a:solidFill>
              </a:rPr>
              <a:t>Василеостровского </a:t>
            </a:r>
            <a:r>
              <a:rPr lang="ru-RU" sz="1400" b="1" dirty="0" smtClean="0">
                <a:solidFill>
                  <a:srgbClr val="24A67A"/>
                </a:solidFill>
              </a:rPr>
              <a:t>районов</a:t>
            </a:r>
            <a:endParaRPr lang="ru-RU" sz="1400" b="1" dirty="0">
              <a:solidFill>
                <a:srgbClr val="24A67A"/>
              </a:solidFill>
            </a:endParaRPr>
          </a:p>
        </p:txBody>
      </p:sp>
      <p:sp>
        <p:nvSpPr>
          <p:cNvPr id="19" name="Подзаголовок 2">
            <a:extLst>
              <a:ext uri="{FF2B5EF4-FFF2-40B4-BE49-F238E27FC236}">
                <a16:creationId xmlns="" xmlns:a16="http://schemas.microsoft.com/office/drawing/2014/main" id="{444295E6-89C5-5C45-77EE-6987576448BB}"/>
              </a:ext>
            </a:extLst>
          </p:cNvPr>
          <p:cNvSpPr txBox="1">
            <a:spLocks/>
          </p:cNvSpPr>
          <p:nvPr/>
        </p:nvSpPr>
        <p:spPr>
          <a:xfrm>
            <a:off x="5167674" y="2733338"/>
            <a:ext cx="2035082" cy="827397"/>
          </a:xfrm>
          <a:prstGeom prst="rect">
            <a:avLst/>
          </a:prstGeom>
          <a:ln>
            <a:solidFill>
              <a:srgbClr val="24A67A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marR="0" lvl="0" algn="ctr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75000"/>
                </a:schemeClr>
              </a:buClr>
              <a:buSzTx/>
              <a:tabLst>
                <a:tab pos="628650" algn="l"/>
              </a:tabLst>
              <a:defRPr/>
            </a:pPr>
            <a:r>
              <a:rPr lang="ru-RU" sz="2400" b="1" dirty="0">
                <a:solidFill>
                  <a:srgbClr val="24A67A"/>
                </a:solidFill>
              </a:rPr>
              <a:t>ПАРТНЕРЫ АКАДЕМИИ</a:t>
            </a: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="" xmlns:a16="http://schemas.microsoft.com/office/drawing/2014/main" id="{86835160-FDEC-D64A-B09B-C0EB80B55F0D}"/>
              </a:ext>
            </a:extLst>
          </p:cNvPr>
          <p:cNvCxnSpPr>
            <a:cxnSpLocks/>
          </p:cNvCxnSpPr>
          <p:nvPr/>
        </p:nvCxnSpPr>
        <p:spPr>
          <a:xfrm>
            <a:off x="7233506" y="3172408"/>
            <a:ext cx="722154" cy="0"/>
          </a:xfrm>
          <a:prstGeom prst="straightConnector1">
            <a:avLst/>
          </a:prstGeom>
          <a:ln w="19050">
            <a:solidFill>
              <a:srgbClr val="24A67A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="" xmlns:a16="http://schemas.microsoft.com/office/drawing/2014/main" id="{7980DD5F-5693-F31E-236E-93F54BEBAC9D}"/>
              </a:ext>
            </a:extLst>
          </p:cNvPr>
          <p:cNvCxnSpPr>
            <a:cxnSpLocks/>
          </p:cNvCxnSpPr>
          <p:nvPr/>
        </p:nvCxnSpPr>
        <p:spPr>
          <a:xfrm flipV="1">
            <a:off x="4292881" y="3523266"/>
            <a:ext cx="970972" cy="458393"/>
          </a:xfrm>
          <a:prstGeom prst="straightConnector1">
            <a:avLst/>
          </a:prstGeom>
          <a:ln w="19050">
            <a:solidFill>
              <a:srgbClr val="24A67A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="" xmlns:a16="http://schemas.microsoft.com/office/drawing/2014/main" id="{10DAC708-E4AB-C381-5192-299605383ABA}"/>
              </a:ext>
            </a:extLst>
          </p:cNvPr>
          <p:cNvCxnSpPr>
            <a:cxnSpLocks/>
          </p:cNvCxnSpPr>
          <p:nvPr/>
        </p:nvCxnSpPr>
        <p:spPr>
          <a:xfrm flipH="1" flipV="1">
            <a:off x="4632175" y="2357469"/>
            <a:ext cx="712202" cy="375869"/>
          </a:xfrm>
          <a:prstGeom prst="straightConnector1">
            <a:avLst/>
          </a:prstGeom>
          <a:ln w="19050">
            <a:solidFill>
              <a:srgbClr val="24A67A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="" xmlns:a16="http://schemas.microsoft.com/office/drawing/2014/main" id="{2BF96173-B35D-ED5E-145D-D6E26AF4B118}"/>
              </a:ext>
            </a:extLst>
          </p:cNvPr>
          <p:cNvCxnSpPr>
            <a:cxnSpLocks/>
            <a:stCxn id="19" idx="2"/>
            <a:endCxn id="14" idx="0"/>
          </p:cNvCxnSpPr>
          <p:nvPr/>
        </p:nvCxnSpPr>
        <p:spPr>
          <a:xfrm flipH="1">
            <a:off x="6169832" y="3560735"/>
            <a:ext cx="15383" cy="1312393"/>
          </a:xfrm>
          <a:prstGeom prst="straightConnector1">
            <a:avLst/>
          </a:prstGeom>
          <a:ln w="19050">
            <a:solidFill>
              <a:srgbClr val="24A67A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6627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3C12B78-9461-A429-631B-6021ADF11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Мероприятия для школьников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9FC49A64-0E4C-9E23-5DA3-F391A3C2C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7842" y="1581905"/>
            <a:ext cx="5639841" cy="5021415"/>
          </a:xfrm>
        </p:spPr>
        <p:txBody>
          <a:bodyPr>
            <a:normAutofit/>
          </a:bodyPr>
          <a:lstStyle/>
          <a:p>
            <a:r>
              <a:rPr lang="ru-RU" sz="1800" dirty="0"/>
              <a:t>Путешествие в Город знаний</a:t>
            </a:r>
          </a:p>
          <a:p>
            <a:r>
              <a:rPr lang="ru-RU" sz="1800" dirty="0"/>
              <a:t>Фестиваль программирования «</a:t>
            </a:r>
            <a:r>
              <a:rPr lang="ru-RU" sz="1800" dirty="0" err="1"/>
              <a:t>ЮниКод</a:t>
            </a:r>
            <a:r>
              <a:rPr lang="ru-RU" sz="1800" dirty="0"/>
              <a:t>»</a:t>
            </a:r>
          </a:p>
          <a:p>
            <a:r>
              <a:rPr lang="ru-RU" sz="1800" dirty="0"/>
              <a:t>Фестиваль «Цифровая метель»</a:t>
            </a:r>
          </a:p>
          <a:p>
            <a:r>
              <a:rPr lang="ru-RU" sz="1800" dirty="0"/>
              <a:t>Конкурс компьютерной графики и анимации</a:t>
            </a:r>
            <a:br>
              <a:rPr lang="ru-RU" sz="1800" dirty="0"/>
            </a:br>
            <a:r>
              <a:rPr lang="ru-RU" sz="1400" dirty="0"/>
              <a:t>(совместно с Государственным Эрмитажем)</a:t>
            </a:r>
          </a:p>
          <a:p>
            <a:r>
              <a:rPr lang="ru-RU" sz="1800" dirty="0"/>
              <a:t>Олимпиада по английскому языку </a:t>
            </a:r>
            <a:r>
              <a:rPr lang="en-US" sz="1800" dirty="0"/>
              <a:t>Step Up to Success</a:t>
            </a:r>
            <a:endParaRPr lang="ru-RU" sz="1800" dirty="0"/>
          </a:p>
          <a:p>
            <a:r>
              <a:rPr lang="ru-RU" sz="1800" dirty="0"/>
              <a:t>Конкурс  коллажей на </a:t>
            </a:r>
            <a:r>
              <a:rPr lang="ru-RU" sz="1800" dirty="0" smtClean="0"/>
              <a:t>английском языке</a:t>
            </a:r>
          </a:p>
          <a:p>
            <a:r>
              <a:rPr lang="ru-RU" sz="1800" dirty="0"/>
              <a:t>Творческие фестивали и </a:t>
            </a:r>
            <a:r>
              <a:rPr lang="ru-RU" sz="1800" dirty="0" smtClean="0"/>
              <a:t>конкурсы</a:t>
            </a:r>
          </a:p>
          <a:p>
            <a:r>
              <a:rPr lang="ru-RU" sz="1800" dirty="0" smtClean="0"/>
              <a:t>«</a:t>
            </a:r>
            <a:r>
              <a:rPr lang="ru-RU" sz="1800" dirty="0"/>
              <a:t>Ломая линию»</a:t>
            </a:r>
          </a:p>
          <a:p>
            <a:r>
              <a:rPr lang="ru-RU" sz="1800" dirty="0" smtClean="0"/>
              <a:t>«</a:t>
            </a:r>
            <a:r>
              <a:rPr lang="ru-RU" sz="1800" dirty="0"/>
              <a:t>Петровская палитра»</a:t>
            </a:r>
          </a:p>
          <a:p>
            <a:r>
              <a:rPr lang="ru-RU" sz="1800" dirty="0" smtClean="0"/>
              <a:t>«Да здравствует, Санкт-Петербург!»</a:t>
            </a:r>
            <a:endParaRPr lang="ru-RU" sz="1800" dirty="0"/>
          </a:p>
          <a:p>
            <a:r>
              <a:rPr lang="ru-RU" sz="1800" dirty="0"/>
              <a:t>Фестиваль </a:t>
            </a:r>
            <a:r>
              <a:rPr lang="en-US" sz="1800" dirty="0" err="1"/>
              <a:t>iT</a:t>
            </a:r>
            <a:r>
              <a:rPr lang="en-US" sz="1800" dirty="0"/>
              <a:t>-</a:t>
            </a:r>
            <a:r>
              <a:rPr lang="ru-RU" sz="1800" dirty="0"/>
              <a:t>профессий</a:t>
            </a:r>
          </a:p>
          <a:p>
            <a:r>
              <a:rPr lang="ru-RU" sz="1800" dirty="0"/>
              <a:t>День профориентации</a:t>
            </a:r>
          </a:p>
          <a:p>
            <a:endParaRPr lang="ru-RU" sz="18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DDC09E4E-B1B3-436F-CE50-4DD6C4F3D2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792" y="1581905"/>
            <a:ext cx="1272520" cy="18000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="" xmlns:a16="http://schemas.microsoft.com/office/drawing/2014/main" id="{F503BB8A-1657-F53A-4459-17BAF9AD94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0864" y="1492046"/>
            <a:ext cx="1272189" cy="1800000"/>
          </a:xfrm>
          <a:prstGeom prst="rect">
            <a:avLst/>
          </a:prstGeom>
        </p:spPr>
      </p:pic>
      <p:pic>
        <p:nvPicPr>
          <p:cNvPr id="9" name="Объект 6">
            <a:extLst>
              <a:ext uri="{FF2B5EF4-FFF2-40B4-BE49-F238E27FC236}">
                <a16:creationId xmlns="" xmlns:a16="http://schemas.microsoft.com/office/drawing/2014/main" id="{179A592E-3B95-8EBC-1623-443BF4B11E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046" y="1464408"/>
            <a:ext cx="1272585" cy="1800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="" xmlns:a16="http://schemas.microsoft.com/office/drawing/2014/main" id="{390C8A23-9240-98BA-8E45-CCDB81A7AF0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7226" y="1485512"/>
            <a:ext cx="1272520" cy="1800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="" xmlns:a16="http://schemas.microsoft.com/office/drawing/2014/main" id="{7B185D90-E911-020F-7B94-DAFD6730D2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7168" y="2982831"/>
            <a:ext cx="1272585" cy="18000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="" xmlns:a16="http://schemas.microsoft.com/office/drawing/2014/main" id="{A61F7D2E-C2B8-8D26-4DED-D01A43969FE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9441" y="1824673"/>
            <a:ext cx="1270898" cy="18000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="" xmlns:a16="http://schemas.microsoft.com/office/drawing/2014/main" id="{BFA2BCCF-991B-8592-309A-D7BAF5E02F6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4638" y="3452037"/>
            <a:ext cx="1272551" cy="180000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="" xmlns:a16="http://schemas.microsoft.com/office/drawing/2014/main" id="{DA0E1629-D3D1-7E04-58A6-F508E7D3652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144" y="3060184"/>
            <a:ext cx="1268924" cy="18000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="" xmlns:a16="http://schemas.microsoft.com/office/drawing/2014/main" id="{80779034-BB3A-6CF6-98D1-F0710F1F0BD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897" y="4340576"/>
            <a:ext cx="1268924" cy="180000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="" xmlns:a16="http://schemas.microsoft.com/office/drawing/2014/main" id="{BF9E7F63-0D9A-6629-1B5F-0FCF29C3A089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210" y="4465954"/>
            <a:ext cx="1272808" cy="180000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="" xmlns:a16="http://schemas.microsoft.com/office/drawing/2014/main" id="{B26B0F3D-39AB-B229-5874-0C40688A58B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7821" y="3153460"/>
            <a:ext cx="1296094" cy="180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="" xmlns:a16="http://schemas.microsoft.com/office/drawing/2014/main" id="{ADD8FD46-EA63-346D-A556-1127A31BB70F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3562" y="4260711"/>
            <a:ext cx="13083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084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14A09D2-BA92-50D6-7DAD-7C0B674C7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00" dirty="0"/>
              <a:t>Путешествие в Город знаний</a:t>
            </a:r>
            <a:br>
              <a:rPr lang="ru-RU" sz="4400" dirty="0"/>
            </a:b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D8E8785A-EE95-7D49-869C-DC3ECC95B3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030" y="1327761"/>
            <a:ext cx="2545040" cy="3600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2951FAA5-2839-C9C1-8678-3A24333B573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22" t="6650" b="2043"/>
          <a:stretch/>
        </p:blipFill>
        <p:spPr>
          <a:xfrm>
            <a:off x="6285394" y="3793170"/>
            <a:ext cx="3186151" cy="226918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Рисунок 10">
            <a:extLst>
              <a:ext uri="{FF2B5EF4-FFF2-40B4-BE49-F238E27FC236}">
                <a16:creationId xmlns="" xmlns:a16="http://schemas.microsoft.com/office/drawing/2014/main" id="{FDD25CB0-F3E9-37A4-1C0C-A62DA820188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7494" y="2962484"/>
            <a:ext cx="2880000" cy="2160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Рисунок 12">
            <a:extLst>
              <a:ext uri="{FF2B5EF4-FFF2-40B4-BE49-F238E27FC236}">
                <a16:creationId xmlns="" xmlns:a16="http://schemas.microsoft.com/office/drawing/2014/main" id="{4E6463EF-6562-7657-93F2-2BE7BCAAFAE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6" t="10082" r="212" b="7229"/>
          <a:stretch/>
        </p:blipFill>
        <p:spPr>
          <a:xfrm>
            <a:off x="6240469" y="1217827"/>
            <a:ext cx="3276000" cy="2160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Объект 4">
            <a:extLst>
              <a:ext uri="{FF2B5EF4-FFF2-40B4-BE49-F238E27FC236}">
                <a16:creationId xmlns="" xmlns:a16="http://schemas.microsoft.com/office/drawing/2014/main" id="{07814C56-0646-E10D-757D-F49053E382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7738" y="2962484"/>
            <a:ext cx="2545040" cy="3600000"/>
          </a:xfrm>
        </p:spPr>
      </p:pic>
      <p:sp>
        <p:nvSpPr>
          <p:cNvPr id="14" name="Прямоугольник: скругленные углы 13">
            <a:extLst>
              <a:ext uri="{FF2B5EF4-FFF2-40B4-BE49-F238E27FC236}">
                <a16:creationId xmlns="" xmlns:a16="http://schemas.microsoft.com/office/drawing/2014/main" id="{C28CCAD5-DC36-79E5-876E-405EB361003B}"/>
              </a:ext>
            </a:extLst>
          </p:cNvPr>
          <p:cNvSpPr/>
          <p:nvPr/>
        </p:nvSpPr>
        <p:spPr>
          <a:xfrm>
            <a:off x="1599235" y="5189436"/>
            <a:ext cx="1555845" cy="111137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solidFill>
                  <a:srgbClr val="FF0000"/>
                </a:solidFill>
                <a:latin typeface="Franklin Gothic Demi Cond" panose="020B0706030402020204" pitchFamily="34" charset="0"/>
              </a:rPr>
              <a:t>1 - 4 класс</a:t>
            </a:r>
          </a:p>
        </p:txBody>
      </p:sp>
    </p:spTree>
    <p:extLst>
      <p:ext uri="{BB962C8B-B14F-4D97-AF65-F5344CB8AC3E}">
        <p14:creationId xmlns:p14="http://schemas.microsoft.com/office/powerpoint/2010/main" val="3426119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25F1F81-0153-AE87-6CC3-9A6655F76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490" y="781396"/>
            <a:ext cx="6413309" cy="909292"/>
          </a:xfrm>
        </p:spPr>
        <p:txBody>
          <a:bodyPr>
            <a:normAutofit fontScale="90000"/>
          </a:bodyPr>
          <a:lstStyle/>
          <a:p>
            <a:r>
              <a:rPr lang="ru-RU" sz="4400" dirty="0"/>
              <a:t>Фестиваль программирования «</a:t>
            </a:r>
            <a:r>
              <a:rPr lang="ru-RU" sz="4400" dirty="0" err="1"/>
              <a:t>ЮниКод</a:t>
            </a:r>
            <a:r>
              <a:rPr lang="ru-RU" sz="4400" dirty="0"/>
              <a:t>»</a:t>
            </a:r>
            <a:br>
              <a:rPr lang="ru-RU" sz="4400" dirty="0"/>
            </a:b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C56BF6BC-C30C-0799-CA43-9F8DCD04E2E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40" t="4823" r="7197" b="31728"/>
          <a:stretch/>
        </p:blipFill>
        <p:spPr>
          <a:xfrm>
            <a:off x="5438880" y="3844414"/>
            <a:ext cx="4803047" cy="2880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Рисунок 12">
            <a:extLst>
              <a:ext uri="{FF2B5EF4-FFF2-40B4-BE49-F238E27FC236}">
                <a16:creationId xmlns="" xmlns:a16="http://schemas.microsoft.com/office/drawing/2014/main" id="{49C0E415-036A-BD04-1A6F-F635F3FD35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539" y="2189173"/>
            <a:ext cx="2222815" cy="166711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709F9B09-9DE6-F9D0-EAFA-79ABC7D9E18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60" b="7658"/>
          <a:stretch/>
        </p:blipFill>
        <p:spPr>
          <a:xfrm>
            <a:off x="7471012" y="1538866"/>
            <a:ext cx="4534674" cy="2880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Прямоугольник: скругленные углы 2">
            <a:extLst>
              <a:ext uri="{FF2B5EF4-FFF2-40B4-BE49-F238E27FC236}">
                <a16:creationId xmlns="" xmlns:a16="http://schemas.microsoft.com/office/drawing/2014/main" id="{B53039A1-E57A-EEC5-6BDC-14864EF34DA5}"/>
              </a:ext>
            </a:extLst>
          </p:cNvPr>
          <p:cNvSpPr/>
          <p:nvPr/>
        </p:nvSpPr>
        <p:spPr>
          <a:xfrm>
            <a:off x="270424" y="5449972"/>
            <a:ext cx="1555845" cy="111137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solidFill>
                  <a:srgbClr val="FF0000"/>
                </a:solidFill>
                <a:latin typeface="Franklin Gothic Demi Cond" panose="020B0706030402020204" pitchFamily="34" charset="0"/>
              </a:rPr>
              <a:t>1 - 6 класс</a:t>
            </a:r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412" y="1654320"/>
            <a:ext cx="3136324" cy="4351338"/>
          </a:xfrm>
        </p:spPr>
      </p:pic>
    </p:spTree>
    <p:extLst>
      <p:ext uri="{BB962C8B-B14F-4D97-AF65-F5344CB8AC3E}">
        <p14:creationId xmlns:p14="http://schemas.microsoft.com/office/powerpoint/2010/main" val="2957799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7F743468-D525-AA26-646D-B0BCC5F31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5336" y="320440"/>
            <a:ext cx="5975465" cy="1975452"/>
          </a:xfrm>
        </p:spPr>
        <p:txBody>
          <a:bodyPr>
            <a:normAutofit/>
          </a:bodyPr>
          <a:lstStyle/>
          <a:p>
            <a:r>
              <a:rPr lang="ru-RU" sz="4400" dirty="0"/>
              <a:t>Конкурс  компьютерной графики и анимации</a:t>
            </a:r>
            <a:br>
              <a:rPr lang="ru-RU" sz="4400" dirty="0"/>
            </a:br>
            <a:r>
              <a:rPr lang="ru-RU" sz="2800" dirty="0"/>
              <a:t>совместно с Эрмитажем</a:t>
            </a:r>
            <a:endParaRPr lang="ru-RU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="" xmlns:a16="http://schemas.microsoft.com/office/drawing/2014/main" id="{5146D2A1-5F7E-98E8-B9E6-DDFCCDD0B1B7}"/>
              </a:ext>
            </a:extLst>
          </p:cNvPr>
          <p:cNvSpPr/>
          <p:nvPr/>
        </p:nvSpPr>
        <p:spPr>
          <a:xfrm>
            <a:off x="611596" y="4985041"/>
            <a:ext cx="1731917" cy="121748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solidFill>
                  <a:srgbClr val="FF0000"/>
                </a:solidFill>
                <a:latin typeface="Franklin Gothic Demi Cond" panose="020B0706030402020204" pitchFamily="34" charset="0"/>
              </a:rPr>
              <a:t>1 - 11 класс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3897FACA-95AD-AE64-FDEB-63805E4691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936" y="1090711"/>
            <a:ext cx="2521667" cy="36000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574" y="2196782"/>
            <a:ext cx="3011509" cy="4300076"/>
          </a:xfrm>
          <a:prstGeom prst="rect">
            <a:avLst/>
          </a:prstGeom>
        </p:spPr>
      </p:pic>
      <p:pic>
        <p:nvPicPr>
          <p:cNvPr id="2050" name="Picture 2" descr="https://downloader.disk.yandex.ru/preview/f26e5523c2d77cbc1c78eb36146114e9927c760697641e0a62c441a29a015556/66155b75/klwQEESeEZUwO6V-UIm1kRzuMVU-uAtZZdDIKf0FEkgoAFgyVtax06RyU6UM-YBjxZp0HWe8HIk-t11PLDSVCg%3D%3D?uid=0&amp;filename=IMG_1460.JPG&amp;disposition=inline&amp;hash=&amp;limit=0&amp;content_type=image%2Fjpeg&amp;owner_uid=0&amp;tknv=v2&amp;size=1872x96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3670" y="4710964"/>
            <a:ext cx="3164791" cy="210903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downloader.disk.yandex.ru/preview/184731f888d7f5fa60eaff9ef8d473fb4fbf9e6028b392d420b5b1db4feb5b98/66155b75/txgGtYGxSeT8sxCZE7Jhq1SlnwAdNOp2Bve843JGc-r8LYu5ZodNBwIWrueRswcbJZCZ_4Eq4K2LUtpmlm6cyA%3D%3D?uid=0&amp;filename=IMG_1529.JPG&amp;disposition=inline&amp;hash=&amp;limit=0&amp;content_type=image%2Fjpeg&amp;owner_uid=0&amp;tknv=v2&amp;size=1872x964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42" r="12648"/>
          <a:stretch/>
        </p:blipFill>
        <p:spPr bwMode="auto">
          <a:xfrm>
            <a:off x="9415696" y="3100916"/>
            <a:ext cx="2636743" cy="174520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downloader.disk.yandex.ru/preview/c92bd979b5bf45572032ce782a462b56050a14e3c3a53f549d7d455eef50e103/66155b76/CAm2_WW2ssnTBGuUr4SvM_FNt2n6FifYR0b8hXLpOCVhOgKh7aLJ38ISbfMaaTWMd5oHQcAZ9_1OJGlvf8wSrA%3D%3D?uid=0&amp;filename=IMG_1832.JPG&amp;disposition=inline&amp;hash=&amp;limit=0&amp;content_type=image%2Fjpeg&amp;owner_uid=0&amp;tknv=v2&amp;size=1872x96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7944" y="2461882"/>
            <a:ext cx="3577752" cy="238423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6374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0825" y="1236042"/>
            <a:ext cx="3268670" cy="4636690"/>
          </a:xfrm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6765D45E-78D3-D069-5A5F-3B572CBDD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00" dirty="0"/>
              <a:t/>
            </a:r>
            <a:br>
              <a:rPr lang="ru-RU" sz="4400" dirty="0"/>
            </a:br>
            <a:r>
              <a:rPr lang="ru-RU" sz="4400" dirty="0"/>
              <a:t>День профориентации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DF57CFF8-FAF2-5199-9FAA-EAC46A4C6A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495" y="1906621"/>
            <a:ext cx="2926387" cy="21947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2A4ED410-3E2A-A037-EFD5-F5E7521D7AE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29" b="9915"/>
          <a:stretch/>
        </p:blipFill>
        <p:spPr>
          <a:xfrm>
            <a:off x="8455148" y="1906621"/>
            <a:ext cx="3541985" cy="207093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Рисунок 10">
            <a:extLst>
              <a:ext uri="{FF2B5EF4-FFF2-40B4-BE49-F238E27FC236}">
                <a16:creationId xmlns="" xmlns:a16="http://schemas.microsoft.com/office/drawing/2014/main" id="{8B309D08-6955-C8AC-50DA-C12792A558A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45" b="14341"/>
          <a:stretch/>
        </p:blipFill>
        <p:spPr>
          <a:xfrm>
            <a:off x="6332706" y="3804512"/>
            <a:ext cx="5092207" cy="24333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="" xmlns:a16="http://schemas.microsoft.com/office/drawing/2014/main" id="{DA762E03-4925-61B8-880A-BBC8F1BA43B8}"/>
              </a:ext>
            </a:extLst>
          </p:cNvPr>
          <p:cNvSpPr/>
          <p:nvPr/>
        </p:nvSpPr>
        <p:spPr>
          <a:xfrm>
            <a:off x="1021623" y="4910170"/>
            <a:ext cx="1555845" cy="111137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solidFill>
                  <a:srgbClr val="FF0000"/>
                </a:solidFill>
                <a:latin typeface="Franklin Gothic Demi Cond" panose="020B0706030402020204" pitchFamily="34" charset="0"/>
              </a:rPr>
              <a:t>7 - 11 класс</a:t>
            </a:r>
          </a:p>
        </p:txBody>
      </p:sp>
    </p:spTree>
    <p:extLst>
      <p:ext uri="{BB962C8B-B14F-4D97-AF65-F5344CB8AC3E}">
        <p14:creationId xmlns:p14="http://schemas.microsoft.com/office/powerpoint/2010/main" val="636200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78334" y="232756"/>
            <a:ext cx="5975465" cy="909292"/>
          </a:xfrm>
        </p:spPr>
        <p:txBody>
          <a:bodyPr/>
          <a:lstStyle/>
          <a:p>
            <a:r>
              <a:rPr lang="ru-RU" dirty="0" smtClean="0"/>
              <a:t>Дни открытых дверей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10" t="9584" r="310" b="68959"/>
          <a:stretch/>
        </p:blipFill>
        <p:spPr>
          <a:xfrm>
            <a:off x="6454863" y="2378165"/>
            <a:ext cx="3600000" cy="1081659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97" b="19394"/>
          <a:stretch/>
        </p:blipFill>
        <p:spPr>
          <a:xfrm>
            <a:off x="1315371" y="1764640"/>
            <a:ext cx="3959352" cy="3570974"/>
          </a:xfrm>
          <a:prstGeom prst="rect">
            <a:avLst/>
          </a:prstGeom>
          <a:ln>
            <a:solidFill>
              <a:srgbClr val="24A67A"/>
            </a:solidFill>
          </a:ln>
        </p:spPr>
      </p:pic>
      <p:pic>
        <p:nvPicPr>
          <p:cNvPr id="6" name="Объект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10" t="30819" r="310" b="50158"/>
          <a:stretch/>
        </p:blipFill>
        <p:spPr>
          <a:xfrm>
            <a:off x="5597395" y="1285145"/>
            <a:ext cx="3600000" cy="958991"/>
          </a:xfrm>
          <a:prstGeom prst="rect">
            <a:avLst/>
          </a:prstGeom>
        </p:spPr>
      </p:pic>
      <p:pic>
        <p:nvPicPr>
          <p:cNvPr id="7" name="Объект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10" t="50285" r="310" b="28258"/>
          <a:stretch/>
        </p:blipFill>
        <p:spPr>
          <a:xfrm>
            <a:off x="7471843" y="3480253"/>
            <a:ext cx="3600000" cy="1081653"/>
          </a:xfrm>
          <a:prstGeom prst="rect">
            <a:avLst/>
          </a:prstGeom>
        </p:spPr>
      </p:pic>
      <p:pic>
        <p:nvPicPr>
          <p:cNvPr id="8" name="Объект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10" t="72406" r="310" b="7686"/>
          <a:stretch/>
        </p:blipFill>
        <p:spPr>
          <a:xfrm>
            <a:off x="8017376" y="4694562"/>
            <a:ext cx="3600000" cy="100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086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FCF1DE5B-A1CA-6ADE-63BE-A9E5B0C9D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Для педагогов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3B568731-CE9A-8F0A-9CEF-76A2D6C2B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Очные и онлайн семинары</a:t>
            </a:r>
          </a:p>
          <a:p>
            <a:r>
              <a:rPr lang="ru-RU" dirty="0"/>
              <a:t>Мастер-классы</a:t>
            </a:r>
          </a:p>
          <a:p>
            <a:r>
              <a:rPr lang="ru-RU" dirty="0"/>
              <a:t>Курсы повышения квалификации</a:t>
            </a: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142D606D-E1F2-0541-6108-79F7000A269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552" b="11394"/>
          <a:stretch/>
        </p:blipFill>
        <p:spPr>
          <a:xfrm>
            <a:off x="8366066" y="3107293"/>
            <a:ext cx="3010361" cy="2892842"/>
          </a:xfrm>
          <a:prstGeom prst="rect">
            <a:avLst/>
          </a:prstGeom>
          <a:ln>
            <a:noFill/>
          </a:ln>
          <a:effectLst>
            <a:softEdge rad="50800"/>
          </a:effectLst>
        </p:spPr>
      </p:pic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461F2E99-1FEB-29C5-B3D0-59C53537360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1" t="26621" r="11959"/>
          <a:stretch/>
        </p:blipFill>
        <p:spPr>
          <a:xfrm>
            <a:off x="1630694" y="3649024"/>
            <a:ext cx="3569111" cy="2274910"/>
          </a:xfrm>
          <a:prstGeom prst="rect">
            <a:avLst/>
          </a:prstGeom>
          <a:ln>
            <a:noFill/>
          </a:ln>
          <a:effectLst>
            <a:softEdge rad="50800"/>
          </a:effectLst>
        </p:spPr>
      </p:pic>
      <p:pic>
        <p:nvPicPr>
          <p:cNvPr id="11" name="Рисунок 10">
            <a:extLst>
              <a:ext uri="{FF2B5EF4-FFF2-40B4-BE49-F238E27FC236}">
                <a16:creationId xmlns="" xmlns:a16="http://schemas.microsoft.com/office/drawing/2014/main" id="{C27AD2AD-F802-F688-A988-BB5027074C0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85" r="3548"/>
          <a:stretch/>
        </p:blipFill>
        <p:spPr>
          <a:xfrm>
            <a:off x="7638433" y="1590959"/>
            <a:ext cx="4060724" cy="2251431"/>
          </a:xfrm>
          <a:prstGeom prst="rect">
            <a:avLst/>
          </a:prstGeom>
          <a:ln>
            <a:noFill/>
          </a:ln>
          <a:effectLst>
            <a:softEdge rad="50800"/>
          </a:effectLst>
        </p:spPr>
      </p:pic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828EBA47-7038-2D69-C362-3659FBF759B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6954" y="4661976"/>
            <a:ext cx="3569112" cy="2007626"/>
          </a:xfrm>
          <a:prstGeom prst="rect">
            <a:avLst/>
          </a:prstGeom>
          <a:ln>
            <a:noFill/>
          </a:ln>
          <a:effectLst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863033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6F2E4E69-6B4D-1775-61B4-A105B1EBC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Обучающие вебинары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4E546D54-D8AA-AA24-C52A-6CCC7F821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5500" y="1690688"/>
            <a:ext cx="4192757" cy="21764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На обучающих практических </a:t>
            </a:r>
            <a:r>
              <a:rPr lang="ru-RU" dirty="0" err="1"/>
              <a:t>вебинарах</a:t>
            </a:r>
            <a:r>
              <a:rPr lang="ru-RU" dirty="0"/>
              <a:t>  показываем современные цифровые приемы, помогающие педагогу в работе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3CCA7043-2F62-5EEC-452F-3BCCB56066C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07319" y="1677194"/>
            <a:ext cx="5217943" cy="2324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F4A79C9E-FA97-A061-465D-52A886A01C3C}"/>
              </a:ext>
            </a:extLst>
          </p:cNvPr>
          <p:cNvSpPr txBox="1"/>
          <p:nvPr/>
        </p:nvSpPr>
        <p:spPr>
          <a:xfrm>
            <a:off x="8929687" y="1825625"/>
            <a:ext cx="2576513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vk.com/teach_spb</a:t>
            </a:r>
            <a:endParaRPr lang="ru-RU" sz="2400" b="1" dirty="0">
              <a:solidFill>
                <a:srgbClr val="FF0000"/>
              </a:solidFill>
            </a:endParaRPr>
          </a:p>
        </p:txBody>
      </p:sp>
      <p:sp>
        <p:nvSpPr>
          <p:cNvPr id="10" name="Объект 2">
            <a:extLst>
              <a:ext uri="{FF2B5EF4-FFF2-40B4-BE49-F238E27FC236}">
                <a16:creationId xmlns="" xmlns:a16="http://schemas.microsoft.com/office/drawing/2014/main" id="{63115708-8BAF-D29D-54E7-FF9EEA11EA5E}"/>
              </a:ext>
            </a:extLst>
          </p:cNvPr>
          <p:cNvSpPr txBox="1">
            <a:spLocks/>
          </p:cNvSpPr>
          <p:nvPr/>
        </p:nvSpPr>
        <p:spPr>
          <a:xfrm>
            <a:off x="2118014" y="4227512"/>
            <a:ext cx="9388186" cy="2660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50000"/>
                  </a:schemeClr>
                </a:solidFill>
                <a:latin typeface="Franklin Gothic Medium Cond" panose="020B06060304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50000"/>
                  </a:schemeClr>
                </a:solidFill>
                <a:latin typeface="Franklin Gothic Medium Cond" panose="020B06060304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50000"/>
                  </a:schemeClr>
                </a:solidFill>
                <a:latin typeface="Franklin Gothic Medium Cond" panose="020B06060304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50000"/>
                  </a:schemeClr>
                </a:solidFill>
                <a:latin typeface="Franklin Gothic Medium Cond" panose="020B06060304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50000"/>
                  </a:schemeClr>
                </a:solidFill>
                <a:latin typeface="Franklin Gothic Medium Cond" panose="020B06060304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2400" dirty="0"/>
              <a:t>Как провести онлайн родительское собрание</a:t>
            </a:r>
            <a:endParaRPr lang="en-US" sz="2400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2400" dirty="0"/>
              <a:t>Запись и трансляция онлайн уроков</a:t>
            </a:r>
            <a:endParaRPr lang="en-US" sz="2400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2400" dirty="0"/>
              <a:t>Создаем тесты и викторины: быстро, просто, онлайн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2400" dirty="0"/>
              <a:t>Стильный сайт педагога без программирования</a:t>
            </a:r>
            <a:endParaRPr lang="en-US" sz="2400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2400" dirty="0"/>
              <a:t>Как настроить </a:t>
            </a:r>
            <a:r>
              <a:rPr lang="en-US" sz="2400" dirty="0" err="1"/>
              <a:t>Youtube</a:t>
            </a:r>
            <a:r>
              <a:rPr lang="en-US" sz="2400" dirty="0"/>
              <a:t>-</a:t>
            </a:r>
            <a:r>
              <a:rPr lang="ru-RU" sz="2400" dirty="0"/>
              <a:t>канал педагога</a:t>
            </a:r>
            <a:endParaRPr lang="en-US" sz="2400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2400" dirty="0"/>
              <a:t>Видеомонтаж обучающего ролика</a:t>
            </a:r>
            <a:endParaRPr lang="en-US" sz="2400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11" name="Рисунок 10">
            <a:hlinkClick r:id="rId3"/>
            <a:extLst>
              <a:ext uri="{FF2B5EF4-FFF2-40B4-BE49-F238E27FC236}">
                <a16:creationId xmlns="" xmlns:a16="http://schemas.microsoft.com/office/drawing/2014/main" id="{033B0467-7208-0CD3-B636-DFB3F25404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5658" y="4227512"/>
            <a:ext cx="1871322" cy="187132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14415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89336631-64A7-788F-8B1B-BEDCB7D69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894" y="781396"/>
            <a:ext cx="7136906" cy="909292"/>
          </a:xfrm>
        </p:spPr>
        <p:txBody>
          <a:bodyPr>
            <a:normAutofit fontScale="90000"/>
          </a:bodyPr>
          <a:lstStyle/>
          <a:p>
            <a:r>
              <a:rPr lang="ru-RU" dirty="0"/>
              <a:t>Курсы повышения квалификации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97FD3669-CE68-84AD-B135-26BB758CE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Программы Академии включены в Реестр программ повышения квалификации Комитетом по образованию Санкт-Петербурга по реализации персонифицированной модели повышения квалификации руководящих и педагогических работников государственных образовательных учреждений. </a:t>
            </a:r>
          </a:p>
          <a:p>
            <a:pPr marL="0" indent="0">
              <a:buNone/>
            </a:pPr>
            <a:r>
              <a:rPr lang="ru-RU" dirty="0"/>
              <a:t>Программы:</a:t>
            </a:r>
          </a:p>
          <a:p>
            <a:pPr marL="447675"/>
            <a:r>
              <a:rPr lang="ru-RU" sz="1900" dirty="0"/>
              <a:t>Графические и офисные приложения для решения педагогических задач</a:t>
            </a:r>
          </a:p>
          <a:p>
            <a:pPr marL="447675"/>
            <a:r>
              <a:rPr lang="ru-RU" sz="1900" dirty="0"/>
              <a:t>Демонстрационные, обучающие и промо видеоматериалы в образовательном учреждении</a:t>
            </a:r>
          </a:p>
          <a:p>
            <a:pPr marL="447675"/>
            <a:r>
              <a:rPr lang="ru-RU" sz="1900" dirty="0"/>
              <a:t>Интернет-технологии и сервисы в ИКТ-компетенции современного педагога </a:t>
            </a:r>
            <a:endParaRPr lang="ru-RU" sz="1900" dirty="0" smtClean="0"/>
          </a:p>
          <a:p>
            <a:pPr marL="447675"/>
            <a:r>
              <a:rPr lang="ru-RU" sz="1900" dirty="0" smtClean="0"/>
              <a:t>Цифровой дизайн образовательного контента</a:t>
            </a:r>
          </a:p>
          <a:p>
            <a:pPr marL="447675"/>
            <a:r>
              <a:rPr lang="ru-RU" sz="1900" dirty="0"/>
              <a:t>Функционал операционной системы </a:t>
            </a:r>
            <a:r>
              <a:rPr lang="ru-RU" sz="1900" dirty="0" err="1"/>
              <a:t>AstraLinux</a:t>
            </a:r>
            <a:r>
              <a:rPr lang="ru-RU" sz="1900" dirty="0"/>
              <a:t> в деятельности педагога</a:t>
            </a:r>
          </a:p>
          <a:p>
            <a:pPr marL="447675"/>
            <a:r>
              <a:rPr lang="ru-RU" sz="1900" dirty="0"/>
              <a:t>Английский язык. Развитие рецептивных и продуктивных навыков в соответствии с современными образовательными </a:t>
            </a:r>
            <a:r>
              <a:rPr lang="ru-RU" sz="1900" dirty="0" smtClean="0"/>
              <a:t>стандартами</a:t>
            </a:r>
          </a:p>
          <a:p>
            <a:pPr marL="447675"/>
            <a:r>
              <a:rPr lang="ru-RU" sz="1900" dirty="0" smtClean="0"/>
              <a:t>Реализация моделей наставничества в образовательной организации</a:t>
            </a:r>
          </a:p>
          <a:p>
            <a:pPr marL="447675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4790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CC0A28F7-D0A6-AD26-AFFC-C4986A08D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513" y="187838"/>
            <a:ext cx="5975465" cy="909292"/>
          </a:xfrm>
        </p:spPr>
        <p:txBody>
          <a:bodyPr/>
          <a:lstStyle/>
          <a:p>
            <a:r>
              <a:rPr lang="ru-RU" dirty="0"/>
              <a:t>Контакты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F7B512B3-9865-AD4C-B245-91E9D8DE1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4451" y="1248109"/>
            <a:ext cx="10987549" cy="4619419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ru-RU" sz="9800" dirty="0" smtClean="0">
                <a:solidFill>
                  <a:schemeClr val="accent4">
                    <a:lumMod val="50000"/>
                  </a:schemeClr>
                </a:solidFill>
              </a:rPr>
              <a:t>Пащенко</a:t>
            </a:r>
            <a:endParaRPr lang="en-US" sz="9800" dirty="0" smtClean="0">
              <a:solidFill>
                <a:schemeClr val="accent4">
                  <a:lumMod val="50000"/>
                </a:schemeClr>
              </a:solidFill>
            </a:endParaRPr>
          </a:p>
          <a:p>
            <a:pPr marL="0" indent="0" algn="ctr">
              <a:buNone/>
            </a:pPr>
            <a:r>
              <a:rPr lang="ru-RU" sz="9800" dirty="0" smtClean="0">
                <a:solidFill>
                  <a:schemeClr val="accent4">
                    <a:lumMod val="50000"/>
                  </a:schemeClr>
                </a:solidFill>
              </a:rPr>
              <a:t>Александра </a:t>
            </a:r>
            <a:r>
              <a:rPr lang="ru-RU" sz="9800" dirty="0">
                <a:solidFill>
                  <a:schemeClr val="accent4">
                    <a:lumMod val="50000"/>
                  </a:schemeClr>
                </a:solidFill>
              </a:rPr>
              <a:t>Евгеньевна</a:t>
            </a:r>
            <a:r>
              <a:rPr lang="ru-RU" sz="9800" dirty="0"/>
              <a:t> </a:t>
            </a:r>
            <a:endParaRPr lang="en-US" sz="9800" dirty="0"/>
          </a:p>
          <a:p>
            <a:pPr marL="0" indent="0" algn="ctr">
              <a:buNone/>
            </a:pPr>
            <a:endParaRPr lang="ru-RU" sz="4800" dirty="0"/>
          </a:p>
          <a:p>
            <a:pPr algn="ctr">
              <a:buFont typeface="Webdings" panose="05030102010509060703" pitchFamily="18" charset="2"/>
              <a:buChar char="É"/>
            </a:pPr>
            <a:r>
              <a:rPr lang="ru-RU" sz="4500" dirty="0" smtClean="0"/>
              <a:t>(</a:t>
            </a:r>
            <a:r>
              <a:rPr lang="ru-RU" sz="4500" dirty="0"/>
              <a:t>812) 612-11-22, </a:t>
            </a:r>
            <a:r>
              <a:rPr lang="ru-RU" sz="4500" dirty="0">
                <a:sym typeface="Webdings" panose="05030102010509060703" pitchFamily="18" charset="2"/>
              </a:rPr>
              <a:t> </a:t>
            </a:r>
            <a:r>
              <a:rPr lang="ru-RU" sz="4500" dirty="0" smtClean="0"/>
              <a:t>+7(911)840-10-17</a:t>
            </a:r>
          </a:p>
          <a:p>
            <a:pPr marL="0" indent="0" algn="ctr">
              <a:buNone/>
            </a:pPr>
            <a:r>
              <a:rPr lang="en-US" sz="4500" dirty="0"/>
              <a:t>E-mail:</a:t>
            </a:r>
            <a:r>
              <a:rPr lang="ru-RU" sz="4500" dirty="0"/>
              <a:t>  </a:t>
            </a:r>
            <a:r>
              <a:rPr lang="en-US" sz="4500" dirty="0" smtClean="0"/>
              <a:t>ucvt@obuchim.com</a:t>
            </a:r>
            <a:endParaRPr lang="ru-RU" sz="4500" dirty="0"/>
          </a:p>
          <a:p>
            <a:pPr marL="0" indent="0" algn="ctr">
              <a:buNone/>
            </a:pPr>
            <a:endParaRPr lang="en-US" sz="3600" dirty="0" smtClean="0"/>
          </a:p>
          <a:p>
            <a:pPr marL="0" indent="0" algn="ctr">
              <a:buNone/>
            </a:pPr>
            <a:r>
              <a:rPr lang="ru-RU" sz="5800" dirty="0" smtClean="0">
                <a:sym typeface="Webdings" panose="05030102010509060703" pitchFamily="18" charset="2"/>
              </a:rPr>
              <a:t></a:t>
            </a:r>
            <a:r>
              <a:rPr lang="ru-RU" sz="5800" dirty="0"/>
              <a:t>+</a:t>
            </a:r>
            <a:r>
              <a:rPr lang="ru-RU" sz="5800" dirty="0" smtClean="0"/>
              <a:t>7(921)967-23-30</a:t>
            </a:r>
            <a:endParaRPr lang="ru-RU" sz="5800" dirty="0"/>
          </a:p>
          <a:p>
            <a:pPr marL="0" indent="0" algn="ctr">
              <a:buNone/>
            </a:pPr>
            <a:r>
              <a:rPr lang="en-US" sz="5800" dirty="0" smtClean="0"/>
              <a:t>E-mail</a:t>
            </a:r>
            <a:r>
              <a:rPr lang="en-US" sz="5800" dirty="0"/>
              <a:t>:</a:t>
            </a:r>
            <a:r>
              <a:rPr lang="ru-RU" sz="5800" dirty="0"/>
              <a:t>  </a:t>
            </a:r>
            <a:r>
              <a:rPr lang="en-US" sz="5800" dirty="0" smtClean="0"/>
              <a:t>aek61@yandex.ru</a:t>
            </a:r>
            <a:endParaRPr lang="ru-RU" sz="4500" dirty="0"/>
          </a:p>
        </p:txBody>
      </p:sp>
    </p:spTree>
    <p:extLst>
      <p:ext uri="{BB962C8B-B14F-4D97-AF65-F5344CB8AC3E}">
        <p14:creationId xmlns:p14="http://schemas.microsoft.com/office/powerpoint/2010/main" val="728653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05781" y="2002632"/>
            <a:ext cx="9902108" cy="2852737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ru-RU" dirty="0">
                <a:latin typeface="Calibri" panose="020F0502020204030204" pitchFamily="34" charset="0"/>
              </a:rPr>
              <a:t>Интернет-технологии и сервисы </a:t>
            </a:r>
            <a:br>
              <a:rPr lang="ru-RU" dirty="0">
                <a:latin typeface="Calibri" panose="020F0502020204030204" pitchFamily="34" charset="0"/>
              </a:rPr>
            </a:br>
            <a:r>
              <a:rPr lang="ru-RU" dirty="0">
                <a:latin typeface="Calibri" panose="020F0502020204030204" pitchFamily="34" charset="0"/>
              </a:rPr>
              <a:t>в ИКТ-компетенции современного педагога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5214472" y="340943"/>
            <a:ext cx="628927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2">
                    <a:lumMod val="50000"/>
                  </a:schemeClr>
                </a:solidFill>
              </a:rPr>
              <a:t>Курс повышения квалификации</a:t>
            </a:r>
          </a:p>
        </p:txBody>
      </p:sp>
    </p:spTree>
    <p:extLst>
      <p:ext uri="{BB962C8B-B14F-4D97-AF65-F5344CB8AC3E}">
        <p14:creationId xmlns:p14="http://schemas.microsoft.com/office/powerpoint/2010/main" val="3974170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22723" y="162232"/>
            <a:ext cx="7182464" cy="1528456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ru-RU" dirty="0">
                <a:latin typeface="Calibri" panose="020F0502020204030204" pitchFamily="34" charset="0"/>
              </a:rPr>
              <a:t>Модуль </a:t>
            </a:r>
            <a:r>
              <a:rPr lang="ru-RU" dirty="0" smtClean="0">
                <a:latin typeface="Calibri" panose="020F0502020204030204" pitchFamily="34" charset="0"/>
              </a:rPr>
              <a:t>1</a:t>
            </a:r>
            <a:br>
              <a:rPr lang="ru-RU" dirty="0" smtClean="0">
                <a:latin typeface="Calibri" panose="020F0502020204030204" pitchFamily="34" charset="0"/>
              </a:rPr>
            </a:br>
            <a:r>
              <a:rPr lang="ru-RU" dirty="0" smtClean="0">
                <a:latin typeface="Calibri" panose="020F0502020204030204" pitchFamily="34" charset="0"/>
              </a:rPr>
              <a:t>Сетевые сервисы для </a:t>
            </a:r>
            <a:r>
              <a:rPr lang="ru-RU" dirty="0">
                <a:latin typeface="Calibri" panose="020F0502020204030204" pitchFamily="34" charset="0"/>
              </a:rPr>
              <a:t>педагога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13020" y="2204864"/>
            <a:ext cx="9227765" cy="3023344"/>
          </a:xfrm>
        </p:spPr>
        <p:txBody>
          <a:bodyPr rtlCol="0"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ru-RU" altLang="ru-RU" dirty="0" smtClean="0">
                <a:solidFill>
                  <a:schemeClr val="accent2"/>
                </a:solidFill>
                <a:latin typeface="+mn-lt"/>
                <a:hlinkClick r:id="rId3" action="ppaction://hlinksldjump"/>
              </a:rPr>
              <a:t> </a:t>
            </a:r>
            <a:r>
              <a:rPr lang="ru-RU" altLang="ru-RU" dirty="0" smtClean="0">
                <a:solidFill>
                  <a:schemeClr val="accent2"/>
                </a:solidFill>
                <a:latin typeface="+mn-lt"/>
                <a:hlinkClick r:id="rId3" action="ppaction://hlinksldjump"/>
              </a:rPr>
              <a:t>Глобальная </a:t>
            </a:r>
            <a:r>
              <a:rPr lang="ru-RU" altLang="ru-RU" dirty="0">
                <a:solidFill>
                  <a:schemeClr val="accent2"/>
                </a:solidFill>
                <a:latin typeface="+mn-lt"/>
                <a:hlinkClick r:id="rId3" action="ppaction://hlinksldjump"/>
              </a:rPr>
              <a:t>компьютерная сеть Интернет</a:t>
            </a:r>
            <a:endParaRPr lang="ru-RU" dirty="0" smtClean="0">
              <a:latin typeface="+mn-lt"/>
              <a:hlinkClick r:id="rId4" action="ppaction://hlinksldjump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ru-RU" dirty="0" smtClean="0">
                <a:latin typeface="Calibri" panose="020F0502020204030204" pitchFamily="34" charset="0"/>
                <a:hlinkClick r:id="rId4" action="ppaction://hlinksldjump"/>
              </a:rPr>
              <a:t> </a:t>
            </a:r>
            <a:r>
              <a:rPr lang="ru-RU" dirty="0" smtClean="0">
                <a:latin typeface="Calibri" panose="020F0502020204030204" pitchFamily="34" charset="0"/>
                <a:hlinkClick r:id="rId4" action="ppaction://hlinksldjump"/>
              </a:rPr>
              <a:t>Компоненты </a:t>
            </a:r>
            <a:r>
              <a:rPr lang="ru-RU" dirty="0">
                <a:latin typeface="Calibri" panose="020F0502020204030204" pitchFamily="34" charset="0"/>
                <a:hlinkClick r:id="rId4" action="ppaction://hlinksldjump"/>
              </a:rPr>
              <a:t>и ресурсы локальной </a:t>
            </a:r>
            <a:r>
              <a:rPr lang="ru-RU" dirty="0" smtClean="0">
                <a:latin typeface="Calibri" panose="020F0502020204030204" pitchFamily="34" charset="0"/>
                <a:hlinkClick r:id="rId4" action="ppaction://hlinksldjump"/>
              </a:rPr>
              <a:t>сети</a:t>
            </a:r>
            <a:endParaRPr lang="ru-RU" dirty="0">
              <a:latin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ru-RU" dirty="0" smtClean="0">
                <a:latin typeface="Calibri" panose="020F0502020204030204" pitchFamily="34" charset="0"/>
                <a:hlinkClick r:id="rId5" action="ppaction://hlinksldjump"/>
              </a:rPr>
              <a:t> </a:t>
            </a:r>
            <a:r>
              <a:rPr lang="ru-RU" dirty="0" smtClean="0">
                <a:latin typeface="Calibri" panose="020F0502020204030204" pitchFamily="34" charset="0"/>
                <a:hlinkClick r:id="rId6" action="ppaction://hlinksldjump"/>
              </a:rPr>
              <a:t>Подключение</a:t>
            </a:r>
            <a:r>
              <a:rPr lang="en-US" dirty="0">
                <a:latin typeface="Calibri" panose="020F0502020204030204" pitchFamily="34" charset="0"/>
                <a:hlinkClick r:id="rId6" action="ppaction://hlinksldjump"/>
              </a:rPr>
              <a:t>/</a:t>
            </a:r>
            <a:r>
              <a:rPr lang="ru-RU" dirty="0">
                <a:latin typeface="Calibri" panose="020F0502020204030204" pitchFamily="34" charset="0"/>
                <a:hlinkClick r:id="rId6" action="ppaction://hlinksldjump"/>
              </a:rPr>
              <a:t>отключение сетевых ресурсов</a:t>
            </a:r>
            <a:endParaRPr lang="ru-RU" dirty="0">
              <a:latin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ru-RU" dirty="0" smtClean="0">
                <a:latin typeface="Calibri" panose="020F0502020204030204" pitchFamily="34" charset="0"/>
                <a:hlinkClick r:id="rId7" action="ppaction://hlinksldjump"/>
              </a:rPr>
              <a:t>Резервное </a:t>
            </a:r>
            <a:r>
              <a:rPr lang="ru-RU" dirty="0">
                <a:latin typeface="Calibri" panose="020F0502020204030204" pitchFamily="34" charset="0"/>
                <a:hlinkClick r:id="rId7" action="ppaction://hlinksldjump"/>
              </a:rPr>
              <a:t>копирование данных</a:t>
            </a:r>
            <a:endParaRPr lang="ru-RU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928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ru-RU" altLang="ru-RU" sz="7200" dirty="0">
                <a:solidFill>
                  <a:schemeClr val="accent3">
                    <a:lumMod val="50000"/>
                  </a:schemeClr>
                </a:solidFill>
              </a:rPr>
              <a:t>Глобальная компьютерная сеть Интернет</a:t>
            </a:r>
          </a:p>
        </p:txBody>
      </p:sp>
    </p:spTree>
    <p:extLst>
      <p:ext uri="{BB962C8B-B14F-4D97-AF65-F5344CB8AC3E}">
        <p14:creationId xmlns:p14="http://schemas.microsoft.com/office/powerpoint/2010/main" val="608265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ChangeArrowheads="1"/>
          </p:cNvSpPr>
          <p:nvPr/>
        </p:nvSpPr>
        <p:spPr bwMode="auto">
          <a:xfrm>
            <a:off x="1981200" y="1447800"/>
            <a:ext cx="83820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ru-RU" altLang="ru-RU" sz="3200" b="1" dirty="0">
                <a:solidFill>
                  <a:schemeClr val="accent3">
                    <a:lumMod val="50000"/>
                  </a:schemeClr>
                </a:solidFill>
              </a:rPr>
              <a:t>Компьютерная сеть</a:t>
            </a:r>
            <a:r>
              <a:rPr lang="ru-RU" altLang="ru-RU" sz="32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ru-RU" altLang="ru-RU" sz="3200" dirty="0"/>
              <a:t>(</a:t>
            </a:r>
            <a:r>
              <a:rPr lang="ru-RU" altLang="ru-RU" sz="3200" dirty="0" err="1">
                <a:solidFill>
                  <a:srgbClr val="000000"/>
                </a:solidFill>
              </a:rPr>
              <a:t>Computer</a:t>
            </a:r>
            <a:r>
              <a:rPr lang="ru-RU" altLang="ru-RU" sz="3200" dirty="0">
                <a:solidFill>
                  <a:srgbClr val="000000"/>
                </a:solidFill>
              </a:rPr>
              <a:t> </a:t>
            </a:r>
            <a:r>
              <a:rPr lang="ru-RU" altLang="ru-RU" sz="3200" dirty="0" err="1">
                <a:solidFill>
                  <a:srgbClr val="000000"/>
                </a:solidFill>
              </a:rPr>
              <a:t>NetWork</a:t>
            </a:r>
            <a:r>
              <a:rPr lang="ru-RU" altLang="ru-RU" sz="3200" dirty="0">
                <a:solidFill>
                  <a:srgbClr val="000000"/>
                </a:solidFill>
              </a:rPr>
              <a:t>,</a:t>
            </a:r>
            <a:r>
              <a:rPr lang="ru-RU" altLang="ru-RU" sz="3200" dirty="0"/>
              <a:t>  </a:t>
            </a:r>
            <a:r>
              <a:rPr lang="ru-RU" altLang="ru-RU" sz="3200" dirty="0" err="1"/>
              <a:t>net</a:t>
            </a:r>
            <a:r>
              <a:rPr lang="ru-RU" altLang="ru-RU" sz="3200" dirty="0"/>
              <a:t> - сеть, и </a:t>
            </a:r>
            <a:r>
              <a:rPr lang="ru-RU" altLang="ru-RU" sz="3200" dirty="0" err="1"/>
              <a:t>work</a:t>
            </a:r>
            <a:r>
              <a:rPr lang="ru-RU" altLang="ru-RU" sz="3200" dirty="0"/>
              <a:t> - работа)  - это система обмена информацией между компьютерами. </a:t>
            </a:r>
          </a:p>
        </p:txBody>
      </p:sp>
      <p:sp>
        <p:nvSpPr>
          <p:cNvPr id="188419" name="Text Box 3"/>
          <p:cNvSpPr txBox="1">
            <a:spLocks noChangeArrowheads="1"/>
          </p:cNvSpPr>
          <p:nvPr/>
        </p:nvSpPr>
        <p:spPr bwMode="auto">
          <a:xfrm>
            <a:off x="1981200" y="3733801"/>
            <a:ext cx="8077200" cy="161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ru-RU" altLang="ru-RU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</a:rPr>
              <a:t>Основная цель:</a:t>
            </a:r>
            <a:r>
              <a:rPr lang="ru-RU" altLang="ru-RU" sz="32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ru-RU" altLang="ru-RU" sz="3200" dirty="0">
                <a:latin typeface="Times New Roman" panose="02020603050405020304" pitchFamily="18" charset="0"/>
              </a:rPr>
              <a:t>обеспечение пользователям потенциальной возможности доступа к локальным ресурсам всех компьютеров сети.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919755" y="132347"/>
            <a:ext cx="5975465" cy="1246694"/>
          </a:xfrm>
        </p:spPr>
        <p:txBody>
          <a:bodyPr>
            <a:normAutofit/>
          </a:bodyPr>
          <a:lstStyle/>
          <a:p>
            <a:r>
              <a:rPr lang="ru-RU" altLang="ru-RU" sz="4000" dirty="0" smtClean="0">
                <a:latin typeface="+mn-lt"/>
              </a:rPr>
              <a:t>ОСНОВНЫЕ ПОНЯТИЯ</a:t>
            </a:r>
            <a:endParaRPr lang="ru-RU" sz="4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826487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2209800" y="1118938"/>
            <a:ext cx="891540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ts val="500"/>
              </a:spcBef>
              <a:spcAft>
                <a:spcPts val="500"/>
              </a:spcAft>
            </a:pPr>
            <a:r>
              <a:rPr lang="ru-RU" altLang="ru-RU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</a:rPr>
              <a:t>Интернет</a:t>
            </a:r>
            <a:r>
              <a:rPr lang="ru-RU" altLang="ru-RU" sz="3200" dirty="0">
                <a:latin typeface="Times New Roman" panose="02020603050405020304" pitchFamily="18" charset="0"/>
              </a:rPr>
              <a:t> - это компьютерная сеть, которая представляет собой сообщество множества международных и национальных компьютерных сетей, которое охватывает весь мир.</a:t>
            </a:r>
            <a:endParaRPr lang="ru-RU" altLang="ru-RU" sz="32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4156" name="Object 60"/>
          <p:cNvGraphicFramePr>
            <a:graphicFrameLocks noChangeAspect="1"/>
          </p:cNvGraphicFramePr>
          <p:nvPr/>
        </p:nvGraphicFramePr>
        <p:xfrm>
          <a:off x="2209800" y="2514600"/>
          <a:ext cx="7772400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Диаграмма" r:id="rId3" imgW="7772271" imgH="4114705" progId="MSGraph.Chart.8">
                  <p:embed followColorScheme="full"/>
                </p:oleObj>
              </mc:Choice>
              <mc:Fallback>
                <p:oleObj name="Диаграмма" r:id="rId3" imgW="7772271" imgH="4114705" progId="MSGraph.Chart.8">
                  <p:embed followColorScheme="full"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514600"/>
                        <a:ext cx="7772400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5582654" y="0"/>
            <a:ext cx="6488812" cy="1034716"/>
          </a:xfrm>
        </p:spPr>
        <p:txBody>
          <a:bodyPr>
            <a:normAutofit/>
          </a:bodyPr>
          <a:lstStyle/>
          <a:p>
            <a:r>
              <a:rPr lang="ru-RU" altLang="ru-RU" sz="4000" dirty="0" smtClean="0">
                <a:latin typeface="+mn-lt"/>
              </a:rPr>
              <a:t>ОСНОВНЫЕ ПОНЯТИЯ</a:t>
            </a:r>
            <a:endParaRPr lang="ru-RU" sz="4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13166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922" name="Group 2"/>
          <p:cNvGrpSpPr>
            <a:grpSpLocks/>
          </p:cNvGrpSpPr>
          <p:nvPr/>
        </p:nvGrpSpPr>
        <p:grpSpPr bwMode="auto">
          <a:xfrm>
            <a:off x="1752601" y="1828800"/>
            <a:ext cx="7921626" cy="4027488"/>
            <a:chOff x="144" y="1440"/>
            <a:chExt cx="4990" cy="2537"/>
          </a:xfrm>
        </p:grpSpPr>
        <p:sp>
          <p:nvSpPr>
            <p:cNvPr id="209923" name="Text Box 3"/>
            <p:cNvSpPr txBox="1">
              <a:spLocks noChangeArrowheads="1"/>
            </p:cNvSpPr>
            <p:nvPr/>
          </p:nvSpPr>
          <p:spPr bwMode="auto">
            <a:xfrm>
              <a:off x="3696" y="1440"/>
              <a:ext cx="143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ru-RU" altLang="ru-RU" b="1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</a:rPr>
                <a:t>компьютерные сети</a:t>
              </a:r>
            </a:p>
          </p:txBody>
        </p:sp>
        <p:sp>
          <p:nvSpPr>
            <p:cNvPr id="209924" name="Text Box 4"/>
            <p:cNvSpPr txBox="1">
              <a:spLocks noChangeArrowheads="1"/>
            </p:cNvSpPr>
            <p:nvPr/>
          </p:nvSpPr>
          <p:spPr bwMode="auto">
            <a:xfrm>
              <a:off x="144" y="3744"/>
              <a:ext cx="126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ru-RU" altLang="ru-RU" b="1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</a:rPr>
                <a:t>маршрутизаторы</a:t>
              </a:r>
            </a:p>
          </p:txBody>
        </p:sp>
        <p:sp>
          <p:nvSpPr>
            <p:cNvPr id="209925" name="Rectangle 5"/>
            <p:cNvSpPr>
              <a:spLocks noChangeArrowheads="1"/>
            </p:cNvSpPr>
            <p:nvPr/>
          </p:nvSpPr>
          <p:spPr bwMode="auto">
            <a:xfrm>
              <a:off x="2022" y="2240"/>
              <a:ext cx="315" cy="141"/>
            </a:xfrm>
            <a:prstGeom prst="rect">
              <a:avLst/>
            </a:prstGeom>
            <a:solidFill>
              <a:srgbClr val="FF99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09926" name="Rectangle 6"/>
            <p:cNvSpPr>
              <a:spLocks noChangeArrowheads="1"/>
            </p:cNvSpPr>
            <p:nvPr/>
          </p:nvSpPr>
          <p:spPr bwMode="auto">
            <a:xfrm>
              <a:off x="3423" y="2240"/>
              <a:ext cx="315" cy="141"/>
            </a:xfrm>
            <a:prstGeom prst="rect">
              <a:avLst/>
            </a:prstGeom>
            <a:solidFill>
              <a:srgbClr val="FF99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09927" name="Rectangle 7"/>
            <p:cNvSpPr>
              <a:spLocks noChangeArrowheads="1"/>
            </p:cNvSpPr>
            <p:nvPr/>
          </p:nvSpPr>
          <p:spPr bwMode="auto">
            <a:xfrm>
              <a:off x="2022" y="2836"/>
              <a:ext cx="315" cy="141"/>
            </a:xfrm>
            <a:prstGeom prst="rect">
              <a:avLst/>
            </a:prstGeom>
            <a:solidFill>
              <a:srgbClr val="FF99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09928" name="Rectangle 8"/>
            <p:cNvSpPr>
              <a:spLocks noChangeArrowheads="1"/>
            </p:cNvSpPr>
            <p:nvPr/>
          </p:nvSpPr>
          <p:spPr bwMode="auto">
            <a:xfrm>
              <a:off x="3423" y="2836"/>
              <a:ext cx="315" cy="141"/>
            </a:xfrm>
            <a:prstGeom prst="rect">
              <a:avLst/>
            </a:prstGeom>
            <a:solidFill>
              <a:srgbClr val="FF99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09929" name="Line 9"/>
            <p:cNvSpPr>
              <a:spLocks noChangeShapeType="1"/>
            </p:cNvSpPr>
            <p:nvPr/>
          </p:nvSpPr>
          <p:spPr bwMode="auto">
            <a:xfrm>
              <a:off x="1742" y="2310"/>
              <a:ext cx="2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09930" name="Line 10"/>
            <p:cNvSpPr>
              <a:spLocks noChangeShapeType="1"/>
            </p:cNvSpPr>
            <p:nvPr/>
          </p:nvSpPr>
          <p:spPr bwMode="auto">
            <a:xfrm>
              <a:off x="1742" y="2906"/>
              <a:ext cx="2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09931" name="Line 11"/>
            <p:cNvSpPr>
              <a:spLocks noChangeShapeType="1"/>
            </p:cNvSpPr>
            <p:nvPr/>
          </p:nvSpPr>
          <p:spPr bwMode="auto">
            <a:xfrm>
              <a:off x="3738" y="2310"/>
              <a:ext cx="2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09932" name="Line 12"/>
            <p:cNvSpPr>
              <a:spLocks noChangeShapeType="1"/>
            </p:cNvSpPr>
            <p:nvPr/>
          </p:nvSpPr>
          <p:spPr bwMode="auto">
            <a:xfrm>
              <a:off x="3738" y="2906"/>
              <a:ext cx="2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09933" name="Line 13"/>
            <p:cNvSpPr>
              <a:spLocks noChangeShapeType="1"/>
            </p:cNvSpPr>
            <p:nvPr/>
          </p:nvSpPr>
          <p:spPr bwMode="auto">
            <a:xfrm>
              <a:off x="2337" y="2310"/>
              <a:ext cx="10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09934" name="Line 14"/>
            <p:cNvSpPr>
              <a:spLocks noChangeShapeType="1"/>
            </p:cNvSpPr>
            <p:nvPr/>
          </p:nvSpPr>
          <p:spPr bwMode="auto">
            <a:xfrm>
              <a:off x="2162" y="2380"/>
              <a:ext cx="0" cy="4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09935" name="Line 15"/>
            <p:cNvSpPr>
              <a:spLocks noChangeShapeType="1"/>
            </p:cNvSpPr>
            <p:nvPr/>
          </p:nvSpPr>
          <p:spPr bwMode="auto">
            <a:xfrm flipH="1">
              <a:off x="2337" y="2380"/>
              <a:ext cx="1226" cy="5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09936" name="Line 16"/>
            <p:cNvSpPr>
              <a:spLocks noChangeShapeType="1"/>
            </p:cNvSpPr>
            <p:nvPr/>
          </p:nvSpPr>
          <p:spPr bwMode="auto">
            <a:xfrm>
              <a:off x="3563" y="2380"/>
              <a:ext cx="0" cy="4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09937" name="Line 17"/>
            <p:cNvSpPr>
              <a:spLocks noChangeShapeType="1"/>
            </p:cNvSpPr>
            <p:nvPr/>
          </p:nvSpPr>
          <p:spPr bwMode="auto">
            <a:xfrm>
              <a:off x="2162" y="1995"/>
              <a:ext cx="0" cy="24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09938" name="Line 18"/>
            <p:cNvSpPr>
              <a:spLocks noChangeShapeType="1"/>
            </p:cNvSpPr>
            <p:nvPr/>
          </p:nvSpPr>
          <p:spPr bwMode="auto">
            <a:xfrm flipH="1">
              <a:off x="2162" y="2135"/>
              <a:ext cx="245" cy="10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09939" name="Line 19"/>
            <p:cNvSpPr>
              <a:spLocks noChangeShapeType="1"/>
            </p:cNvSpPr>
            <p:nvPr/>
          </p:nvSpPr>
          <p:spPr bwMode="auto">
            <a:xfrm>
              <a:off x="2162" y="2976"/>
              <a:ext cx="245" cy="10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09940" name="Line 20"/>
            <p:cNvSpPr>
              <a:spLocks noChangeShapeType="1"/>
            </p:cNvSpPr>
            <p:nvPr/>
          </p:nvSpPr>
          <p:spPr bwMode="auto">
            <a:xfrm>
              <a:off x="3353" y="2135"/>
              <a:ext cx="245" cy="10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09941" name="Line 21"/>
            <p:cNvSpPr>
              <a:spLocks noChangeShapeType="1"/>
            </p:cNvSpPr>
            <p:nvPr/>
          </p:nvSpPr>
          <p:spPr bwMode="auto">
            <a:xfrm flipH="1">
              <a:off x="3598" y="2135"/>
              <a:ext cx="245" cy="10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09942" name="Line 22"/>
            <p:cNvSpPr>
              <a:spLocks noChangeShapeType="1"/>
            </p:cNvSpPr>
            <p:nvPr/>
          </p:nvSpPr>
          <p:spPr bwMode="auto">
            <a:xfrm flipH="1">
              <a:off x="3318" y="2976"/>
              <a:ext cx="245" cy="10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09943" name="Line 23"/>
            <p:cNvSpPr>
              <a:spLocks noChangeShapeType="1"/>
            </p:cNvSpPr>
            <p:nvPr/>
          </p:nvSpPr>
          <p:spPr bwMode="auto">
            <a:xfrm>
              <a:off x="3563" y="2976"/>
              <a:ext cx="0" cy="24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09944" name="Line 24"/>
            <p:cNvSpPr>
              <a:spLocks noChangeShapeType="1"/>
            </p:cNvSpPr>
            <p:nvPr/>
          </p:nvSpPr>
          <p:spPr bwMode="auto">
            <a:xfrm>
              <a:off x="1672" y="2415"/>
              <a:ext cx="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09945" name="Line 25"/>
            <p:cNvSpPr>
              <a:spLocks noChangeShapeType="1"/>
            </p:cNvSpPr>
            <p:nvPr/>
          </p:nvSpPr>
          <p:spPr bwMode="auto">
            <a:xfrm>
              <a:off x="2337" y="2906"/>
              <a:ext cx="10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09946" name="Rectangle 26"/>
            <p:cNvSpPr>
              <a:spLocks noChangeArrowheads="1"/>
            </p:cNvSpPr>
            <p:nvPr/>
          </p:nvSpPr>
          <p:spPr bwMode="auto">
            <a:xfrm>
              <a:off x="2709" y="3360"/>
              <a:ext cx="315" cy="141"/>
            </a:xfrm>
            <a:prstGeom prst="rect">
              <a:avLst/>
            </a:prstGeom>
            <a:solidFill>
              <a:srgbClr val="FF99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09947" name="Line 27"/>
            <p:cNvSpPr>
              <a:spLocks noChangeShapeType="1"/>
            </p:cNvSpPr>
            <p:nvPr/>
          </p:nvSpPr>
          <p:spPr bwMode="auto">
            <a:xfrm>
              <a:off x="2640" y="3264"/>
              <a:ext cx="245" cy="10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09948" name="Line 28"/>
            <p:cNvSpPr>
              <a:spLocks noChangeShapeType="1"/>
            </p:cNvSpPr>
            <p:nvPr/>
          </p:nvSpPr>
          <p:spPr bwMode="auto">
            <a:xfrm flipH="1">
              <a:off x="2832" y="3264"/>
              <a:ext cx="245" cy="10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09949" name="Oval 29"/>
            <p:cNvSpPr>
              <a:spLocks noChangeArrowheads="1"/>
            </p:cNvSpPr>
            <p:nvPr/>
          </p:nvSpPr>
          <p:spPr bwMode="auto">
            <a:xfrm>
              <a:off x="4018" y="2135"/>
              <a:ext cx="350" cy="350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09950" name="Oval 30"/>
            <p:cNvSpPr>
              <a:spLocks noChangeArrowheads="1"/>
            </p:cNvSpPr>
            <p:nvPr/>
          </p:nvSpPr>
          <p:spPr bwMode="auto">
            <a:xfrm>
              <a:off x="4018" y="2731"/>
              <a:ext cx="350" cy="350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09951" name="Oval 31"/>
            <p:cNvSpPr>
              <a:spLocks noChangeArrowheads="1"/>
            </p:cNvSpPr>
            <p:nvPr/>
          </p:nvSpPr>
          <p:spPr bwMode="auto">
            <a:xfrm>
              <a:off x="3038" y="1855"/>
              <a:ext cx="350" cy="350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09952" name="Oval 32"/>
            <p:cNvSpPr>
              <a:spLocks noChangeArrowheads="1"/>
            </p:cNvSpPr>
            <p:nvPr/>
          </p:nvSpPr>
          <p:spPr bwMode="auto">
            <a:xfrm>
              <a:off x="2372" y="2976"/>
              <a:ext cx="350" cy="350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09953" name="Oval 33"/>
            <p:cNvSpPr>
              <a:spLocks noChangeArrowheads="1"/>
            </p:cNvSpPr>
            <p:nvPr/>
          </p:nvSpPr>
          <p:spPr bwMode="auto">
            <a:xfrm>
              <a:off x="2757" y="2450"/>
              <a:ext cx="351" cy="351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09954" name="Oval 34"/>
            <p:cNvSpPr>
              <a:spLocks noChangeArrowheads="1"/>
            </p:cNvSpPr>
            <p:nvPr/>
          </p:nvSpPr>
          <p:spPr bwMode="auto">
            <a:xfrm>
              <a:off x="1987" y="1680"/>
              <a:ext cx="350" cy="350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09955" name="Oval 35"/>
            <p:cNvSpPr>
              <a:spLocks noChangeArrowheads="1"/>
            </p:cNvSpPr>
            <p:nvPr/>
          </p:nvSpPr>
          <p:spPr bwMode="auto">
            <a:xfrm>
              <a:off x="2372" y="1890"/>
              <a:ext cx="350" cy="350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09956" name="Oval 36"/>
            <p:cNvSpPr>
              <a:spLocks noChangeArrowheads="1"/>
            </p:cNvSpPr>
            <p:nvPr/>
          </p:nvSpPr>
          <p:spPr bwMode="auto">
            <a:xfrm>
              <a:off x="3773" y="1855"/>
              <a:ext cx="350" cy="350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09957" name="Oval 37"/>
            <p:cNvSpPr>
              <a:spLocks noChangeArrowheads="1"/>
            </p:cNvSpPr>
            <p:nvPr/>
          </p:nvSpPr>
          <p:spPr bwMode="auto">
            <a:xfrm>
              <a:off x="3388" y="3186"/>
              <a:ext cx="350" cy="350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09958" name="Oval 38"/>
            <p:cNvSpPr>
              <a:spLocks noChangeArrowheads="1"/>
            </p:cNvSpPr>
            <p:nvPr/>
          </p:nvSpPr>
          <p:spPr bwMode="auto">
            <a:xfrm>
              <a:off x="3003" y="2976"/>
              <a:ext cx="350" cy="350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09959" name="Line 39"/>
            <p:cNvSpPr>
              <a:spLocks noChangeShapeType="1"/>
            </p:cNvSpPr>
            <p:nvPr/>
          </p:nvSpPr>
          <p:spPr bwMode="auto">
            <a:xfrm flipH="1">
              <a:off x="1200" y="2448"/>
              <a:ext cx="245" cy="10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09960" name="Line 40"/>
            <p:cNvSpPr>
              <a:spLocks noChangeShapeType="1"/>
            </p:cNvSpPr>
            <p:nvPr/>
          </p:nvSpPr>
          <p:spPr bwMode="auto">
            <a:xfrm>
              <a:off x="1248" y="2688"/>
              <a:ext cx="245" cy="10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09961" name="Oval 41"/>
            <p:cNvSpPr>
              <a:spLocks noChangeArrowheads="1"/>
            </p:cNvSpPr>
            <p:nvPr/>
          </p:nvSpPr>
          <p:spPr bwMode="auto">
            <a:xfrm>
              <a:off x="1392" y="2146"/>
              <a:ext cx="350" cy="350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09962" name="Oval 42"/>
            <p:cNvSpPr>
              <a:spLocks noChangeArrowheads="1"/>
            </p:cNvSpPr>
            <p:nvPr/>
          </p:nvSpPr>
          <p:spPr bwMode="auto">
            <a:xfrm>
              <a:off x="1392" y="2736"/>
              <a:ext cx="350" cy="350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09963" name="Rectangle 43"/>
            <p:cNvSpPr>
              <a:spLocks noChangeArrowheads="1"/>
            </p:cNvSpPr>
            <p:nvPr/>
          </p:nvSpPr>
          <p:spPr bwMode="auto">
            <a:xfrm>
              <a:off x="1077" y="2548"/>
              <a:ext cx="315" cy="141"/>
            </a:xfrm>
            <a:prstGeom prst="rect">
              <a:avLst/>
            </a:prstGeom>
            <a:solidFill>
              <a:srgbClr val="FF99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09964" name="Line 44"/>
            <p:cNvSpPr>
              <a:spLocks noChangeShapeType="1"/>
            </p:cNvSpPr>
            <p:nvPr/>
          </p:nvSpPr>
          <p:spPr bwMode="auto">
            <a:xfrm flipV="1">
              <a:off x="2208" y="1584"/>
              <a:ext cx="1536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09965" name="Line 45"/>
            <p:cNvSpPr>
              <a:spLocks noChangeShapeType="1"/>
            </p:cNvSpPr>
            <p:nvPr/>
          </p:nvSpPr>
          <p:spPr bwMode="auto">
            <a:xfrm flipV="1">
              <a:off x="3264" y="1584"/>
              <a:ext cx="48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09966" name="Line 46"/>
            <p:cNvSpPr>
              <a:spLocks noChangeShapeType="1"/>
            </p:cNvSpPr>
            <p:nvPr/>
          </p:nvSpPr>
          <p:spPr bwMode="auto">
            <a:xfrm flipH="1">
              <a:off x="336" y="3408"/>
              <a:ext cx="2544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09967" name="Line 47"/>
            <p:cNvSpPr>
              <a:spLocks noChangeShapeType="1"/>
            </p:cNvSpPr>
            <p:nvPr/>
          </p:nvSpPr>
          <p:spPr bwMode="auto">
            <a:xfrm flipH="1">
              <a:off x="288" y="2880"/>
              <a:ext cx="1920" cy="86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09968" name="Rectangle 48"/>
          <p:cNvSpPr>
            <a:spLocks noChangeArrowheads="1"/>
          </p:cNvSpPr>
          <p:nvPr/>
        </p:nvSpPr>
        <p:spPr bwMode="auto">
          <a:xfrm>
            <a:off x="2209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u-RU" altLang="ru-RU" sz="4400" b="1" dirty="0">
              <a:solidFill>
                <a:schemeClr val="tx2"/>
              </a:solidFill>
            </a:endParaRPr>
          </a:p>
        </p:txBody>
      </p:sp>
      <p:sp>
        <p:nvSpPr>
          <p:cNvPr id="51" name="Заголовок 1"/>
          <p:cNvSpPr>
            <a:spLocks noGrp="1"/>
          </p:cNvSpPr>
          <p:nvPr>
            <p:ph type="title"/>
          </p:nvPr>
        </p:nvSpPr>
        <p:spPr>
          <a:xfrm>
            <a:off x="5919755" y="132347"/>
            <a:ext cx="5975465" cy="1246694"/>
          </a:xfrm>
        </p:spPr>
        <p:txBody>
          <a:bodyPr>
            <a:normAutofit/>
          </a:bodyPr>
          <a:lstStyle/>
          <a:p>
            <a:r>
              <a:rPr lang="ru-RU" altLang="ru-RU" sz="4000" dirty="0" smtClean="0">
                <a:latin typeface="+mn-lt"/>
              </a:rPr>
              <a:t>ОСНОВНЫЕ ПОНЯТИЯ</a:t>
            </a:r>
            <a:endParaRPr lang="ru-RU" sz="4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581911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ChangeArrowheads="1"/>
          </p:cNvSpPr>
          <p:nvPr/>
        </p:nvSpPr>
        <p:spPr bwMode="auto">
          <a:xfrm>
            <a:off x="2209800" y="0"/>
            <a:ext cx="77724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u-RU" altLang="ru-RU" sz="4400" dirty="0">
              <a:solidFill>
                <a:schemeClr val="tx2"/>
              </a:solidFill>
            </a:endParaRPr>
          </a:p>
        </p:txBody>
      </p:sp>
      <p:sp>
        <p:nvSpPr>
          <p:cNvPr id="189443" name="Rectangle 3"/>
          <p:cNvSpPr>
            <a:spLocks noChangeArrowheads="1"/>
          </p:cNvSpPr>
          <p:nvPr/>
        </p:nvSpPr>
        <p:spPr bwMode="auto">
          <a:xfrm>
            <a:off x="2895600" y="2286000"/>
            <a:ext cx="6477000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ru-RU" altLang="ru-RU" sz="3200"/>
              <a:t>степень географического распространения;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ru-RU" altLang="ru-RU" sz="3200"/>
              <a:t>масштаб производственного подразделения;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ru-RU" altLang="ru-RU" sz="3200"/>
              <a:t>способ управления;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ru-RU" altLang="ru-RU" sz="3200"/>
              <a:t>структура (топология) связей. 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83043" y="990600"/>
            <a:ext cx="9131968" cy="1199804"/>
          </a:xfrm>
        </p:spPr>
        <p:txBody>
          <a:bodyPr>
            <a:normAutofit fontScale="90000"/>
          </a:bodyPr>
          <a:lstStyle/>
          <a:p>
            <a:pPr algn="ctr"/>
            <a:r>
              <a:rPr lang="ru-RU" altLang="ru-RU" dirty="0">
                <a:solidFill>
                  <a:schemeClr val="accent3">
                    <a:lumMod val="50000"/>
                  </a:schemeClr>
                </a:solidFill>
              </a:rPr>
              <a:t>Компьютерные </a:t>
            </a:r>
            <a:r>
              <a:rPr lang="ru-RU" altLang="ru-RU" dirty="0" smtClean="0">
                <a:solidFill>
                  <a:schemeClr val="accent3">
                    <a:lumMod val="50000"/>
                  </a:schemeClr>
                </a:solidFill>
              </a:rPr>
              <a:t>сети классифицируются</a:t>
            </a:r>
            <a:br>
              <a:rPr lang="ru-RU" altLang="ru-RU" dirty="0" smtClean="0">
                <a:solidFill>
                  <a:schemeClr val="accent3">
                    <a:lumMod val="50000"/>
                  </a:schemeClr>
                </a:solidFill>
              </a:rPr>
            </a:br>
            <a:r>
              <a:rPr lang="ru-RU" altLang="ru-RU" dirty="0" smtClean="0">
                <a:solidFill>
                  <a:schemeClr val="accent3">
                    <a:lumMod val="50000"/>
                  </a:schemeClr>
                </a:solidFill>
              </a:rPr>
              <a:t>по </a:t>
            </a:r>
            <a:r>
              <a:rPr lang="ru-RU" altLang="ru-RU" dirty="0">
                <a:solidFill>
                  <a:schemeClr val="accent3">
                    <a:lumMod val="50000"/>
                  </a:schemeClr>
                </a:solidFill>
              </a:rPr>
              <a:t>следующим признакам</a:t>
            </a:r>
            <a:endParaRPr lang="ru-RU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28948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7" name="Text Box 1027"/>
          <p:cNvSpPr txBox="1">
            <a:spLocks noChangeArrowheads="1"/>
          </p:cNvSpPr>
          <p:nvPr/>
        </p:nvSpPr>
        <p:spPr bwMode="auto">
          <a:xfrm>
            <a:off x="2057400" y="1143000"/>
            <a:ext cx="84582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ru-RU" altLang="ru-RU" sz="3200" b="1" dirty="0">
                <a:solidFill>
                  <a:schemeClr val="accent3">
                    <a:lumMod val="50000"/>
                  </a:schemeClr>
                </a:solidFill>
              </a:rPr>
              <a:t>Интернет</a:t>
            </a:r>
            <a:r>
              <a:rPr lang="ru-RU" altLang="ru-RU" sz="3200" b="1" dirty="0"/>
              <a:t> </a:t>
            </a:r>
            <a:r>
              <a:rPr lang="en-US" altLang="ru-RU" sz="3200" dirty="0"/>
              <a:t>- </a:t>
            </a:r>
            <a:r>
              <a:rPr lang="ru-RU" altLang="ru-RU" sz="3200" dirty="0"/>
              <a:t>это сообщество множества международных и национальных компьютерных сетей.</a:t>
            </a:r>
            <a:endParaRPr lang="ru-RU" altLang="ru-RU" sz="3200" b="1" dirty="0"/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ru-RU" altLang="ru-RU" sz="3200" b="1" dirty="0" err="1">
                <a:solidFill>
                  <a:schemeClr val="accent3">
                    <a:lumMod val="50000"/>
                  </a:schemeClr>
                </a:solidFill>
              </a:rPr>
              <a:t>Интранет</a:t>
            </a:r>
            <a:r>
              <a:rPr lang="ru-RU" altLang="ru-RU" sz="3200" dirty="0"/>
              <a:t> -</a:t>
            </a:r>
            <a:r>
              <a:rPr lang="ru-RU" altLang="ru-RU" sz="3200" dirty="0">
                <a:solidFill>
                  <a:srgbClr val="000000"/>
                </a:solidFill>
              </a:rPr>
              <a:t> внутренняя сеть организации</a:t>
            </a:r>
            <a:r>
              <a:rPr lang="ru-RU" altLang="ru-RU" sz="3200" dirty="0"/>
              <a:t>, использующая стандарты, протоколы и технологии Интернет. 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ru-RU" altLang="ru-RU" sz="3200" b="1" dirty="0" err="1">
                <a:solidFill>
                  <a:schemeClr val="accent3">
                    <a:lumMod val="50000"/>
                  </a:schemeClr>
                </a:solidFill>
              </a:rPr>
              <a:t>Экстранет</a:t>
            </a:r>
            <a:r>
              <a:rPr lang="ru-RU" altLang="ru-RU" sz="3200" b="1" dirty="0"/>
              <a:t> </a:t>
            </a:r>
            <a:r>
              <a:rPr lang="ru-RU" altLang="ru-RU" sz="3200" dirty="0"/>
              <a:t>-</a:t>
            </a:r>
            <a:r>
              <a:rPr lang="ru-RU" altLang="ru-RU" sz="3200" b="1" dirty="0"/>
              <a:t> </a:t>
            </a:r>
            <a:r>
              <a:rPr lang="ru-RU" altLang="ru-RU" sz="3200" dirty="0"/>
              <a:t>корпоративная </a:t>
            </a:r>
            <a:r>
              <a:rPr lang="ru-RU" altLang="ru-RU" sz="3200" dirty="0" err="1"/>
              <a:t>Интранет</a:t>
            </a:r>
            <a:r>
              <a:rPr lang="ru-RU" altLang="ru-RU" sz="3200" dirty="0"/>
              <a:t>. </a:t>
            </a:r>
            <a:endParaRPr lang="ru-RU" altLang="ru-RU" sz="3200" b="1" dirty="0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6126046" y="60156"/>
            <a:ext cx="5975465" cy="909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24A67A"/>
                </a:solidFill>
                <a:latin typeface="Franklin Gothic Medium Cond" panose="020B0606030402020204" pitchFamily="34" charset="0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latin typeface="Calibri" panose="020F0502020204030204" pitchFamily="34" charset="0"/>
                <a:cs typeface="Calibri" panose="020F0502020204030204" pitchFamily="34" charset="0"/>
              </a:rPr>
              <a:t>ЧАСТНЫЕ ВИДЫ СЕТЕЙ</a:t>
            </a:r>
            <a:endParaRPr lang="ru-R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914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Line 2"/>
          <p:cNvSpPr>
            <a:spLocks noChangeShapeType="1"/>
          </p:cNvSpPr>
          <p:nvPr/>
        </p:nvSpPr>
        <p:spPr bwMode="auto">
          <a:xfrm>
            <a:off x="1900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18117" name="Rectangle 5"/>
          <p:cNvSpPr>
            <a:spLocks noChangeArrowheads="1"/>
          </p:cNvSpPr>
          <p:nvPr/>
        </p:nvSpPr>
        <p:spPr bwMode="auto">
          <a:xfrm>
            <a:off x="4719638" y="901701"/>
            <a:ext cx="2055812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ru-RU" sz="3600" b="1">
                <a:solidFill>
                  <a:schemeClr val="accent2"/>
                </a:solidFill>
              </a:rPr>
              <a:t>Inter</a:t>
            </a:r>
            <a:r>
              <a:rPr lang="en-US" altLang="ru-RU" sz="3600" b="1">
                <a:solidFill>
                  <a:schemeClr val="folHlink"/>
                </a:solidFill>
              </a:rPr>
              <a:t>Net</a:t>
            </a:r>
            <a:endParaRPr lang="ru-RU" altLang="ru-RU" sz="3600" b="1">
              <a:solidFill>
                <a:schemeClr val="folHlink"/>
              </a:solidFill>
            </a:endParaRPr>
          </a:p>
        </p:txBody>
      </p:sp>
      <p:sp>
        <p:nvSpPr>
          <p:cNvPr id="218118" name="AutoShape 6"/>
          <p:cNvSpPr>
            <a:spLocks noChangeArrowheads="1"/>
          </p:cNvSpPr>
          <p:nvPr/>
        </p:nvSpPr>
        <p:spPr bwMode="auto">
          <a:xfrm>
            <a:off x="2822575" y="1679576"/>
            <a:ext cx="2794000" cy="568325"/>
          </a:xfrm>
          <a:prstGeom prst="wedgeRoundRectCallout">
            <a:avLst>
              <a:gd name="adj1" fmla="val 36023"/>
              <a:gd name="adj2" fmla="val -109218"/>
              <a:gd name="adj3" fmla="val 16667"/>
            </a:avLst>
          </a:prstGeom>
          <a:solidFill>
            <a:srgbClr val="FFFFC1"/>
          </a:solidFill>
          <a:ln>
            <a:noFill/>
          </a:ln>
          <a:effectLst>
            <a:outerShdw dist="53882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0000" tIns="46800" rIns="90000" bIns="46800" anchor="ctr"/>
          <a:lstStyle/>
          <a:p>
            <a:pPr algn="ctr"/>
            <a:r>
              <a:rPr lang="en-US" altLang="ru-RU" sz="2400" b="1" i="1"/>
              <a:t>inter</a:t>
            </a:r>
            <a:r>
              <a:rPr lang="en-US" altLang="ru-RU" sz="2400" b="1"/>
              <a:t> – </a:t>
            </a:r>
            <a:r>
              <a:rPr lang="ru-RU" altLang="ru-RU" sz="2400" b="1"/>
              <a:t>"между"</a:t>
            </a:r>
            <a:endParaRPr lang="ru-RU" altLang="ru-RU" sz="2400" i="1"/>
          </a:p>
        </p:txBody>
      </p:sp>
      <p:sp>
        <p:nvSpPr>
          <p:cNvPr id="218119" name="AutoShape 7"/>
          <p:cNvSpPr>
            <a:spLocks noChangeArrowheads="1"/>
          </p:cNvSpPr>
          <p:nvPr/>
        </p:nvSpPr>
        <p:spPr bwMode="auto">
          <a:xfrm>
            <a:off x="5970588" y="1689101"/>
            <a:ext cx="3708400" cy="568325"/>
          </a:xfrm>
          <a:prstGeom prst="wedgeRoundRectCallout">
            <a:avLst>
              <a:gd name="adj1" fmla="val -44648"/>
              <a:gd name="adj2" fmla="val -109218"/>
              <a:gd name="adj3" fmla="val 16667"/>
            </a:avLst>
          </a:prstGeom>
          <a:solidFill>
            <a:srgbClr val="FFFFC1"/>
          </a:solidFill>
          <a:ln>
            <a:noFill/>
          </a:ln>
          <a:effectLst>
            <a:outerShdw dist="53882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0000" tIns="46800" rIns="90000" bIns="46800" anchor="ctr"/>
          <a:lstStyle/>
          <a:p>
            <a:pPr algn="ctr"/>
            <a:r>
              <a:rPr lang="en-US" altLang="ru-RU" sz="2400" b="1" i="1"/>
              <a:t>net, network </a:t>
            </a:r>
            <a:r>
              <a:rPr lang="en-US" altLang="ru-RU" sz="2400" b="1"/>
              <a:t>– </a:t>
            </a:r>
            <a:r>
              <a:rPr lang="ru-RU" altLang="ru-RU" sz="2400" b="1"/>
              <a:t>"сеть"</a:t>
            </a:r>
            <a:endParaRPr lang="ru-RU" altLang="ru-RU" sz="2400" i="1"/>
          </a:p>
        </p:txBody>
      </p:sp>
      <p:sp>
        <p:nvSpPr>
          <p:cNvPr id="218120" name="Text Box 8"/>
          <p:cNvSpPr txBox="1">
            <a:spLocks noChangeArrowheads="1"/>
          </p:cNvSpPr>
          <p:nvPr/>
        </p:nvSpPr>
        <p:spPr bwMode="auto">
          <a:xfrm>
            <a:off x="2024063" y="2390776"/>
            <a:ext cx="8140700" cy="4007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0850" indent="-4508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90600" indent="-360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99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ru-RU" altLang="ru-RU" sz="2400" b="1" dirty="0">
                <a:solidFill>
                  <a:schemeClr val="accent2"/>
                </a:solidFill>
              </a:rPr>
              <a:t>Интернет </a:t>
            </a:r>
            <a:r>
              <a:rPr lang="ru-RU" altLang="ru-RU" sz="2400" dirty="0"/>
              <a:t>– это глобальная сеть, объединяющая компьютерные сети.</a:t>
            </a:r>
          </a:p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ru-RU" altLang="ru-RU" sz="2400" b="1" dirty="0">
                <a:solidFill>
                  <a:schemeClr val="accent2"/>
                </a:solidFill>
              </a:rPr>
              <a:t>Каналы связи</a:t>
            </a:r>
            <a:r>
              <a:rPr lang="ru-RU" altLang="ru-RU" sz="2400" dirty="0"/>
              <a:t>:</a:t>
            </a:r>
          </a:p>
          <a:p>
            <a:pPr lvl="1" eaLnBrk="0" hangingPunct="0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ru-RU" altLang="ru-RU" sz="2400" dirty="0"/>
              <a:t>кабельные</a:t>
            </a:r>
          </a:p>
          <a:p>
            <a:pPr lvl="1" eaLnBrk="0" hangingPunct="0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ru-RU" altLang="ru-RU" sz="2400" dirty="0"/>
              <a:t>оптоволоконные</a:t>
            </a:r>
          </a:p>
          <a:p>
            <a:pPr lvl="1" eaLnBrk="0" hangingPunct="0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ru-RU" altLang="ru-RU" sz="2400" dirty="0"/>
              <a:t>спутниковая радиосвязь</a:t>
            </a:r>
          </a:p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ru-RU" altLang="ru-RU" sz="2400" b="1" dirty="0">
                <a:solidFill>
                  <a:schemeClr val="accent2"/>
                </a:solidFill>
              </a:rPr>
              <a:t>Провайдер</a:t>
            </a:r>
            <a:r>
              <a:rPr lang="ru-RU" altLang="ru-RU" sz="2400" dirty="0"/>
              <a:t> – это фирма, предоставляющая конечным пользователям выход в Интернет через её локальную сеть.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32513" y="174"/>
            <a:ext cx="5975465" cy="909292"/>
          </a:xfrm>
        </p:spPr>
        <p:txBody>
          <a:bodyPr>
            <a:normAutofit/>
          </a:bodyPr>
          <a:lstStyle/>
          <a:p>
            <a:r>
              <a:rPr lang="ru-RU" altLang="ru-RU" dirty="0" smtClean="0"/>
              <a:t>ЧТО ТАКОЕ ИНТЕРНЕТ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0266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8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8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8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18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18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18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181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181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181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7" grpId="0"/>
      <p:bldP spid="218118" grpId="0" animBg="1" autoUpdateAnimBg="0"/>
      <p:bldP spid="218119" grpId="0" animBg="1" autoUpdateAnimBg="0"/>
      <p:bldP spid="218120" grpId="0" build="p" bldLvl="2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868" name="Freeform 708"/>
          <p:cNvSpPr>
            <a:spLocks/>
          </p:cNvSpPr>
          <p:nvPr/>
        </p:nvSpPr>
        <p:spPr bwMode="auto">
          <a:xfrm>
            <a:off x="2982913" y="2320926"/>
            <a:ext cx="342900" cy="55563"/>
          </a:xfrm>
          <a:custGeom>
            <a:avLst/>
            <a:gdLst>
              <a:gd name="T0" fmla="*/ 0 w 216"/>
              <a:gd name="T1" fmla="*/ 5 h 35"/>
              <a:gd name="T2" fmla="*/ 106 w 216"/>
              <a:gd name="T3" fmla="*/ 5 h 35"/>
              <a:gd name="T4" fmla="*/ 216 w 216"/>
              <a:gd name="T5" fmla="*/ 35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" h="35">
                <a:moveTo>
                  <a:pt x="0" y="5"/>
                </a:moveTo>
                <a:cubicBezTo>
                  <a:pt x="35" y="2"/>
                  <a:pt x="70" y="0"/>
                  <a:pt x="106" y="5"/>
                </a:cubicBezTo>
                <a:cubicBezTo>
                  <a:pt x="142" y="10"/>
                  <a:pt x="198" y="30"/>
                  <a:pt x="216" y="35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20627" name="Freeform 467"/>
          <p:cNvSpPr>
            <a:spLocks/>
          </p:cNvSpPr>
          <p:nvPr/>
        </p:nvSpPr>
        <p:spPr bwMode="auto">
          <a:xfrm>
            <a:off x="5267325" y="1835150"/>
            <a:ext cx="3538538" cy="3849688"/>
          </a:xfrm>
          <a:custGeom>
            <a:avLst/>
            <a:gdLst>
              <a:gd name="T0" fmla="*/ 2208 w 2229"/>
              <a:gd name="T1" fmla="*/ 2373 h 2425"/>
              <a:gd name="T2" fmla="*/ 1989 w 2229"/>
              <a:gd name="T3" fmla="*/ 2251 h 2425"/>
              <a:gd name="T4" fmla="*/ 2183 w 2229"/>
              <a:gd name="T5" fmla="*/ 1330 h 2425"/>
              <a:gd name="T6" fmla="*/ 1710 w 2229"/>
              <a:gd name="T7" fmla="*/ 451 h 2425"/>
              <a:gd name="T8" fmla="*/ 946 w 2229"/>
              <a:gd name="T9" fmla="*/ 280 h 2425"/>
              <a:gd name="T10" fmla="*/ 150 w 2229"/>
              <a:gd name="T11" fmla="*/ 16 h 2425"/>
              <a:gd name="T12" fmla="*/ 46 w 2229"/>
              <a:gd name="T13" fmla="*/ 184 h 24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229" h="2425">
                <a:moveTo>
                  <a:pt x="2208" y="2373"/>
                </a:moveTo>
                <a:cubicBezTo>
                  <a:pt x="2172" y="2353"/>
                  <a:pt x="1993" y="2425"/>
                  <a:pt x="1989" y="2251"/>
                </a:cubicBezTo>
                <a:cubicBezTo>
                  <a:pt x="1985" y="2077"/>
                  <a:pt x="2229" y="1630"/>
                  <a:pt x="2183" y="1330"/>
                </a:cubicBezTo>
                <a:cubicBezTo>
                  <a:pt x="2137" y="1030"/>
                  <a:pt x="1916" y="626"/>
                  <a:pt x="1710" y="451"/>
                </a:cubicBezTo>
                <a:cubicBezTo>
                  <a:pt x="1504" y="276"/>
                  <a:pt x="1206" y="352"/>
                  <a:pt x="946" y="280"/>
                </a:cubicBezTo>
                <a:cubicBezTo>
                  <a:pt x="686" y="208"/>
                  <a:pt x="300" y="32"/>
                  <a:pt x="150" y="16"/>
                </a:cubicBezTo>
                <a:cubicBezTo>
                  <a:pt x="0" y="0"/>
                  <a:pt x="68" y="149"/>
                  <a:pt x="46" y="184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20611" name="Freeform 451"/>
          <p:cNvSpPr>
            <a:spLocks/>
          </p:cNvSpPr>
          <p:nvPr/>
        </p:nvSpPr>
        <p:spPr bwMode="auto">
          <a:xfrm>
            <a:off x="2225675" y="2301876"/>
            <a:ext cx="490538" cy="815975"/>
          </a:xfrm>
          <a:custGeom>
            <a:avLst/>
            <a:gdLst>
              <a:gd name="T0" fmla="*/ 292 w 309"/>
              <a:gd name="T1" fmla="*/ 514 h 514"/>
              <a:gd name="T2" fmla="*/ 272 w 309"/>
              <a:gd name="T3" fmla="*/ 352 h 514"/>
              <a:gd name="T4" fmla="*/ 72 w 309"/>
              <a:gd name="T5" fmla="*/ 264 h 514"/>
              <a:gd name="T6" fmla="*/ 16 w 309"/>
              <a:gd name="T7" fmla="*/ 84 h 514"/>
              <a:gd name="T8" fmla="*/ 169 w 309"/>
              <a:gd name="T9" fmla="*/ 0 h 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9" h="514">
                <a:moveTo>
                  <a:pt x="292" y="514"/>
                </a:moveTo>
                <a:cubicBezTo>
                  <a:pt x="289" y="487"/>
                  <a:pt x="309" y="394"/>
                  <a:pt x="272" y="352"/>
                </a:cubicBezTo>
                <a:cubicBezTo>
                  <a:pt x="235" y="310"/>
                  <a:pt x="115" y="309"/>
                  <a:pt x="72" y="264"/>
                </a:cubicBezTo>
                <a:cubicBezTo>
                  <a:pt x="29" y="219"/>
                  <a:pt x="0" y="128"/>
                  <a:pt x="16" y="84"/>
                </a:cubicBezTo>
                <a:cubicBezTo>
                  <a:pt x="32" y="40"/>
                  <a:pt x="137" y="17"/>
                  <a:pt x="169" y="0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20600" name="Freeform 440"/>
          <p:cNvSpPr>
            <a:spLocks/>
          </p:cNvSpPr>
          <p:nvPr/>
        </p:nvSpPr>
        <p:spPr bwMode="auto">
          <a:xfrm>
            <a:off x="5970589" y="4552951"/>
            <a:ext cx="796925" cy="665163"/>
          </a:xfrm>
          <a:custGeom>
            <a:avLst/>
            <a:gdLst>
              <a:gd name="T0" fmla="*/ 502 w 502"/>
              <a:gd name="T1" fmla="*/ 400 h 419"/>
              <a:gd name="T2" fmla="*/ 424 w 502"/>
              <a:gd name="T3" fmla="*/ 364 h 419"/>
              <a:gd name="T4" fmla="*/ 388 w 502"/>
              <a:gd name="T5" fmla="*/ 70 h 419"/>
              <a:gd name="T6" fmla="*/ 0 w 502"/>
              <a:gd name="T7" fmla="*/ 0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02" h="419">
                <a:moveTo>
                  <a:pt x="502" y="400"/>
                </a:moveTo>
                <a:cubicBezTo>
                  <a:pt x="489" y="394"/>
                  <a:pt x="443" y="419"/>
                  <a:pt x="424" y="364"/>
                </a:cubicBezTo>
                <a:cubicBezTo>
                  <a:pt x="405" y="309"/>
                  <a:pt x="459" y="131"/>
                  <a:pt x="388" y="70"/>
                </a:cubicBezTo>
                <a:cubicBezTo>
                  <a:pt x="317" y="9"/>
                  <a:pt x="158" y="1"/>
                  <a:pt x="0" y="0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20593" name="Freeform 433"/>
          <p:cNvSpPr>
            <a:spLocks/>
          </p:cNvSpPr>
          <p:nvPr/>
        </p:nvSpPr>
        <p:spPr bwMode="auto">
          <a:xfrm>
            <a:off x="2500313" y="5057776"/>
            <a:ext cx="1344612" cy="1393825"/>
          </a:xfrm>
          <a:custGeom>
            <a:avLst/>
            <a:gdLst>
              <a:gd name="T0" fmla="*/ 573 w 847"/>
              <a:gd name="T1" fmla="*/ 807 h 878"/>
              <a:gd name="T2" fmla="*/ 317 w 847"/>
              <a:gd name="T3" fmla="*/ 861 h 878"/>
              <a:gd name="T4" fmla="*/ 26 w 847"/>
              <a:gd name="T5" fmla="*/ 706 h 878"/>
              <a:gd name="T6" fmla="*/ 163 w 847"/>
              <a:gd name="T7" fmla="*/ 570 h 878"/>
              <a:gd name="T8" fmla="*/ 204 w 847"/>
              <a:gd name="T9" fmla="*/ 445 h 878"/>
              <a:gd name="T10" fmla="*/ 340 w 847"/>
              <a:gd name="T11" fmla="*/ 428 h 878"/>
              <a:gd name="T12" fmla="*/ 374 w 847"/>
              <a:gd name="T13" fmla="*/ 368 h 878"/>
              <a:gd name="T14" fmla="*/ 564 w 847"/>
              <a:gd name="T15" fmla="*/ 356 h 878"/>
              <a:gd name="T16" fmla="*/ 763 w 847"/>
              <a:gd name="T17" fmla="*/ 338 h 878"/>
              <a:gd name="T18" fmla="*/ 804 w 847"/>
              <a:gd name="T19" fmla="*/ 142 h 878"/>
              <a:gd name="T20" fmla="*/ 507 w 847"/>
              <a:gd name="T21" fmla="*/ 0 h 8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47" h="878">
                <a:moveTo>
                  <a:pt x="573" y="807"/>
                </a:moveTo>
                <a:cubicBezTo>
                  <a:pt x="490" y="842"/>
                  <a:pt x="408" y="878"/>
                  <a:pt x="317" y="861"/>
                </a:cubicBezTo>
                <a:cubicBezTo>
                  <a:pt x="226" y="844"/>
                  <a:pt x="52" y="755"/>
                  <a:pt x="26" y="706"/>
                </a:cubicBezTo>
                <a:cubicBezTo>
                  <a:pt x="0" y="657"/>
                  <a:pt x="133" y="613"/>
                  <a:pt x="163" y="570"/>
                </a:cubicBezTo>
                <a:cubicBezTo>
                  <a:pt x="193" y="527"/>
                  <a:pt x="175" y="469"/>
                  <a:pt x="204" y="445"/>
                </a:cubicBezTo>
                <a:cubicBezTo>
                  <a:pt x="233" y="421"/>
                  <a:pt x="312" y="441"/>
                  <a:pt x="340" y="428"/>
                </a:cubicBezTo>
                <a:cubicBezTo>
                  <a:pt x="368" y="415"/>
                  <a:pt x="337" y="380"/>
                  <a:pt x="374" y="368"/>
                </a:cubicBezTo>
                <a:cubicBezTo>
                  <a:pt x="411" y="356"/>
                  <a:pt x="499" y="361"/>
                  <a:pt x="564" y="356"/>
                </a:cubicBezTo>
                <a:cubicBezTo>
                  <a:pt x="629" y="351"/>
                  <a:pt x="723" y="374"/>
                  <a:pt x="763" y="338"/>
                </a:cubicBezTo>
                <a:cubicBezTo>
                  <a:pt x="803" y="302"/>
                  <a:pt x="847" y="198"/>
                  <a:pt x="804" y="142"/>
                </a:cubicBezTo>
                <a:cubicBezTo>
                  <a:pt x="761" y="86"/>
                  <a:pt x="558" y="26"/>
                  <a:pt x="507" y="0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oval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20162" name="Line 2"/>
          <p:cNvSpPr>
            <a:spLocks noChangeShapeType="1"/>
          </p:cNvSpPr>
          <p:nvPr/>
        </p:nvSpPr>
        <p:spPr bwMode="auto">
          <a:xfrm>
            <a:off x="1900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20164" name="AutoShape 4"/>
          <p:cNvSpPr>
            <a:spLocks noChangeArrowheads="1"/>
          </p:cNvSpPr>
          <p:nvPr/>
        </p:nvSpPr>
        <p:spPr bwMode="auto">
          <a:xfrm rot="5400000">
            <a:off x="7092951" y="790576"/>
            <a:ext cx="557212" cy="1341437"/>
          </a:xfrm>
          <a:prstGeom prst="upArrow">
            <a:avLst>
              <a:gd name="adj1" fmla="val 50000"/>
              <a:gd name="adj2" fmla="val 60185"/>
            </a:avLst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20167" name="Rectangle 7"/>
          <p:cNvSpPr>
            <a:spLocks noChangeArrowheads="1"/>
          </p:cNvSpPr>
          <p:nvPr/>
        </p:nvSpPr>
        <p:spPr bwMode="auto">
          <a:xfrm>
            <a:off x="8407400" y="836614"/>
            <a:ext cx="22606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ru-RU" altLang="ru-RU" sz="2000"/>
              <a:t>спутниковый или оптоволоконный канал связи с сервером</a:t>
            </a:r>
            <a:r>
              <a:rPr lang="en-US" altLang="ru-RU" sz="2000"/>
              <a:t> </a:t>
            </a:r>
            <a:r>
              <a:rPr lang="ru-RU" altLang="ru-RU" sz="2000"/>
              <a:t>Интернета</a:t>
            </a:r>
          </a:p>
        </p:txBody>
      </p:sp>
      <p:grpSp>
        <p:nvGrpSpPr>
          <p:cNvPr id="220339" name="Group 179"/>
          <p:cNvGrpSpPr>
            <a:grpSpLocks/>
          </p:cNvGrpSpPr>
          <p:nvPr/>
        </p:nvGrpSpPr>
        <p:grpSpPr bwMode="auto">
          <a:xfrm>
            <a:off x="3149601" y="5338764"/>
            <a:ext cx="1554163" cy="1196975"/>
            <a:chOff x="425" y="2794"/>
            <a:chExt cx="1303" cy="1003"/>
          </a:xfrm>
        </p:grpSpPr>
        <p:sp>
          <p:nvSpPr>
            <p:cNvPr id="220197" name="AutoShape 37"/>
            <p:cNvSpPr>
              <a:spLocks noChangeAspect="1" noChangeArrowheads="1" noTextEdit="1"/>
            </p:cNvSpPr>
            <p:nvPr/>
          </p:nvSpPr>
          <p:spPr bwMode="auto">
            <a:xfrm>
              <a:off x="425" y="2794"/>
              <a:ext cx="1303" cy="1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199" name="Freeform 39"/>
            <p:cNvSpPr>
              <a:spLocks/>
            </p:cNvSpPr>
            <p:nvPr/>
          </p:nvSpPr>
          <p:spPr bwMode="auto">
            <a:xfrm>
              <a:off x="584" y="3671"/>
              <a:ext cx="19" cy="34"/>
            </a:xfrm>
            <a:custGeom>
              <a:avLst/>
              <a:gdLst>
                <a:gd name="T0" fmla="*/ 19 w 19"/>
                <a:gd name="T1" fmla="*/ 0 h 34"/>
                <a:gd name="T2" fmla="*/ 19 w 19"/>
                <a:gd name="T3" fmla="*/ 11 h 34"/>
                <a:gd name="T4" fmla="*/ 12 w 19"/>
                <a:gd name="T5" fmla="*/ 12 h 34"/>
                <a:gd name="T6" fmla="*/ 4 w 19"/>
                <a:gd name="T7" fmla="*/ 16 h 34"/>
                <a:gd name="T8" fmla="*/ 3 w 19"/>
                <a:gd name="T9" fmla="*/ 27 h 34"/>
                <a:gd name="T10" fmla="*/ 0 w 19"/>
                <a:gd name="T11" fmla="*/ 34 h 34"/>
                <a:gd name="T12" fmla="*/ 0 w 19"/>
                <a:gd name="T13" fmla="*/ 0 h 34"/>
                <a:gd name="T14" fmla="*/ 19 w 19"/>
                <a:gd name="T1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" h="34">
                  <a:moveTo>
                    <a:pt x="19" y="0"/>
                  </a:moveTo>
                  <a:lnTo>
                    <a:pt x="19" y="11"/>
                  </a:lnTo>
                  <a:lnTo>
                    <a:pt x="12" y="12"/>
                  </a:lnTo>
                  <a:lnTo>
                    <a:pt x="4" y="16"/>
                  </a:lnTo>
                  <a:lnTo>
                    <a:pt x="3" y="27"/>
                  </a:lnTo>
                  <a:lnTo>
                    <a:pt x="0" y="34"/>
                  </a:lnTo>
                  <a:lnTo>
                    <a:pt x="0" y="0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0080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00" name="Freeform 40"/>
            <p:cNvSpPr>
              <a:spLocks/>
            </p:cNvSpPr>
            <p:nvPr/>
          </p:nvSpPr>
          <p:spPr bwMode="auto">
            <a:xfrm>
              <a:off x="627" y="3671"/>
              <a:ext cx="72" cy="36"/>
            </a:xfrm>
            <a:custGeom>
              <a:avLst/>
              <a:gdLst>
                <a:gd name="T0" fmla="*/ 0 w 72"/>
                <a:gd name="T1" fmla="*/ 0 h 36"/>
                <a:gd name="T2" fmla="*/ 72 w 72"/>
                <a:gd name="T3" fmla="*/ 3 h 36"/>
                <a:gd name="T4" fmla="*/ 68 w 72"/>
                <a:gd name="T5" fmla="*/ 13 h 36"/>
                <a:gd name="T6" fmla="*/ 64 w 72"/>
                <a:gd name="T7" fmla="*/ 26 h 36"/>
                <a:gd name="T8" fmla="*/ 62 w 72"/>
                <a:gd name="T9" fmla="*/ 36 h 36"/>
                <a:gd name="T10" fmla="*/ 39 w 72"/>
                <a:gd name="T11" fmla="*/ 33 h 36"/>
                <a:gd name="T12" fmla="*/ 25 w 72"/>
                <a:gd name="T13" fmla="*/ 33 h 36"/>
                <a:gd name="T14" fmla="*/ 22 w 72"/>
                <a:gd name="T15" fmla="*/ 23 h 36"/>
                <a:gd name="T16" fmla="*/ 20 w 72"/>
                <a:gd name="T17" fmla="*/ 14 h 36"/>
                <a:gd name="T18" fmla="*/ 13 w 72"/>
                <a:gd name="T19" fmla="*/ 13 h 36"/>
                <a:gd name="T20" fmla="*/ 7 w 72"/>
                <a:gd name="T21" fmla="*/ 11 h 36"/>
                <a:gd name="T22" fmla="*/ 0 w 72"/>
                <a:gd name="T23" fmla="*/ 11 h 36"/>
                <a:gd name="T24" fmla="*/ 0 w 72"/>
                <a:gd name="T2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2" h="36">
                  <a:moveTo>
                    <a:pt x="0" y="0"/>
                  </a:moveTo>
                  <a:lnTo>
                    <a:pt x="72" y="3"/>
                  </a:lnTo>
                  <a:lnTo>
                    <a:pt x="68" y="13"/>
                  </a:lnTo>
                  <a:lnTo>
                    <a:pt x="64" y="26"/>
                  </a:lnTo>
                  <a:lnTo>
                    <a:pt x="62" y="36"/>
                  </a:lnTo>
                  <a:lnTo>
                    <a:pt x="39" y="33"/>
                  </a:lnTo>
                  <a:lnTo>
                    <a:pt x="25" y="33"/>
                  </a:lnTo>
                  <a:lnTo>
                    <a:pt x="22" y="23"/>
                  </a:lnTo>
                  <a:lnTo>
                    <a:pt x="20" y="14"/>
                  </a:lnTo>
                  <a:lnTo>
                    <a:pt x="13" y="13"/>
                  </a:lnTo>
                  <a:lnTo>
                    <a:pt x="7" y="11"/>
                  </a:lnTo>
                  <a:lnTo>
                    <a:pt x="0" y="11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01" name="Freeform 41"/>
            <p:cNvSpPr>
              <a:spLocks/>
            </p:cNvSpPr>
            <p:nvPr/>
          </p:nvSpPr>
          <p:spPr bwMode="auto">
            <a:xfrm>
              <a:off x="677" y="3750"/>
              <a:ext cx="35" cy="16"/>
            </a:xfrm>
            <a:custGeom>
              <a:avLst/>
              <a:gdLst>
                <a:gd name="T0" fmla="*/ 29 w 35"/>
                <a:gd name="T1" fmla="*/ 0 h 16"/>
                <a:gd name="T2" fmla="*/ 29 w 35"/>
                <a:gd name="T3" fmla="*/ 5 h 16"/>
                <a:gd name="T4" fmla="*/ 31 w 35"/>
                <a:gd name="T5" fmla="*/ 11 h 16"/>
                <a:gd name="T6" fmla="*/ 32 w 35"/>
                <a:gd name="T7" fmla="*/ 13 h 16"/>
                <a:gd name="T8" fmla="*/ 35 w 35"/>
                <a:gd name="T9" fmla="*/ 16 h 16"/>
                <a:gd name="T10" fmla="*/ 5 w 35"/>
                <a:gd name="T11" fmla="*/ 16 h 16"/>
                <a:gd name="T12" fmla="*/ 0 w 35"/>
                <a:gd name="T13" fmla="*/ 12 h 16"/>
                <a:gd name="T14" fmla="*/ 12 w 35"/>
                <a:gd name="T15" fmla="*/ 9 h 16"/>
                <a:gd name="T16" fmla="*/ 22 w 35"/>
                <a:gd name="T17" fmla="*/ 5 h 16"/>
                <a:gd name="T18" fmla="*/ 29 w 35"/>
                <a:gd name="T1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" h="16">
                  <a:moveTo>
                    <a:pt x="29" y="0"/>
                  </a:moveTo>
                  <a:lnTo>
                    <a:pt x="29" y="5"/>
                  </a:lnTo>
                  <a:lnTo>
                    <a:pt x="31" y="11"/>
                  </a:lnTo>
                  <a:lnTo>
                    <a:pt x="32" y="13"/>
                  </a:lnTo>
                  <a:lnTo>
                    <a:pt x="35" y="16"/>
                  </a:lnTo>
                  <a:lnTo>
                    <a:pt x="5" y="16"/>
                  </a:lnTo>
                  <a:lnTo>
                    <a:pt x="0" y="12"/>
                  </a:lnTo>
                  <a:lnTo>
                    <a:pt x="12" y="9"/>
                  </a:lnTo>
                  <a:lnTo>
                    <a:pt x="22" y="5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80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02" name="Freeform 42"/>
            <p:cNvSpPr>
              <a:spLocks/>
            </p:cNvSpPr>
            <p:nvPr/>
          </p:nvSpPr>
          <p:spPr bwMode="auto">
            <a:xfrm>
              <a:off x="721" y="3604"/>
              <a:ext cx="535" cy="162"/>
            </a:xfrm>
            <a:custGeom>
              <a:avLst/>
              <a:gdLst>
                <a:gd name="T0" fmla="*/ 492 w 535"/>
                <a:gd name="T1" fmla="*/ 9 h 162"/>
                <a:gd name="T2" fmla="*/ 490 w 535"/>
                <a:gd name="T3" fmla="*/ 17 h 162"/>
                <a:gd name="T4" fmla="*/ 485 w 535"/>
                <a:gd name="T5" fmla="*/ 15 h 162"/>
                <a:gd name="T6" fmla="*/ 482 w 535"/>
                <a:gd name="T7" fmla="*/ 20 h 162"/>
                <a:gd name="T8" fmla="*/ 474 w 535"/>
                <a:gd name="T9" fmla="*/ 13 h 162"/>
                <a:gd name="T10" fmla="*/ 297 w 535"/>
                <a:gd name="T11" fmla="*/ 109 h 162"/>
                <a:gd name="T12" fmla="*/ 295 w 535"/>
                <a:gd name="T13" fmla="*/ 109 h 162"/>
                <a:gd name="T14" fmla="*/ 67 w 535"/>
                <a:gd name="T15" fmla="*/ 107 h 162"/>
                <a:gd name="T16" fmla="*/ 66 w 535"/>
                <a:gd name="T17" fmla="*/ 87 h 162"/>
                <a:gd name="T18" fmla="*/ 66 w 535"/>
                <a:gd name="T19" fmla="*/ 70 h 162"/>
                <a:gd name="T20" fmla="*/ 58 w 535"/>
                <a:gd name="T21" fmla="*/ 71 h 162"/>
                <a:gd name="T22" fmla="*/ 40 w 535"/>
                <a:gd name="T23" fmla="*/ 71 h 162"/>
                <a:gd name="T24" fmla="*/ 42 w 535"/>
                <a:gd name="T25" fmla="*/ 83 h 162"/>
                <a:gd name="T26" fmla="*/ 40 w 535"/>
                <a:gd name="T27" fmla="*/ 96 h 162"/>
                <a:gd name="T28" fmla="*/ 36 w 535"/>
                <a:gd name="T29" fmla="*/ 106 h 162"/>
                <a:gd name="T30" fmla="*/ 27 w 535"/>
                <a:gd name="T31" fmla="*/ 114 h 162"/>
                <a:gd name="T32" fmla="*/ 18 w 535"/>
                <a:gd name="T33" fmla="*/ 123 h 162"/>
                <a:gd name="T34" fmla="*/ 7 w 535"/>
                <a:gd name="T35" fmla="*/ 129 h 162"/>
                <a:gd name="T36" fmla="*/ 3 w 535"/>
                <a:gd name="T37" fmla="*/ 136 h 162"/>
                <a:gd name="T38" fmla="*/ 2 w 535"/>
                <a:gd name="T39" fmla="*/ 141 h 162"/>
                <a:gd name="T40" fmla="*/ 2 w 535"/>
                <a:gd name="T41" fmla="*/ 146 h 162"/>
                <a:gd name="T42" fmla="*/ 3 w 535"/>
                <a:gd name="T43" fmla="*/ 153 h 162"/>
                <a:gd name="T44" fmla="*/ 3 w 535"/>
                <a:gd name="T45" fmla="*/ 158 h 162"/>
                <a:gd name="T46" fmla="*/ 0 w 535"/>
                <a:gd name="T47" fmla="*/ 162 h 162"/>
                <a:gd name="T48" fmla="*/ 457 w 535"/>
                <a:gd name="T49" fmla="*/ 162 h 162"/>
                <a:gd name="T50" fmla="*/ 462 w 535"/>
                <a:gd name="T51" fmla="*/ 149 h 162"/>
                <a:gd name="T52" fmla="*/ 469 w 535"/>
                <a:gd name="T53" fmla="*/ 140 h 162"/>
                <a:gd name="T54" fmla="*/ 481 w 535"/>
                <a:gd name="T55" fmla="*/ 128 h 162"/>
                <a:gd name="T56" fmla="*/ 494 w 535"/>
                <a:gd name="T57" fmla="*/ 122 h 162"/>
                <a:gd name="T58" fmla="*/ 503 w 535"/>
                <a:gd name="T59" fmla="*/ 88 h 162"/>
                <a:gd name="T60" fmla="*/ 531 w 535"/>
                <a:gd name="T61" fmla="*/ 27 h 162"/>
                <a:gd name="T62" fmla="*/ 529 w 535"/>
                <a:gd name="T63" fmla="*/ 22 h 162"/>
                <a:gd name="T64" fmla="*/ 535 w 535"/>
                <a:gd name="T65" fmla="*/ 0 h 162"/>
                <a:gd name="T66" fmla="*/ 516 w 535"/>
                <a:gd name="T67" fmla="*/ 0 h 162"/>
                <a:gd name="T68" fmla="*/ 510 w 535"/>
                <a:gd name="T69" fmla="*/ 6 h 162"/>
                <a:gd name="T70" fmla="*/ 492 w 535"/>
                <a:gd name="T71" fmla="*/ 9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35" h="162">
                  <a:moveTo>
                    <a:pt x="492" y="9"/>
                  </a:moveTo>
                  <a:lnTo>
                    <a:pt x="490" y="17"/>
                  </a:lnTo>
                  <a:lnTo>
                    <a:pt x="485" y="15"/>
                  </a:lnTo>
                  <a:lnTo>
                    <a:pt x="482" y="20"/>
                  </a:lnTo>
                  <a:lnTo>
                    <a:pt x="474" y="13"/>
                  </a:lnTo>
                  <a:lnTo>
                    <a:pt x="297" y="109"/>
                  </a:lnTo>
                  <a:lnTo>
                    <a:pt x="295" y="109"/>
                  </a:lnTo>
                  <a:lnTo>
                    <a:pt x="67" y="107"/>
                  </a:lnTo>
                  <a:lnTo>
                    <a:pt x="66" y="87"/>
                  </a:lnTo>
                  <a:lnTo>
                    <a:pt x="66" y="70"/>
                  </a:lnTo>
                  <a:lnTo>
                    <a:pt x="58" y="71"/>
                  </a:lnTo>
                  <a:lnTo>
                    <a:pt x="40" y="71"/>
                  </a:lnTo>
                  <a:lnTo>
                    <a:pt x="42" y="83"/>
                  </a:lnTo>
                  <a:lnTo>
                    <a:pt x="40" y="96"/>
                  </a:lnTo>
                  <a:lnTo>
                    <a:pt x="36" y="106"/>
                  </a:lnTo>
                  <a:lnTo>
                    <a:pt x="27" y="114"/>
                  </a:lnTo>
                  <a:lnTo>
                    <a:pt x="18" y="123"/>
                  </a:lnTo>
                  <a:lnTo>
                    <a:pt x="7" y="129"/>
                  </a:lnTo>
                  <a:lnTo>
                    <a:pt x="3" y="136"/>
                  </a:lnTo>
                  <a:lnTo>
                    <a:pt x="2" y="141"/>
                  </a:lnTo>
                  <a:lnTo>
                    <a:pt x="2" y="146"/>
                  </a:lnTo>
                  <a:lnTo>
                    <a:pt x="3" y="153"/>
                  </a:lnTo>
                  <a:lnTo>
                    <a:pt x="3" y="158"/>
                  </a:lnTo>
                  <a:lnTo>
                    <a:pt x="0" y="162"/>
                  </a:lnTo>
                  <a:lnTo>
                    <a:pt x="457" y="162"/>
                  </a:lnTo>
                  <a:lnTo>
                    <a:pt x="462" y="149"/>
                  </a:lnTo>
                  <a:lnTo>
                    <a:pt x="469" y="140"/>
                  </a:lnTo>
                  <a:lnTo>
                    <a:pt x="481" y="128"/>
                  </a:lnTo>
                  <a:lnTo>
                    <a:pt x="494" y="122"/>
                  </a:lnTo>
                  <a:lnTo>
                    <a:pt x="503" y="88"/>
                  </a:lnTo>
                  <a:lnTo>
                    <a:pt x="531" y="27"/>
                  </a:lnTo>
                  <a:lnTo>
                    <a:pt x="529" y="22"/>
                  </a:lnTo>
                  <a:lnTo>
                    <a:pt x="535" y="0"/>
                  </a:lnTo>
                  <a:lnTo>
                    <a:pt x="516" y="0"/>
                  </a:lnTo>
                  <a:lnTo>
                    <a:pt x="510" y="6"/>
                  </a:lnTo>
                  <a:lnTo>
                    <a:pt x="492" y="9"/>
                  </a:ln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03" name="Freeform 43"/>
            <p:cNvSpPr>
              <a:spLocks/>
            </p:cNvSpPr>
            <p:nvPr/>
          </p:nvSpPr>
          <p:spPr bwMode="auto">
            <a:xfrm>
              <a:off x="709" y="3674"/>
              <a:ext cx="38" cy="45"/>
            </a:xfrm>
            <a:custGeom>
              <a:avLst/>
              <a:gdLst>
                <a:gd name="T0" fmla="*/ 12 w 38"/>
                <a:gd name="T1" fmla="*/ 45 h 45"/>
                <a:gd name="T2" fmla="*/ 9 w 38"/>
                <a:gd name="T3" fmla="*/ 43 h 45"/>
                <a:gd name="T4" fmla="*/ 5 w 38"/>
                <a:gd name="T5" fmla="*/ 40 h 45"/>
                <a:gd name="T6" fmla="*/ 1 w 38"/>
                <a:gd name="T7" fmla="*/ 37 h 45"/>
                <a:gd name="T8" fmla="*/ 0 w 38"/>
                <a:gd name="T9" fmla="*/ 24 h 45"/>
                <a:gd name="T10" fmla="*/ 3 w 38"/>
                <a:gd name="T11" fmla="*/ 14 h 45"/>
                <a:gd name="T12" fmla="*/ 8 w 38"/>
                <a:gd name="T13" fmla="*/ 6 h 45"/>
                <a:gd name="T14" fmla="*/ 14 w 38"/>
                <a:gd name="T15" fmla="*/ 1 h 45"/>
                <a:gd name="T16" fmla="*/ 23 w 38"/>
                <a:gd name="T17" fmla="*/ 0 h 45"/>
                <a:gd name="T18" fmla="*/ 32 w 38"/>
                <a:gd name="T19" fmla="*/ 2 h 45"/>
                <a:gd name="T20" fmla="*/ 36 w 38"/>
                <a:gd name="T21" fmla="*/ 9 h 45"/>
                <a:gd name="T22" fmla="*/ 38 w 38"/>
                <a:gd name="T23" fmla="*/ 18 h 45"/>
                <a:gd name="T24" fmla="*/ 32 w 38"/>
                <a:gd name="T25" fmla="*/ 27 h 45"/>
                <a:gd name="T26" fmla="*/ 22 w 38"/>
                <a:gd name="T27" fmla="*/ 39 h 45"/>
                <a:gd name="T28" fmla="*/ 12 w 38"/>
                <a:gd name="T29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8" h="45">
                  <a:moveTo>
                    <a:pt x="12" y="45"/>
                  </a:moveTo>
                  <a:lnTo>
                    <a:pt x="9" y="43"/>
                  </a:lnTo>
                  <a:lnTo>
                    <a:pt x="5" y="40"/>
                  </a:lnTo>
                  <a:lnTo>
                    <a:pt x="1" y="37"/>
                  </a:lnTo>
                  <a:lnTo>
                    <a:pt x="0" y="24"/>
                  </a:lnTo>
                  <a:lnTo>
                    <a:pt x="3" y="14"/>
                  </a:lnTo>
                  <a:lnTo>
                    <a:pt x="8" y="6"/>
                  </a:lnTo>
                  <a:lnTo>
                    <a:pt x="14" y="1"/>
                  </a:lnTo>
                  <a:lnTo>
                    <a:pt x="23" y="0"/>
                  </a:lnTo>
                  <a:lnTo>
                    <a:pt x="32" y="2"/>
                  </a:lnTo>
                  <a:lnTo>
                    <a:pt x="36" y="9"/>
                  </a:lnTo>
                  <a:lnTo>
                    <a:pt x="38" y="18"/>
                  </a:lnTo>
                  <a:lnTo>
                    <a:pt x="32" y="27"/>
                  </a:lnTo>
                  <a:lnTo>
                    <a:pt x="22" y="39"/>
                  </a:lnTo>
                  <a:lnTo>
                    <a:pt x="12" y="45"/>
                  </a:ln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05" name="Freeform 45"/>
            <p:cNvSpPr>
              <a:spLocks/>
            </p:cNvSpPr>
            <p:nvPr/>
          </p:nvSpPr>
          <p:spPr bwMode="auto">
            <a:xfrm>
              <a:off x="1068" y="3537"/>
              <a:ext cx="140" cy="45"/>
            </a:xfrm>
            <a:custGeom>
              <a:avLst/>
              <a:gdLst>
                <a:gd name="T0" fmla="*/ 128 w 140"/>
                <a:gd name="T1" fmla="*/ 45 h 45"/>
                <a:gd name="T2" fmla="*/ 128 w 140"/>
                <a:gd name="T3" fmla="*/ 37 h 45"/>
                <a:gd name="T4" fmla="*/ 123 w 140"/>
                <a:gd name="T5" fmla="*/ 34 h 45"/>
                <a:gd name="T6" fmla="*/ 125 w 140"/>
                <a:gd name="T7" fmla="*/ 28 h 45"/>
                <a:gd name="T8" fmla="*/ 140 w 140"/>
                <a:gd name="T9" fmla="*/ 12 h 45"/>
                <a:gd name="T10" fmla="*/ 140 w 140"/>
                <a:gd name="T11" fmla="*/ 6 h 45"/>
                <a:gd name="T12" fmla="*/ 105 w 140"/>
                <a:gd name="T13" fmla="*/ 0 h 45"/>
                <a:gd name="T14" fmla="*/ 84 w 140"/>
                <a:gd name="T15" fmla="*/ 7 h 45"/>
                <a:gd name="T16" fmla="*/ 62 w 140"/>
                <a:gd name="T17" fmla="*/ 12 h 45"/>
                <a:gd name="T18" fmla="*/ 40 w 140"/>
                <a:gd name="T19" fmla="*/ 8 h 45"/>
                <a:gd name="T20" fmla="*/ 21 w 140"/>
                <a:gd name="T21" fmla="*/ 8 h 45"/>
                <a:gd name="T22" fmla="*/ 0 w 140"/>
                <a:gd name="T23" fmla="*/ 13 h 45"/>
                <a:gd name="T24" fmla="*/ 128 w 140"/>
                <a:gd name="T25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0" h="45">
                  <a:moveTo>
                    <a:pt x="128" y="45"/>
                  </a:moveTo>
                  <a:lnTo>
                    <a:pt x="128" y="37"/>
                  </a:lnTo>
                  <a:lnTo>
                    <a:pt x="123" y="34"/>
                  </a:lnTo>
                  <a:lnTo>
                    <a:pt x="125" y="28"/>
                  </a:lnTo>
                  <a:lnTo>
                    <a:pt x="140" y="12"/>
                  </a:lnTo>
                  <a:lnTo>
                    <a:pt x="140" y="6"/>
                  </a:lnTo>
                  <a:lnTo>
                    <a:pt x="105" y="0"/>
                  </a:lnTo>
                  <a:lnTo>
                    <a:pt x="84" y="7"/>
                  </a:lnTo>
                  <a:lnTo>
                    <a:pt x="62" y="12"/>
                  </a:lnTo>
                  <a:lnTo>
                    <a:pt x="40" y="8"/>
                  </a:lnTo>
                  <a:lnTo>
                    <a:pt x="21" y="8"/>
                  </a:lnTo>
                  <a:lnTo>
                    <a:pt x="0" y="13"/>
                  </a:lnTo>
                  <a:lnTo>
                    <a:pt x="128" y="45"/>
                  </a:ln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06" name="Freeform 46"/>
            <p:cNvSpPr>
              <a:spLocks/>
            </p:cNvSpPr>
            <p:nvPr/>
          </p:nvSpPr>
          <p:spPr bwMode="auto">
            <a:xfrm>
              <a:off x="1591" y="3550"/>
              <a:ext cx="38" cy="216"/>
            </a:xfrm>
            <a:custGeom>
              <a:avLst/>
              <a:gdLst>
                <a:gd name="T0" fmla="*/ 38 w 38"/>
                <a:gd name="T1" fmla="*/ 216 h 216"/>
                <a:gd name="T2" fmla="*/ 38 w 38"/>
                <a:gd name="T3" fmla="*/ 0 h 216"/>
                <a:gd name="T4" fmla="*/ 29 w 38"/>
                <a:gd name="T5" fmla="*/ 30 h 216"/>
                <a:gd name="T6" fmla="*/ 18 w 38"/>
                <a:gd name="T7" fmla="*/ 93 h 216"/>
                <a:gd name="T8" fmla="*/ 1 w 38"/>
                <a:gd name="T9" fmla="*/ 167 h 216"/>
                <a:gd name="T10" fmla="*/ 0 w 38"/>
                <a:gd name="T11" fmla="*/ 216 h 216"/>
                <a:gd name="T12" fmla="*/ 38 w 38"/>
                <a:gd name="T13" fmla="*/ 216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216">
                  <a:moveTo>
                    <a:pt x="38" y="216"/>
                  </a:moveTo>
                  <a:lnTo>
                    <a:pt x="38" y="0"/>
                  </a:lnTo>
                  <a:lnTo>
                    <a:pt x="29" y="30"/>
                  </a:lnTo>
                  <a:lnTo>
                    <a:pt x="18" y="93"/>
                  </a:lnTo>
                  <a:lnTo>
                    <a:pt x="1" y="167"/>
                  </a:lnTo>
                  <a:lnTo>
                    <a:pt x="0" y="216"/>
                  </a:lnTo>
                  <a:lnTo>
                    <a:pt x="38" y="216"/>
                  </a:ln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07" name="Freeform 47"/>
            <p:cNvSpPr>
              <a:spLocks/>
            </p:cNvSpPr>
            <p:nvPr/>
          </p:nvSpPr>
          <p:spPr bwMode="auto">
            <a:xfrm>
              <a:off x="1335" y="2795"/>
              <a:ext cx="388" cy="474"/>
            </a:xfrm>
            <a:custGeom>
              <a:avLst/>
              <a:gdLst>
                <a:gd name="T0" fmla="*/ 309 w 388"/>
                <a:gd name="T1" fmla="*/ 460 h 474"/>
                <a:gd name="T2" fmla="*/ 332 w 388"/>
                <a:gd name="T3" fmla="*/ 471 h 474"/>
                <a:gd name="T4" fmla="*/ 358 w 388"/>
                <a:gd name="T5" fmla="*/ 474 h 474"/>
                <a:gd name="T6" fmla="*/ 362 w 388"/>
                <a:gd name="T7" fmla="*/ 467 h 474"/>
                <a:gd name="T8" fmla="*/ 388 w 388"/>
                <a:gd name="T9" fmla="*/ 460 h 474"/>
                <a:gd name="T10" fmla="*/ 352 w 388"/>
                <a:gd name="T11" fmla="*/ 449 h 474"/>
                <a:gd name="T12" fmla="*/ 349 w 388"/>
                <a:gd name="T13" fmla="*/ 441 h 474"/>
                <a:gd name="T14" fmla="*/ 372 w 388"/>
                <a:gd name="T15" fmla="*/ 440 h 474"/>
                <a:gd name="T16" fmla="*/ 364 w 388"/>
                <a:gd name="T17" fmla="*/ 435 h 474"/>
                <a:gd name="T18" fmla="*/ 361 w 388"/>
                <a:gd name="T19" fmla="*/ 422 h 474"/>
                <a:gd name="T20" fmla="*/ 339 w 388"/>
                <a:gd name="T21" fmla="*/ 390 h 474"/>
                <a:gd name="T22" fmla="*/ 319 w 388"/>
                <a:gd name="T23" fmla="*/ 327 h 474"/>
                <a:gd name="T24" fmla="*/ 300 w 388"/>
                <a:gd name="T25" fmla="*/ 299 h 474"/>
                <a:gd name="T26" fmla="*/ 279 w 388"/>
                <a:gd name="T27" fmla="*/ 284 h 474"/>
                <a:gd name="T28" fmla="*/ 259 w 388"/>
                <a:gd name="T29" fmla="*/ 288 h 474"/>
                <a:gd name="T30" fmla="*/ 267 w 388"/>
                <a:gd name="T31" fmla="*/ 253 h 474"/>
                <a:gd name="T32" fmla="*/ 275 w 388"/>
                <a:gd name="T33" fmla="*/ 200 h 474"/>
                <a:gd name="T34" fmla="*/ 280 w 388"/>
                <a:gd name="T35" fmla="*/ 155 h 474"/>
                <a:gd name="T36" fmla="*/ 276 w 388"/>
                <a:gd name="T37" fmla="*/ 117 h 474"/>
                <a:gd name="T38" fmla="*/ 270 w 388"/>
                <a:gd name="T39" fmla="*/ 96 h 474"/>
                <a:gd name="T40" fmla="*/ 270 w 388"/>
                <a:gd name="T41" fmla="*/ 79 h 474"/>
                <a:gd name="T42" fmla="*/ 249 w 388"/>
                <a:gd name="T43" fmla="*/ 51 h 474"/>
                <a:gd name="T44" fmla="*/ 209 w 388"/>
                <a:gd name="T45" fmla="*/ 22 h 474"/>
                <a:gd name="T46" fmla="*/ 188 w 388"/>
                <a:gd name="T47" fmla="*/ 21 h 474"/>
                <a:gd name="T48" fmla="*/ 166 w 388"/>
                <a:gd name="T49" fmla="*/ 5 h 474"/>
                <a:gd name="T50" fmla="*/ 130 w 388"/>
                <a:gd name="T51" fmla="*/ 0 h 474"/>
                <a:gd name="T52" fmla="*/ 87 w 388"/>
                <a:gd name="T53" fmla="*/ 18 h 474"/>
                <a:gd name="T54" fmla="*/ 48 w 388"/>
                <a:gd name="T55" fmla="*/ 25 h 474"/>
                <a:gd name="T56" fmla="*/ 13 w 388"/>
                <a:gd name="T57" fmla="*/ 53 h 474"/>
                <a:gd name="T58" fmla="*/ 0 w 388"/>
                <a:gd name="T59" fmla="*/ 73 h 474"/>
                <a:gd name="T60" fmla="*/ 7 w 388"/>
                <a:gd name="T61" fmla="*/ 89 h 474"/>
                <a:gd name="T62" fmla="*/ 30 w 388"/>
                <a:gd name="T63" fmla="*/ 70 h 474"/>
                <a:gd name="T64" fmla="*/ 43 w 388"/>
                <a:gd name="T65" fmla="*/ 66 h 474"/>
                <a:gd name="T66" fmla="*/ 68 w 388"/>
                <a:gd name="T67" fmla="*/ 86 h 474"/>
                <a:gd name="T68" fmla="*/ 77 w 388"/>
                <a:gd name="T69" fmla="*/ 122 h 474"/>
                <a:gd name="T70" fmla="*/ 81 w 388"/>
                <a:gd name="T71" fmla="*/ 168 h 474"/>
                <a:gd name="T72" fmla="*/ 99 w 388"/>
                <a:gd name="T73" fmla="*/ 194 h 474"/>
                <a:gd name="T74" fmla="*/ 110 w 388"/>
                <a:gd name="T75" fmla="*/ 209 h 474"/>
                <a:gd name="T76" fmla="*/ 136 w 388"/>
                <a:gd name="T77" fmla="*/ 220 h 474"/>
                <a:gd name="T78" fmla="*/ 161 w 388"/>
                <a:gd name="T79" fmla="*/ 223 h 474"/>
                <a:gd name="T80" fmla="*/ 175 w 388"/>
                <a:gd name="T81" fmla="*/ 235 h 474"/>
                <a:gd name="T82" fmla="*/ 179 w 388"/>
                <a:gd name="T83" fmla="*/ 247 h 474"/>
                <a:gd name="T84" fmla="*/ 200 w 388"/>
                <a:gd name="T85" fmla="*/ 275 h 474"/>
                <a:gd name="T86" fmla="*/ 226 w 388"/>
                <a:gd name="T87" fmla="*/ 291 h 474"/>
                <a:gd name="T88" fmla="*/ 246 w 388"/>
                <a:gd name="T89" fmla="*/ 299 h 474"/>
                <a:gd name="T90" fmla="*/ 253 w 388"/>
                <a:gd name="T91" fmla="*/ 309 h 474"/>
                <a:gd name="T92" fmla="*/ 263 w 388"/>
                <a:gd name="T93" fmla="*/ 369 h 474"/>
                <a:gd name="T94" fmla="*/ 252 w 388"/>
                <a:gd name="T95" fmla="*/ 374 h 474"/>
                <a:gd name="T96" fmla="*/ 288 w 388"/>
                <a:gd name="T97" fmla="*/ 430 h 474"/>
                <a:gd name="T98" fmla="*/ 293 w 388"/>
                <a:gd name="T99" fmla="*/ 444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88" h="474">
                  <a:moveTo>
                    <a:pt x="293" y="444"/>
                  </a:moveTo>
                  <a:lnTo>
                    <a:pt x="309" y="460"/>
                  </a:lnTo>
                  <a:lnTo>
                    <a:pt x="318" y="466"/>
                  </a:lnTo>
                  <a:lnTo>
                    <a:pt x="332" y="471"/>
                  </a:lnTo>
                  <a:lnTo>
                    <a:pt x="348" y="474"/>
                  </a:lnTo>
                  <a:lnTo>
                    <a:pt x="358" y="474"/>
                  </a:lnTo>
                  <a:lnTo>
                    <a:pt x="345" y="469"/>
                  </a:lnTo>
                  <a:lnTo>
                    <a:pt x="362" y="467"/>
                  </a:lnTo>
                  <a:lnTo>
                    <a:pt x="375" y="465"/>
                  </a:lnTo>
                  <a:lnTo>
                    <a:pt x="388" y="460"/>
                  </a:lnTo>
                  <a:lnTo>
                    <a:pt x="367" y="456"/>
                  </a:lnTo>
                  <a:lnTo>
                    <a:pt x="352" y="449"/>
                  </a:lnTo>
                  <a:lnTo>
                    <a:pt x="355" y="447"/>
                  </a:lnTo>
                  <a:lnTo>
                    <a:pt x="349" y="441"/>
                  </a:lnTo>
                  <a:lnTo>
                    <a:pt x="362" y="441"/>
                  </a:lnTo>
                  <a:lnTo>
                    <a:pt x="372" y="440"/>
                  </a:lnTo>
                  <a:lnTo>
                    <a:pt x="374" y="440"/>
                  </a:lnTo>
                  <a:lnTo>
                    <a:pt x="364" y="435"/>
                  </a:lnTo>
                  <a:lnTo>
                    <a:pt x="376" y="434"/>
                  </a:lnTo>
                  <a:lnTo>
                    <a:pt x="361" y="422"/>
                  </a:lnTo>
                  <a:lnTo>
                    <a:pt x="349" y="412"/>
                  </a:lnTo>
                  <a:lnTo>
                    <a:pt x="339" y="390"/>
                  </a:lnTo>
                  <a:lnTo>
                    <a:pt x="328" y="352"/>
                  </a:lnTo>
                  <a:lnTo>
                    <a:pt x="319" y="327"/>
                  </a:lnTo>
                  <a:lnTo>
                    <a:pt x="309" y="309"/>
                  </a:lnTo>
                  <a:lnTo>
                    <a:pt x="300" y="299"/>
                  </a:lnTo>
                  <a:lnTo>
                    <a:pt x="288" y="290"/>
                  </a:lnTo>
                  <a:lnTo>
                    <a:pt x="279" y="284"/>
                  </a:lnTo>
                  <a:lnTo>
                    <a:pt x="272" y="292"/>
                  </a:lnTo>
                  <a:lnTo>
                    <a:pt x="259" y="288"/>
                  </a:lnTo>
                  <a:lnTo>
                    <a:pt x="266" y="264"/>
                  </a:lnTo>
                  <a:lnTo>
                    <a:pt x="267" y="253"/>
                  </a:lnTo>
                  <a:lnTo>
                    <a:pt x="274" y="214"/>
                  </a:lnTo>
                  <a:lnTo>
                    <a:pt x="275" y="200"/>
                  </a:lnTo>
                  <a:lnTo>
                    <a:pt x="279" y="178"/>
                  </a:lnTo>
                  <a:lnTo>
                    <a:pt x="280" y="155"/>
                  </a:lnTo>
                  <a:lnTo>
                    <a:pt x="280" y="135"/>
                  </a:lnTo>
                  <a:lnTo>
                    <a:pt x="276" y="117"/>
                  </a:lnTo>
                  <a:lnTo>
                    <a:pt x="274" y="105"/>
                  </a:lnTo>
                  <a:lnTo>
                    <a:pt x="270" y="96"/>
                  </a:lnTo>
                  <a:lnTo>
                    <a:pt x="271" y="89"/>
                  </a:lnTo>
                  <a:lnTo>
                    <a:pt x="270" y="79"/>
                  </a:lnTo>
                  <a:lnTo>
                    <a:pt x="263" y="68"/>
                  </a:lnTo>
                  <a:lnTo>
                    <a:pt x="249" y="51"/>
                  </a:lnTo>
                  <a:lnTo>
                    <a:pt x="226" y="33"/>
                  </a:lnTo>
                  <a:lnTo>
                    <a:pt x="209" y="22"/>
                  </a:lnTo>
                  <a:lnTo>
                    <a:pt x="197" y="21"/>
                  </a:lnTo>
                  <a:lnTo>
                    <a:pt x="188" y="21"/>
                  </a:lnTo>
                  <a:lnTo>
                    <a:pt x="176" y="9"/>
                  </a:lnTo>
                  <a:lnTo>
                    <a:pt x="166" y="5"/>
                  </a:lnTo>
                  <a:lnTo>
                    <a:pt x="147" y="2"/>
                  </a:lnTo>
                  <a:lnTo>
                    <a:pt x="130" y="0"/>
                  </a:lnTo>
                  <a:lnTo>
                    <a:pt x="113" y="5"/>
                  </a:lnTo>
                  <a:lnTo>
                    <a:pt x="87" y="18"/>
                  </a:lnTo>
                  <a:lnTo>
                    <a:pt x="62" y="25"/>
                  </a:lnTo>
                  <a:lnTo>
                    <a:pt x="48" y="25"/>
                  </a:lnTo>
                  <a:lnTo>
                    <a:pt x="38" y="31"/>
                  </a:lnTo>
                  <a:lnTo>
                    <a:pt x="13" y="53"/>
                  </a:lnTo>
                  <a:lnTo>
                    <a:pt x="4" y="64"/>
                  </a:lnTo>
                  <a:lnTo>
                    <a:pt x="0" y="73"/>
                  </a:lnTo>
                  <a:lnTo>
                    <a:pt x="3" y="78"/>
                  </a:lnTo>
                  <a:lnTo>
                    <a:pt x="7" y="89"/>
                  </a:lnTo>
                  <a:lnTo>
                    <a:pt x="20" y="77"/>
                  </a:lnTo>
                  <a:lnTo>
                    <a:pt x="30" y="70"/>
                  </a:lnTo>
                  <a:lnTo>
                    <a:pt x="38" y="64"/>
                  </a:lnTo>
                  <a:lnTo>
                    <a:pt x="43" y="66"/>
                  </a:lnTo>
                  <a:lnTo>
                    <a:pt x="55" y="73"/>
                  </a:lnTo>
                  <a:lnTo>
                    <a:pt x="68" y="86"/>
                  </a:lnTo>
                  <a:lnTo>
                    <a:pt x="73" y="103"/>
                  </a:lnTo>
                  <a:lnTo>
                    <a:pt x="77" y="122"/>
                  </a:lnTo>
                  <a:lnTo>
                    <a:pt x="77" y="153"/>
                  </a:lnTo>
                  <a:lnTo>
                    <a:pt x="81" y="168"/>
                  </a:lnTo>
                  <a:lnTo>
                    <a:pt x="88" y="182"/>
                  </a:lnTo>
                  <a:lnTo>
                    <a:pt x="99" y="194"/>
                  </a:lnTo>
                  <a:lnTo>
                    <a:pt x="101" y="198"/>
                  </a:lnTo>
                  <a:lnTo>
                    <a:pt x="110" y="209"/>
                  </a:lnTo>
                  <a:lnTo>
                    <a:pt x="123" y="217"/>
                  </a:lnTo>
                  <a:lnTo>
                    <a:pt x="136" y="220"/>
                  </a:lnTo>
                  <a:lnTo>
                    <a:pt x="148" y="222"/>
                  </a:lnTo>
                  <a:lnTo>
                    <a:pt x="161" y="223"/>
                  </a:lnTo>
                  <a:lnTo>
                    <a:pt x="165" y="227"/>
                  </a:lnTo>
                  <a:lnTo>
                    <a:pt x="175" y="235"/>
                  </a:lnTo>
                  <a:lnTo>
                    <a:pt x="178" y="236"/>
                  </a:lnTo>
                  <a:lnTo>
                    <a:pt x="179" y="247"/>
                  </a:lnTo>
                  <a:lnTo>
                    <a:pt x="191" y="266"/>
                  </a:lnTo>
                  <a:lnTo>
                    <a:pt x="200" y="275"/>
                  </a:lnTo>
                  <a:lnTo>
                    <a:pt x="213" y="286"/>
                  </a:lnTo>
                  <a:lnTo>
                    <a:pt x="226" y="291"/>
                  </a:lnTo>
                  <a:lnTo>
                    <a:pt x="232" y="305"/>
                  </a:lnTo>
                  <a:lnTo>
                    <a:pt x="246" y="299"/>
                  </a:lnTo>
                  <a:lnTo>
                    <a:pt x="250" y="297"/>
                  </a:lnTo>
                  <a:lnTo>
                    <a:pt x="253" y="309"/>
                  </a:lnTo>
                  <a:lnTo>
                    <a:pt x="256" y="322"/>
                  </a:lnTo>
                  <a:lnTo>
                    <a:pt x="263" y="369"/>
                  </a:lnTo>
                  <a:lnTo>
                    <a:pt x="250" y="374"/>
                  </a:lnTo>
                  <a:lnTo>
                    <a:pt x="252" y="374"/>
                  </a:lnTo>
                  <a:lnTo>
                    <a:pt x="276" y="404"/>
                  </a:lnTo>
                  <a:lnTo>
                    <a:pt x="288" y="430"/>
                  </a:lnTo>
                  <a:lnTo>
                    <a:pt x="293" y="447"/>
                  </a:lnTo>
                  <a:lnTo>
                    <a:pt x="293" y="444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08" name="Freeform 48"/>
            <p:cNvSpPr>
              <a:spLocks/>
            </p:cNvSpPr>
            <p:nvPr/>
          </p:nvSpPr>
          <p:spPr bwMode="auto">
            <a:xfrm>
              <a:off x="1418" y="2938"/>
              <a:ext cx="46" cy="51"/>
            </a:xfrm>
            <a:custGeom>
              <a:avLst/>
              <a:gdLst>
                <a:gd name="T0" fmla="*/ 0 w 46"/>
                <a:gd name="T1" fmla="*/ 0 h 51"/>
                <a:gd name="T2" fmla="*/ 0 w 46"/>
                <a:gd name="T3" fmla="*/ 8 h 51"/>
                <a:gd name="T4" fmla="*/ 8 w 46"/>
                <a:gd name="T5" fmla="*/ 29 h 51"/>
                <a:gd name="T6" fmla="*/ 17 w 46"/>
                <a:gd name="T7" fmla="*/ 40 h 51"/>
                <a:gd name="T8" fmla="*/ 27 w 46"/>
                <a:gd name="T9" fmla="*/ 48 h 51"/>
                <a:gd name="T10" fmla="*/ 34 w 46"/>
                <a:gd name="T11" fmla="*/ 51 h 51"/>
                <a:gd name="T12" fmla="*/ 42 w 46"/>
                <a:gd name="T13" fmla="*/ 51 h 51"/>
                <a:gd name="T14" fmla="*/ 46 w 46"/>
                <a:gd name="T15" fmla="*/ 48 h 51"/>
                <a:gd name="T16" fmla="*/ 36 w 46"/>
                <a:gd name="T17" fmla="*/ 45 h 51"/>
                <a:gd name="T18" fmla="*/ 25 w 46"/>
                <a:gd name="T19" fmla="*/ 39 h 51"/>
                <a:gd name="T20" fmla="*/ 14 w 46"/>
                <a:gd name="T21" fmla="*/ 29 h 51"/>
                <a:gd name="T22" fmla="*/ 1 w 46"/>
                <a:gd name="T23" fmla="*/ 8 h 51"/>
                <a:gd name="T24" fmla="*/ 0 w 46"/>
                <a:gd name="T25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" h="51">
                  <a:moveTo>
                    <a:pt x="0" y="0"/>
                  </a:moveTo>
                  <a:lnTo>
                    <a:pt x="0" y="8"/>
                  </a:lnTo>
                  <a:lnTo>
                    <a:pt x="8" y="29"/>
                  </a:lnTo>
                  <a:lnTo>
                    <a:pt x="17" y="40"/>
                  </a:lnTo>
                  <a:lnTo>
                    <a:pt x="27" y="48"/>
                  </a:lnTo>
                  <a:lnTo>
                    <a:pt x="34" y="51"/>
                  </a:lnTo>
                  <a:lnTo>
                    <a:pt x="42" y="51"/>
                  </a:lnTo>
                  <a:lnTo>
                    <a:pt x="46" y="48"/>
                  </a:lnTo>
                  <a:lnTo>
                    <a:pt x="36" y="45"/>
                  </a:lnTo>
                  <a:lnTo>
                    <a:pt x="25" y="39"/>
                  </a:lnTo>
                  <a:lnTo>
                    <a:pt x="14" y="29"/>
                  </a:lnTo>
                  <a:lnTo>
                    <a:pt x="1" y="8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09" name="Freeform 49"/>
            <p:cNvSpPr>
              <a:spLocks/>
            </p:cNvSpPr>
            <p:nvPr/>
          </p:nvSpPr>
          <p:spPr bwMode="auto">
            <a:xfrm>
              <a:off x="1491" y="2973"/>
              <a:ext cx="24" cy="12"/>
            </a:xfrm>
            <a:custGeom>
              <a:avLst/>
              <a:gdLst>
                <a:gd name="T0" fmla="*/ 0 w 24"/>
                <a:gd name="T1" fmla="*/ 10 h 12"/>
                <a:gd name="T2" fmla="*/ 10 w 24"/>
                <a:gd name="T3" fmla="*/ 5 h 12"/>
                <a:gd name="T4" fmla="*/ 18 w 24"/>
                <a:gd name="T5" fmla="*/ 0 h 12"/>
                <a:gd name="T6" fmla="*/ 24 w 24"/>
                <a:gd name="T7" fmla="*/ 4 h 12"/>
                <a:gd name="T8" fmla="*/ 19 w 24"/>
                <a:gd name="T9" fmla="*/ 8 h 12"/>
                <a:gd name="T10" fmla="*/ 11 w 24"/>
                <a:gd name="T11" fmla="*/ 10 h 12"/>
                <a:gd name="T12" fmla="*/ 2 w 24"/>
                <a:gd name="T13" fmla="*/ 12 h 12"/>
                <a:gd name="T14" fmla="*/ 0 w 24"/>
                <a:gd name="T15" fmla="*/ 1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" h="12">
                  <a:moveTo>
                    <a:pt x="0" y="10"/>
                  </a:moveTo>
                  <a:lnTo>
                    <a:pt x="10" y="5"/>
                  </a:lnTo>
                  <a:lnTo>
                    <a:pt x="18" y="0"/>
                  </a:lnTo>
                  <a:lnTo>
                    <a:pt x="24" y="4"/>
                  </a:lnTo>
                  <a:lnTo>
                    <a:pt x="19" y="8"/>
                  </a:lnTo>
                  <a:lnTo>
                    <a:pt x="11" y="10"/>
                  </a:lnTo>
                  <a:lnTo>
                    <a:pt x="2" y="1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10" name="Freeform 50"/>
            <p:cNvSpPr>
              <a:spLocks/>
            </p:cNvSpPr>
            <p:nvPr/>
          </p:nvSpPr>
          <p:spPr bwMode="auto">
            <a:xfrm>
              <a:off x="1330" y="2859"/>
              <a:ext cx="105" cy="140"/>
            </a:xfrm>
            <a:custGeom>
              <a:avLst/>
              <a:gdLst>
                <a:gd name="T0" fmla="*/ 82 w 105"/>
                <a:gd name="T1" fmla="*/ 58 h 140"/>
                <a:gd name="T2" fmla="*/ 78 w 105"/>
                <a:gd name="T3" fmla="*/ 39 h 140"/>
                <a:gd name="T4" fmla="*/ 73 w 105"/>
                <a:gd name="T5" fmla="*/ 22 h 140"/>
                <a:gd name="T6" fmla="*/ 60 w 105"/>
                <a:gd name="T7" fmla="*/ 9 h 140"/>
                <a:gd name="T8" fmla="*/ 48 w 105"/>
                <a:gd name="T9" fmla="*/ 2 h 140"/>
                <a:gd name="T10" fmla="*/ 43 w 105"/>
                <a:gd name="T11" fmla="*/ 0 h 140"/>
                <a:gd name="T12" fmla="*/ 35 w 105"/>
                <a:gd name="T13" fmla="*/ 6 h 140"/>
                <a:gd name="T14" fmla="*/ 25 w 105"/>
                <a:gd name="T15" fmla="*/ 13 h 140"/>
                <a:gd name="T16" fmla="*/ 12 w 105"/>
                <a:gd name="T17" fmla="*/ 25 h 140"/>
                <a:gd name="T18" fmla="*/ 5 w 105"/>
                <a:gd name="T19" fmla="*/ 50 h 140"/>
                <a:gd name="T20" fmla="*/ 3 w 105"/>
                <a:gd name="T21" fmla="*/ 62 h 140"/>
                <a:gd name="T22" fmla="*/ 5 w 105"/>
                <a:gd name="T23" fmla="*/ 78 h 140"/>
                <a:gd name="T24" fmla="*/ 4 w 105"/>
                <a:gd name="T25" fmla="*/ 86 h 140"/>
                <a:gd name="T26" fmla="*/ 1 w 105"/>
                <a:gd name="T27" fmla="*/ 95 h 140"/>
                <a:gd name="T28" fmla="*/ 3 w 105"/>
                <a:gd name="T29" fmla="*/ 98 h 140"/>
                <a:gd name="T30" fmla="*/ 5 w 105"/>
                <a:gd name="T31" fmla="*/ 106 h 140"/>
                <a:gd name="T32" fmla="*/ 6 w 105"/>
                <a:gd name="T33" fmla="*/ 118 h 140"/>
                <a:gd name="T34" fmla="*/ 0 w 105"/>
                <a:gd name="T35" fmla="*/ 127 h 140"/>
                <a:gd name="T36" fmla="*/ 4 w 105"/>
                <a:gd name="T37" fmla="*/ 134 h 140"/>
                <a:gd name="T38" fmla="*/ 4 w 105"/>
                <a:gd name="T39" fmla="*/ 137 h 140"/>
                <a:gd name="T40" fmla="*/ 18 w 105"/>
                <a:gd name="T41" fmla="*/ 136 h 140"/>
                <a:gd name="T42" fmla="*/ 23 w 105"/>
                <a:gd name="T43" fmla="*/ 136 h 140"/>
                <a:gd name="T44" fmla="*/ 25 w 105"/>
                <a:gd name="T45" fmla="*/ 140 h 140"/>
                <a:gd name="T46" fmla="*/ 105 w 105"/>
                <a:gd name="T47" fmla="*/ 130 h 140"/>
                <a:gd name="T48" fmla="*/ 104 w 105"/>
                <a:gd name="T49" fmla="*/ 130 h 140"/>
                <a:gd name="T50" fmla="*/ 93 w 105"/>
                <a:gd name="T51" fmla="*/ 118 h 140"/>
                <a:gd name="T52" fmla="*/ 86 w 105"/>
                <a:gd name="T53" fmla="*/ 104 h 140"/>
                <a:gd name="T54" fmla="*/ 82 w 105"/>
                <a:gd name="T55" fmla="*/ 89 h 140"/>
                <a:gd name="T56" fmla="*/ 82 w 105"/>
                <a:gd name="T57" fmla="*/ 58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05" h="140">
                  <a:moveTo>
                    <a:pt x="82" y="58"/>
                  </a:moveTo>
                  <a:lnTo>
                    <a:pt x="78" y="39"/>
                  </a:lnTo>
                  <a:lnTo>
                    <a:pt x="73" y="22"/>
                  </a:lnTo>
                  <a:lnTo>
                    <a:pt x="60" y="9"/>
                  </a:lnTo>
                  <a:lnTo>
                    <a:pt x="48" y="2"/>
                  </a:lnTo>
                  <a:lnTo>
                    <a:pt x="43" y="0"/>
                  </a:lnTo>
                  <a:lnTo>
                    <a:pt x="35" y="6"/>
                  </a:lnTo>
                  <a:lnTo>
                    <a:pt x="25" y="13"/>
                  </a:lnTo>
                  <a:lnTo>
                    <a:pt x="12" y="25"/>
                  </a:lnTo>
                  <a:lnTo>
                    <a:pt x="5" y="50"/>
                  </a:lnTo>
                  <a:lnTo>
                    <a:pt x="3" y="62"/>
                  </a:lnTo>
                  <a:lnTo>
                    <a:pt x="5" y="78"/>
                  </a:lnTo>
                  <a:lnTo>
                    <a:pt x="4" y="86"/>
                  </a:lnTo>
                  <a:lnTo>
                    <a:pt x="1" y="95"/>
                  </a:lnTo>
                  <a:lnTo>
                    <a:pt x="3" y="98"/>
                  </a:lnTo>
                  <a:lnTo>
                    <a:pt x="5" y="106"/>
                  </a:lnTo>
                  <a:lnTo>
                    <a:pt x="6" y="118"/>
                  </a:lnTo>
                  <a:lnTo>
                    <a:pt x="0" y="127"/>
                  </a:lnTo>
                  <a:lnTo>
                    <a:pt x="4" y="134"/>
                  </a:lnTo>
                  <a:lnTo>
                    <a:pt x="4" y="137"/>
                  </a:lnTo>
                  <a:lnTo>
                    <a:pt x="18" y="136"/>
                  </a:lnTo>
                  <a:lnTo>
                    <a:pt x="23" y="136"/>
                  </a:lnTo>
                  <a:lnTo>
                    <a:pt x="25" y="140"/>
                  </a:lnTo>
                  <a:lnTo>
                    <a:pt x="105" y="130"/>
                  </a:lnTo>
                  <a:lnTo>
                    <a:pt x="104" y="130"/>
                  </a:lnTo>
                  <a:lnTo>
                    <a:pt x="93" y="118"/>
                  </a:lnTo>
                  <a:lnTo>
                    <a:pt x="86" y="104"/>
                  </a:lnTo>
                  <a:lnTo>
                    <a:pt x="82" y="89"/>
                  </a:lnTo>
                  <a:lnTo>
                    <a:pt x="82" y="58"/>
                  </a:lnTo>
                  <a:close/>
                </a:path>
              </a:pathLst>
            </a:custGeom>
            <a:solidFill>
              <a:srgbClr val="FCE6C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11" name="Freeform 51"/>
            <p:cNvSpPr>
              <a:spLocks/>
            </p:cNvSpPr>
            <p:nvPr/>
          </p:nvSpPr>
          <p:spPr bwMode="auto">
            <a:xfrm>
              <a:off x="1323" y="2983"/>
              <a:ext cx="11" cy="13"/>
            </a:xfrm>
            <a:custGeom>
              <a:avLst/>
              <a:gdLst>
                <a:gd name="T0" fmla="*/ 3 w 11"/>
                <a:gd name="T1" fmla="*/ 12 h 13"/>
                <a:gd name="T2" fmla="*/ 2 w 11"/>
                <a:gd name="T3" fmla="*/ 8 h 13"/>
                <a:gd name="T4" fmla="*/ 0 w 11"/>
                <a:gd name="T5" fmla="*/ 3 h 13"/>
                <a:gd name="T6" fmla="*/ 4 w 11"/>
                <a:gd name="T7" fmla="*/ 0 h 13"/>
                <a:gd name="T8" fmla="*/ 7 w 11"/>
                <a:gd name="T9" fmla="*/ 3 h 13"/>
                <a:gd name="T10" fmla="*/ 11 w 11"/>
                <a:gd name="T11" fmla="*/ 10 h 13"/>
                <a:gd name="T12" fmla="*/ 11 w 11"/>
                <a:gd name="T13" fmla="*/ 13 h 13"/>
                <a:gd name="T14" fmla="*/ 4 w 11"/>
                <a:gd name="T15" fmla="*/ 13 h 13"/>
                <a:gd name="T16" fmla="*/ 3 w 11"/>
                <a:gd name="T17" fmla="*/ 11 h 13"/>
                <a:gd name="T18" fmla="*/ 3 w 11"/>
                <a:gd name="T19" fmla="*/ 1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" h="13">
                  <a:moveTo>
                    <a:pt x="3" y="12"/>
                  </a:moveTo>
                  <a:lnTo>
                    <a:pt x="2" y="8"/>
                  </a:lnTo>
                  <a:lnTo>
                    <a:pt x="0" y="3"/>
                  </a:lnTo>
                  <a:lnTo>
                    <a:pt x="4" y="0"/>
                  </a:lnTo>
                  <a:lnTo>
                    <a:pt x="7" y="3"/>
                  </a:lnTo>
                  <a:lnTo>
                    <a:pt x="11" y="10"/>
                  </a:lnTo>
                  <a:lnTo>
                    <a:pt x="11" y="13"/>
                  </a:lnTo>
                  <a:lnTo>
                    <a:pt x="4" y="13"/>
                  </a:lnTo>
                  <a:lnTo>
                    <a:pt x="3" y="11"/>
                  </a:lnTo>
                  <a:lnTo>
                    <a:pt x="3" y="12"/>
                  </a:lnTo>
                  <a:close/>
                </a:path>
              </a:pathLst>
            </a:custGeom>
            <a:solidFill>
              <a:srgbClr val="FF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12" name="Freeform 52"/>
            <p:cNvSpPr>
              <a:spLocks/>
            </p:cNvSpPr>
            <p:nvPr/>
          </p:nvSpPr>
          <p:spPr bwMode="auto">
            <a:xfrm>
              <a:off x="1305" y="2990"/>
              <a:ext cx="21" cy="22"/>
            </a:xfrm>
            <a:custGeom>
              <a:avLst/>
              <a:gdLst>
                <a:gd name="T0" fmla="*/ 20 w 21"/>
                <a:gd name="T1" fmla="*/ 1 h 22"/>
                <a:gd name="T2" fmla="*/ 21 w 21"/>
                <a:gd name="T3" fmla="*/ 5 h 22"/>
                <a:gd name="T4" fmla="*/ 17 w 21"/>
                <a:gd name="T5" fmla="*/ 8 h 22"/>
                <a:gd name="T6" fmla="*/ 7 w 21"/>
                <a:gd name="T7" fmla="*/ 22 h 22"/>
                <a:gd name="T8" fmla="*/ 3 w 21"/>
                <a:gd name="T9" fmla="*/ 19 h 22"/>
                <a:gd name="T10" fmla="*/ 0 w 21"/>
                <a:gd name="T11" fmla="*/ 12 h 22"/>
                <a:gd name="T12" fmla="*/ 0 w 21"/>
                <a:gd name="T13" fmla="*/ 0 h 22"/>
                <a:gd name="T14" fmla="*/ 20 w 21"/>
                <a:gd name="T15" fmla="*/ 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" h="22">
                  <a:moveTo>
                    <a:pt x="20" y="1"/>
                  </a:moveTo>
                  <a:lnTo>
                    <a:pt x="21" y="5"/>
                  </a:lnTo>
                  <a:lnTo>
                    <a:pt x="17" y="8"/>
                  </a:lnTo>
                  <a:lnTo>
                    <a:pt x="7" y="22"/>
                  </a:lnTo>
                  <a:lnTo>
                    <a:pt x="3" y="19"/>
                  </a:lnTo>
                  <a:lnTo>
                    <a:pt x="0" y="12"/>
                  </a:lnTo>
                  <a:lnTo>
                    <a:pt x="0" y="0"/>
                  </a:lnTo>
                  <a:lnTo>
                    <a:pt x="20" y="1"/>
                  </a:lnTo>
                  <a:close/>
                </a:path>
              </a:pathLst>
            </a:custGeom>
            <a:solidFill>
              <a:srgbClr val="C2FFFF"/>
            </a:solidFill>
            <a:ln w="0">
              <a:solidFill>
                <a:srgbClr val="00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13" name="Freeform 53"/>
            <p:cNvSpPr>
              <a:spLocks/>
            </p:cNvSpPr>
            <p:nvPr/>
          </p:nvSpPr>
          <p:spPr bwMode="auto">
            <a:xfrm>
              <a:off x="1327" y="2995"/>
              <a:ext cx="28" cy="27"/>
            </a:xfrm>
            <a:custGeom>
              <a:avLst/>
              <a:gdLst>
                <a:gd name="T0" fmla="*/ 7 w 28"/>
                <a:gd name="T1" fmla="*/ 1 h 27"/>
                <a:gd name="T2" fmla="*/ 21 w 28"/>
                <a:gd name="T3" fmla="*/ 0 h 27"/>
                <a:gd name="T4" fmla="*/ 26 w 28"/>
                <a:gd name="T5" fmla="*/ 0 h 27"/>
                <a:gd name="T6" fmla="*/ 28 w 28"/>
                <a:gd name="T7" fmla="*/ 4 h 27"/>
                <a:gd name="T8" fmla="*/ 28 w 28"/>
                <a:gd name="T9" fmla="*/ 21 h 27"/>
                <a:gd name="T10" fmla="*/ 24 w 28"/>
                <a:gd name="T11" fmla="*/ 26 h 27"/>
                <a:gd name="T12" fmla="*/ 20 w 28"/>
                <a:gd name="T13" fmla="*/ 27 h 27"/>
                <a:gd name="T14" fmla="*/ 11 w 28"/>
                <a:gd name="T15" fmla="*/ 26 h 27"/>
                <a:gd name="T16" fmla="*/ 0 w 28"/>
                <a:gd name="T17" fmla="*/ 1 h 27"/>
                <a:gd name="T18" fmla="*/ 7 w 28"/>
                <a:gd name="T19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27">
                  <a:moveTo>
                    <a:pt x="7" y="1"/>
                  </a:moveTo>
                  <a:lnTo>
                    <a:pt x="21" y="0"/>
                  </a:lnTo>
                  <a:lnTo>
                    <a:pt x="26" y="0"/>
                  </a:lnTo>
                  <a:lnTo>
                    <a:pt x="28" y="4"/>
                  </a:lnTo>
                  <a:lnTo>
                    <a:pt x="28" y="21"/>
                  </a:lnTo>
                  <a:lnTo>
                    <a:pt x="24" y="26"/>
                  </a:lnTo>
                  <a:lnTo>
                    <a:pt x="20" y="27"/>
                  </a:lnTo>
                  <a:lnTo>
                    <a:pt x="11" y="26"/>
                  </a:lnTo>
                  <a:lnTo>
                    <a:pt x="0" y="1"/>
                  </a:lnTo>
                  <a:lnTo>
                    <a:pt x="7" y="1"/>
                  </a:lnTo>
                  <a:close/>
                </a:path>
              </a:pathLst>
            </a:custGeom>
            <a:solidFill>
              <a:srgbClr val="C2FFFF"/>
            </a:solidFill>
            <a:ln w="0">
              <a:solidFill>
                <a:srgbClr val="00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14" name="Freeform 54"/>
            <p:cNvSpPr>
              <a:spLocks/>
            </p:cNvSpPr>
            <p:nvPr/>
          </p:nvSpPr>
          <p:spPr bwMode="auto">
            <a:xfrm>
              <a:off x="1304" y="2991"/>
              <a:ext cx="263" cy="175"/>
            </a:xfrm>
            <a:custGeom>
              <a:avLst/>
              <a:gdLst>
                <a:gd name="T0" fmla="*/ 206 w 263"/>
                <a:gd name="T1" fmla="*/ 39 h 175"/>
                <a:gd name="T2" fmla="*/ 196 w 263"/>
                <a:gd name="T3" fmla="*/ 31 h 175"/>
                <a:gd name="T4" fmla="*/ 192 w 263"/>
                <a:gd name="T5" fmla="*/ 27 h 175"/>
                <a:gd name="T6" fmla="*/ 191 w 263"/>
                <a:gd name="T7" fmla="*/ 27 h 175"/>
                <a:gd name="T8" fmla="*/ 179 w 263"/>
                <a:gd name="T9" fmla="*/ 26 h 175"/>
                <a:gd name="T10" fmla="*/ 167 w 263"/>
                <a:gd name="T11" fmla="*/ 24 h 175"/>
                <a:gd name="T12" fmla="*/ 154 w 263"/>
                <a:gd name="T13" fmla="*/ 21 h 175"/>
                <a:gd name="T14" fmla="*/ 141 w 263"/>
                <a:gd name="T15" fmla="*/ 13 h 175"/>
                <a:gd name="T16" fmla="*/ 132 w 263"/>
                <a:gd name="T17" fmla="*/ 2 h 175"/>
                <a:gd name="T18" fmla="*/ 132 w 263"/>
                <a:gd name="T19" fmla="*/ 0 h 175"/>
                <a:gd name="T20" fmla="*/ 51 w 263"/>
                <a:gd name="T21" fmla="*/ 12 h 175"/>
                <a:gd name="T22" fmla="*/ 51 w 263"/>
                <a:gd name="T23" fmla="*/ 25 h 175"/>
                <a:gd name="T24" fmla="*/ 47 w 263"/>
                <a:gd name="T25" fmla="*/ 30 h 175"/>
                <a:gd name="T26" fmla="*/ 43 w 263"/>
                <a:gd name="T27" fmla="*/ 31 h 175"/>
                <a:gd name="T28" fmla="*/ 34 w 263"/>
                <a:gd name="T29" fmla="*/ 30 h 175"/>
                <a:gd name="T30" fmla="*/ 23 w 263"/>
                <a:gd name="T31" fmla="*/ 5 h 175"/>
                <a:gd name="T32" fmla="*/ 22 w 263"/>
                <a:gd name="T33" fmla="*/ 4 h 175"/>
                <a:gd name="T34" fmla="*/ 18 w 263"/>
                <a:gd name="T35" fmla="*/ 7 h 175"/>
                <a:gd name="T36" fmla="*/ 8 w 263"/>
                <a:gd name="T37" fmla="*/ 21 h 175"/>
                <a:gd name="T38" fmla="*/ 0 w 263"/>
                <a:gd name="T39" fmla="*/ 31 h 175"/>
                <a:gd name="T40" fmla="*/ 0 w 263"/>
                <a:gd name="T41" fmla="*/ 42 h 175"/>
                <a:gd name="T42" fmla="*/ 17 w 263"/>
                <a:gd name="T43" fmla="*/ 46 h 175"/>
                <a:gd name="T44" fmla="*/ 23 w 263"/>
                <a:gd name="T45" fmla="*/ 42 h 175"/>
                <a:gd name="T46" fmla="*/ 36 w 263"/>
                <a:gd name="T47" fmla="*/ 44 h 175"/>
                <a:gd name="T48" fmla="*/ 31 w 263"/>
                <a:gd name="T49" fmla="*/ 46 h 175"/>
                <a:gd name="T50" fmla="*/ 21 w 263"/>
                <a:gd name="T51" fmla="*/ 51 h 175"/>
                <a:gd name="T52" fmla="*/ 21 w 263"/>
                <a:gd name="T53" fmla="*/ 57 h 175"/>
                <a:gd name="T54" fmla="*/ 17 w 263"/>
                <a:gd name="T55" fmla="*/ 70 h 175"/>
                <a:gd name="T56" fmla="*/ 21 w 263"/>
                <a:gd name="T57" fmla="*/ 73 h 175"/>
                <a:gd name="T58" fmla="*/ 27 w 263"/>
                <a:gd name="T59" fmla="*/ 79 h 175"/>
                <a:gd name="T60" fmla="*/ 22 w 263"/>
                <a:gd name="T61" fmla="*/ 85 h 175"/>
                <a:gd name="T62" fmla="*/ 22 w 263"/>
                <a:gd name="T63" fmla="*/ 92 h 175"/>
                <a:gd name="T64" fmla="*/ 30 w 263"/>
                <a:gd name="T65" fmla="*/ 98 h 175"/>
                <a:gd name="T66" fmla="*/ 36 w 263"/>
                <a:gd name="T67" fmla="*/ 112 h 175"/>
                <a:gd name="T68" fmla="*/ 26 w 263"/>
                <a:gd name="T69" fmla="*/ 139 h 175"/>
                <a:gd name="T70" fmla="*/ 34 w 263"/>
                <a:gd name="T71" fmla="*/ 149 h 175"/>
                <a:gd name="T72" fmla="*/ 45 w 263"/>
                <a:gd name="T73" fmla="*/ 156 h 175"/>
                <a:gd name="T74" fmla="*/ 65 w 263"/>
                <a:gd name="T75" fmla="*/ 148 h 175"/>
                <a:gd name="T76" fmla="*/ 86 w 263"/>
                <a:gd name="T77" fmla="*/ 152 h 175"/>
                <a:gd name="T78" fmla="*/ 105 w 263"/>
                <a:gd name="T79" fmla="*/ 151 h 175"/>
                <a:gd name="T80" fmla="*/ 121 w 263"/>
                <a:gd name="T81" fmla="*/ 147 h 175"/>
                <a:gd name="T82" fmla="*/ 135 w 263"/>
                <a:gd name="T83" fmla="*/ 140 h 175"/>
                <a:gd name="T84" fmla="*/ 121 w 263"/>
                <a:gd name="T85" fmla="*/ 159 h 175"/>
                <a:gd name="T86" fmla="*/ 117 w 263"/>
                <a:gd name="T87" fmla="*/ 169 h 175"/>
                <a:gd name="T88" fmla="*/ 121 w 263"/>
                <a:gd name="T89" fmla="*/ 175 h 175"/>
                <a:gd name="T90" fmla="*/ 210 w 263"/>
                <a:gd name="T91" fmla="*/ 133 h 175"/>
                <a:gd name="T92" fmla="*/ 263 w 263"/>
                <a:gd name="T93" fmla="*/ 109 h 175"/>
                <a:gd name="T94" fmla="*/ 257 w 263"/>
                <a:gd name="T95" fmla="*/ 95 h 175"/>
                <a:gd name="T96" fmla="*/ 258 w 263"/>
                <a:gd name="T97" fmla="*/ 96 h 175"/>
                <a:gd name="T98" fmla="*/ 244 w 263"/>
                <a:gd name="T99" fmla="*/ 90 h 175"/>
                <a:gd name="T100" fmla="*/ 231 w 263"/>
                <a:gd name="T101" fmla="*/ 79 h 175"/>
                <a:gd name="T102" fmla="*/ 222 w 263"/>
                <a:gd name="T103" fmla="*/ 70 h 175"/>
                <a:gd name="T104" fmla="*/ 210 w 263"/>
                <a:gd name="T105" fmla="*/ 51 h 175"/>
                <a:gd name="T106" fmla="*/ 209 w 263"/>
                <a:gd name="T107" fmla="*/ 40 h 175"/>
                <a:gd name="T108" fmla="*/ 206 w 263"/>
                <a:gd name="T109" fmla="*/ 39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63" h="175">
                  <a:moveTo>
                    <a:pt x="206" y="39"/>
                  </a:moveTo>
                  <a:lnTo>
                    <a:pt x="196" y="31"/>
                  </a:lnTo>
                  <a:lnTo>
                    <a:pt x="192" y="27"/>
                  </a:lnTo>
                  <a:lnTo>
                    <a:pt x="191" y="27"/>
                  </a:lnTo>
                  <a:lnTo>
                    <a:pt x="179" y="26"/>
                  </a:lnTo>
                  <a:lnTo>
                    <a:pt x="167" y="24"/>
                  </a:lnTo>
                  <a:lnTo>
                    <a:pt x="154" y="21"/>
                  </a:lnTo>
                  <a:lnTo>
                    <a:pt x="141" y="13"/>
                  </a:lnTo>
                  <a:lnTo>
                    <a:pt x="132" y="2"/>
                  </a:lnTo>
                  <a:lnTo>
                    <a:pt x="132" y="0"/>
                  </a:lnTo>
                  <a:lnTo>
                    <a:pt x="51" y="12"/>
                  </a:lnTo>
                  <a:lnTo>
                    <a:pt x="51" y="25"/>
                  </a:lnTo>
                  <a:lnTo>
                    <a:pt x="47" y="30"/>
                  </a:lnTo>
                  <a:lnTo>
                    <a:pt x="43" y="31"/>
                  </a:lnTo>
                  <a:lnTo>
                    <a:pt x="34" y="30"/>
                  </a:lnTo>
                  <a:lnTo>
                    <a:pt x="23" y="5"/>
                  </a:lnTo>
                  <a:lnTo>
                    <a:pt x="22" y="4"/>
                  </a:lnTo>
                  <a:lnTo>
                    <a:pt x="18" y="7"/>
                  </a:lnTo>
                  <a:lnTo>
                    <a:pt x="8" y="21"/>
                  </a:lnTo>
                  <a:lnTo>
                    <a:pt x="0" y="31"/>
                  </a:lnTo>
                  <a:lnTo>
                    <a:pt x="0" y="42"/>
                  </a:lnTo>
                  <a:lnTo>
                    <a:pt x="17" y="46"/>
                  </a:lnTo>
                  <a:lnTo>
                    <a:pt x="23" y="42"/>
                  </a:lnTo>
                  <a:lnTo>
                    <a:pt x="36" y="44"/>
                  </a:lnTo>
                  <a:lnTo>
                    <a:pt x="31" y="46"/>
                  </a:lnTo>
                  <a:lnTo>
                    <a:pt x="21" y="51"/>
                  </a:lnTo>
                  <a:lnTo>
                    <a:pt x="21" y="57"/>
                  </a:lnTo>
                  <a:lnTo>
                    <a:pt x="17" y="70"/>
                  </a:lnTo>
                  <a:lnTo>
                    <a:pt x="21" y="73"/>
                  </a:lnTo>
                  <a:lnTo>
                    <a:pt x="27" y="79"/>
                  </a:lnTo>
                  <a:lnTo>
                    <a:pt x="22" y="85"/>
                  </a:lnTo>
                  <a:lnTo>
                    <a:pt x="22" y="92"/>
                  </a:lnTo>
                  <a:lnTo>
                    <a:pt x="30" y="98"/>
                  </a:lnTo>
                  <a:lnTo>
                    <a:pt x="36" y="112"/>
                  </a:lnTo>
                  <a:lnTo>
                    <a:pt x="26" y="139"/>
                  </a:lnTo>
                  <a:lnTo>
                    <a:pt x="34" y="149"/>
                  </a:lnTo>
                  <a:lnTo>
                    <a:pt x="45" y="156"/>
                  </a:lnTo>
                  <a:lnTo>
                    <a:pt x="65" y="148"/>
                  </a:lnTo>
                  <a:lnTo>
                    <a:pt x="86" y="152"/>
                  </a:lnTo>
                  <a:lnTo>
                    <a:pt x="105" y="151"/>
                  </a:lnTo>
                  <a:lnTo>
                    <a:pt x="121" y="147"/>
                  </a:lnTo>
                  <a:lnTo>
                    <a:pt x="135" y="140"/>
                  </a:lnTo>
                  <a:lnTo>
                    <a:pt x="121" y="159"/>
                  </a:lnTo>
                  <a:lnTo>
                    <a:pt x="117" y="169"/>
                  </a:lnTo>
                  <a:lnTo>
                    <a:pt x="121" y="175"/>
                  </a:lnTo>
                  <a:lnTo>
                    <a:pt x="210" y="133"/>
                  </a:lnTo>
                  <a:lnTo>
                    <a:pt x="263" y="109"/>
                  </a:lnTo>
                  <a:lnTo>
                    <a:pt x="257" y="95"/>
                  </a:lnTo>
                  <a:lnTo>
                    <a:pt x="258" y="96"/>
                  </a:lnTo>
                  <a:lnTo>
                    <a:pt x="244" y="90"/>
                  </a:lnTo>
                  <a:lnTo>
                    <a:pt x="231" y="79"/>
                  </a:lnTo>
                  <a:lnTo>
                    <a:pt x="222" y="70"/>
                  </a:lnTo>
                  <a:lnTo>
                    <a:pt x="210" y="51"/>
                  </a:lnTo>
                  <a:lnTo>
                    <a:pt x="209" y="40"/>
                  </a:lnTo>
                  <a:lnTo>
                    <a:pt x="206" y="39"/>
                  </a:lnTo>
                  <a:close/>
                </a:path>
              </a:pathLst>
            </a:custGeom>
            <a:solidFill>
              <a:srgbClr val="FCE6C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15" name="Freeform 55"/>
            <p:cNvSpPr>
              <a:spLocks/>
            </p:cNvSpPr>
            <p:nvPr/>
          </p:nvSpPr>
          <p:spPr bwMode="auto">
            <a:xfrm>
              <a:off x="1321" y="3033"/>
              <a:ext cx="19" cy="9"/>
            </a:xfrm>
            <a:custGeom>
              <a:avLst/>
              <a:gdLst>
                <a:gd name="T0" fmla="*/ 0 w 19"/>
                <a:gd name="T1" fmla="*/ 4 h 9"/>
                <a:gd name="T2" fmla="*/ 6 w 19"/>
                <a:gd name="T3" fmla="*/ 0 h 9"/>
                <a:gd name="T4" fmla="*/ 19 w 19"/>
                <a:gd name="T5" fmla="*/ 2 h 9"/>
                <a:gd name="T6" fmla="*/ 14 w 19"/>
                <a:gd name="T7" fmla="*/ 4 h 9"/>
                <a:gd name="T8" fmla="*/ 4 w 19"/>
                <a:gd name="T9" fmla="*/ 9 h 9"/>
                <a:gd name="T10" fmla="*/ 4 w 19"/>
                <a:gd name="T11" fmla="*/ 6 h 9"/>
                <a:gd name="T12" fmla="*/ 0 w 19"/>
                <a:gd name="T13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9">
                  <a:moveTo>
                    <a:pt x="0" y="4"/>
                  </a:moveTo>
                  <a:lnTo>
                    <a:pt x="6" y="0"/>
                  </a:lnTo>
                  <a:lnTo>
                    <a:pt x="19" y="2"/>
                  </a:lnTo>
                  <a:lnTo>
                    <a:pt x="14" y="4"/>
                  </a:lnTo>
                  <a:lnTo>
                    <a:pt x="4" y="9"/>
                  </a:lnTo>
                  <a:lnTo>
                    <a:pt x="4" y="6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A857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16" name="Freeform 56"/>
            <p:cNvSpPr>
              <a:spLocks/>
            </p:cNvSpPr>
            <p:nvPr/>
          </p:nvSpPr>
          <p:spPr bwMode="auto">
            <a:xfrm>
              <a:off x="1409" y="3131"/>
              <a:ext cx="30" cy="29"/>
            </a:xfrm>
            <a:custGeom>
              <a:avLst/>
              <a:gdLst>
                <a:gd name="T0" fmla="*/ 0 w 30"/>
                <a:gd name="T1" fmla="*/ 11 h 29"/>
                <a:gd name="T2" fmla="*/ 16 w 30"/>
                <a:gd name="T3" fmla="*/ 7 h 29"/>
                <a:gd name="T4" fmla="*/ 30 w 30"/>
                <a:gd name="T5" fmla="*/ 0 h 29"/>
                <a:gd name="T6" fmla="*/ 16 w 30"/>
                <a:gd name="T7" fmla="*/ 19 h 29"/>
                <a:gd name="T8" fmla="*/ 12 w 30"/>
                <a:gd name="T9" fmla="*/ 29 h 29"/>
                <a:gd name="T10" fmla="*/ 0 w 30"/>
                <a:gd name="T11" fmla="*/ 1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29">
                  <a:moveTo>
                    <a:pt x="0" y="11"/>
                  </a:moveTo>
                  <a:lnTo>
                    <a:pt x="16" y="7"/>
                  </a:lnTo>
                  <a:lnTo>
                    <a:pt x="30" y="0"/>
                  </a:lnTo>
                  <a:lnTo>
                    <a:pt x="16" y="19"/>
                  </a:lnTo>
                  <a:lnTo>
                    <a:pt x="12" y="29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A857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17" name="Freeform 57"/>
            <p:cNvSpPr>
              <a:spLocks/>
            </p:cNvSpPr>
            <p:nvPr/>
          </p:nvSpPr>
          <p:spPr bwMode="auto">
            <a:xfrm>
              <a:off x="1265" y="3092"/>
              <a:ext cx="323" cy="276"/>
            </a:xfrm>
            <a:custGeom>
              <a:avLst/>
              <a:gdLst>
                <a:gd name="T0" fmla="*/ 22 w 323"/>
                <a:gd name="T1" fmla="*/ 263 h 276"/>
                <a:gd name="T2" fmla="*/ 16 w 323"/>
                <a:gd name="T3" fmla="*/ 255 h 276"/>
                <a:gd name="T4" fmla="*/ 17 w 323"/>
                <a:gd name="T5" fmla="*/ 250 h 276"/>
                <a:gd name="T6" fmla="*/ 27 w 323"/>
                <a:gd name="T7" fmla="*/ 224 h 276"/>
                <a:gd name="T8" fmla="*/ 36 w 323"/>
                <a:gd name="T9" fmla="*/ 207 h 276"/>
                <a:gd name="T10" fmla="*/ 39 w 323"/>
                <a:gd name="T11" fmla="*/ 204 h 276"/>
                <a:gd name="T12" fmla="*/ 16 w 323"/>
                <a:gd name="T13" fmla="*/ 220 h 276"/>
                <a:gd name="T14" fmla="*/ 0 w 323"/>
                <a:gd name="T15" fmla="*/ 234 h 276"/>
                <a:gd name="T16" fmla="*/ 3 w 323"/>
                <a:gd name="T17" fmla="*/ 216 h 276"/>
                <a:gd name="T18" fmla="*/ 11 w 323"/>
                <a:gd name="T19" fmla="*/ 198 h 276"/>
                <a:gd name="T20" fmla="*/ 14 w 323"/>
                <a:gd name="T21" fmla="*/ 191 h 276"/>
                <a:gd name="T22" fmla="*/ 27 w 323"/>
                <a:gd name="T23" fmla="*/ 181 h 276"/>
                <a:gd name="T24" fmla="*/ 36 w 323"/>
                <a:gd name="T25" fmla="*/ 174 h 276"/>
                <a:gd name="T26" fmla="*/ 43 w 323"/>
                <a:gd name="T27" fmla="*/ 165 h 276"/>
                <a:gd name="T28" fmla="*/ 51 w 323"/>
                <a:gd name="T29" fmla="*/ 148 h 276"/>
                <a:gd name="T30" fmla="*/ 56 w 323"/>
                <a:gd name="T31" fmla="*/ 138 h 276"/>
                <a:gd name="T32" fmla="*/ 71 w 323"/>
                <a:gd name="T33" fmla="*/ 130 h 276"/>
                <a:gd name="T34" fmla="*/ 84 w 323"/>
                <a:gd name="T35" fmla="*/ 126 h 276"/>
                <a:gd name="T36" fmla="*/ 99 w 323"/>
                <a:gd name="T37" fmla="*/ 116 h 276"/>
                <a:gd name="T38" fmla="*/ 118 w 323"/>
                <a:gd name="T39" fmla="*/ 93 h 276"/>
                <a:gd name="T40" fmla="*/ 126 w 323"/>
                <a:gd name="T41" fmla="*/ 89 h 276"/>
                <a:gd name="T42" fmla="*/ 160 w 323"/>
                <a:gd name="T43" fmla="*/ 74 h 276"/>
                <a:gd name="T44" fmla="*/ 249 w 323"/>
                <a:gd name="T45" fmla="*/ 32 h 276"/>
                <a:gd name="T46" fmla="*/ 302 w 323"/>
                <a:gd name="T47" fmla="*/ 8 h 276"/>
                <a:gd name="T48" fmla="*/ 316 w 323"/>
                <a:gd name="T49" fmla="*/ 2 h 276"/>
                <a:gd name="T50" fmla="*/ 320 w 323"/>
                <a:gd name="T51" fmla="*/ 0 h 276"/>
                <a:gd name="T52" fmla="*/ 323 w 323"/>
                <a:gd name="T53" fmla="*/ 12 h 276"/>
                <a:gd name="T54" fmla="*/ 256 w 323"/>
                <a:gd name="T55" fmla="*/ 45 h 276"/>
                <a:gd name="T56" fmla="*/ 201 w 323"/>
                <a:gd name="T57" fmla="*/ 73 h 276"/>
                <a:gd name="T58" fmla="*/ 153 w 323"/>
                <a:gd name="T59" fmla="*/ 102 h 276"/>
                <a:gd name="T60" fmla="*/ 140 w 323"/>
                <a:gd name="T61" fmla="*/ 117 h 276"/>
                <a:gd name="T62" fmla="*/ 93 w 323"/>
                <a:gd name="T63" fmla="*/ 182 h 276"/>
                <a:gd name="T64" fmla="*/ 55 w 323"/>
                <a:gd name="T65" fmla="*/ 228 h 276"/>
                <a:gd name="T66" fmla="*/ 25 w 323"/>
                <a:gd name="T67" fmla="*/ 276 h 276"/>
                <a:gd name="T68" fmla="*/ 22 w 323"/>
                <a:gd name="T69" fmla="*/ 263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23" h="276">
                  <a:moveTo>
                    <a:pt x="22" y="263"/>
                  </a:moveTo>
                  <a:lnTo>
                    <a:pt x="16" y="255"/>
                  </a:lnTo>
                  <a:lnTo>
                    <a:pt x="17" y="250"/>
                  </a:lnTo>
                  <a:lnTo>
                    <a:pt x="27" y="224"/>
                  </a:lnTo>
                  <a:lnTo>
                    <a:pt x="36" y="207"/>
                  </a:lnTo>
                  <a:lnTo>
                    <a:pt x="39" y="204"/>
                  </a:lnTo>
                  <a:lnTo>
                    <a:pt x="16" y="220"/>
                  </a:lnTo>
                  <a:lnTo>
                    <a:pt x="0" y="234"/>
                  </a:lnTo>
                  <a:lnTo>
                    <a:pt x="3" y="216"/>
                  </a:lnTo>
                  <a:lnTo>
                    <a:pt x="11" y="198"/>
                  </a:lnTo>
                  <a:lnTo>
                    <a:pt x="14" y="191"/>
                  </a:lnTo>
                  <a:lnTo>
                    <a:pt x="27" y="181"/>
                  </a:lnTo>
                  <a:lnTo>
                    <a:pt x="36" y="174"/>
                  </a:lnTo>
                  <a:lnTo>
                    <a:pt x="43" y="165"/>
                  </a:lnTo>
                  <a:lnTo>
                    <a:pt x="51" y="148"/>
                  </a:lnTo>
                  <a:lnTo>
                    <a:pt x="56" y="138"/>
                  </a:lnTo>
                  <a:lnTo>
                    <a:pt x="71" y="130"/>
                  </a:lnTo>
                  <a:lnTo>
                    <a:pt x="84" y="126"/>
                  </a:lnTo>
                  <a:lnTo>
                    <a:pt x="99" y="116"/>
                  </a:lnTo>
                  <a:lnTo>
                    <a:pt x="118" y="93"/>
                  </a:lnTo>
                  <a:lnTo>
                    <a:pt x="126" y="89"/>
                  </a:lnTo>
                  <a:lnTo>
                    <a:pt x="160" y="74"/>
                  </a:lnTo>
                  <a:lnTo>
                    <a:pt x="249" y="32"/>
                  </a:lnTo>
                  <a:lnTo>
                    <a:pt x="302" y="8"/>
                  </a:lnTo>
                  <a:lnTo>
                    <a:pt x="316" y="2"/>
                  </a:lnTo>
                  <a:lnTo>
                    <a:pt x="320" y="0"/>
                  </a:lnTo>
                  <a:lnTo>
                    <a:pt x="323" y="12"/>
                  </a:lnTo>
                  <a:lnTo>
                    <a:pt x="256" y="45"/>
                  </a:lnTo>
                  <a:lnTo>
                    <a:pt x="201" y="73"/>
                  </a:lnTo>
                  <a:lnTo>
                    <a:pt x="153" y="102"/>
                  </a:lnTo>
                  <a:lnTo>
                    <a:pt x="140" y="117"/>
                  </a:lnTo>
                  <a:lnTo>
                    <a:pt x="93" y="182"/>
                  </a:lnTo>
                  <a:lnTo>
                    <a:pt x="55" y="228"/>
                  </a:lnTo>
                  <a:lnTo>
                    <a:pt x="25" y="276"/>
                  </a:lnTo>
                  <a:lnTo>
                    <a:pt x="22" y="263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18" name="Freeform 58"/>
            <p:cNvSpPr>
              <a:spLocks/>
            </p:cNvSpPr>
            <p:nvPr/>
          </p:nvSpPr>
          <p:spPr bwMode="auto">
            <a:xfrm>
              <a:off x="1255" y="3117"/>
              <a:ext cx="343" cy="396"/>
            </a:xfrm>
            <a:custGeom>
              <a:avLst/>
              <a:gdLst>
                <a:gd name="T0" fmla="*/ 1 w 343"/>
                <a:gd name="T1" fmla="*/ 396 h 396"/>
                <a:gd name="T2" fmla="*/ 13 w 343"/>
                <a:gd name="T3" fmla="*/ 358 h 396"/>
                <a:gd name="T4" fmla="*/ 18 w 343"/>
                <a:gd name="T5" fmla="*/ 341 h 396"/>
                <a:gd name="T6" fmla="*/ 27 w 343"/>
                <a:gd name="T7" fmla="*/ 324 h 396"/>
                <a:gd name="T8" fmla="*/ 41 w 343"/>
                <a:gd name="T9" fmla="*/ 302 h 396"/>
                <a:gd name="T10" fmla="*/ 61 w 343"/>
                <a:gd name="T11" fmla="*/ 276 h 396"/>
                <a:gd name="T12" fmla="*/ 97 w 343"/>
                <a:gd name="T13" fmla="*/ 241 h 396"/>
                <a:gd name="T14" fmla="*/ 138 w 343"/>
                <a:gd name="T15" fmla="*/ 214 h 396"/>
                <a:gd name="T16" fmla="*/ 145 w 343"/>
                <a:gd name="T17" fmla="*/ 209 h 396"/>
                <a:gd name="T18" fmla="*/ 137 w 343"/>
                <a:gd name="T19" fmla="*/ 188 h 396"/>
                <a:gd name="T20" fmla="*/ 131 w 343"/>
                <a:gd name="T21" fmla="*/ 179 h 396"/>
                <a:gd name="T22" fmla="*/ 171 w 343"/>
                <a:gd name="T23" fmla="*/ 177 h 396"/>
                <a:gd name="T24" fmla="*/ 181 w 343"/>
                <a:gd name="T25" fmla="*/ 160 h 396"/>
                <a:gd name="T26" fmla="*/ 197 w 343"/>
                <a:gd name="T27" fmla="*/ 140 h 396"/>
                <a:gd name="T28" fmla="*/ 211 w 343"/>
                <a:gd name="T29" fmla="*/ 125 h 396"/>
                <a:gd name="T30" fmla="*/ 236 w 343"/>
                <a:gd name="T31" fmla="*/ 104 h 396"/>
                <a:gd name="T32" fmla="*/ 272 w 343"/>
                <a:gd name="T33" fmla="*/ 81 h 396"/>
                <a:gd name="T34" fmla="*/ 310 w 343"/>
                <a:gd name="T35" fmla="*/ 61 h 396"/>
                <a:gd name="T36" fmla="*/ 330 w 343"/>
                <a:gd name="T37" fmla="*/ 52 h 396"/>
                <a:gd name="T38" fmla="*/ 343 w 343"/>
                <a:gd name="T39" fmla="*/ 47 h 396"/>
                <a:gd name="T40" fmla="*/ 336 w 343"/>
                <a:gd name="T41" fmla="*/ 0 h 396"/>
                <a:gd name="T42" fmla="*/ 308 w 343"/>
                <a:gd name="T43" fmla="*/ 8 h 396"/>
                <a:gd name="T44" fmla="*/ 271 w 343"/>
                <a:gd name="T45" fmla="*/ 26 h 396"/>
                <a:gd name="T46" fmla="*/ 228 w 343"/>
                <a:gd name="T47" fmla="*/ 49 h 396"/>
                <a:gd name="T48" fmla="*/ 170 w 343"/>
                <a:gd name="T49" fmla="*/ 87 h 396"/>
                <a:gd name="T50" fmla="*/ 103 w 343"/>
                <a:gd name="T51" fmla="*/ 157 h 396"/>
                <a:gd name="T52" fmla="*/ 65 w 343"/>
                <a:gd name="T53" fmla="*/ 203 h 396"/>
                <a:gd name="T54" fmla="*/ 35 w 343"/>
                <a:gd name="T55" fmla="*/ 251 h 396"/>
                <a:gd name="T56" fmla="*/ 21 w 343"/>
                <a:gd name="T57" fmla="*/ 288 h 396"/>
                <a:gd name="T58" fmla="*/ 8 w 343"/>
                <a:gd name="T59" fmla="*/ 326 h 396"/>
                <a:gd name="T60" fmla="*/ 4 w 343"/>
                <a:gd name="T61" fmla="*/ 343 h 396"/>
                <a:gd name="T62" fmla="*/ 1 w 343"/>
                <a:gd name="T63" fmla="*/ 369 h 396"/>
                <a:gd name="T64" fmla="*/ 0 w 343"/>
                <a:gd name="T65" fmla="*/ 396 h 396"/>
                <a:gd name="T66" fmla="*/ 1 w 343"/>
                <a:gd name="T67" fmla="*/ 396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3" h="396">
                  <a:moveTo>
                    <a:pt x="1" y="396"/>
                  </a:moveTo>
                  <a:lnTo>
                    <a:pt x="13" y="358"/>
                  </a:lnTo>
                  <a:lnTo>
                    <a:pt x="18" y="341"/>
                  </a:lnTo>
                  <a:lnTo>
                    <a:pt x="27" y="324"/>
                  </a:lnTo>
                  <a:lnTo>
                    <a:pt x="41" y="302"/>
                  </a:lnTo>
                  <a:lnTo>
                    <a:pt x="61" y="276"/>
                  </a:lnTo>
                  <a:lnTo>
                    <a:pt x="97" y="241"/>
                  </a:lnTo>
                  <a:lnTo>
                    <a:pt x="138" y="214"/>
                  </a:lnTo>
                  <a:lnTo>
                    <a:pt x="145" y="209"/>
                  </a:lnTo>
                  <a:lnTo>
                    <a:pt x="137" y="188"/>
                  </a:lnTo>
                  <a:lnTo>
                    <a:pt x="131" y="179"/>
                  </a:lnTo>
                  <a:lnTo>
                    <a:pt x="171" y="177"/>
                  </a:lnTo>
                  <a:lnTo>
                    <a:pt x="181" y="160"/>
                  </a:lnTo>
                  <a:lnTo>
                    <a:pt x="197" y="140"/>
                  </a:lnTo>
                  <a:lnTo>
                    <a:pt x="211" y="125"/>
                  </a:lnTo>
                  <a:lnTo>
                    <a:pt x="236" y="104"/>
                  </a:lnTo>
                  <a:lnTo>
                    <a:pt x="272" y="81"/>
                  </a:lnTo>
                  <a:lnTo>
                    <a:pt x="310" y="61"/>
                  </a:lnTo>
                  <a:lnTo>
                    <a:pt x="330" y="52"/>
                  </a:lnTo>
                  <a:lnTo>
                    <a:pt x="343" y="47"/>
                  </a:lnTo>
                  <a:lnTo>
                    <a:pt x="336" y="0"/>
                  </a:lnTo>
                  <a:lnTo>
                    <a:pt x="308" y="8"/>
                  </a:lnTo>
                  <a:lnTo>
                    <a:pt x="271" y="26"/>
                  </a:lnTo>
                  <a:lnTo>
                    <a:pt x="228" y="49"/>
                  </a:lnTo>
                  <a:lnTo>
                    <a:pt x="170" y="87"/>
                  </a:lnTo>
                  <a:lnTo>
                    <a:pt x="103" y="157"/>
                  </a:lnTo>
                  <a:lnTo>
                    <a:pt x="65" y="203"/>
                  </a:lnTo>
                  <a:lnTo>
                    <a:pt x="35" y="251"/>
                  </a:lnTo>
                  <a:lnTo>
                    <a:pt x="21" y="288"/>
                  </a:lnTo>
                  <a:lnTo>
                    <a:pt x="8" y="326"/>
                  </a:lnTo>
                  <a:lnTo>
                    <a:pt x="4" y="343"/>
                  </a:lnTo>
                  <a:lnTo>
                    <a:pt x="1" y="369"/>
                  </a:lnTo>
                  <a:lnTo>
                    <a:pt x="0" y="396"/>
                  </a:lnTo>
                  <a:lnTo>
                    <a:pt x="1" y="396"/>
                  </a:lnTo>
                  <a:close/>
                </a:path>
              </a:pathLst>
            </a:custGeom>
            <a:solidFill>
              <a:srgbClr val="FFC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19" name="Freeform 59"/>
            <p:cNvSpPr>
              <a:spLocks/>
            </p:cNvSpPr>
            <p:nvPr/>
          </p:nvSpPr>
          <p:spPr bwMode="auto">
            <a:xfrm>
              <a:off x="1213" y="3482"/>
              <a:ext cx="51" cy="131"/>
            </a:xfrm>
            <a:custGeom>
              <a:avLst/>
              <a:gdLst>
                <a:gd name="T0" fmla="*/ 43 w 51"/>
                <a:gd name="T1" fmla="*/ 4 h 131"/>
                <a:gd name="T2" fmla="*/ 5 w 51"/>
                <a:gd name="T3" fmla="*/ 1 h 131"/>
                <a:gd name="T4" fmla="*/ 5 w 51"/>
                <a:gd name="T5" fmla="*/ 0 h 131"/>
                <a:gd name="T6" fmla="*/ 9 w 51"/>
                <a:gd name="T7" fmla="*/ 27 h 131"/>
                <a:gd name="T8" fmla="*/ 11 w 51"/>
                <a:gd name="T9" fmla="*/ 62 h 131"/>
                <a:gd name="T10" fmla="*/ 8 w 51"/>
                <a:gd name="T11" fmla="*/ 96 h 131"/>
                <a:gd name="T12" fmla="*/ 0 w 51"/>
                <a:gd name="T13" fmla="*/ 131 h 131"/>
                <a:gd name="T14" fmla="*/ 18 w 51"/>
                <a:gd name="T15" fmla="*/ 128 h 131"/>
                <a:gd name="T16" fmla="*/ 24 w 51"/>
                <a:gd name="T17" fmla="*/ 122 h 131"/>
                <a:gd name="T18" fmla="*/ 43 w 51"/>
                <a:gd name="T19" fmla="*/ 122 h 131"/>
                <a:gd name="T20" fmla="*/ 51 w 51"/>
                <a:gd name="T21" fmla="*/ 94 h 131"/>
                <a:gd name="T22" fmla="*/ 46 w 51"/>
                <a:gd name="T23" fmla="*/ 76 h 131"/>
                <a:gd name="T24" fmla="*/ 43 w 51"/>
                <a:gd name="T25" fmla="*/ 50 h 131"/>
                <a:gd name="T26" fmla="*/ 42 w 51"/>
                <a:gd name="T27" fmla="*/ 31 h 131"/>
                <a:gd name="T28" fmla="*/ 43 w 51"/>
                <a:gd name="T29" fmla="*/ 4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1" h="131">
                  <a:moveTo>
                    <a:pt x="43" y="4"/>
                  </a:moveTo>
                  <a:lnTo>
                    <a:pt x="5" y="1"/>
                  </a:lnTo>
                  <a:lnTo>
                    <a:pt x="5" y="0"/>
                  </a:lnTo>
                  <a:lnTo>
                    <a:pt x="9" y="27"/>
                  </a:lnTo>
                  <a:lnTo>
                    <a:pt x="11" y="62"/>
                  </a:lnTo>
                  <a:lnTo>
                    <a:pt x="8" y="96"/>
                  </a:lnTo>
                  <a:lnTo>
                    <a:pt x="0" y="131"/>
                  </a:lnTo>
                  <a:lnTo>
                    <a:pt x="18" y="128"/>
                  </a:lnTo>
                  <a:lnTo>
                    <a:pt x="24" y="122"/>
                  </a:lnTo>
                  <a:lnTo>
                    <a:pt x="43" y="122"/>
                  </a:lnTo>
                  <a:lnTo>
                    <a:pt x="51" y="94"/>
                  </a:lnTo>
                  <a:lnTo>
                    <a:pt x="46" y="76"/>
                  </a:lnTo>
                  <a:lnTo>
                    <a:pt x="43" y="50"/>
                  </a:lnTo>
                  <a:lnTo>
                    <a:pt x="42" y="31"/>
                  </a:lnTo>
                  <a:lnTo>
                    <a:pt x="43" y="4"/>
                  </a:lnTo>
                  <a:close/>
                </a:path>
              </a:pathLst>
            </a:custGeom>
            <a:solidFill>
              <a:srgbClr val="FFC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20" name="Freeform 60"/>
            <p:cNvSpPr>
              <a:spLocks/>
            </p:cNvSpPr>
            <p:nvPr/>
          </p:nvSpPr>
          <p:spPr bwMode="auto">
            <a:xfrm>
              <a:off x="1183" y="3479"/>
              <a:ext cx="41" cy="145"/>
            </a:xfrm>
            <a:custGeom>
              <a:avLst/>
              <a:gdLst>
                <a:gd name="T0" fmla="*/ 35 w 41"/>
                <a:gd name="T1" fmla="*/ 4 h 145"/>
                <a:gd name="T2" fmla="*/ 24 w 41"/>
                <a:gd name="T3" fmla="*/ 0 h 145"/>
                <a:gd name="T4" fmla="*/ 11 w 41"/>
                <a:gd name="T5" fmla="*/ 0 h 145"/>
                <a:gd name="T6" fmla="*/ 24 w 41"/>
                <a:gd name="T7" fmla="*/ 9 h 145"/>
                <a:gd name="T8" fmla="*/ 29 w 41"/>
                <a:gd name="T9" fmla="*/ 13 h 145"/>
                <a:gd name="T10" fmla="*/ 20 w 41"/>
                <a:gd name="T11" fmla="*/ 30 h 145"/>
                <a:gd name="T12" fmla="*/ 24 w 41"/>
                <a:gd name="T13" fmla="*/ 39 h 145"/>
                <a:gd name="T14" fmla="*/ 28 w 41"/>
                <a:gd name="T15" fmla="*/ 48 h 145"/>
                <a:gd name="T16" fmla="*/ 25 w 41"/>
                <a:gd name="T17" fmla="*/ 65 h 145"/>
                <a:gd name="T18" fmla="*/ 25 w 41"/>
                <a:gd name="T19" fmla="*/ 69 h 145"/>
                <a:gd name="T20" fmla="*/ 21 w 41"/>
                <a:gd name="T21" fmla="*/ 74 h 145"/>
                <a:gd name="T22" fmla="*/ 19 w 41"/>
                <a:gd name="T23" fmla="*/ 75 h 145"/>
                <a:gd name="T24" fmla="*/ 16 w 41"/>
                <a:gd name="T25" fmla="*/ 79 h 145"/>
                <a:gd name="T26" fmla="*/ 13 w 41"/>
                <a:gd name="T27" fmla="*/ 82 h 145"/>
                <a:gd name="T28" fmla="*/ 10 w 41"/>
                <a:gd name="T29" fmla="*/ 84 h 145"/>
                <a:gd name="T30" fmla="*/ 8 w 41"/>
                <a:gd name="T31" fmla="*/ 92 h 145"/>
                <a:gd name="T32" fmla="*/ 13 w 41"/>
                <a:gd name="T33" fmla="*/ 95 h 145"/>
                <a:gd name="T34" fmla="*/ 13 w 41"/>
                <a:gd name="T35" fmla="*/ 103 h 145"/>
                <a:gd name="T36" fmla="*/ 6 w 41"/>
                <a:gd name="T37" fmla="*/ 113 h 145"/>
                <a:gd name="T38" fmla="*/ 0 w 41"/>
                <a:gd name="T39" fmla="*/ 125 h 145"/>
                <a:gd name="T40" fmla="*/ 11 w 41"/>
                <a:gd name="T41" fmla="*/ 132 h 145"/>
                <a:gd name="T42" fmla="*/ 12 w 41"/>
                <a:gd name="T43" fmla="*/ 138 h 145"/>
                <a:gd name="T44" fmla="*/ 20 w 41"/>
                <a:gd name="T45" fmla="*/ 145 h 145"/>
                <a:gd name="T46" fmla="*/ 23 w 41"/>
                <a:gd name="T47" fmla="*/ 140 h 145"/>
                <a:gd name="T48" fmla="*/ 28 w 41"/>
                <a:gd name="T49" fmla="*/ 142 h 145"/>
                <a:gd name="T50" fmla="*/ 30 w 41"/>
                <a:gd name="T51" fmla="*/ 134 h 145"/>
                <a:gd name="T52" fmla="*/ 38 w 41"/>
                <a:gd name="T53" fmla="*/ 99 h 145"/>
                <a:gd name="T54" fmla="*/ 41 w 41"/>
                <a:gd name="T55" fmla="*/ 65 h 145"/>
                <a:gd name="T56" fmla="*/ 39 w 41"/>
                <a:gd name="T57" fmla="*/ 30 h 145"/>
                <a:gd name="T58" fmla="*/ 35 w 41"/>
                <a:gd name="T59" fmla="*/ 3 h 145"/>
                <a:gd name="T60" fmla="*/ 35 w 41"/>
                <a:gd name="T61" fmla="*/ 4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1" h="145">
                  <a:moveTo>
                    <a:pt x="35" y="4"/>
                  </a:moveTo>
                  <a:lnTo>
                    <a:pt x="24" y="0"/>
                  </a:lnTo>
                  <a:lnTo>
                    <a:pt x="11" y="0"/>
                  </a:lnTo>
                  <a:lnTo>
                    <a:pt x="24" y="9"/>
                  </a:lnTo>
                  <a:lnTo>
                    <a:pt x="29" y="13"/>
                  </a:lnTo>
                  <a:lnTo>
                    <a:pt x="20" y="30"/>
                  </a:lnTo>
                  <a:lnTo>
                    <a:pt x="24" y="39"/>
                  </a:lnTo>
                  <a:lnTo>
                    <a:pt x="28" y="48"/>
                  </a:lnTo>
                  <a:lnTo>
                    <a:pt x="25" y="65"/>
                  </a:lnTo>
                  <a:lnTo>
                    <a:pt x="25" y="69"/>
                  </a:lnTo>
                  <a:lnTo>
                    <a:pt x="21" y="74"/>
                  </a:lnTo>
                  <a:lnTo>
                    <a:pt x="19" y="75"/>
                  </a:lnTo>
                  <a:lnTo>
                    <a:pt x="16" y="79"/>
                  </a:lnTo>
                  <a:lnTo>
                    <a:pt x="13" y="82"/>
                  </a:lnTo>
                  <a:lnTo>
                    <a:pt x="10" y="84"/>
                  </a:lnTo>
                  <a:lnTo>
                    <a:pt x="8" y="92"/>
                  </a:lnTo>
                  <a:lnTo>
                    <a:pt x="13" y="95"/>
                  </a:lnTo>
                  <a:lnTo>
                    <a:pt x="13" y="103"/>
                  </a:lnTo>
                  <a:lnTo>
                    <a:pt x="6" y="113"/>
                  </a:lnTo>
                  <a:lnTo>
                    <a:pt x="0" y="125"/>
                  </a:lnTo>
                  <a:lnTo>
                    <a:pt x="11" y="132"/>
                  </a:lnTo>
                  <a:lnTo>
                    <a:pt x="12" y="138"/>
                  </a:lnTo>
                  <a:lnTo>
                    <a:pt x="20" y="145"/>
                  </a:lnTo>
                  <a:lnTo>
                    <a:pt x="23" y="140"/>
                  </a:lnTo>
                  <a:lnTo>
                    <a:pt x="28" y="142"/>
                  </a:lnTo>
                  <a:lnTo>
                    <a:pt x="30" y="134"/>
                  </a:lnTo>
                  <a:lnTo>
                    <a:pt x="38" y="99"/>
                  </a:lnTo>
                  <a:lnTo>
                    <a:pt x="41" y="65"/>
                  </a:lnTo>
                  <a:lnTo>
                    <a:pt x="39" y="30"/>
                  </a:lnTo>
                  <a:lnTo>
                    <a:pt x="35" y="3"/>
                  </a:lnTo>
                  <a:lnTo>
                    <a:pt x="35" y="4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21" name="Freeform 61"/>
            <p:cNvSpPr>
              <a:spLocks/>
            </p:cNvSpPr>
            <p:nvPr/>
          </p:nvSpPr>
          <p:spPr bwMode="auto">
            <a:xfrm>
              <a:off x="1178" y="3169"/>
              <a:ext cx="468" cy="597"/>
            </a:xfrm>
            <a:custGeom>
              <a:avLst/>
              <a:gdLst>
                <a:gd name="T0" fmla="*/ 441 w 468"/>
                <a:gd name="T1" fmla="*/ 332 h 597"/>
                <a:gd name="T2" fmla="*/ 420 w 468"/>
                <a:gd name="T3" fmla="*/ 397 h 597"/>
                <a:gd name="T4" fmla="*/ 394 w 468"/>
                <a:gd name="T5" fmla="*/ 442 h 597"/>
                <a:gd name="T6" fmla="*/ 358 w 468"/>
                <a:gd name="T7" fmla="*/ 497 h 597"/>
                <a:gd name="T8" fmla="*/ 326 w 468"/>
                <a:gd name="T9" fmla="*/ 549 h 597"/>
                <a:gd name="T10" fmla="*/ 298 w 468"/>
                <a:gd name="T11" fmla="*/ 584 h 597"/>
                <a:gd name="T12" fmla="*/ 0 w 468"/>
                <a:gd name="T13" fmla="*/ 597 h 597"/>
                <a:gd name="T14" fmla="*/ 12 w 468"/>
                <a:gd name="T15" fmla="*/ 575 h 597"/>
                <a:gd name="T16" fmla="*/ 37 w 468"/>
                <a:gd name="T17" fmla="*/ 557 h 597"/>
                <a:gd name="T18" fmla="*/ 74 w 468"/>
                <a:gd name="T19" fmla="*/ 462 h 597"/>
                <a:gd name="T20" fmla="*/ 78 w 468"/>
                <a:gd name="T21" fmla="*/ 435 h 597"/>
                <a:gd name="T22" fmla="*/ 81 w 468"/>
                <a:gd name="T23" fmla="*/ 389 h 597"/>
                <a:gd name="T24" fmla="*/ 77 w 468"/>
                <a:gd name="T25" fmla="*/ 344 h 597"/>
                <a:gd name="T26" fmla="*/ 90 w 468"/>
                <a:gd name="T27" fmla="*/ 306 h 597"/>
                <a:gd name="T28" fmla="*/ 116 w 468"/>
                <a:gd name="T29" fmla="*/ 262 h 597"/>
                <a:gd name="T30" fmla="*/ 151 w 468"/>
                <a:gd name="T31" fmla="*/ 221 h 597"/>
                <a:gd name="T32" fmla="*/ 200 w 468"/>
                <a:gd name="T33" fmla="*/ 184 h 597"/>
                <a:gd name="T34" fmla="*/ 215 w 468"/>
                <a:gd name="T35" fmla="*/ 162 h 597"/>
                <a:gd name="T36" fmla="*/ 214 w 468"/>
                <a:gd name="T37" fmla="*/ 136 h 597"/>
                <a:gd name="T38" fmla="*/ 247 w 468"/>
                <a:gd name="T39" fmla="*/ 123 h 597"/>
                <a:gd name="T40" fmla="*/ 258 w 468"/>
                <a:gd name="T41" fmla="*/ 108 h 597"/>
                <a:gd name="T42" fmla="*/ 288 w 468"/>
                <a:gd name="T43" fmla="*/ 73 h 597"/>
                <a:gd name="T44" fmla="*/ 349 w 468"/>
                <a:gd name="T45" fmla="*/ 29 h 597"/>
                <a:gd name="T46" fmla="*/ 407 w 468"/>
                <a:gd name="T47" fmla="*/ 0 h 597"/>
                <a:gd name="T48" fmla="*/ 433 w 468"/>
                <a:gd name="T49" fmla="*/ 30 h 597"/>
                <a:gd name="T50" fmla="*/ 450 w 468"/>
                <a:gd name="T51" fmla="*/ 73 h 597"/>
                <a:gd name="T52" fmla="*/ 431 w 468"/>
                <a:gd name="T53" fmla="*/ 79 h 597"/>
                <a:gd name="T54" fmla="*/ 401 w 468"/>
                <a:gd name="T55" fmla="*/ 73 h 597"/>
                <a:gd name="T56" fmla="*/ 375 w 468"/>
                <a:gd name="T57" fmla="*/ 74 h 597"/>
                <a:gd name="T58" fmla="*/ 431 w 468"/>
                <a:gd name="T59" fmla="*/ 91 h 597"/>
                <a:gd name="T60" fmla="*/ 453 w 468"/>
                <a:gd name="T61" fmla="*/ 112 h 597"/>
                <a:gd name="T62" fmla="*/ 462 w 468"/>
                <a:gd name="T63" fmla="*/ 126 h 597"/>
                <a:gd name="T64" fmla="*/ 468 w 468"/>
                <a:gd name="T65" fmla="*/ 153 h 597"/>
                <a:gd name="T66" fmla="*/ 459 w 468"/>
                <a:gd name="T67" fmla="*/ 211 h 597"/>
                <a:gd name="T68" fmla="*/ 454 w 468"/>
                <a:gd name="T69" fmla="*/ 245 h 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68" h="597">
                  <a:moveTo>
                    <a:pt x="453" y="267"/>
                  </a:moveTo>
                  <a:lnTo>
                    <a:pt x="441" y="332"/>
                  </a:lnTo>
                  <a:lnTo>
                    <a:pt x="431" y="366"/>
                  </a:lnTo>
                  <a:lnTo>
                    <a:pt x="420" y="397"/>
                  </a:lnTo>
                  <a:lnTo>
                    <a:pt x="403" y="428"/>
                  </a:lnTo>
                  <a:lnTo>
                    <a:pt x="394" y="442"/>
                  </a:lnTo>
                  <a:lnTo>
                    <a:pt x="379" y="463"/>
                  </a:lnTo>
                  <a:lnTo>
                    <a:pt x="358" y="497"/>
                  </a:lnTo>
                  <a:lnTo>
                    <a:pt x="343" y="516"/>
                  </a:lnTo>
                  <a:lnTo>
                    <a:pt x="326" y="549"/>
                  </a:lnTo>
                  <a:lnTo>
                    <a:pt x="313" y="568"/>
                  </a:lnTo>
                  <a:lnTo>
                    <a:pt x="298" y="584"/>
                  </a:lnTo>
                  <a:lnTo>
                    <a:pt x="282" y="597"/>
                  </a:lnTo>
                  <a:lnTo>
                    <a:pt x="0" y="597"/>
                  </a:lnTo>
                  <a:lnTo>
                    <a:pt x="5" y="584"/>
                  </a:lnTo>
                  <a:lnTo>
                    <a:pt x="12" y="575"/>
                  </a:lnTo>
                  <a:lnTo>
                    <a:pt x="24" y="563"/>
                  </a:lnTo>
                  <a:lnTo>
                    <a:pt x="37" y="557"/>
                  </a:lnTo>
                  <a:lnTo>
                    <a:pt x="46" y="523"/>
                  </a:lnTo>
                  <a:lnTo>
                    <a:pt x="74" y="462"/>
                  </a:lnTo>
                  <a:lnTo>
                    <a:pt x="72" y="457"/>
                  </a:lnTo>
                  <a:lnTo>
                    <a:pt x="78" y="435"/>
                  </a:lnTo>
                  <a:lnTo>
                    <a:pt x="86" y="407"/>
                  </a:lnTo>
                  <a:lnTo>
                    <a:pt x="81" y="389"/>
                  </a:lnTo>
                  <a:lnTo>
                    <a:pt x="78" y="363"/>
                  </a:lnTo>
                  <a:lnTo>
                    <a:pt x="77" y="344"/>
                  </a:lnTo>
                  <a:lnTo>
                    <a:pt x="78" y="344"/>
                  </a:lnTo>
                  <a:lnTo>
                    <a:pt x="90" y="306"/>
                  </a:lnTo>
                  <a:lnTo>
                    <a:pt x="99" y="289"/>
                  </a:lnTo>
                  <a:lnTo>
                    <a:pt x="116" y="262"/>
                  </a:lnTo>
                  <a:lnTo>
                    <a:pt x="138" y="235"/>
                  </a:lnTo>
                  <a:lnTo>
                    <a:pt x="151" y="221"/>
                  </a:lnTo>
                  <a:lnTo>
                    <a:pt x="182" y="195"/>
                  </a:lnTo>
                  <a:lnTo>
                    <a:pt x="200" y="184"/>
                  </a:lnTo>
                  <a:lnTo>
                    <a:pt x="217" y="171"/>
                  </a:lnTo>
                  <a:lnTo>
                    <a:pt x="215" y="162"/>
                  </a:lnTo>
                  <a:lnTo>
                    <a:pt x="222" y="157"/>
                  </a:lnTo>
                  <a:lnTo>
                    <a:pt x="214" y="136"/>
                  </a:lnTo>
                  <a:lnTo>
                    <a:pt x="236" y="138"/>
                  </a:lnTo>
                  <a:lnTo>
                    <a:pt x="247" y="123"/>
                  </a:lnTo>
                  <a:lnTo>
                    <a:pt x="248" y="125"/>
                  </a:lnTo>
                  <a:lnTo>
                    <a:pt x="258" y="108"/>
                  </a:lnTo>
                  <a:lnTo>
                    <a:pt x="274" y="88"/>
                  </a:lnTo>
                  <a:lnTo>
                    <a:pt x="288" y="73"/>
                  </a:lnTo>
                  <a:lnTo>
                    <a:pt x="313" y="52"/>
                  </a:lnTo>
                  <a:lnTo>
                    <a:pt x="349" y="29"/>
                  </a:lnTo>
                  <a:lnTo>
                    <a:pt x="387" y="9"/>
                  </a:lnTo>
                  <a:lnTo>
                    <a:pt x="407" y="0"/>
                  </a:lnTo>
                  <a:lnTo>
                    <a:pt x="409" y="0"/>
                  </a:lnTo>
                  <a:lnTo>
                    <a:pt x="433" y="30"/>
                  </a:lnTo>
                  <a:lnTo>
                    <a:pt x="445" y="56"/>
                  </a:lnTo>
                  <a:lnTo>
                    <a:pt x="450" y="73"/>
                  </a:lnTo>
                  <a:lnTo>
                    <a:pt x="453" y="91"/>
                  </a:lnTo>
                  <a:lnTo>
                    <a:pt x="431" y="79"/>
                  </a:lnTo>
                  <a:lnTo>
                    <a:pt x="420" y="75"/>
                  </a:lnTo>
                  <a:lnTo>
                    <a:pt x="401" y="73"/>
                  </a:lnTo>
                  <a:lnTo>
                    <a:pt x="388" y="71"/>
                  </a:lnTo>
                  <a:lnTo>
                    <a:pt x="375" y="74"/>
                  </a:lnTo>
                  <a:lnTo>
                    <a:pt x="407" y="79"/>
                  </a:lnTo>
                  <a:lnTo>
                    <a:pt x="431" y="91"/>
                  </a:lnTo>
                  <a:lnTo>
                    <a:pt x="444" y="100"/>
                  </a:lnTo>
                  <a:lnTo>
                    <a:pt x="453" y="112"/>
                  </a:lnTo>
                  <a:lnTo>
                    <a:pt x="453" y="117"/>
                  </a:lnTo>
                  <a:lnTo>
                    <a:pt x="462" y="126"/>
                  </a:lnTo>
                  <a:lnTo>
                    <a:pt x="466" y="138"/>
                  </a:lnTo>
                  <a:lnTo>
                    <a:pt x="468" y="153"/>
                  </a:lnTo>
                  <a:lnTo>
                    <a:pt x="468" y="171"/>
                  </a:lnTo>
                  <a:lnTo>
                    <a:pt x="459" y="211"/>
                  </a:lnTo>
                  <a:lnTo>
                    <a:pt x="457" y="226"/>
                  </a:lnTo>
                  <a:lnTo>
                    <a:pt x="454" y="245"/>
                  </a:lnTo>
                  <a:lnTo>
                    <a:pt x="453" y="267"/>
                  </a:lnTo>
                  <a:close/>
                </a:path>
              </a:pathLst>
            </a:custGeom>
            <a:solidFill>
              <a:srgbClr val="FFC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22" name="Freeform 62"/>
            <p:cNvSpPr>
              <a:spLocks/>
            </p:cNvSpPr>
            <p:nvPr/>
          </p:nvSpPr>
          <p:spPr bwMode="auto">
            <a:xfrm>
              <a:off x="1460" y="3395"/>
              <a:ext cx="179" cy="371"/>
            </a:xfrm>
            <a:custGeom>
              <a:avLst/>
              <a:gdLst>
                <a:gd name="T0" fmla="*/ 172 w 179"/>
                <a:gd name="T1" fmla="*/ 19 h 371"/>
                <a:gd name="T2" fmla="*/ 171 w 179"/>
                <a:gd name="T3" fmla="*/ 41 h 371"/>
                <a:gd name="T4" fmla="*/ 159 w 179"/>
                <a:gd name="T5" fmla="*/ 106 h 371"/>
                <a:gd name="T6" fmla="*/ 149 w 179"/>
                <a:gd name="T7" fmla="*/ 140 h 371"/>
                <a:gd name="T8" fmla="*/ 138 w 179"/>
                <a:gd name="T9" fmla="*/ 171 h 371"/>
                <a:gd name="T10" fmla="*/ 121 w 179"/>
                <a:gd name="T11" fmla="*/ 202 h 371"/>
                <a:gd name="T12" fmla="*/ 112 w 179"/>
                <a:gd name="T13" fmla="*/ 216 h 371"/>
                <a:gd name="T14" fmla="*/ 97 w 179"/>
                <a:gd name="T15" fmla="*/ 237 h 371"/>
                <a:gd name="T16" fmla="*/ 76 w 179"/>
                <a:gd name="T17" fmla="*/ 271 h 371"/>
                <a:gd name="T18" fmla="*/ 61 w 179"/>
                <a:gd name="T19" fmla="*/ 290 h 371"/>
                <a:gd name="T20" fmla="*/ 44 w 179"/>
                <a:gd name="T21" fmla="*/ 323 h 371"/>
                <a:gd name="T22" fmla="*/ 31 w 179"/>
                <a:gd name="T23" fmla="*/ 342 h 371"/>
                <a:gd name="T24" fmla="*/ 16 w 179"/>
                <a:gd name="T25" fmla="*/ 358 h 371"/>
                <a:gd name="T26" fmla="*/ 0 w 179"/>
                <a:gd name="T27" fmla="*/ 371 h 371"/>
                <a:gd name="T28" fmla="*/ 131 w 179"/>
                <a:gd name="T29" fmla="*/ 371 h 371"/>
                <a:gd name="T30" fmla="*/ 134 w 179"/>
                <a:gd name="T31" fmla="*/ 318 h 371"/>
                <a:gd name="T32" fmla="*/ 149 w 179"/>
                <a:gd name="T33" fmla="*/ 250 h 371"/>
                <a:gd name="T34" fmla="*/ 155 w 179"/>
                <a:gd name="T35" fmla="*/ 214 h 371"/>
                <a:gd name="T36" fmla="*/ 160 w 179"/>
                <a:gd name="T37" fmla="*/ 187 h 371"/>
                <a:gd name="T38" fmla="*/ 166 w 179"/>
                <a:gd name="T39" fmla="*/ 172 h 371"/>
                <a:gd name="T40" fmla="*/ 169 w 179"/>
                <a:gd name="T41" fmla="*/ 153 h 371"/>
                <a:gd name="T42" fmla="*/ 179 w 179"/>
                <a:gd name="T43" fmla="*/ 75 h 371"/>
                <a:gd name="T44" fmla="*/ 175 w 179"/>
                <a:gd name="T45" fmla="*/ 0 h 371"/>
                <a:gd name="T46" fmla="*/ 172 w 179"/>
                <a:gd name="T47" fmla="*/ 19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9" h="371">
                  <a:moveTo>
                    <a:pt x="172" y="19"/>
                  </a:moveTo>
                  <a:lnTo>
                    <a:pt x="171" y="41"/>
                  </a:lnTo>
                  <a:lnTo>
                    <a:pt x="159" y="106"/>
                  </a:lnTo>
                  <a:lnTo>
                    <a:pt x="149" y="140"/>
                  </a:lnTo>
                  <a:lnTo>
                    <a:pt x="138" y="171"/>
                  </a:lnTo>
                  <a:lnTo>
                    <a:pt x="121" y="202"/>
                  </a:lnTo>
                  <a:lnTo>
                    <a:pt x="112" y="216"/>
                  </a:lnTo>
                  <a:lnTo>
                    <a:pt x="97" y="237"/>
                  </a:lnTo>
                  <a:lnTo>
                    <a:pt x="76" y="271"/>
                  </a:lnTo>
                  <a:lnTo>
                    <a:pt x="61" y="290"/>
                  </a:lnTo>
                  <a:lnTo>
                    <a:pt x="44" y="323"/>
                  </a:lnTo>
                  <a:lnTo>
                    <a:pt x="31" y="342"/>
                  </a:lnTo>
                  <a:lnTo>
                    <a:pt x="16" y="358"/>
                  </a:lnTo>
                  <a:lnTo>
                    <a:pt x="0" y="371"/>
                  </a:lnTo>
                  <a:lnTo>
                    <a:pt x="131" y="371"/>
                  </a:lnTo>
                  <a:lnTo>
                    <a:pt x="134" y="318"/>
                  </a:lnTo>
                  <a:lnTo>
                    <a:pt x="149" y="250"/>
                  </a:lnTo>
                  <a:lnTo>
                    <a:pt x="155" y="214"/>
                  </a:lnTo>
                  <a:lnTo>
                    <a:pt x="160" y="187"/>
                  </a:lnTo>
                  <a:lnTo>
                    <a:pt x="166" y="172"/>
                  </a:lnTo>
                  <a:lnTo>
                    <a:pt x="169" y="153"/>
                  </a:lnTo>
                  <a:lnTo>
                    <a:pt x="179" y="75"/>
                  </a:lnTo>
                  <a:lnTo>
                    <a:pt x="175" y="0"/>
                  </a:lnTo>
                  <a:lnTo>
                    <a:pt x="172" y="19"/>
                  </a:lnTo>
                  <a:close/>
                </a:path>
              </a:pathLst>
            </a:custGeom>
            <a:solidFill>
              <a:srgbClr val="FFC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23" name="Freeform 63"/>
            <p:cNvSpPr>
              <a:spLocks/>
            </p:cNvSpPr>
            <p:nvPr/>
          </p:nvSpPr>
          <p:spPr bwMode="auto">
            <a:xfrm>
              <a:off x="979" y="3440"/>
              <a:ext cx="233" cy="110"/>
            </a:xfrm>
            <a:custGeom>
              <a:avLst/>
              <a:gdLst>
                <a:gd name="T0" fmla="*/ 67 w 233"/>
                <a:gd name="T1" fmla="*/ 30 h 110"/>
                <a:gd name="T2" fmla="*/ 49 w 233"/>
                <a:gd name="T3" fmla="*/ 37 h 110"/>
                <a:gd name="T4" fmla="*/ 31 w 233"/>
                <a:gd name="T5" fmla="*/ 46 h 110"/>
                <a:gd name="T6" fmla="*/ 18 w 233"/>
                <a:gd name="T7" fmla="*/ 48 h 110"/>
                <a:gd name="T8" fmla="*/ 7 w 233"/>
                <a:gd name="T9" fmla="*/ 46 h 110"/>
                <a:gd name="T10" fmla="*/ 0 w 233"/>
                <a:gd name="T11" fmla="*/ 37 h 110"/>
                <a:gd name="T12" fmla="*/ 75 w 233"/>
                <a:gd name="T13" fmla="*/ 3 h 110"/>
                <a:gd name="T14" fmla="*/ 98 w 233"/>
                <a:gd name="T15" fmla="*/ 0 h 110"/>
                <a:gd name="T16" fmla="*/ 134 w 233"/>
                <a:gd name="T17" fmla="*/ 4 h 110"/>
                <a:gd name="T18" fmla="*/ 153 w 233"/>
                <a:gd name="T19" fmla="*/ 4 h 110"/>
                <a:gd name="T20" fmla="*/ 166 w 233"/>
                <a:gd name="T21" fmla="*/ 9 h 110"/>
                <a:gd name="T22" fmla="*/ 184 w 233"/>
                <a:gd name="T23" fmla="*/ 16 h 110"/>
                <a:gd name="T24" fmla="*/ 212 w 233"/>
                <a:gd name="T25" fmla="*/ 30 h 110"/>
                <a:gd name="T26" fmla="*/ 228 w 233"/>
                <a:gd name="T27" fmla="*/ 39 h 110"/>
                <a:gd name="T28" fmla="*/ 215 w 233"/>
                <a:gd name="T29" fmla="*/ 39 h 110"/>
                <a:gd name="T30" fmla="*/ 228 w 233"/>
                <a:gd name="T31" fmla="*/ 48 h 110"/>
                <a:gd name="T32" fmla="*/ 233 w 233"/>
                <a:gd name="T33" fmla="*/ 52 h 110"/>
                <a:gd name="T34" fmla="*/ 224 w 233"/>
                <a:gd name="T35" fmla="*/ 69 h 110"/>
                <a:gd name="T36" fmla="*/ 228 w 233"/>
                <a:gd name="T37" fmla="*/ 78 h 110"/>
                <a:gd name="T38" fmla="*/ 232 w 233"/>
                <a:gd name="T39" fmla="*/ 87 h 110"/>
                <a:gd name="T40" fmla="*/ 229 w 233"/>
                <a:gd name="T41" fmla="*/ 104 h 110"/>
                <a:gd name="T42" fmla="*/ 229 w 233"/>
                <a:gd name="T43" fmla="*/ 103 h 110"/>
                <a:gd name="T44" fmla="*/ 194 w 233"/>
                <a:gd name="T45" fmla="*/ 97 h 110"/>
                <a:gd name="T46" fmla="*/ 173 w 233"/>
                <a:gd name="T47" fmla="*/ 104 h 110"/>
                <a:gd name="T48" fmla="*/ 151 w 233"/>
                <a:gd name="T49" fmla="*/ 109 h 110"/>
                <a:gd name="T50" fmla="*/ 129 w 233"/>
                <a:gd name="T51" fmla="*/ 105 h 110"/>
                <a:gd name="T52" fmla="*/ 110 w 233"/>
                <a:gd name="T53" fmla="*/ 105 h 110"/>
                <a:gd name="T54" fmla="*/ 89 w 233"/>
                <a:gd name="T55" fmla="*/ 110 h 110"/>
                <a:gd name="T56" fmla="*/ 89 w 233"/>
                <a:gd name="T57" fmla="*/ 97 h 110"/>
                <a:gd name="T58" fmla="*/ 96 w 233"/>
                <a:gd name="T59" fmla="*/ 91 h 110"/>
                <a:gd name="T60" fmla="*/ 105 w 233"/>
                <a:gd name="T61" fmla="*/ 85 h 110"/>
                <a:gd name="T62" fmla="*/ 119 w 233"/>
                <a:gd name="T63" fmla="*/ 82 h 110"/>
                <a:gd name="T64" fmla="*/ 134 w 233"/>
                <a:gd name="T65" fmla="*/ 81 h 110"/>
                <a:gd name="T66" fmla="*/ 146 w 233"/>
                <a:gd name="T67" fmla="*/ 78 h 110"/>
                <a:gd name="T68" fmla="*/ 162 w 233"/>
                <a:gd name="T69" fmla="*/ 69 h 110"/>
                <a:gd name="T70" fmla="*/ 150 w 233"/>
                <a:gd name="T71" fmla="*/ 55 h 110"/>
                <a:gd name="T72" fmla="*/ 131 w 233"/>
                <a:gd name="T73" fmla="*/ 49 h 110"/>
                <a:gd name="T74" fmla="*/ 115 w 233"/>
                <a:gd name="T75" fmla="*/ 43 h 110"/>
                <a:gd name="T76" fmla="*/ 97 w 233"/>
                <a:gd name="T77" fmla="*/ 46 h 110"/>
                <a:gd name="T78" fmla="*/ 79 w 233"/>
                <a:gd name="T79" fmla="*/ 56 h 110"/>
                <a:gd name="T80" fmla="*/ 66 w 233"/>
                <a:gd name="T81" fmla="*/ 61 h 110"/>
                <a:gd name="T82" fmla="*/ 55 w 233"/>
                <a:gd name="T83" fmla="*/ 68 h 110"/>
                <a:gd name="T84" fmla="*/ 48 w 233"/>
                <a:gd name="T85" fmla="*/ 82 h 110"/>
                <a:gd name="T86" fmla="*/ 32 w 233"/>
                <a:gd name="T87" fmla="*/ 88 h 110"/>
                <a:gd name="T88" fmla="*/ 19 w 233"/>
                <a:gd name="T89" fmla="*/ 87 h 110"/>
                <a:gd name="T90" fmla="*/ 40 w 233"/>
                <a:gd name="T91" fmla="*/ 52 h 110"/>
                <a:gd name="T92" fmla="*/ 67 w 233"/>
                <a:gd name="T93" fmla="*/ 31 h 110"/>
                <a:gd name="T94" fmla="*/ 67 w 233"/>
                <a:gd name="T95" fmla="*/ 3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3" h="110">
                  <a:moveTo>
                    <a:pt x="67" y="30"/>
                  </a:moveTo>
                  <a:lnTo>
                    <a:pt x="49" y="37"/>
                  </a:lnTo>
                  <a:lnTo>
                    <a:pt x="31" y="46"/>
                  </a:lnTo>
                  <a:lnTo>
                    <a:pt x="18" y="48"/>
                  </a:lnTo>
                  <a:lnTo>
                    <a:pt x="7" y="46"/>
                  </a:lnTo>
                  <a:lnTo>
                    <a:pt x="0" y="37"/>
                  </a:lnTo>
                  <a:lnTo>
                    <a:pt x="75" y="3"/>
                  </a:lnTo>
                  <a:lnTo>
                    <a:pt x="98" y="0"/>
                  </a:lnTo>
                  <a:lnTo>
                    <a:pt x="134" y="4"/>
                  </a:lnTo>
                  <a:lnTo>
                    <a:pt x="153" y="4"/>
                  </a:lnTo>
                  <a:lnTo>
                    <a:pt x="166" y="9"/>
                  </a:lnTo>
                  <a:lnTo>
                    <a:pt x="184" y="16"/>
                  </a:lnTo>
                  <a:lnTo>
                    <a:pt x="212" y="30"/>
                  </a:lnTo>
                  <a:lnTo>
                    <a:pt x="228" y="39"/>
                  </a:lnTo>
                  <a:lnTo>
                    <a:pt x="215" y="39"/>
                  </a:lnTo>
                  <a:lnTo>
                    <a:pt x="228" y="48"/>
                  </a:lnTo>
                  <a:lnTo>
                    <a:pt x="233" y="52"/>
                  </a:lnTo>
                  <a:lnTo>
                    <a:pt x="224" y="69"/>
                  </a:lnTo>
                  <a:lnTo>
                    <a:pt x="228" y="78"/>
                  </a:lnTo>
                  <a:lnTo>
                    <a:pt x="232" y="87"/>
                  </a:lnTo>
                  <a:lnTo>
                    <a:pt x="229" y="104"/>
                  </a:lnTo>
                  <a:lnTo>
                    <a:pt x="229" y="103"/>
                  </a:lnTo>
                  <a:lnTo>
                    <a:pt x="194" y="97"/>
                  </a:lnTo>
                  <a:lnTo>
                    <a:pt x="173" y="104"/>
                  </a:lnTo>
                  <a:lnTo>
                    <a:pt x="151" y="109"/>
                  </a:lnTo>
                  <a:lnTo>
                    <a:pt x="129" y="105"/>
                  </a:lnTo>
                  <a:lnTo>
                    <a:pt x="110" y="105"/>
                  </a:lnTo>
                  <a:lnTo>
                    <a:pt x="89" y="110"/>
                  </a:lnTo>
                  <a:lnTo>
                    <a:pt x="89" y="97"/>
                  </a:lnTo>
                  <a:lnTo>
                    <a:pt x="96" y="91"/>
                  </a:lnTo>
                  <a:lnTo>
                    <a:pt x="105" y="85"/>
                  </a:lnTo>
                  <a:lnTo>
                    <a:pt x="119" y="82"/>
                  </a:lnTo>
                  <a:lnTo>
                    <a:pt x="134" y="81"/>
                  </a:lnTo>
                  <a:lnTo>
                    <a:pt x="146" y="78"/>
                  </a:lnTo>
                  <a:lnTo>
                    <a:pt x="162" y="69"/>
                  </a:lnTo>
                  <a:lnTo>
                    <a:pt x="150" y="55"/>
                  </a:lnTo>
                  <a:lnTo>
                    <a:pt x="131" y="49"/>
                  </a:lnTo>
                  <a:lnTo>
                    <a:pt x="115" y="43"/>
                  </a:lnTo>
                  <a:lnTo>
                    <a:pt x="97" y="46"/>
                  </a:lnTo>
                  <a:lnTo>
                    <a:pt x="79" y="56"/>
                  </a:lnTo>
                  <a:lnTo>
                    <a:pt x="66" y="61"/>
                  </a:lnTo>
                  <a:lnTo>
                    <a:pt x="55" y="68"/>
                  </a:lnTo>
                  <a:lnTo>
                    <a:pt x="48" y="82"/>
                  </a:lnTo>
                  <a:lnTo>
                    <a:pt x="32" y="88"/>
                  </a:lnTo>
                  <a:lnTo>
                    <a:pt x="19" y="87"/>
                  </a:lnTo>
                  <a:lnTo>
                    <a:pt x="40" y="52"/>
                  </a:lnTo>
                  <a:lnTo>
                    <a:pt x="67" y="31"/>
                  </a:lnTo>
                  <a:lnTo>
                    <a:pt x="67" y="30"/>
                  </a:lnTo>
                  <a:close/>
                </a:path>
              </a:pathLst>
            </a:custGeom>
            <a:solidFill>
              <a:srgbClr val="FCE6C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24" name="Freeform 64"/>
            <p:cNvSpPr>
              <a:spLocks/>
            </p:cNvSpPr>
            <p:nvPr/>
          </p:nvSpPr>
          <p:spPr bwMode="auto">
            <a:xfrm>
              <a:off x="787" y="3613"/>
              <a:ext cx="232" cy="100"/>
            </a:xfrm>
            <a:custGeom>
              <a:avLst/>
              <a:gdLst>
                <a:gd name="T0" fmla="*/ 0 w 232"/>
                <a:gd name="T1" fmla="*/ 61 h 100"/>
                <a:gd name="T2" fmla="*/ 0 w 232"/>
                <a:gd name="T3" fmla="*/ 78 h 100"/>
                <a:gd name="T4" fmla="*/ 1 w 232"/>
                <a:gd name="T5" fmla="*/ 98 h 100"/>
                <a:gd name="T6" fmla="*/ 229 w 232"/>
                <a:gd name="T7" fmla="*/ 100 h 100"/>
                <a:gd name="T8" fmla="*/ 232 w 232"/>
                <a:gd name="T9" fmla="*/ 91 h 100"/>
                <a:gd name="T10" fmla="*/ 232 w 232"/>
                <a:gd name="T11" fmla="*/ 84 h 100"/>
                <a:gd name="T12" fmla="*/ 225 w 232"/>
                <a:gd name="T13" fmla="*/ 78 h 100"/>
                <a:gd name="T14" fmla="*/ 218 w 232"/>
                <a:gd name="T15" fmla="*/ 72 h 100"/>
                <a:gd name="T16" fmla="*/ 92 w 232"/>
                <a:gd name="T17" fmla="*/ 26 h 100"/>
                <a:gd name="T18" fmla="*/ 23 w 232"/>
                <a:gd name="T19" fmla="*/ 0 h 100"/>
                <a:gd name="T20" fmla="*/ 14 w 232"/>
                <a:gd name="T21" fmla="*/ 10 h 100"/>
                <a:gd name="T22" fmla="*/ 8 w 232"/>
                <a:gd name="T23" fmla="*/ 23 h 100"/>
                <a:gd name="T24" fmla="*/ 1 w 232"/>
                <a:gd name="T25" fmla="*/ 45 h 100"/>
                <a:gd name="T26" fmla="*/ 0 w 232"/>
                <a:gd name="T27" fmla="*/ 61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2" h="100">
                  <a:moveTo>
                    <a:pt x="0" y="61"/>
                  </a:moveTo>
                  <a:lnTo>
                    <a:pt x="0" y="78"/>
                  </a:lnTo>
                  <a:lnTo>
                    <a:pt x="1" y="98"/>
                  </a:lnTo>
                  <a:lnTo>
                    <a:pt x="229" y="100"/>
                  </a:lnTo>
                  <a:lnTo>
                    <a:pt x="232" y="91"/>
                  </a:lnTo>
                  <a:lnTo>
                    <a:pt x="232" y="84"/>
                  </a:lnTo>
                  <a:lnTo>
                    <a:pt x="225" y="78"/>
                  </a:lnTo>
                  <a:lnTo>
                    <a:pt x="218" y="72"/>
                  </a:lnTo>
                  <a:lnTo>
                    <a:pt x="92" y="26"/>
                  </a:lnTo>
                  <a:lnTo>
                    <a:pt x="23" y="0"/>
                  </a:lnTo>
                  <a:lnTo>
                    <a:pt x="14" y="10"/>
                  </a:lnTo>
                  <a:lnTo>
                    <a:pt x="8" y="23"/>
                  </a:lnTo>
                  <a:lnTo>
                    <a:pt x="1" y="45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EAEAEA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25" name="Freeform 65"/>
            <p:cNvSpPr>
              <a:spLocks/>
            </p:cNvSpPr>
            <p:nvPr/>
          </p:nvSpPr>
          <p:spPr bwMode="auto">
            <a:xfrm>
              <a:off x="810" y="3536"/>
              <a:ext cx="386" cy="177"/>
            </a:xfrm>
            <a:custGeom>
              <a:avLst/>
              <a:gdLst>
                <a:gd name="T0" fmla="*/ 208 w 386"/>
                <a:gd name="T1" fmla="*/ 177 h 177"/>
                <a:gd name="T2" fmla="*/ 385 w 386"/>
                <a:gd name="T3" fmla="*/ 81 h 177"/>
                <a:gd name="T4" fmla="*/ 384 w 386"/>
                <a:gd name="T5" fmla="*/ 75 h 177"/>
                <a:gd name="T6" fmla="*/ 373 w 386"/>
                <a:gd name="T7" fmla="*/ 68 h 177"/>
                <a:gd name="T8" fmla="*/ 379 w 386"/>
                <a:gd name="T9" fmla="*/ 56 h 177"/>
                <a:gd name="T10" fmla="*/ 386 w 386"/>
                <a:gd name="T11" fmla="*/ 46 h 177"/>
                <a:gd name="T12" fmla="*/ 205 w 386"/>
                <a:gd name="T13" fmla="*/ 0 h 177"/>
                <a:gd name="T14" fmla="*/ 110 w 386"/>
                <a:gd name="T15" fmla="*/ 34 h 177"/>
                <a:gd name="T16" fmla="*/ 0 w 386"/>
                <a:gd name="T17" fmla="*/ 77 h 177"/>
                <a:gd name="T18" fmla="*/ 69 w 386"/>
                <a:gd name="T19" fmla="*/ 103 h 177"/>
                <a:gd name="T20" fmla="*/ 195 w 386"/>
                <a:gd name="T21" fmla="*/ 149 h 177"/>
                <a:gd name="T22" fmla="*/ 202 w 386"/>
                <a:gd name="T23" fmla="*/ 155 h 177"/>
                <a:gd name="T24" fmla="*/ 209 w 386"/>
                <a:gd name="T25" fmla="*/ 161 h 177"/>
                <a:gd name="T26" fmla="*/ 209 w 386"/>
                <a:gd name="T27" fmla="*/ 168 h 177"/>
                <a:gd name="T28" fmla="*/ 206 w 386"/>
                <a:gd name="T29" fmla="*/ 177 h 177"/>
                <a:gd name="T30" fmla="*/ 208 w 386"/>
                <a:gd name="T31" fmla="*/ 177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86" h="177">
                  <a:moveTo>
                    <a:pt x="208" y="177"/>
                  </a:moveTo>
                  <a:lnTo>
                    <a:pt x="385" y="81"/>
                  </a:lnTo>
                  <a:lnTo>
                    <a:pt x="384" y="75"/>
                  </a:lnTo>
                  <a:lnTo>
                    <a:pt x="373" y="68"/>
                  </a:lnTo>
                  <a:lnTo>
                    <a:pt x="379" y="56"/>
                  </a:lnTo>
                  <a:lnTo>
                    <a:pt x="386" y="46"/>
                  </a:lnTo>
                  <a:lnTo>
                    <a:pt x="205" y="0"/>
                  </a:lnTo>
                  <a:lnTo>
                    <a:pt x="110" y="34"/>
                  </a:lnTo>
                  <a:lnTo>
                    <a:pt x="0" y="77"/>
                  </a:lnTo>
                  <a:lnTo>
                    <a:pt x="69" y="103"/>
                  </a:lnTo>
                  <a:lnTo>
                    <a:pt x="195" y="149"/>
                  </a:lnTo>
                  <a:lnTo>
                    <a:pt x="202" y="155"/>
                  </a:lnTo>
                  <a:lnTo>
                    <a:pt x="209" y="161"/>
                  </a:lnTo>
                  <a:lnTo>
                    <a:pt x="209" y="168"/>
                  </a:lnTo>
                  <a:lnTo>
                    <a:pt x="206" y="177"/>
                  </a:lnTo>
                  <a:lnTo>
                    <a:pt x="208" y="177"/>
                  </a:lnTo>
                  <a:close/>
                </a:path>
              </a:pathLst>
            </a:custGeom>
            <a:solidFill>
              <a:srgbClr val="EAEAEA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26" name="Freeform 66"/>
            <p:cNvSpPr>
              <a:spLocks/>
            </p:cNvSpPr>
            <p:nvPr/>
          </p:nvSpPr>
          <p:spPr bwMode="auto">
            <a:xfrm>
              <a:off x="877" y="3547"/>
              <a:ext cx="239" cy="93"/>
            </a:xfrm>
            <a:custGeom>
              <a:avLst/>
              <a:gdLst>
                <a:gd name="T0" fmla="*/ 161 w 239"/>
                <a:gd name="T1" fmla="*/ 0 h 93"/>
                <a:gd name="T2" fmla="*/ 10 w 239"/>
                <a:gd name="T3" fmla="*/ 58 h 93"/>
                <a:gd name="T4" fmla="*/ 0 w 239"/>
                <a:gd name="T5" fmla="*/ 72 h 93"/>
                <a:gd name="T6" fmla="*/ 25 w 239"/>
                <a:gd name="T7" fmla="*/ 81 h 93"/>
                <a:gd name="T8" fmla="*/ 39 w 239"/>
                <a:gd name="T9" fmla="*/ 76 h 93"/>
                <a:gd name="T10" fmla="*/ 65 w 239"/>
                <a:gd name="T11" fmla="*/ 87 h 93"/>
                <a:gd name="T12" fmla="*/ 78 w 239"/>
                <a:gd name="T13" fmla="*/ 81 h 93"/>
                <a:gd name="T14" fmla="*/ 102 w 239"/>
                <a:gd name="T15" fmla="*/ 90 h 93"/>
                <a:gd name="T16" fmla="*/ 118 w 239"/>
                <a:gd name="T17" fmla="*/ 85 h 93"/>
                <a:gd name="T18" fmla="*/ 141 w 239"/>
                <a:gd name="T19" fmla="*/ 93 h 93"/>
                <a:gd name="T20" fmla="*/ 207 w 239"/>
                <a:gd name="T21" fmla="*/ 63 h 93"/>
                <a:gd name="T22" fmla="*/ 239 w 239"/>
                <a:gd name="T23" fmla="*/ 49 h 93"/>
                <a:gd name="T24" fmla="*/ 235 w 239"/>
                <a:gd name="T25" fmla="*/ 36 h 93"/>
                <a:gd name="T26" fmla="*/ 222 w 239"/>
                <a:gd name="T27" fmla="*/ 31 h 93"/>
                <a:gd name="T28" fmla="*/ 220 w 239"/>
                <a:gd name="T29" fmla="*/ 23 h 93"/>
                <a:gd name="T30" fmla="*/ 207 w 239"/>
                <a:gd name="T31" fmla="*/ 19 h 93"/>
                <a:gd name="T32" fmla="*/ 201 w 239"/>
                <a:gd name="T33" fmla="*/ 10 h 93"/>
                <a:gd name="T34" fmla="*/ 161 w 239"/>
                <a:gd name="T35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9" h="93">
                  <a:moveTo>
                    <a:pt x="161" y="0"/>
                  </a:moveTo>
                  <a:lnTo>
                    <a:pt x="10" y="58"/>
                  </a:lnTo>
                  <a:lnTo>
                    <a:pt x="0" y="72"/>
                  </a:lnTo>
                  <a:lnTo>
                    <a:pt x="25" y="81"/>
                  </a:lnTo>
                  <a:lnTo>
                    <a:pt x="39" y="76"/>
                  </a:lnTo>
                  <a:lnTo>
                    <a:pt x="65" y="87"/>
                  </a:lnTo>
                  <a:lnTo>
                    <a:pt x="78" y="81"/>
                  </a:lnTo>
                  <a:lnTo>
                    <a:pt x="102" y="90"/>
                  </a:lnTo>
                  <a:lnTo>
                    <a:pt x="118" y="85"/>
                  </a:lnTo>
                  <a:lnTo>
                    <a:pt x="141" y="93"/>
                  </a:lnTo>
                  <a:lnTo>
                    <a:pt x="207" y="63"/>
                  </a:lnTo>
                  <a:lnTo>
                    <a:pt x="239" y="49"/>
                  </a:lnTo>
                  <a:lnTo>
                    <a:pt x="235" y="36"/>
                  </a:lnTo>
                  <a:lnTo>
                    <a:pt x="222" y="31"/>
                  </a:lnTo>
                  <a:lnTo>
                    <a:pt x="220" y="23"/>
                  </a:lnTo>
                  <a:lnTo>
                    <a:pt x="207" y="19"/>
                  </a:lnTo>
                  <a:lnTo>
                    <a:pt x="201" y="10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rgbClr val="EAEAEA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27" name="Freeform 67"/>
            <p:cNvSpPr>
              <a:spLocks/>
            </p:cNvSpPr>
            <p:nvPr/>
          </p:nvSpPr>
          <p:spPr bwMode="auto">
            <a:xfrm>
              <a:off x="779" y="3539"/>
              <a:ext cx="141" cy="136"/>
            </a:xfrm>
            <a:custGeom>
              <a:avLst/>
              <a:gdLst>
                <a:gd name="T0" fmla="*/ 31 w 141"/>
                <a:gd name="T1" fmla="*/ 74 h 136"/>
                <a:gd name="T2" fmla="*/ 141 w 141"/>
                <a:gd name="T3" fmla="*/ 31 h 136"/>
                <a:gd name="T4" fmla="*/ 141 w 141"/>
                <a:gd name="T5" fmla="*/ 0 h 136"/>
                <a:gd name="T6" fmla="*/ 0 w 141"/>
                <a:gd name="T7" fmla="*/ 53 h 136"/>
                <a:gd name="T8" fmla="*/ 0 w 141"/>
                <a:gd name="T9" fmla="*/ 136 h 136"/>
                <a:gd name="T10" fmla="*/ 8 w 141"/>
                <a:gd name="T11" fmla="*/ 135 h 136"/>
                <a:gd name="T12" fmla="*/ 9 w 141"/>
                <a:gd name="T13" fmla="*/ 119 h 136"/>
                <a:gd name="T14" fmla="*/ 16 w 141"/>
                <a:gd name="T15" fmla="*/ 97 h 136"/>
                <a:gd name="T16" fmla="*/ 22 w 141"/>
                <a:gd name="T17" fmla="*/ 84 h 136"/>
                <a:gd name="T18" fmla="*/ 31 w 141"/>
                <a:gd name="T19" fmla="*/ 74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1" h="136">
                  <a:moveTo>
                    <a:pt x="31" y="74"/>
                  </a:moveTo>
                  <a:lnTo>
                    <a:pt x="141" y="31"/>
                  </a:lnTo>
                  <a:lnTo>
                    <a:pt x="141" y="0"/>
                  </a:lnTo>
                  <a:lnTo>
                    <a:pt x="0" y="53"/>
                  </a:lnTo>
                  <a:lnTo>
                    <a:pt x="0" y="136"/>
                  </a:lnTo>
                  <a:lnTo>
                    <a:pt x="8" y="135"/>
                  </a:lnTo>
                  <a:lnTo>
                    <a:pt x="9" y="119"/>
                  </a:lnTo>
                  <a:lnTo>
                    <a:pt x="16" y="97"/>
                  </a:lnTo>
                  <a:lnTo>
                    <a:pt x="22" y="84"/>
                  </a:lnTo>
                  <a:lnTo>
                    <a:pt x="31" y="74"/>
                  </a:lnTo>
                  <a:close/>
                </a:path>
              </a:pathLst>
            </a:custGeom>
            <a:solidFill>
              <a:srgbClr val="EAEAEA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28" name="Freeform 68"/>
            <p:cNvSpPr>
              <a:spLocks/>
            </p:cNvSpPr>
            <p:nvPr/>
          </p:nvSpPr>
          <p:spPr bwMode="auto">
            <a:xfrm>
              <a:off x="627" y="3592"/>
              <a:ext cx="152" cy="83"/>
            </a:xfrm>
            <a:custGeom>
              <a:avLst/>
              <a:gdLst>
                <a:gd name="T0" fmla="*/ 152 w 152"/>
                <a:gd name="T1" fmla="*/ 0 h 83"/>
                <a:gd name="T2" fmla="*/ 152 w 152"/>
                <a:gd name="T3" fmla="*/ 83 h 83"/>
                <a:gd name="T4" fmla="*/ 134 w 152"/>
                <a:gd name="T5" fmla="*/ 83 h 83"/>
                <a:gd name="T6" fmla="*/ 129 w 152"/>
                <a:gd name="T7" fmla="*/ 73 h 83"/>
                <a:gd name="T8" fmla="*/ 120 w 152"/>
                <a:gd name="T9" fmla="*/ 66 h 83"/>
                <a:gd name="T10" fmla="*/ 108 w 152"/>
                <a:gd name="T11" fmla="*/ 62 h 83"/>
                <a:gd name="T12" fmla="*/ 95 w 152"/>
                <a:gd name="T13" fmla="*/ 64 h 83"/>
                <a:gd name="T14" fmla="*/ 83 w 152"/>
                <a:gd name="T15" fmla="*/ 70 h 83"/>
                <a:gd name="T16" fmla="*/ 72 w 152"/>
                <a:gd name="T17" fmla="*/ 82 h 83"/>
                <a:gd name="T18" fmla="*/ 0 w 152"/>
                <a:gd name="T19" fmla="*/ 79 h 83"/>
                <a:gd name="T20" fmla="*/ 0 w 152"/>
                <a:gd name="T21" fmla="*/ 4 h 83"/>
                <a:gd name="T22" fmla="*/ 2 w 152"/>
                <a:gd name="T23" fmla="*/ 5 h 83"/>
                <a:gd name="T24" fmla="*/ 136 w 152"/>
                <a:gd name="T25" fmla="*/ 5 h 83"/>
                <a:gd name="T26" fmla="*/ 152 w 152"/>
                <a:gd name="T27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2" h="83">
                  <a:moveTo>
                    <a:pt x="152" y="0"/>
                  </a:moveTo>
                  <a:lnTo>
                    <a:pt x="152" y="83"/>
                  </a:lnTo>
                  <a:lnTo>
                    <a:pt x="134" y="83"/>
                  </a:lnTo>
                  <a:lnTo>
                    <a:pt x="129" y="73"/>
                  </a:lnTo>
                  <a:lnTo>
                    <a:pt x="120" y="66"/>
                  </a:lnTo>
                  <a:lnTo>
                    <a:pt x="108" y="62"/>
                  </a:lnTo>
                  <a:lnTo>
                    <a:pt x="95" y="64"/>
                  </a:lnTo>
                  <a:lnTo>
                    <a:pt x="83" y="70"/>
                  </a:lnTo>
                  <a:lnTo>
                    <a:pt x="72" y="82"/>
                  </a:lnTo>
                  <a:lnTo>
                    <a:pt x="0" y="79"/>
                  </a:lnTo>
                  <a:lnTo>
                    <a:pt x="0" y="4"/>
                  </a:lnTo>
                  <a:lnTo>
                    <a:pt x="2" y="5"/>
                  </a:lnTo>
                  <a:lnTo>
                    <a:pt x="136" y="5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EAEAEA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29" name="Freeform 69"/>
            <p:cNvSpPr>
              <a:spLocks/>
            </p:cNvSpPr>
            <p:nvPr/>
          </p:nvSpPr>
          <p:spPr bwMode="auto">
            <a:xfrm>
              <a:off x="540" y="3597"/>
              <a:ext cx="63" cy="74"/>
            </a:xfrm>
            <a:custGeom>
              <a:avLst/>
              <a:gdLst>
                <a:gd name="T0" fmla="*/ 34 w 63"/>
                <a:gd name="T1" fmla="*/ 74 h 74"/>
                <a:gd name="T2" fmla="*/ 0 w 63"/>
                <a:gd name="T3" fmla="*/ 74 h 74"/>
                <a:gd name="T4" fmla="*/ 3 w 63"/>
                <a:gd name="T5" fmla="*/ 26 h 74"/>
                <a:gd name="T6" fmla="*/ 19 w 63"/>
                <a:gd name="T7" fmla="*/ 22 h 74"/>
                <a:gd name="T8" fmla="*/ 21 w 63"/>
                <a:gd name="T9" fmla="*/ 0 h 74"/>
                <a:gd name="T10" fmla="*/ 63 w 63"/>
                <a:gd name="T11" fmla="*/ 0 h 74"/>
                <a:gd name="T12" fmla="*/ 63 w 63"/>
                <a:gd name="T13" fmla="*/ 74 h 74"/>
                <a:gd name="T14" fmla="*/ 34 w 63"/>
                <a:gd name="T15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3" h="74">
                  <a:moveTo>
                    <a:pt x="34" y="74"/>
                  </a:moveTo>
                  <a:lnTo>
                    <a:pt x="0" y="74"/>
                  </a:lnTo>
                  <a:lnTo>
                    <a:pt x="3" y="26"/>
                  </a:lnTo>
                  <a:lnTo>
                    <a:pt x="19" y="22"/>
                  </a:lnTo>
                  <a:lnTo>
                    <a:pt x="21" y="0"/>
                  </a:lnTo>
                  <a:lnTo>
                    <a:pt x="63" y="0"/>
                  </a:lnTo>
                  <a:lnTo>
                    <a:pt x="63" y="74"/>
                  </a:lnTo>
                  <a:lnTo>
                    <a:pt x="34" y="74"/>
                  </a:lnTo>
                  <a:close/>
                </a:path>
              </a:pathLst>
            </a:custGeom>
            <a:solidFill>
              <a:srgbClr val="EAEAEA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30" name="Freeform 70"/>
            <p:cNvSpPr>
              <a:spLocks/>
            </p:cNvSpPr>
            <p:nvPr/>
          </p:nvSpPr>
          <p:spPr bwMode="auto">
            <a:xfrm>
              <a:off x="588" y="3682"/>
              <a:ext cx="16" cy="10"/>
            </a:xfrm>
            <a:custGeom>
              <a:avLst/>
              <a:gdLst>
                <a:gd name="T0" fmla="*/ 0 w 16"/>
                <a:gd name="T1" fmla="*/ 5 h 10"/>
                <a:gd name="T2" fmla="*/ 6 w 16"/>
                <a:gd name="T3" fmla="*/ 9 h 10"/>
                <a:gd name="T4" fmla="*/ 11 w 16"/>
                <a:gd name="T5" fmla="*/ 9 h 10"/>
                <a:gd name="T6" fmla="*/ 16 w 16"/>
                <a:gd name="T7" fmla="*/ 10 h 10"/>
                <a:gd name="T8" fmla="*/ 15 w 16"/>
                <a:gd name="T9" fmla="*/ 10 h 10"/>
                <a:gd name="T10" fmla="*/ 15 w 16"/>
                <a:gd name="T11" fmla="*/ 0 h 10"/>
                <a:gd name="T12" fmla="*/ 8 w 16"/>
                <a:gd name="T13" fmla="*/ 1 h 10"/>
                <a:gd name="T14" fmla="*/ 0 w 16"/>
                <a:gd name="T15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10">
                  <a:moveTo>
                    <a:pt x="0" y="5"/>
                  </a:moveTo>
                  <a:lnTo>
                    <a:pt x="6" y="9"/>
                  </a:lnTo>
                  <a:lnTo>
                    <a:pt x="11" y="9"/>
                  </a:lnTo>
                  <a:lnTo>
                    <a:pt x="16" y="10"/>
                  </a:lnTo>
                  <a:lnTo>
                    <a:pt x="15" y="10"/>
                  </a:lnTo>
                  <a:lnTo>
                    <a:pt x="15" y="0"/>
                  </a:lnTo>
                  <a:lnTo>
                    <a:pt x="8" y="1"/>
                  </a:lnTo>
                  <a:lnTo>
                    <a:pt x="0" y="5"/>
                  </a:ln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31" name="Freeform 71"/>
            <p:cNvSpPr>
              <a:spLocks/>
            </p:cNvSpPr>
            <p:nvPr/>
          </p:nvSpPr>
          <p:spPr bwMode="auto">
            <a:xfrm>
              <a:off x="627" y="3682"/>
              <a:ext cx="20" cy="10"/>
            </a:xfrm>
            <a:custGeom>
              <a:avLst/>
              <a:gdLst>
                <a:gd name="T0" fmla="*/ 20 w 20"/>
                <a:gd name="T1" fmla="*/ 3 h 10"/>
                <a:gd name="T2" fmla="*/ 13 w 20"/>
                <a:gd name="T3" fmla="*/ 2 h 10"/>
                <a:gd name="T4" fmla="*/ 7 w 20"/>
                <a:gd name="T5" fmla="*/ 0 h 10"/>
                <a:gd name="T6" fmla="*/ 0 w 20"/>
                <a:gd name="T7" fmla="*/ 0 h 10"/>
                <a:gd name="T8" fmla="*/ 0 w 20"/>
                <a:gd name="T9" fmla="*/ 10 h 10"/>
                <a:gd name="T10" fmla="*/ 8 w 20"/>
                <a:gd name="T11" fmla="*/ 9 h 10"/>
                <a:gd name="T12" fmla="*/ 15 w 20"/>
                <a:gd name="T13" fmla="*/ 7 h 10"/>
                <a:gd name="T14" fmla="*/ 20 w 20"/>
                <a:gd name="T15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" h="10">
                  <a:moveTo>
                    <a:pt x="20" y="3"/>
                  </a:moveTo>
                  <a:lnTo>
                    <a:pt x="13" y="2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8" y="9"/>
                  </a:lnTo>
                  <a:lnTo>
                    <a:pt x="15" y="7"/>
                  </a:lnTo>
                  <a:lnTo>
                    <a:pt x="20" y="3"/>
                  </a:lnTo>
                  <a:close/>
                </a:path>
              </a:pathLst>
            </a:custGeom>
            <a:solidFill>
              <a:srgbClr val="A857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32" name="Freeform 72"/>
            <p:cNvSpPr>
              <a:spLocks/>
            </p:cNvSpPr>
            <p:nvPr/>
          </p:nvSpPr>
          <p:spPr bwMode="auto">
            <a:xfrm>
              <a:off x="652" y="3654"/>
              <a:ext cx="111" cy="114"/>
            </a:xfrm>
            <a:custGeom>
              <a:avLst/>
              <a:gdLst>
                <a:gd name="T0" fmla="*/ 69 w 111"/>
                <a:gd name="T1" fmla="*/ 112 h 114"/>
                <a:gd name="T2" fmla="*/ 72 w 111"/>
                <a:gd name="T3" fmla="*/ 108 h 114"/>
                <a:gd name="T4" fmla="*/ 72 w 111"/>
                <a:gd name="T5" fmla="*/ 103 h 114"/>
                <a:gd name="T6" fmla="*/ 71 w 111"/>
                <a:gd name="T7" fmla="*/ 96 h 114"/>
                <a:gd name="T8" fmla="*/ 71 w 111"/>
                <a:gd name="T9" fmla="*/ 91 h 114"/>
                <a:gd name="T10" fmla="*/ 72 w 111"/>
                <a:gd name="T11" fmla="*/ 86 h 114"/>
                <a:gd name="T12" fmla="*/ 76 w 111"/>
                <a:gd name="T13" fmla="*/ 79 h 114"/>
                <a:gd name="T14" fmla="*/ 87 w 111"/>
                <a:gd name="T15" fmla="*/ 73 h 114"/>
                <a:gd name="T16" fmla="*/ 96 w 111"/>
                <a:gd name="T17" fmla="*/ 64 h 114"/>
                <a:gd name="T18" fmla="*/ 105 w 111"/>
                <a:gd name="T19" fmla="*/ 56 h 114"/>
                <a:gd name="T20" fmla="*/ 109 w 111"/>
                <a:gd name="T21" fmla="*/ 46 h 114"/>
                <a:gd name="T22" fmla="*/ 111 w 111"/>
                <a:gd name="T23" fmla="*/ 33 h 114"/>
                <a:gd name="T24" fmla="*/ 109 w 111"/>
                <a:gd name="T25" fmla="*/ 21 h 114"/>
                <a:gd name="T26" fmla="*/ 104 w 111"/>
                <a:gd name="T27" fmla="*/ 11 h 114"/>
                <a:gd name="T28" fmla="*/ 95 w 111"/>
                <a:gd name="T29" fmla="*/ 4 h 114"/>
                <a:gd name="T30" fmla="*/ 83 w 111"/>
                <a:gd name="T31" fmla="*/ 0 h 114"/>
                <a:gd name="T32" fmla="*/ 70 w 111"/>
                <a:gd name="T33" fmla="*/ 2 h 114"/>
                <a:gd name="T34" fmla="*/ 58 w 111"/>
                <a:gd name="T35" fmla="*/ 8 h 114"/>
                <a:gd name="T36" fmla="*/ 47 w 111"/>
                <a:gd name="T37" fmla="*/ 20 h 114"/>
                <a:gd name="T38" fmla="*/ 43 w 111"/>
                <a:gd name="T39" fmla="*/ 30 h 114"/>
                <a:gd name="T40" fmla="*/ 39 w 111"/>
                <a:gd name="T41" fmla="*/ 43 h 114"/>
                <a:gd name="T42" fmla="*/ 37 w 111"/>
                <a:gd name="T43" fmla="*/ 53 h 114"/>
                <a:gd name="T44" fmla="*/ 14 w 111"/>
                <a:gd name="T45" fmla="*/ 50 h 114"/>
                <a:gd name="T46" fmla="*/ 0 w 111"/>
                <a:gd name="T47" fmla="*/ 50 h 114"/>
                <a:gd name="T48" fmla="*/ 2 w 111"/>
                <a:gd name="T49" fmla="*/ 56 h 114"/>
                <a:gd name="T50" fmla="*/ 8 w 111"/>
                <a:gd name="T51" fmla="*/ 69 h 114"/>
                <a:gd name="T52" fmla="*/ 17 w 111"/>
                <a:gd name="T53" fmla="*/ 77 h 114"/>
                <a:gd name="T54" fmla="*/ 25 w 111"/>
                <a:gd name="T55" fmla="*/ 83 h 114"/>
                <a:gd name="T56" fmla="*/ 43 w 111"/>
                <a:gd name="T57" fmla="*/ 79 h 114"/>
                <a:gd name="T58" fmla="*/ 57 w 111"/>
                <a:gd name="T59" fmla="*/ 74 h 114"/>
                <a:gd name="T60" fmla="*/ 63 w 111"/>
                <a:gd name="T61" fmla="*/ 70 h 114"/>
                <a:gd name="T62" fmla="*/ 69 w 111"/>
                <a:gd name="T63" fmla="*/ 65 h 114"/>
                <a:gd name="T64" fmla="*/ 66 w 111"/>
                <a:gd name="T65" fmla="*/ 63 h 114"/>
                <a:gd name="T66" fmla="*/ 62 w 111"/>
                <a:gd name="T67" fmla="*/ 60 h 114"/>
                <a:gd name="T68" fmla="*/ 58 w 111"/>
                <a:gd name="T69" fmla="*/ 57 h 114"/>
                <a:gd name="T70" fmla="*/ 57 w 111"/>
                <a:gd name="T71" fmla="*/ 44 h 114"/>
                <a:gd name="T72" fmla="*/ 60 w 111"/>
                <a:gd name="T73" fmla="*/ 34 h 114"/>
                <a:gd name="T74" fmla="*/ 65 w 111"/>
                <a:gd name="T75" fmla="*/ 26 h 114"/>
                <a:gd name="T76" fmla="*/ 71 w 111"/>
                <a:gd name="T77" fmla="*/ 21 h 114"/>
                <a:gd name="T78" fmla="*/ 80 w 111"/>
                <a:gd name="T79" fmla="*/ 20 h 114"/>
                <a:gd name="T80" fmla="*/ 89 w 111"/>
                <a:gd name="T81" fmla="*/ 22 h 114"/>
                <a:gd name="T82" fmla="*/ 93 w 111"/>
                <a:gd name="T83" fmla="*/ 29 h 114"/>
                <a:gd name="T84" fmla="*/ 95 w 111"/>
                <a:gd name="T85" fmla="*/ 38 h 114"/>
                <a:gd name="T86" fmla="*/ 89 w 111"/>
                <a:gd name="T87" fmla="*/ 47 h 114"/>
                <a:gd name="T88" fmla="*/ 79 w 111"/>
                <a:gd name="T89" fmla="*/ 59 h 114"/>
                <a:gd name="T90" fmla="*/ 69 w 111"/>
                <a:gd name="T91" fmla="*/ 65 h 114"/>
                <a:gd name="T92" fmla="*/ 69 w 111"/>
                <a:gd name="T93" fmla="*/ 77 h 114"/>
                <a:gd name="T94" fmla="*/ 66 w 111"/>
                <a:gd name="T95" fmla="*/ 85 h 114"/>
                <a:gd name="T96" fmla="*/ 54 w 111"/>
                <a:gd name="T97" fmla="*/ 96 h 114"/>
                <a:gd name="T98" fmla="*/ 54 w 111"/>
                <a:gd name="T99" fmla="*/ 101 h 114"/>
                <a:gd name="T100" fmla="*/ 56 w 111"/>
                <a:gd name="T101" fmla="*/ 107 h 114"/>
                <a:gd name="T102" fmla="*/ 57 w 111"/>
                <a:gd name="T103" fmla="*/ 109 h 114"/>
                <a:gd name="T104" fmla="*/ 60 w 111"/>
                <a:gd name="T105" fmla="*/ 112 h 114"/>
                <a:gd name="T106" fmla="*/ 63 w 111"/>
                <a:gd name="T107" fmla="*/ 114 h 114"/>
                <a:gd name="T108" fmla="*/ 69 w 111"/>
                <a:gd name="T109" fmla="*/ 112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11" h="114">
                  <a:moveTo>
                    <a:pt x="69" y="112"/>
                  </a:moveTo>
                  <a:lnTo>
                    <a:pt x="72" y="108"/>
                  </a:lnTo>
                  <a:lnTo>
                    <a:pt x="72" y="103"/>
                  </a:lnTo>
                  <a:lnTo>
                    <a:pt x="71" y="96"/>
                  </a:lnTo>
                  <a:lnTo>
                    <a:pt x="71" y="91"/>
                  </a:lnTo>
                  <a:lnTo>
                    <a:pt x="72" y="86"/>
                  </a:lnTo>
                  <a:lnTo>
                    <a:pt x="76" y="79"/>
                  </a:lnTo>
                  <a:lnTo>
                    <a:pt x="87" y="73"/>
                  </a:lnTo>
                  <a:lnTo>
                    <a:pt x="96" y="64"/>
                  </a:lnTo>
                  <a:lnTo>
                    <a:pt x="105" y="56"/>
                  </a:lnTo>
                  <a:lnTo>
                    <a:pt x="109" y="46"/>
                  </a:lnTo>
                  <a:lnTo>
                    <a:pt x="111" y="33"/>
                  </a:lnTo>
                  <a:lnTo>
                    <a:pt x="109" y="21"/>
                  </a:lnTo>
                  <a:lnTo>
                    <a:pt x="104" y="11"/>
                  </a:lnTo>
                  <a:lnTo>
                    <a:pt x="95" y="4"/>
                  </a:lnTo>
                  <a:lnTo>
                    <a:pt x="83" y="0"/>
                  </a:lnTo>
                  <a:lnTo>
                    <a:pt x="70" y="2"/>
                  </a:lnTo>
                  <a:lnTo>
                    <a:pt x="58" y="8"/>
                  </a:lnTo>
                  <a:lnTo>
                    <a:pt x="47" y="20"/>
                  </a:lnTo>
                  <a:lnTo>
                    <a:pt x="43" y="30"/>
                  </a:lnTo>
                  <a:lnTo>
                    <a:pt x="39" y="43"/>
                  </a:lnTo>
                  <a:lnTo>
                    <a:pt x="37" y="53"/>
                  </a:lnTo>
                  <a:lnTo>
                    <a:pt x="14" y="50"/>
                  </a:lnTo>
                  <a:lnTo>
                    <a:pt x="0" y="50"/>
                  </a:lnTo>
                  <a:lnTo>
                    <a:pt x="2" y="56"/>
                  </a:lnTo>
                  <a:lnTo>
                    <a:pt x="8" y="69"/>
                  </a:lnTo>
                  <a:lnTo>
                    <a:pt x="17" y="77"/>
                  </a:lnTo>
                  <a:lnTo>
                    <a:pt x="25" y="83"/>
                  </a:lnTo>
                  <a:lnTo>
                    <a:pt x="43" y="79"/>
                  </a:lnTo>
                  <a:lnTo>
                    <a:pt x="57" y="74"/>
                  </a:lnTo>
                  <a:lnTo>
                    <a:pt x="63" y="70"/>
                  </a:lnTo>
                  <a:lnTo>
                    <a:pt x="69" y="65"/>
                  </a:lnTo>
                  <a:lnTo>
                    <a:pt x="66" y="63"/>
                  </a:lnTo>
                  <a:lnTo>
                    <a:pt x="62" y="60"/>
                  </a:lnTo>
                  <a:lnTo>
                    <a:pt x="58" y="57"/>
                  </a:lnTo>
                  <a:lnTo>
                    <a:pt x="57" y="44"/>
                  </a:lnTo>
                  <a:lnTo>
                    <a:pt x="60" y="34"/>
                  </a:lnTo>
                  <a:lnTo>
                    <a:pt x="65" y="26"/>
                  </a:lnTo>
                  <a:lnTo>
                    <a:pt x="71" y="21"/>
                  </a:lnTo>
                  <a:lnTo>
                    <a:pt x="80" y="20"/>
                  </a:lnTo>
                  <a:lnTo>
                    <a:pt x="89" y="22"/>
                  </a:lnTo>
                  <a:lnTo>
                    <a:pt x="93" y="29"/>
                  </a:lnTo>
                  <a:lnTo>
                    <a:pt x="95" y="38"/>
                  </a:lnTo>
                  <a:lnTo>
                    <a:pt x="89" y="47"/>
                  </a:lnTo>
                  <a:lnTo>
                    <a:pt x="79" y="59"/>
                  </a:lnTo>
                  <a:lnTo>
                    <a:pt x="69" y="65"/>
                  </a:lnTo>
                  <a:lnTo>
                    <a:pt x="69" y="77"/>
                  </a:lnTo>
                  <a:lnTo>
                    <a:pt x="66" y="85"/>
                  </a:lnTo>
                  <a:lnTo>
                    <a:pt x="54" y="96"/>
                  </a:lnTo>
                  <a:lnTo>
                    <a:pt x="54" y="101"/>
                  </a:lnTo>
                  <a:lnTo>
                    <a:pt x="56" y="107"/>
                  </a:lnTo>
                  <a:lnTo>
                    <a:pt x="57" y="109"/>
                  </a:lnTo>
                  <a:lnTo>
                    <a:pt x="60" y="112"/>
                  </a:lnTo>
                  <a:lnTo>
                    <a:pt x="63" y="114"/>
                  </a:lnTo>
                  <a:lnTo>
                    <a:pt x="69" y="112"/>
                  </a:lnTo>
                  <a:close/>
                </a:path>
              </a:pathLst>
            </a:custGeom>
            <a:solidFill>
              <a:srgbClr val="FF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33" name="Freeform 73"/>
            <p:cNvSpPr>
              <a:spLocks/>
            </p:cNvSpPr>
            <p:nvPr/>
          </p:nvSpPr>
          <p:spPr bwMode="auto">
            <a:xfrm>
              <a:off x="518" y="3719"/>
              <a:ext cx="203" cy="48"/>
            </a:xfrm>
            <a:custGeom>
              <a:avLst/>
              <a:gdLst>
                <a:gd name="T0" fmla="*/ 203 w 203"/>
                <a:gd name="T1" fmla="*/ 0 h 48"/>
                <a:gd name="T2" fmla="*/ 197 w 203"/>
                <a:gd name="T3" fmla="*/ 5 h 48"/>
                <a:gd name="T4" fmla="*/ 191 w 203"/>
                <a:gd name="T5" fmla="*/ 9 h 48"/>
                <a:gd name="T6" fmla="*/ 177 w 203"/>
                <a:gd name="T7" fmla="*/ 14 h 48"/>
                <a:gd name="T8" fmla="*/ 159 w 203"/>
                <a:gd name="T9" fmla="*/ 18 h 48"/>
                <a:gd name="T10" fmla="*/ 118 w 203"/>
                <a:gd name="T11" fmla="*/ 21 h 48"/>
                <a:gd name="T12" fmla="*/ 51 w 203"/>
                <a:gd name="T13" fmla="*/ 21 h 48"/>
                <a:gd name="T14" fmla="*/ 43 w 203"/>
                <a:gd name="T15" fmla="*/ 18 h 48"/>
                <a:gd name="T16" fmla="*/ 33 w 203"/>
                <a:gd name="T17" fmla="*/ 18 h 48"/>
                <a:gd name="T18" fmla="*/ 21 w 203"/>
                <a:gd name="T19" fmla="*/ 16 h 48"/>
                <a:gd name="T20" fmla="*/ 12 w 203"/>
                <a:gd name="T21" fmla="*/ 12 h 48"/>
                <a:gd name="T22" fmla="*/ 4 w 203"/>
                <a:gd name="T23" fmla="*/ 9 h 48"/>
                <a:gd name="T24" fmla="*/ 0 w 203"/>
                <a:gd name="T25" fmla="*/ 5 h 48"/>
                <a:gd name="T26" fmla="*/ 0 w 203"/>
                <a:gd name="T27" fmla="*/ 14 h 48"/>
                <a:gd name="T28" fmla="*/ 3 w 203"/>
                <a:gd name="T29" fmla="*/ 21 h 48"/>
                <a:gd name="T30" fmla="*/ 9 w 203"/>
                <a:gd name="T31" fmla="*/ 30 h 48"/>
                <a:gd name="T32" fmla="*/ 20 w 203"/>
                <a:gd name="T33" fmla="*/ 36 h 48"/>
                <a:gd name="T34" fmla="*/ 30 w 203"/>
                <a:gd name="T35" fmla="*/ 40 h 48"/>
                <a:gd name="T36" fmla="*/ 39 w 203"/>
                <a:gd name="T37" fmla="*/ 43 h 48"/>
                <a:gd name="T38" fmla="*/ 47 w 203"/>
                <a:gd name="T39" fmla="*/ 44 h 48"/>
                <a:gd name="T40" fmla="*/ 69 w 203"/>
                <a:gd name="T41" fmla="*/ 47 h 48"/>
                <a:gd name="T42" fmla="*/ 100 w 203"/>
                <a:gd name="T43" fmla="*/ 48 h 48"/>
                <a:gd name="T44" fmla="*/ 131 w 203"/>
                <a:gd name="T45" fmla="*/ 47 h 48"/>
                <a:gd name="T46" fmla="*/ 159 w 203"/>
                <a:gd name="T47" fmla="*/ 43 h 48"/>
                <a:gd name="T48" fmla="*/ 171 w 203"/>
                <a:gd name="T49" fmla="*/ 40 h 48"/>
                <a:gd name="T50" fmla="*/ 181 w 203"/>
                <a:gd name="T51" fmla="*/ 36 h 48"/>
                <a:gd name="T52" fmla="*/ 188 w 203"/>
                <a:gd name="T53" fmla="*/ 31 h 48"/>
                <a:gd name="T54" fmla="*/ 200 w 203"/>
                <a:gd name="T55" fmla="*/ 20 h 48"/>
                <a:gd name="T56" fmla="*/ 203 w 203"/>
                <a:gd name="T57" fmla="*/ 12 h 48"/>
                <a:gd name="T58" fmla="*/ 203 w 203"/>
                <a:gd name="T59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03" h="48">
                  <a:moveTo>
                    <a:pt x="203" y="0"/>
                  </a:moveTo>
                  <a:lnTo>
                    <a:pt x="197" y="5"/>
                  </a:lnTo>
                  <a:lnTo>
                    <a:pt x="191" y="9"/>
                  </a:lnTo>
                  <a:lnTo>
                    <a:pt x="177" y="14"/>
                  </a:lnTo>
                  <a:lnTo>
                    <a:pt x="159" y="18"/>
                  </a:lnTo>
                  <a:lnTo>
                    <a:pt x="118" y="21"/>
                  </a:lnTo>
                  <a:lnTo>
                    <a:pt x="51" y="21"/>
                  </a:lnTo>
                  <a:lnTo>
                    <a:pt x="43" y="18"/>
                  </a:lnTo>
                  <a:lnTo>
                    <a:pt x="33" y="18"/>
                  </a:lnTo>
                  <a:lnTo>
                    <a:pt x="21" y="16"/>
                  </a:lnTo>
                  <a:lnTo>
                    <a:pt x="12" y="12"/>
                  </a:lnTo>
                  <a:lnTo>
                    <a:pt x="4" y="9"/>
                  </a:lnTo>
                  <a:lnTo>
                    <a:pt x="0" y="5"/>
                  </a:lnTo>
                  <a:lnTo>
                    <a:pt x="0" y="14"/>
                  </a:lnTo>
                  <a:lnTo>
                    <a:pt x="3" y="21"/>
                  </a:lnTo>
                  <a:lnTo>
                    <a:pt x="9" y="30"/>
                  </a:lnTo>
                  <a:lnTo>
                    <a:pt x="20" y="36"/>
                  </a:lnTo>
                  <a:lnTo>
                    <a:pt x="30" y="40"/>
                  </a:lnTo>
                  <a:lnTo>
                    <a:pt x="39" y="43"/>
                  </a:lnTo>
                  <a:lnTo>
                    <a:pt x="47" y="44"/>
                  </a:lnTo>
                  <a:lnTo>
                    <a:pt x="69" y="47"/>
                  </a:lnTo>
                  <a:lnTo>
                    <a:pt x="100" y="48"/>
                  </a:lnTo>
                  <a:lnTo>
                    <a:pt x="131" y="47"/>
                  </a:lnTo>
                  <a:lnTo>
                    <a:pt x="159" y="43"/>
                  </a:lnTo>
                  <a:lnTo>
                    <a:pt x="171" y="40"/>
                  </a:lnTo>
                  <a:lnTo>
                    <a:pt x="181" y="36"/>
                  </a:lnTo>
                  <a:lnTo>
                    <a:pt x="188" y="31"/>
                  </a:lnTo>
                  <a:lnTo>
                    <a:pt x="200" y="20"/>
                  </a:lnTo>
                  <a:lnTo>
                    <a:pt x="203" y="12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FF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34" name="Freeform 74"/>
            <p:cNvSpPr>
              <a:spLocks/>
            </p:cNvSpPr>
            <p:nvPr/>
          </p:nvSpPr>
          <p:spPr bwMode="auto">
            <a:xfrm>
              <a:off x="551" y="3762"/>
              <a:ext cx="133" cy="30"/>
            </a:xfrm>
            <a:custGeom>
              <a:avLst/>
              <a:gdLst>
                <a:gd name="T0" fmla="*/ 101 w 133"/>
                <a:gd name="T1" fmla="*/ 27 h 30"/>
                <a:gd name="T2" fmla="*/ 72 w 133"/>
                <a:gd name="T3" fmla="*/ 30 h 30"/>
                <a:gd name="T4" fmla="*/ 43 w 133"/>
                <a:gd name="T5" fmla="*/ 27 h 30"/>
                <a:gd name="T6" fmla="*/ 27 w 133"/>
                <a:gd name="T7" fmla="*/ 26 h 30"/>
                <a:gd name="T8" fmla="*/ 14 w 133"/>
                <a:gd name="T9" fmla="*/ 23 h 30"/>
                <a:gd name="T10" fmla="*/ 5 w 133"/>
                <a:gd name="T11" fmla="*/ 19 h 30"/>
                <a:gd name="T12" fmla="*/ 0 w 133"/>
                <a:gd name="T13" fmla="*/ 14 h 30"/>
                <a:gd name="T14" fmla="*/ 1 w 133"/>
                <a:gd name="T15" fmla="*/ 8 h 30"/>
                <a:gd name="T16" fmla="*/ 5 w 133"/>
                <a:gd name="T17" fmla="*/ 4 h 30"/>
                <a:gd name="T18" fmla="*/ 14 w 133"/>
                <a:gd name="T19" fmla="*/ 1 h 30"/>
                <a:gd name="T20" fmla="*/ 36 w 133"/>
                <a:gd name="T21" fmla="*/ 4 h 30"/>
                <a:gd name="T22" fmla="*/ 67 w 133"/>
                <a:gd name="T23" fmla="*/ 5 h 30"/>
                <a:gd name="T24" fmla="*/ 98 w 133"/>
                <a:gd name="T25" fmla="*/ 4 h 30"/>
                <a:gd name="T26" fmla="*/ 126 w 133"/>
                <a:gd name="T27" fmla="*/ 0 h 30"/>
                <a:gd name="T28" fmla="*/ 131 w 133"/>
                <a:gd name="T29" fmla="*/ 4 h 30"/>
                <a:gd name="T30" fmla="*/ 133 w 133"/>
                <a:gd name="T31" fmla="*/ 9 h 30"/>
                <a:gd name="T32" fmla="*/ 132 w 133"/>
                <a:gd name="T33" fmla="*/ 14 h 30"/>
                <a:gd name="T34" fmla="*/ 127 w 133"/>
                <a:gd name="T35" fmla="*/ 19 h 30"/>
                <a:gd name="T36" fmla="*/ 115 w 133"/>
                <a:gd name="T37" fmla="*/ 25 h 30"/>
                <a:gd name="T38" fmla="*/ 101 w 133"/>
                <a:gd name="T39" fmla="*/ 27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3" h="30">
                  <a:moveTo>
                    <a:pt x="101" y="27"/>
                  </a:moveTo>
                  <a:lnTo>
                    <a:pt x="72" y="30"/>
                  </a:lnTo>
                  <a:lnTo>
                    <a:pt x="43" y="27"/>
                  </a:lnTo>
                  <a:lnTo>
                    <a:pt x="27" y="26"/>
                  </a:lnTo>
                  <a:lnTo>
                    <a:pt x="14" y="23"/>
                  </a:lnTo>
                  <a:lnTo>
                    <a:pt x="5" y="19"/>
                  </a:lnTo>
                  <a:lnTo>
                    <a:pt x="0" y="14"/>
                  </a:lnTo>
                  <a:lnTo>
                    <a:pt x="1" y="8"/>
                  </a:lnTo>
                  <a:lnTo>
                    <a:pt x="5" y="4"/>
                  </a:lnTo>
                  <a:lnTo>
                    <a:pt x="14" y="1"/>
                  </a:lnTo>
                  <a:lnTo>
                    <a:pt x="36" y="4"/>
                  </a:lnTo>
                  <a:lnTo>
                    <a:pt x="67" y="5"/>
                  </a:lnTo>
                  <a:lnTo>
                    <a:pt x="98" y="4"/>
                  </a:lnTo>
                  <a:lnTo>
                    <a:pt x="126" y="0"/>
                  </a:lnTo>
                  <a:lnTo>
                    <a:pt x="131" y="4"/>
                  </a:lnTo>
                  <a:lnTo>
                    <a:pt x="133" y="9"/>
                  </a:lnTo>
                  <a:lnTo>
                    <a:pt x="132" y="14"/>
                  </a:lnTo>
                  <a:lnTo>
                    <a:pt x="127" y="19"/>
                  </a:lnTo>
                  <a:lnTo>
                    <a:pt x="115" y="25"/>
                  </a:lnTo>
                  <a:lnTo>
                    <a:pt x="101" y="27"/>
                  </a:lnTo>
                  <a:close/>
                </a:path>
              </a:pathLst>
            </a:custGeom>
            <a:solidFill>
              <a:srgbClr val="FF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35" name="Freeform 75"/>
            <p:cNvSpPr>
              <a:spLocks/>
            </p:cNvSpPr>
            <p:nvPr/>
          </p:nvSpPr>
          <p:spPr bwMode="auto">
            <a:xfrm>
              <a:off x="561" y="3685"/>
              <a:ext cx="116" cy="55"/>
            </a:xfrm>
            <a:custGeom>
              <a:avLst/>
              <a:gdLst>
                <a:gd name="T0" fmla="*/ 88 w 116"/>
                <a:gd name="T1" fmla="*/ 9 h 55"/>
                <a:gd name="T2" fmla="*/ 86 w 116"/>
                <a:gd name="T3" fmla="*/ 0 h 55"/>
                <a:gd name="T4" fmla="*/ 81 w 116"/>
                <a:gd name="T5" fmla="*/ 4 h 55"/>
                <a:gd name="T6" fmla="*/ 74 w 116"/>
                <a:gd name="T7" fmla="*/ 6 h 55"/>
                <a:gd name="T8" fmla="*/ 66 w 116"/>
                <a:gd name="T9" fmla="*/ 7 h 55"/>
                <a:gd name="T10" fmla="*/ 43 w 116"/>
                <a:gd name="T11" fmla="*/ 7 h 55"/>
                <a:gd name="T12" fmla="*/ 38 w 116"/>
                <a:gd name="T13" fmla="*/ 6 h 55"/>
                <a:gd name="T14" fmla="*/ 33 w 116"/>
                <a:gd name="T15" fmla="*/ 6 h 55"/>
                <a:gd name="T16" fmla="*/ 27 w 116"/>
                <a:gd name="T17" fmla="*/ 2 h 55"/>
                <a:gd name="T18" fmla="*/ 26 w 116"/>
                <a:gd name="T19" fmla="*/ 13 h 55"/>
                <a:gd name="T20" fmla="*/ 23 w 116"/>
                <a:gd name="T21" fmla="*/ 20 h 55"/>
                <a:gd name="T22" fmla="*/ 20 w 116"/>
                <a:gd name="T23" fmla="*/ 32 h 55"/>
                <a:gd name="T24" fmla="*/ 11 w 116"/>
                <a:gd name="T25" fmla="*/ 43 h 55"/>
                <a:gd name="T26" fmla="*/ 7 w 116"/>
                <a:gd name="T27" fmla="*/ 48 h 55"/>
                <a:gd name="T28" fmla="*/ 0 w 116"/>
                <a:gd name="T29" fmla="*/ 52 h 55"/>
                <a:gd name="T30" fmla="*/ 8 w 116"/>
                <a:gd name="T31" fmla="*/ 55 h 55"/>
                <a:gd name="T32" fmla="*/ 75 w 116"/>
                <a:gd name="T33" fmla="*/ 55 h 55"/>
                <a:gd name="T34" fmla="*/ 116 w 116"/>
                <a:gd name="T35" fmla="*/ 52 h 55"/>
                <a:gd name="T36" fmla="*/ 108 w 116"/>
                <a:gd name="T37" fmla="*/ 46 h 55"/>
                <a:gd name="T38" fmla="*/ 99 w 116"/>
                <a:gd name="T39" fmla="*/ 38 h 55"/>
                <a:gd name="T40" fmla="*/ 93 w 116"/>
                <a:gd name="T41" fmla="*/ 25 h 55"/>
                <a:gd name="T42" fmla="*/ 91 w 116"/>
                <a:gd name="T43" fmla="*/ 19 h 55"/>
                <a:gd name="T44" fmla="*/ 88 w 116"/>
                <a:gd name="T45" fmla="*/ 9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16" h="55">
                  <a:moveTo>
                    <a:pt x="88" y="9"/>
                  </a:moveTo>
                  <a:lnTo>
                    <a:pt x="86" y="0"/>
                  </a:lnTo>
                  <a:lnTo>
                    <a:pt x="81" y="4"/>
                  </a:lnTo>
                  <a:lnTo>
                    <a:pt x="74" y="6"/>
                  </a:lnTo>
                  <a:lnTo>
                    <a:pt x="66" y="7"/>
                  </a:lnTo>
                  <a:lnTo>
                    <a:pt x="43" y="7"/>
                  </a:lnTo>
                  <a:lnTo>
                    <a:pt x="38" y="6"/>
                  </a:lnTo>
                  <a:lnTo>
                    <a:pt x="33" y="6"/>
                  </a:lnTo>
                  <a:lnTo>
                    <a:pt x="27" y="2"/>
                  </a:lnTo>
                  <a:lnTo>
                    <a:pt x="26" y="13"/>
                  </a:lnTo>
                  <a:lnTo>
                    <a:pt x="23" y="20"/>
                  </a:lnTo>
                  <a:lnTo>
                    <a:pt x="20" y="32"/>
                  </a:lnTo>
                  <a:lnTo>
                    <a:pt x="11" y="43"/>
                  </a:lnTo>
                  <a:lnTo>
                    <a:pt x="7" y="48"/>
                  </a:lnTo>
                  <a:lnTo>
                    <a:pt x="0" y="52"/>
                  </a:lnTo>
                  <a:lnTo>
                    <a:pt x="8" y="55"/>
                  </a:lnTo>
                  <a:lnTo>
                    <a:pt x="75" y="55"/>
                  </a:lnTo>
                  <a:lnTo>
                    <a:pt x="116" y="52"/>
                  </a:lnTo>
                  <a:lnTo>
                    <a:pt x="108" y="46"/>
                  </a:lnTo>
                  <a:lnTo>
                    <a:pt x="99" y="38"/>
                  </a:lnTo>
                  <a:lnTo>
                    <a:pt x="93" y="25"/>
                  </a:lnTo>
                  <a:lnTo>
                    <a:pt x="91" y="19"/>
                  </a:lnTo>
                  <a:lnTo>
                    <a:pt x="88" y="9"/>
                  </a:lnTo>
                  <a:close/>
                </a:path>
              </a:pathLst>
            </a:custGeom>
            <a:solidFill>
              <a:srgbClr val="FF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36" name="Freeform 76"/>
            <p:cNvSpPr>
              <a:spLocks/>
            </p:cNvSpPr>
            <p:nvPr/>
          </p:nvSpPr>
          <p:spPr bwMode="auto">
            <a:xfrm>
              <a:off x="518" y="3705"/>
              <a:ext cx="66" cy="32"/>
            </a:xfrm>
            <a:custGeom>
              <a:avLst/>
              <a:gdLst>
                <a:gd name="T0" fmla="*/ 12 w 66"/>
                <a:gd name="T1" fmla="*/ 26 h 32"/>
                <a:gd name="T2" fmla="*/ 21 w 66"/>
                <a:gd name="T3" fmla="*/ 30 h 32"/>
                <a:gd name="T4" fmla="*/ 33 w 66"/>
                <a:gd name="T5" fmla="*/ 32 h 32"/>
                <a:gd name="T6" fmla="*/ 43 w 66"/>
                <a:gd name="T7" fmla="*/ 32 h 32"/>
                <a:gd name="T8" fmla="*/ 50 w 66"/>
                <a:gd name="T9" fmla="*/ 28 h 32"/>
                <a:gd name="T10" fmla="*/ 54 w 66"/>
                <a:gd name="T11" fmla="*/ 23 h 32"/>
                <a:gd name="T12" fmla="*/ 63 w 66"/>
                <a:gd name="T13" fmla="*/ 12 h 32"/>
                <a:gd name="T14" fmla="*/ 66 w 66"/>
                <a:gd name="T15" fmla="*/ 0 h 32"/>
                <a:gd name="T16" fmla="*/ 56 w 66"/>
                <a:gd name="T17" fmla="*/ 1 h 32"/>
                <a:gd name="T18" fmla="*/ 38 w 66"/>
                <a:gd name="T19" fmla="*/ 4 h 32"/>
                <a:gd name="T20" fmla="*/ 21 w 66"/>
                <a:gd name="T21" fmla="*/ 6 h 32"/>
                <a:gd name="T22" fmla="*/ 8 w 66"/>
                <a:gd name="T23" fmla="*/ 12 h 32"/>
                <a:gd name="T24" fmla="*/ 2 w 66"/>
                <a:gd name="T25" fmla="*/ 15 h 32"/>
                <a:gd name="T26" fmla="*/ 0 w 66"/>
                <a:gd name="T27" fmla="*/ 19 h 32"/>
                <a:gd name="T28" fmla="*/ 4 w 66"/>
                <a:gd name="T29" fmla="*/ 23 h 32"/>
                <a:gd name="T30" fmla="*/ 12 w 66"/>
                <a:gd name="T31" fmla="*/ 2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32">
                  <a:moveTo>
                    <a:pt x="12" y="26"/>
                  </a:moveTo>
                  <a:lnTo>
                    <a:pt x="21" y="30"/>
                  </a:lnTo>
                  <a:lnTo>
                    <a:pt x="33" y="32"/>
                  </a:lnTo>
                  <a:lnTo>
                    <a:pt x="43" y="32"/>
                  </a:lnTo>
                  <a:lnTo>
                    <a:pt x="50" y="28"/>
                  </a:lnTo>
                  <a:lnTo>
                    <a:pt x="54" y="23"/>
                  </a:lnTo>
                  <a:lnTo>
                    <a:pt x="63" y="12"/>
                  </a:lnTo>
                  <a:lnTo>
                    <a:pt x="66" y="0"/>
                  </a:lnTo>
                  <a:lnTo>
                    <a:pt x="56" y="1"/>
                  </a:lnTo>
                  <a:lnTo>
                    <a:pt x="38" y="4"/>
                  </a:lnTo>
                  <a:lnTo>
                    <a:pt x="21" y="6"/>
                  </a:lnTo>
                  <a:lnTo>
                    <a:pt x="8" y="12"/>
                  </a:lnTo>
                  <a:lnTo>
                    <a:pt x="2" y="15"/>
                  </a:lnTo>
                  <a:lnTo>
                    <a:pt x="0" y="19"/>
                  </a:lnTo>
                  <a:lnTo>
                    <a:pt x="4" y="23"/>
                  </a:lnTo>
                  <a:lnTo>
                    <a:pt x="12" y="26"/>
                  </a:lnTo>
                  <a:close/>
                </a:path>
              </a:pathLst>
            </a:custGeom>
            <a:solidFill>
              <a:srgbClr val="FF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37" name="Freeform 77"/>
            <p:cNvSpPr>
              <a:spLocks/>
            </p:cNvSpPr>
            <p:nvPr/>
          </p:nvSpPr>
          <p:spPr bwMode="auto">
            <a:xfrm>
              <a:off x="701" y="3102"/>
              <a:ext cx="271" cy="495"/>
            </a:xfrm>
            <a:custGeom>
              <a:avLst/>
              <a:gdLst>
                <a:gd name="T0" fmla="*/ 219 w 271"/>
                <a:gd name="T1" fmla="*/ 437 h 495"/>
                <a:gd name="T2" fmla="*/ 256 w 271"/>
                <a:gd name="T3" fmla="*/ 424 h 495"/>
                <a:gd name="T4" fmla="*/ 263 w 271"/>
                <a:gd name="T5" fmla="*/ 419 h 495"/>
                <a:gd name="T6" fmla="*/ 269 w 271"/>
                <a:gd name="T7" fmla="*/ 410 h 495"/>
                <a:gd name="T8" fmla="*/ 271 w 271"/>
                <a:gd name="T9" fmla="*/ 400 h 495"/>
                <a:gd name="T10" fmla="*/ 223 w 271"/>
                <a:gd name="T11" fmla="*/ 7 h 495"/>
                <a:gd name="T12" fmla="*/ 222 w 271"/>
                <a:gd name="T13" fmla="*/ 3 h 495"/>
                <a:gd name="T14" fmla="*/ 214 w 271"/>
                <a:gd name="T15" fmla="*/ 0 h 495"/>
                <a:gd name="T16" fmla="*/ 202 w 271"/>
                <a:gd name="T17" fmla="*/ 0 h 495"/>
                <a:gd name="T18" fmla="*/ 4 w 271"/>
                <a:gd name="T19" fmla="*/ 19 h 495"/>
                <a:gd name="T20" fmla="*/ 4 w 271"/>
                <a:gd name="T21" fmla="*/ 20 h 495"/>
                <a:gd name="T22" fmla="*/ 1 w 271"/>
                <a:gd name="T23" fmla="*/ 24 h 495"/>
                <a:gd name="T24" fmla="*/ 0 w 271"/>
                <a:gd name="T25" fmla="*/ 33 h 495"/>
                <a:gd name="T26" fmla="*/ 0 w 271"/>
                <a:gd name="T27" fmla="*/ 41 h 495"/>
                <a:gd name="T28" fmla="*/ 47 w 271"/>
                <a:gd name="T29" fmla="*/ 476 h 495"/>
                <a:gd name="T30" fmla="*/ 51 w 271"/>
                <a:gd name="T31" fmla="*/ 485 h 495"/>
                <a:gd name="T32" fmla="*/ 56 w 271"/>
                <a:gd name="T33" fmla="*/ 491 h 495"/>
                <a:gd name="T34" fmla="*/ 62 w 271"/>
                <a:gd name="T35" fmla="*/ 495 h 495"/>
                <a:gd name="T36" fmla="*/ 78 w 271"/>
                <a:gd name="T37" fmla="*/ 490 h 495"/>
                <a:gd name="T38" fmla="*/ 219 w 271"/>
                <a:gd name="T39" fmla="*/ 437 h 4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1" h="495">
                  <a:moveTo>
                    <a:pt x="219" y="437"/>
                  </a:moveTo>
                  <a:lnTo>
                    <a:pt x="256" y="424"/>
                  </a:lnTo>
                  <a:lnTo>
                    <a:pt x="263" y="419"/>
                  </a:lnTo>
                  <a:lnTo>
                    <a:pt x="269" y="410"/>
                  </a:lnTo>
                  <a:lnTo>
                    <a:pt x="271" y="400"/>
                  </a:lnTo>
                  <a:lnTo>
                    <a:pt x="223" y="7"/>
                  </a:lnTo>
                  <a:lnTo>
                    <a:pt x="222" y="3"/>
                  </a:lnTo>
                  <a:lnTo>
                    <a:pt x="214" y="0"/>
                  </a:lnTo>
                  <a:lnTo>
                    <a:pt x="202" y="0"/>
                  </a:lnTo>
                  <a:lnTo>
                    <a:pt x="4" y="19"/>
                  </a:lnTo>
                  <a:lnTo>
                    <a:pt x="4" y="20"/>
                  </a:lnTo>
                  <a:lnTo>
                    <a:pt x="1" y="24"/>
                  </a:lnTo>
                  <a:lnTo>
                    <a:pt x="0" y="33"/>
                  </a:lnTo>
                  <a:lnTo>
                    <a:pt x="0" y="41"/>
                  </a:lnTo>
                  <a:lnTo>
                    <a:pt x="47" y="476"/>
                  </a:lnTo>
                  <a:lnTo>
                    <a:pt x="51" y="485"/>
                  </a:lnTo>
                  <a:lnTo>
                    <a:pt x="56" y="491"/>
                  </a:lnTo>
                  <a:lnTo>
                    <a:pt x="62" y="495"/>
                  </a:lnTo>
                  <a:lnTo>
                    <a:pt x="78" y="490"/>
                  </a:lnTo>
                  <a:lnTo>
                    <a:pt x="219" y="437"/>
                  </a:lnTo>
                  <a:close/>
                </a:path>
              </a:pathLst>
            </a:custGeom>
            <a:solidFill>
              <a:srgbClr val="EAEAEA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38" name="Freeform 78"/>
            <p:cNvSpPr>
              <a:spLocks/>
            </p:cNvSpPr>
            <p:nvPr/>
          </p:nvSpPr>
          <p:spPr bwMode="auto">
            <a:xfrm>
              <a:off x="603" y="3317"/>
              <a:ext cx="24" cy="375"/>
            </a:xfrm>
            <a:custGeom>
              <a:avLst/>
              <a:gdLst>
                <a:gd name="T0" fmla="*/ 24 w 24"/>
                <a:gd name="T1" fmla="*/ 375 h 375"/>
                <a:gd name="T2" fmla="*/ 24 w 24"/>
                <a:gd name="T3" fmla="*/ 9 h 375"/>
                <a:gd name="T4" fmla="*/ 0 w 24"/>
                <a:gd name="T5" fmla="*/ 0 h 375"/>
                <a:gd name="T6" fmla="*/ 0 w 24"/>
                <a:gd name="T7" fmla="*/ 375 h 375"/>
                <a:gd name="T8" fmla="*/ 24 w 24"/>
                <a:gd name="T9" fmla="*/ 375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375">
                  <a:moveTo>
                    <a:pt x="24" y="375"/>
                  </a:moveTo>
                  <a:lnTo>
                    <a:pt x="24" y="9"/>
                  </a:lnTo>
                  <a:lnTo>
                    <a:pt x="0" y="0"/>
                  </a:lnTo>
                  <a:lnTo>
                    <a:pt x="0" y="375"/>
                  </a:lnTo>
                  <a:lnTo>
                    <a:pt x="24" y="375"/>
                  </a:lnTo>
                  <a:close/>
                </a:path>
              </a:pathLst>
            </a:custGeom>
            <a:solidFill>
              <a:srgbClr val="008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39" name="Freeform 79"/>
            <p:cNvSpPr>
              <a:spLocks/>
            </p:cNvSpPr>
            <p:nvPr/>
          </p:nvSpPr>
          <p:spPr bwMode="auto">
            <a:xfrm>
              <a:off x="734" y="3120"/>
              <a:ext cx="171" cy="27"/>
            </a:xfrm>
            <a:custGeom>
              <a:avLst/>
              <a:gdLst>
                <a:gd name="T0" fmla="*/ 169 w 171"/>
                <a:gd name="T1" fmla="*/ 0 h 27"/>
                <a:gd name="T2" fmla="*/ 171 w 171"/>
                <a:gd name="T3" fmla="*/ 6 h 27"/>
                <a:gd name="T4" fmla="*/ 1 w 171"/>
                <a:gd name="T5" fmla="*/ 27 h 27"/>
                <a:gd name="T6" fmla="*/ 0 w 171"/>
                <a:gd name="T7" fmla="*/ 19 h 27"/>
                <a:gd name="T8" fmla="*/ 169 w 171"/>
                <a:gd name="T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1" h="27">
                  <a:moveTo>
                    <a:pt x="169" y="0"/>
                  </a:moveTo>
                  <a:lnTo>
                    <a:pt x="171" y="6"/>
                  </a:lnTo>
                  <a:lnTo>
                    <a:pt x="1" y="27"/>
                  </a:lnTo>
                  <a:lnTo>
                    <a:pt x="0" y="19"/>
                  </a:lnTo>
                  <a:lnTo>
                    <a:pt x="169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40" name="Freeform 80"/>
            <p:cNvSpPr>
              <a:spLocks/>
            </p:cNvSpPr>
            <p:nvPr/>
          </p:nvSpPr>
          <p:spPr bwMode="auto">
            <a:xfrm>
              <a:off x="731" y="3140"/>
              <a:ext cx="215" cy="410"/>
            </a:xfrm>
            <a:custGeom>
              <a:avLst/>
              <a:gdLst>
                <a:gd name="T0" fmla="*/ 161 w 215"/>
                <a:gd name="T1" fmla="*/ 0 h 410"/>
                <a:gd name="T2" fmla="*/ 167 w 215"/>
                <a:gd name="T3" fmla="*/ 2 h 410"/>
                <a:gd name="T4" fmla="*/ 174 w 215"/>
                <a:gd name="T5" fmla="*/ 6 h 410"/>
                <a:gd name="T6" fmla="*/ 176 w 215"/>
                <a:gd name="T7" fmla="*/ 12 h 410"/>
                <a:gd name="T8" fmla="*/ 215 w 215"/>
                <a:gd name="T9" fmla="*/ 348 h 410"/>
                <a:gd name="T10" fmla="*/ 215 w 215"/>
                <a:gd name="T11" fmla="*/ 355 h 410"/>
                <a:gd name="T12" fmla="*/ 211 w 215"/>
                <a:gd name="T13" fmla="*/ 361 h 410"/>
                <a:gd name="T14" fmla="*/ 204 w 215"/>
                <a:gd name="T15" fmla="*/ 365 h 410"/>
                <a:gd name="T16" fmla="*/ 60 w 215"/>
                <a:gd name="T17" fmla="*/ 410 h 410"/>
                <a:gd name="T18" fmla="*/ 53 w 215"/>
                <a:gd name="T19" fmla="*/ 410 h 410"/>
                <a:gd name="T20" fmla="*/ 47 w 215"/>
                <a:gd name="T21" fmla="*/ 407 h 410"/>
                <a:gd name="T22" fmla="*/ 43 w 215"/>
                <a:gd name="T23" fmla="*/ 400 h 410"/>
                <a:gd name="T24" fmla="*/ 0 w 215"/>
                <a:gd name="T25" fmla="*/ 38 h 410"/>
                <a:gd name="T26" fmla="*/ 1 w 215"/>
                <a:gd name="T27" fmla="*/ 32 h 410"/>
                <a:gd name="T28" fmla="*/ 5 w 215"/>
                <a:gd name="T29" fmla="*/ 25 h 410"/>
                <a:gd name="T30" fmla="*/ 12 w 215"/>
                <a:gd name="T31" fmla="*/ 23 h 410"/>
                <a:gd name="T32" fmla="*/ 161 w 215"/>
                <a:gd name="T33" fmla="*/ 0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5" h="410">
                  <a:moveTo>
                    <a:pt x="161" y="0"/>
                  </a:moveTo>
                  <a:lnTo>
                    <a:pt x="167" y="2"/>
                  </a:lnTo>
                  <a:lnTo>
                    <a:pt x="174" y="6"/>
                  </a:lnTo>
                  <a:lnTo>
                    <a:pt x="176" y="12"/>
                  </a:lnTo>
                  <a:lnTo>
                    <a:pt x="215" y="348"/>
                  </a:lnTo>
                  <a:lnTo>
                    <a:pt x="215" y="355"/>
                  </a:lnTo>
                  <a:lnTo>
                    <a:pt x="211" y="361"/>
                  </a:lnTo>
                  <a:lnTo>
                    <a:pt x="204" y="365"/>
                  </a:lnTo>
                  <a:lnTo>
                    <a:pt x="60" y="410"/>
                  </a:lnTo>
                  <a:lnTo>
                    <a:pt x="53" y="410"/>
                  </a:lnTo>
                  <a:lnTo>
                    <a:pt x="47" y="407"/>
                  </a:lnTo>
                  <a:lnTo>
                    <a:pt x="43" y="400"/>
                  </a:lnTo>
                  <a:lnTo>
                    <a:pt x="0" y="38"/>
                  </a:lnTo>
                  <a:lnTo>
                    <a:pt x="1" y="32"/>
                  </a:lnTo>
                  <a:lnTo>
                    <a:pt x="5" y="25"/>
                  </a:lnTo>
                  <a:lnTo>
                    <a:pt x="12" y="23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41" name="Freeform 81"/>
            <p:cNvSpPr>
              <a:spLocks/>
            </p:cNvSpPr>
            <p:nvPr/>
          </p:nvSpPr>
          <p:spPr bwMode="auto">
            <a:xfrm>
              <a:off x="426" y="3121"/>
              <a:ext cx="337" cy="476"/>
            </a:xfrm>
            <a:custGeom>
              <a:avLst/>
              <a:gdLst>
                <a:gd name="T0" fmla="*/ 177 w 337"/>
                <a:gd name="T1" fmla="*/ 476 h 476"/>
                <a:gd name="T2" fmla="*/ 177 w 337"/>
                <a:gd name="T3" fmla="*/ 196 h 476"/>
                <a:gd name="T4" fmla="*/ 201 w 337"/>
                <a:gd name="T5" fmla="*/ 205 h 476"/>
                <a:gd name="T6" fmla="*/ 201 w 337"/>
                <a:gd name="T7" fmla="*/ 475 h 476"/>
                <a:gd name="T8" fmla="*/ 203 w 337"/>
                <a:gd name="T9" fmla="*/ 476 h 476"/>
                <a:gd name="T10" fmla="*/ 337 w 337"/>
                <a:gd name="T11" fmla="*/ 476 h 476"/>
                <a:gd name="T12" fmla="*/ 331 w 337"/>
                <a:gd name="T13" fmla="*/ 472 h 476"/>
                <a:gd name="T14" fmla="*/ 326 w 337"/>
                <a:gd name="T15" fmla="*/ 466 h 476"/>
                <a:gd name="T16" fmla="*/ 322 w 337"/>
                <a:gd name="T17" fmla="*/ 457 h 476"/>
                <a:gd name="T18" fmla="*/ 275 w 337"/>
                <a:gd name="T19" fmla="*/ 22 h 476"/>
                <a:gd name="T20" fmla="*/ 275 w 337"/>
                <a:gd name="T21" fmla="*/ 14 h 476"/>
                <a:gd name="T22" fmla="*/ 276 w 337"/>
                <a:gd name="T23" fmla="*/ 5 h 476"/>
                <a:gd name="T24" fmla="*/ 279 w 337"/>
                <a:gd name="T25" fmla="*/ 1 h 476"/>
                <a:gd name="T26" fmla="*/ 279 w 337"/>
                <a:gd name="T27" fmla="*/ 0 h 476"/>
                <a:gd name="T28" fmla="*/ 157 w 337"/>
                <a:gd name="T29" fmla="*/ 51 h 476"/>
                <a:gd name="T30" fmla="*/ 156 w 337"/>
                <a:gd name="T31" fmla="*/ 51 h 476"/>
                <a:gd name="T32" fmla="*/ 13 w 337"/>
                <a:gd name="T33" fmla="*/ 115 h 476"/>
                <a:gd name="T34" fmla="*/ 5 w 337"/>
                <a:gd name="T35" fmla="*/ 122 h 476"/>
                <a:gd name="T36" fmla="*/ 0 w 337"/>
                <a:gd name="T37" fmla="*/ 132 h 476"/>
                <a:gd name="T38" fmla="*/ 0 w 337"/>
                <a:gd name="T39" fmla="*/ 458 h 476"/>
                <a:gd name="T40" fmla="*/ 2 w 337"/>
                <a:gd name="T41" fmla="*/ 467 h 476"/>
                <a:gd name="T42" fmla="*/ 9 w 337"/>
                <a:gd name="T43" fmla="*/ 475 h 476"/>
                <a:gd name="T44" fmla="*/ 21 w 337"/>
                <a:gd name="T45" fmla="*/ 476 h 476"/>
                <a:gd name="T46" fmla="*/ 177 w 337"/>
                <a:gd name="T47" fmla="*/ 476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37" h="476">
                  <a:moveTo>
                    <a:pt x="177" y="476"/>
                  </a:moveTo>
                  <a:lnTo>
                    <a:pt x="177" y="196"/>
                  </a:lnTo>
                  <a:lnTo>
                    <a:pt x="201" y="205"/>
                  </a:lnTo>
                  <a:lnTo>
                    <a:pt x="201" y="475"/>
                  </a:lnTo>
                  <a:lnTo>
                    <a:pt x="203" y="476"/>
                  </a:lnTo>
                  <a:lnTo>
                    <a:pt x="337" y="476"/>
                  </a:lnTo>
                  <a:lnTo>
                    <a:pt x="331" y="472"/>
                  </a:lnTo>
                  <a:lnTo>
                    <a:pt x="326" y="466"/>
                  </a:lnTo>
                  <a:lnTo>
                    <a:pt x="322" y="457"/>
                  </a:lnTo>
                  <a:lnTo>
                    <a:pt x="275" y="22"/>
                  </a:lnTo>
                  <a:lnTo>
                    <a:pt x="275" y="14"/>
                  </a:lnTo>
                  <a:lnTo>
                    <a:pt x="276" y="5"/>
                  </a:lnTo>
                  <a:lnTo>
                    <a:pt x="279" y="1"/>
                  </a:lnTo>
                  <a:lnTo>
                    <a:pt x="279" y="0"/>
                  </a:lnTo>
                  <a:lnTo>
                    <a:pt x="157" y="51"/>
                  </a:lnTo>
                  <a:lnTo>
                    <a:pt x="156" y="51"/>
                  </a:lnTo>
                  <a:lnTo>
                    <a:pt x="13" y="115"/>
                  </a:lnTo>
                  <a:lnTo>
                    <a:pt x="5" y="122"/>
                  </a:lnTo>
                  <a:lnTo>
                    <a:pt x="0" y="132"/>
                  </a:lnTo>
                  <a:lnTo>
                    <a:pt x="0" y="458"/>
                  </a:lnTo>
                  <a:lnTo>
                    <a:pt x="2" y="467"/>
                  </a:lnTo>
                  <a:lnTo>
                    <a:pt x="9" y="475"/>
                  </a:lnTo>
                  <a:lnTo>
                    <a:pt x="21" y="476"/>
                  </a:lnTo>
                  <a:lnTo>
                    <a:pt x="177" y="476"/>
                  </a:lnTo>
                  <a:close/>
                </a:path>
              </a:pathLst>
            </a:custGeom>
            <a:solidFill>
              <a:srgbClr val="C0C0C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42" name="Freeform 82"/>
            <p:cNvSpPr>
              <a:spLocks/>
            </p:cNvSpPr>
            <p:nvPr/>
          </p:nvSpPr>
          <p:spPr bwMode="auto">
            <a:xfrm>
              <a:off x="1355" y="2989"/>
              <a:ext cx="81" cy="14"/>
            </a:xfrm>
            <a:custGeom>
              <a:avLst/>
              <a:gdLst>
                <a:gd name="T0" fmla="*/ 80 w 81"/>
                <a:gd name="T1" fmla="*/ 0 h 14"/>
                <a:gd name="T2" fmla="*/ 0 w 81"/>
                <a:gd name="T3" fmla="*/ 10 h 14"/>
                <a:gd name="T4" fmla="*/ 0 w 81"/>
                <a:gd name="T5" fmla="*/ 14 h 14"/>
                <a:gd name="T6" fmla="*/ 81 w 81"/>
                <a:gd name="T7" fmla="*/ 2 h 14"/>
                <a:gd name="T8" fmla="*/ 80 w 81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" h="14">
                  <a:moveTo>
                    <a:pt x="80" y="0"/>
                  </a:moveTo>
                  <a:lnTo>
                    <a:pt x="0" y="10"/>
                  </a:lnTo>
                  <a:lnTo>
                    <a:pt x="0" y="14"/>
                  </a:lnTo>
                  <a:lnTo>
                    <a:pt x="81" y="2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FF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43" name="Freeform 83"/>
            <p:cNvSpPr>
              <a:spLocks/>
            </p:cNvSpPr>
            <p:nvPr/>
          </p:nvSpPr>
          <p:spPr bwMode="auto">
            <a:xfrm>
              <a:off x="1325" y="3064"/>
              <a:ext cx="26" cy="6"/>
            </a:xfrm>
            <a:custGeom>
              <a:avLst/>
              <a:gdLst>
                <a:gd name="T0" fmla="*/ 0 w 26"/>
                <a:gd name="T1" fmla="*/ 0 h 6"/>
                <a:gd name="T2" fmla="*/ 26 w 26"/>
                <a:gd name="T3" fmla="*/ 1 h 6"/>
                <a:gd name="T4" fmla="*/ 6 w 26"/>
                <a:gd name="T5" fmla="*/ 6 h 6"/>
                <a:gd name="T6" fmla="*/ 0 w 26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6">
                  <a:moveTo>
                    <a:pt x="0" y="0"/>
                  </a:moveTo>
                  <a:lnTo>
                    <a:pt x="26" y="1"/>
                  </a:lnTo>
                  <a:lnTo>
                    <a:pt x="6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57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44" name="Freeform 84"/>
            <p:cNvSpPr>
              <a:spLocks/>
            </p:cNvSpPr>
            <p:nvPr/>
          </p:nvSpPr>
          <p:spPr bwMode="auto">
            <a:xfrm>
              <a:off x="1592" y="2990"/>
              <a:ext cx="14" cy="48"/>
            </a:xfrm>
            <a:custGeom>
              <a:avLst/>
              <a:gdLst>
                <a:gd name="T0" fmla="*/ 5 w 14"/>
                <a:gd name="T1" fmla="*/ 0 h 48"/>
                <a:gd name="T2" fmla="*/ 9 w 14"/>
                <a:gd name="T3" fmla="*/ 12 h 48"/>
                <a:gd name="T4" fmla="*/ 9 w 14"/>
                <a:gd name="T5" fmla="*/ 23 h 48"/>
                <a:gd name="T6" fmla="*/ 5 w 14"/>
                <a:gd name="T7" fmla="*/ 36 h 48"/>
                <a:gd name="T8" fmla="*/ 0 w 14"/>
                <a:gd name="T9" fmla="*/ 48 h 48"/>
                <a:gd name="T10" fmla="*/ 9 w 14"/>
                <a:gd name="T11" fmla="*/ 39 h 48"/>
                <a:gd name="T12" fmla="*/ 13 w 14"/>
                <a:gd name="T13" fmla="*/ 30 h 48"/>
                <a:gd name="T14" fmla="*/ 14 w 14"/>
                <a:gd name="T15" fmla="*/ 19 h 48"/>
                <a:gd name="T16" fmla="*/ 12 w 14"/>
                <a:gd name="T17" fmla="*/ 8 h 48"/>
                <a:gd name="T18" fmla="*/ 5 w 14"/>
                <a:gd name="T19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48">
                  <a:moveTo>
                    <a:pt x="5" y="0"/>
                  </a:moveTo>
                  <a:lnTo>
                    <a:pt x="9" y="12"/>
                  </a:lnTo>
                  <a:lnTo>
                    <a:pt x="9" y="23"/>
                  </a:lnTo>
                  <a:lnTo>
                    <a:pt x="5" y="36"/>
                  </a:lnTo>
                  <a:lnTo>
                    <a:pt x="0" y="48"/>
                  </a:lnTo>
                  <a:lnTo>
                    <a:pt x="9" y="39"/>
                  </a:lnTo>
                  <a:lnTo>
                    <a:pt x="13" y="30"/>
                  </a:lnTo>
                  <a:lnTo>
                    <a:pt x="14" y="19"/>
                  </a:lnTo>
                  <a:lnTo>
                    <a:pt x="12" y="8"/>
                  </a:lnTo>
                  <a:lnTo>
                    <a:pt x="5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45" name="Freeform 85"/>
            <p:cNvSpPr>
              <a:spLocks/>
            </p:cNvSpPr>
            <p:nvPr/>
          </p:nvSpPr>
          <p:spPr bwMode="auto">
            <a:xfrm>
              <a:off x="1604" y="3009"/>
              <a:ext cx="9" cy="39"/>
            </a:xfrm>
            <a:custGeom>
              <a:avLst/>
              <a:gdLst>
                <a:gd name="T0" fmla="*/ 0 w 9"/>
                <a:gd name="T1" fmla="*/ 39 h 39"/>
                <a:gd name="T2" fmla="*/ 9 w 9"/>
                <a:gd name="T3" fmla="*/ 32 h 39"/>
                <a:gd name="T4" fmla="*/ 7 w 9"/>
                <a:gd name="T5" fmla="*/ 16 h 39"/>
                <a:gd name="T6" fmla="*/ 5 w 9"/>
                <a:gd name="T7" fmla="*/ 0 h 39"/>
                <a:gd name="T8" fmla="*/ 0 w 9"/>
                <a:gd name="T9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39">
                  <a:moveTo>
                    <a:pt x="0" y="39"/>
                  </a:moveTo>
                  <a:lnTo>
                    <a:pt x="9" y="32"/>
                  </a:lnTo>
                  <a:lnTo>
                    <a:pt x="7" y="16"/>
                  </a:lnTo>
                  <a:lnTo>
                    <a:pt x="5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46" name="Freeform 86"/>
            <p:cNvSpPr>
              <a:spLocks/>
            </p:cNvSpPr>
            <p:nvPr/>
          </p:nvSpPr>
          <p:spPr bwMode="auto">
            <a:xfrm>
              <a:off x="1471" y="3064"/>
              <a:ext cx="22" cy="45"/>
            </a:xfrm>
            <a:custGeom>
              <a:avLst/>
              <a:gdLst>
                <a:gd name="T0" fmla="*/ 22 w 22"/>
                <a:gd name="T1" fmla="*/ 0 h 45"/>
                <a:gd name="T2" fmla="*/ 18 w 22"/>
                <a:gd name="T3" fmla="*/ 13 h 45"/>
                <a:gd name="T4" fmla="*/ 16 w 22"/>
                <a:gd name="T5" fmla="*/ 26 h 45"/>
                <a:gd name="T6" fmla="*/ 7 w 22"/>
                <a:gd name="T7" fmla="*/ 39 h 45"/>
                <a:gd name="T8" fmla="*/ 0 w 22"/>
                <a:gd name="T9" fmla="*/ 45 h 45"/>
                <a:gd name="T10" fmla="*/ 7 w 22"/>
                <a:gd name="T11" fmla="*/ 32 h 45"/>
                <a:gd name="T12" fmla="*/ 12 w 22"/>
                <a:gd name="T13" fmla="*/ 17 h 45"/>
                <a:gd name="T14" fmla="*/ 13 w 22"/>
                <a:gd name="T15" fmla="*/ 6 h 45"/>
                <a:gd name="T16" fmla="*/ 22 w 22"/>
                <a:gd name="T1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45">
                  <a:moveTo>
                    <a:pt x="22" y="0"/>
                  </a:moveTo>
                  <a:lnTo>
                    <a:pt x="18" y="13"/>
                  </a:lnTo>
                  <a:lnTo>
                    <a:pt x="16" y="26"/>
                  </a:lnTo>
                  <a:lnTo>
                    <a:pt x="7" y="39"/>
                  </a:lnTo>
                  <a:lnTo>
                    <a:pt x="0" y="45"/>
                  </a:lnTo>
                  <a:lnTo>
                    <a:pt x="7" y="32"/>
                  </a:lnTo>
                  <a:lnTo>
                    <a:pt x="12" y="17"/>
                  </a:lnTo>
                  <a:lnTo>
                    <a:pt x="13" y="6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A857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47" name="Freeform 87"/>
            <p:cNvSpPr>
              <a:spLocks/>
            </p:cNvSpPr>
            <p:nvPr/>
          </p:nvSpPr>
          <p:spPr bwMode="auto">
            <a:xfrm>
              <a:off x="607" y="3227"/>
              <a:ext cx="23" cy="81"/>
            </a:xfrm>
            <a:custGeom>
              <a:avLst/>
              <a:gdLst>
                <a:gd name="T0" fmla="*/ 12 w 23"/>
                <a:gd name="T1" fmla="*/ 0 h 81"/>
                <a:gd name="T2" fmla="*/ 6 w 23"/>
                <a:gd name="T3" fmla="*/ 21 h 81"/>
                <a:gd name="T4" fmla="*/ 2 w 23"/>
                <a:gd name="T5" fmla="*/ 34 h 81"/>
                <a:gd name="T6" fmla="*/ 1 w 23"/>
                <a:gd name="T7" fmla="*/ 46 h 81"/>
                <a:gd name="T8" fmla="*/ 0 w 23"/>
                <a:gd name="T9" fmla="*/ 55 h 81"/>
                <a:gd name="T10" fmla="*/ 1 w 23"/>
                <a:gd name="T11" fmla="*/ 65 h 81"/>
                <a:gd name="T12" fmla="*/ 1 w 23"/>
                <a:gd name="T13" fmla="*/ 72 h 81"/>
                <a:gd name="T14" fmla="*/ 3 w 23"/>
                <a:gd name="T15" fmla="*/ 76 h 81"/>
                <a:gd name="T16" fmla="*/ 7 w 23"/>
                <a:gd name="T17" fmla="*/ 80 h 81"/>
                <a:gd name="T18" fmla="*/ 11 w 23"/>
                <a:gd name="T19" fmla="*/ 81 h 81"/>
                <a:gd name="T20" fmla="*/ 15 w 23"/>
                <a:gd name="T21" fmla="*/ 80 h 81"/>
                <a:gd name="T22" fmla="*/ 19 w 23"/>
                <a:gd name="T23" fmla="*/ 76 h 81"/>
                <a:gd name="T24" fmla="*/ 20 w 23"/>
                <a:gd name="T25" fmla="*/ 69 h 81"/>
                <a:gd name="T26" fmla="*/ 23 w 23"/>
                <a:gd name="T27" fmla="*/ 63 h 81"/>
                <a:gd name="T28" fmla="*/ 23 w 23"/>
                <a:gd name="T29" fmla="*/ 51 h 81"/>
                <a:gd name="T30" fmla="*/ 20 w 23"/>
                <a:gd name="T31" fmla="*/ 39 h 81"/>
                <a:gd name="T32" fmla="*/ 18 w 23"/>
                <a:gd name="T33" fmla="*/ 20 h 81"/>
                <a:gd name="T34" fmla="*/ 12 w 23"/>
                <a:gd name="T35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" h="81">
                  <a:moveTo>
                    <a:pt x="12" y="0"/>
                  </a:moveTo>
                  <a:lnTo>
                    <a:pt x="6" y="21"/>
                  </a:lnTo>
                  <a:lnTo>
                    <a:pt x="2" y="34"/>
                  </a:lnTo>
                  <a:lnTo>
                    <a:pt x="1" y="46"/>
                  </a:lnTo>
                  <a:lnTo>
                    <a:pt x="0" y="55"/>
                  </a:lnTo>
                  <a:lnTo>
                    <a:pt x="1" y="65"/>
                  </a:lnTo>
                  <a:lnTo>
                    <a:pt x="1" y="72"/>
                  </a:lnTo>
                  <a:lnTo>
                    <a:pt x="3" y="76"/>
                  </a:lnTo>
                  <a:lnTo>
                    <a:pt x="7" y="80"/>
                  </a:lnTo>
                  <a:lnTo>
                    <a:pt x="11" y="81"/>
                  </a:lnTo>
                  <a:lnTo>
                    <a:pt x="15" y="80"/>
                  </a:lnTo>
                  <a:lnTo>
                    <a:pt x="19" y="76"/>
                  </a:lnTo>
                  <a:lnTo>
                    <a:pt x="20" y="69"/>
                  </a:lnTo>
                  <a:lnTo>
                    <a:pt x="23" y="63"/>
                  </a:lnTo>
                  <a:lnTo>
                    <a:pt x="23" y="51"/>
                  </a:lnTo>
                  <a:lnTo>
                    <a:pt x="20" y="39"/>
                  </a:lnTo>
                  <a:lnTo>
                    <a:pt x="18" y="2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24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48" name="Freeform 88"/>
            <p:cNvSpPr>
              <a:spLocks/>
            </p:cNvSpPr>
            <p:nvPr/>
          </p:nvSpPr>
          <p:spPr bwMode="auto">
            <a:xfrm>
              <a:off x="1429" y="3307"/>
              <a:ext cx="25" cy="129"/>
            </a:xfrm>
            <a:custGeom>
              <a:avLst/>
              <a:gdLst>
                <a:gd name="T0" fmla="*/ 1 w 25"/>
                <a:gd name="T1" fmla="*/ 129 h 129"/>
                <a:gd name="T2" fmla="*/ 3 w 25"/>
                <a:gd name="T3" fmla="*/ 75 h 129"/>
                <a:gd name="T4" fmla="*/ 9 w 25"/>
                <a:gd name="T5" fmla="*/ 44 h 129"/>
                <a:gd name="T6" fmla="*/ 15 w 25"/>
                <a:gd name="T7" fmla="*/ 19 h 129"/>
                <a:gd name="T8" fmla="*/ 25 w 25"/>
                <a:gd name="T9" fmla="*/ 0 h 129"/>
                <a:gd name="T10" fmla="*/ 19 w 25"/>
                <a:gd name="T11" fmla="*/ 6 h 129"/>
                <a:gd name="T12" fmla="*/ 9 w 25"/>
                <a:gd name="T13" fmla="*/ 19 h 129"/>
                <a:gd name="T14" fmla="*/ 1 w 25"/>
                <a:gd name="T15" fmla="*/ 37 h 129"/>
                <a:gd name="T16" fmla="*/ 0 w 25"/>
                <a:gd name="T17" fmla="*/ 89 h 129"/>
                <a:gd name="T18" fmla="*/ 1 w 25"/>
                <a:gd name="T19" fmla="*/ 129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129">
                  <a:moveTo>
                    <a:pt x="1" y="129"/>
                  </a:moveTo>
                  <a:lnTo>
                    <a:pt x="3" y="75"/>
                  </a:lnTo>
                  <a:lnTo>
                    <a:pt x="9" y="44"/>
                  </a:lnTo>
                  <a:lnTo>
                    <a:pt x="15" y="19"/>
                  </a:lnTo>
                  <a:lnTo>
                    <a:pt x="25" y="0"/>
                  </a:lnTo>
                  <a:lnTo>
                    <a:pt x="19" y="6"/>
                  </a:lnTo>
                  <a:lnTo>
                    <a:pt x="9" y="19"/>
                  </a:lnTo>
                  <a:lnTo>
                    <a:pt x="1" y="37"/>
                  </a:lnTo>
                  <a:lnTo>
                    <a:pt x="0" y="89"/>
                  </a:lnTo>
                  <a:lnTo>
                    <a:pt x="1" y="129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49" name="Freeform 89"/>
            <p:cNvSpPr>
              <a:spLocks/>
            </p:cNvSpPr>
            <p:nvPr/>
          </p:nvSpPr>
          <p:spPr bwMode="auto">
            <a:xfrm>
              <a:off x="1601" y="3018"/>
              <a:ext cx="48" cy="42"/>
            </a:xfrm>
            <a:custGeom>
              <a:avLst/>
              <a:gdLst>
                <a:gd name="T0" fmla="*/ 27 w 48"/>
                <a:gd name="T1" fmla="*/ 12 h 42"/>
                <a:gd name="T2" fmla="*/ 12 w 48"/>
                <a:gd name="T3" fmla="*/ 23 h 42"/>
                <a:gd name="T4" fmla="*/ 3 w 48"/>
                <a:gd name="T5" fmla="*/ 30 h 42"/>
                <a:gd name="T6" fmla="*/ 0 w 48"/>
                <a:gd name="T7" fmla="*/ 41 h 42"/>
                <a:gd name="T8" fmla="*/ 9 w 48"/>
                <a:gd name="T9" fmla="*/ 42 h 42"/>
                <a:gd name="T10" fmla="*/ 26 w 48"/>
                <a:gd name="T11" fmla="*/ 42 h 42"/>
                <a:gd name="T12" fmla="*/ 43 w 48"/>
                <a:gd name="T13" fmla="*/ 38 h 42"/>
                <a:gd name="T14" fmla="*/ 48 w 48"/>
                <a:gd name="T15" fmla="*/ 36 h 42"/>
                <a:gd name="T16" fmla="*/ 45 w 48"/>
                <a:gd name="T17" fmla="*/ 20 h 42"/>
                <a:gd name="T18" fmla="*/ 48 w 48"/>
                <a:gd name="T19" fmla="*/ 0 h 42"/>
                <a:gd name="T20" fmla="*/ 27 w 48"/>
                <a:gd name="T21" fmla="*/ 1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8" h="42">
                  <a:moveTo>
                    <a:pt x="27" y="12"/>
                  </a:moveTo>
                  <a:lnTo>
                    <a:pt x="12" y="23"/>
                  </a:lnTo>
                  <a:lnTo>
                    <a:pt x="3" y="30"/>
                  </a:lnTo>
                  <a:lnTo>
                    <a:pt x="0" y="41"/>
                  </a:lnTo>
                  <a:lnTo>
                    <a:pt x="9" y="42"/>
                  </a:lnTo>
                  <a:lnTo>
                    <a:pt x="26" y="42"/>
                  </a:lnTo>
                  <a:lnTo>
                    <a:pt x="43" y="38"/>
                  </a:lnTo>
                  <a:lnTo>
                    <a:pt x="48" y="36"/>
                  </a:lnTo>
                  <a:lnTo>
                    <a:pt x="45" y="20"/>
                  </a:lnTo>
                  <a:lnTo>
                    <a:pt x="48" y="0"/>
                  </a:lnTo>
                  <a:lnTo>
                    <a:pt x="27" y="1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50" name="Freeform 90"/>
            <p:cNvSpPr>
              <a:spLocks/>
            </p:cNvSpPr>
            <p:nvPr/>
          </p:nvSpPr>
          <p:spPr bwMode="auto">
            <a:xfrm>
              <a:off x="1358" y="3104"/>
              <a:ext cx="233" cy="170"/>
            </a:xfrm>
            <a:custGeom>
              <a:avLst/>
              <a:gdLst>
                <a:gd name="T0" fmla="*/ 233 w 233"/>
                <a:gd name="T1" fmla="*/ 13 h 170"/>
                <a:gd name="T2" fmla="*/ 205 w 233"/>
                <a:gd name="T3" fmla="*/ 21 h 170"/>
                <a:gd name="T4" fmla="*/ 168 w 233"/>
                <a:gd name="T5" fmla="*/ 39 h 170"/>
                <a:gd name="T6" fmla="*/ 125 w 233"/>
                <a:gd name="T7" fmla="*/ 62 h 170"/>
                <a:gd name="T8" fmla="*/ 67 w 233"/>
                <a:gd name="T9" fmla="*/ 100 h 170"/>
                <a:gd name="T10" fmla="*/ 0 w 233"/>
                <a:gd name="T11" fmla="*/ 170 h 170"/>
                <a:gd name="T12" fmla="*/ 47 w 233"/>
                <a:gd name="T13" fmla="*/ 105 h 170"/>
                <a:gd name="T14" fmla="*/ 60 w 233"/>
                <a:gd name="T15" fmla="*/ 90 h 170"/>
                <a:gd name="T16" fmla="*/ 108 w 233"/>
                <a:gd name="T17" fmla="*/ 61 h 170"/>
                <a:gd name="T18" fmla="*/ 163 w 233"/>
                <a:gd name="T19" fmla="*/ 33 h 170"/>
                <a:gd name="T20" fmla="*/ 230 w 233"/>
                <a:gd name="T21" fmla="*/ 0 h 170"/>
                <a:gd name="T22" fmla="*/ 233 w 233"/>
                <a:gd name="T23" fmla="*/ 1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33" h="170">
                  <a:moveTo>
                    <a:pt x="233" y="13"/>
                  </a:moveTo>
                  <a:lnTo>
                    <a:pt x="205" y="21"/>
                  </a:lnTo>
                  <a:lnTo>
                    <a:pt x="168" y="39"/>
                  </a:lnTo>
                  <a:lnTo>
                    <a:pt x="125" y="62"/>
                  </a:lnTo>
                  <a:lnTo>
                    <a:pt x="67" y="100"/>
                  </a:lnTo>
                  <a:lnTo>
                    <a:pt x="0" y="170"/>
                  </a:lnTo>
                  <a:lnTo>
                    <a:pt x="47" y="105"/>
                  </a:lnTo>
                  <a:lnTo>
                    <a:pt x="60" y="90"/>
                  </a:lnTo>
                  <a:lnTo>
                    <a:pt x="108" y="61"/>
                  </a:lnTo>
                  <a:lnTo>
                    <a:pt x="163" y="33"/>
                  </a:lnTo>
                  <a:lnTo>
                    <a:pt x="230" y="0"/>
                  </a:lnTo>
                  <a:lnTo>
                    <a:pt x="233" y="1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51" name="Freeform 91"/>
            <p:cNvSpPr>
              <a:spLocks/>
            </p:cNvSpPr>
            <p:nvPr/>
          </p:nvSpPr>
          <p:spPr bwMode="auto">
            <a:xfrm>
              <a:off x="1268" y="3331"/>
              <a:ext cx="127" cy="144"/>
            </a:xfrm>
            <a:custGeom>
              <a:avLst/>
              <a:gdLst>
                <a:gd name="T0" fmla="*/ 0 w 127"/>
                <a:gd name="T1" fmla="*/ 144 h 144"/>
                <a:gd name="T2" fmla="*/ 5 w 127"/>
                <a:gd name="T3" fmla="*/ 127 h 144"/>
                <a:gd name="T4" fmla="*/ 14 w 127"/>
                <a:gd name="T5" fmla="*/ 110 h 144"/>
                <a:gd name="T6" fmla="*/ 28 w 127"/>
                <a:gd name="T7" fmla="*/ 88 h 144"/>
                <a:gd name="T8" fmla="*/ 48 w 127"/>
                <a:gd name="T9" fmla="*/ 62 h 144"/>
                <a:gd name="T10" fmla="*/ 84 w 127"/>
                <a:gd name="T11" fmla="*/ 27 h 144"/>
                <a:gd name="T12" fmla="*/ 125 w 127"/>
                <a:gd name="T13" fmla="*/ 0 h 144"/>
                <a:gd name="T14" fmla="*/ 127 w 127"/>
                <a:gd name="T15" fmla="*/ 9 h 144"/>
                <a:gd name="T16" fmla="*/ 110 w 127"/>
                <a:gd name="T17" fmla="*/ 22 h 144"/>
                <a:gd name="T18" fmla="*/ 92 w 127"/>
                <a:gd name="T19" fmla="*/ 33 h 144"/>
                <a:gd name="T20" fmla="*/ 61 w 127"/>
                <a:gd name="T21" fmla="*/ 59 h 144"/>
                <a:gd name="T22" fmla="*/ 48 w 127"/>
                <a:gd name="T23" fmla="*/ 73 h 144"/>
                <a:gd name="T24" fmla="*/ 26 w 127"/>
                <a:gd name="T25" fmla="*/ 100 h 144"/>
                <a:gd name="T26" fmla="*/ 9 w 127"/>
                <a:gd name="T27" fmla="*/ 127 h 144"/>
                <a:gd name="T28" fmla="*/ 0 w 127"/>
                <a:gd name="T29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7" h="144">
                  <a:moveTo>
                    <a:pt x="0" y="144"/>
                  </a:moveTo>
                  <a:lnTo>
                    <a:pt x="5" y="127"/>
                  </a:lnTo>
                  <a:lnTo>
                    <a:pt x="14" y="110"/>
                  </a:lnTo>
                  <a:lnTo>
                    <a:pt x="28" y="88"/>
                  </a:lnTo>
                  <a:lnTo>
                    <a:pt x="48" y="62"/>
                  </a:lnTo>
                  <a:lnTo>
                    <a:pt x="84" y="27"/>
                  </a:lnTo>
                  <a:lnTo>
                    <a:pt x="125" y="0"/>
                  </a:lnTo>
                  <a:lnTo>
                    <a:pt x="127" y="9"/>
                  </a:lnTo>
                  <a:lnTo>
                    <a:pt x="110" y="22"/>
                  </a:lnTo>
                  <a:lnTo>
                    <a:pt x="92" y="33"/>
                  </a:lnTo>
                  <a:lnTo>
                    <a:pt x="61" y="59"/>
                  </a:lnTo>
                  <a:lnTo>
                    <a:pt x="48" y="73"/>
                  </a:lnTo>
                  <a:lnTo>
                    <a:pt x="26" y="100"/>
                  </a:lnTo>
                  <a:lnTo>
                    <a:pt x="9" y="127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52" name="Freeform 92"/>
            <p:cNvSpPr>
              <a:spLocks/>
            </p:cNvSpPr>
            <p:nvPr/>
          </p:nvSpPr>
          <p:spPr bwMode="auto">
            <a:xfrm>
              <a:off x="1386" y="3292"/>
              <a:ext cx="40" cy="15"/>
            </a:xfrm>
            <a:custGeom>
              <a:avLst/>
              <a:gdLst>
                <a:gd name="T0" fmla="*/ 40 w 40"/>
                <a:gd name="T1" fmla="*/ 2 h 15"/>
                <a:gd name="T2" fmla="*/ 0 w 40"/>
                <a:gd name="T3" fmla="*/ 4 h 15"/>
                <a:gd name="T4" fmla="*/ 6 w 40"/>
                <a:gd name="T5" fmla="*/ 13 h 15"/>
                <a:gd name="T6" fmla="*/ 28 w 40"/>
                <a:gd name="T7" fmla="*/ 15 h 15"/>
                <a:gd name="T8" fmla="*/ 39 w 40"/>
                <a:gd name="T9" fmla="*/ 0 h 15"/>
                <a:gd name="T10" fmla="*/ 40 w 40"/>
                <a:gd name="T11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5">
                  <a:moveTo>
                    <a:pt x="40" y="2"/>
                  </a:moveTo>
                  <a:lnTo>
                    <a:pt x="0" y="4"/>
                  </a:lnTo>
                  <a:lnTo>
                    <a:pt x="6" y="13"/>
                  </a:lnTo>
                  <a:lnTo>
                    <a:pt x="28" y="15"/>
                  </a:lnTo>
                  <a:lnTo>
                    <a:pt x="39" y="0"/>
                  </a:lnTo>
                  <a:lnTo>
                    <a:pt x="40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53" name="Freeform 93"/>
            <p:cNvSpPr>
              <a:spLocks/>
            </p:cNvSpPr>
            <p:nvPr/>
          </p:nvSpPr>
          <p:spPr bwMode="auto">
            <a:xfrm>
              <a:off x="1594" y="3059"/>
              <a:ext cx="26" cy="28"/>
            </a:xfrm>
            <a:custGeom>
              <a:avLst/>
              <a:gdLst>
                <a:gd name="T0" fmla="*/ 16 w 26"/>
                <a:gd name="T1" fmla="*/ 1 h 28"/>
                <a:gd name="T2" fmla="*/ 7 w 26"/>
                <a:gd name="T3" fmla="*/ 0 h 28"/>
                <a:gd name="T4" fmla="*/ 0 w 26"/>
                <a:gd name="T5" fmla="*/ 24 h 28"/>
                <a:gd name="T6" fmla="*/ 13 w 26"/>
                <a:gd name="T7" fmla="*/ 28 h 28"/>
                <a:gd name="T8" fmla="*/ 20 w 26"/>
                <a:gd name="T9" fmla="*/ 20 h 28"/>
                <a:gd name="T10" fmla="*/ 26 w 26"/>
                <a:gd name="T11" fmla="*/ 4 h 28"/>
                <a:gd name="T12" fmla="*/ 16 w 26"/>
                <a:gd name="T13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8">
                  <a:moveTo>
                    <a:pt x="16" y="1"/>
                  </a:moveTo>
                  <a:lnTo>
                    <a:pt x="7" y="0"/>
                  </a:lnTo>
                  <a:lnTo>
                    <a:pt x="0" y="24"/>
                  </a:lnTo>
                  <a:lnTo>
                    <a:pt x="13" y="28"/>
                  </a:lnTo>
                  <a:lnTo>
                    <a:pt x="20" y="20"/>
                  </a:lnTo>
                  <a:lnTo>
                    <a:pt x="26" y="4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254" name="Freeform 94"/>
            <p:cNvSpPr>
              <a:spLocks/>
            </p:cNvSpPr>
            <p:nvPr/>
          </p:nvSpPr>
          <p:spPr bwMode="auto">
            <a:xfrm>
              <a:off x="1338" y="2859"/>
              <a:ext cx="35" cy="14"/>
            </a:xfrm>
            <a:custGeom>
              <a:avLst/>
              <a:gdLst>
                <a:gd name="T0" fmla="*/ 0 w 35"/>
                <a:gd name="T1" fmla="*/ 14 h 14"/>
                <a:gd name="T2" fmla="*/ 17 w 35"/>
                <a:gd name="T3" fmla="*/ 4 h 14"/>
                <a:gd name="T4" fmla="*/ 30 w 35"/>
                <a:gd name="T5" fmla="*/ 0 h 14"/>
                <a:gd name="T6" fmla="*/ 35 w 35"/>
                <a:gd name="T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14">
                  <a:moveTo>
                    <a:pt x="0" y="14"/>
                  </a:moveTo>
                  <a:lnTo>
                    <a:pt x="17" y="4"/>
                  </a:lnTo>
                  <a:lnTo>
                    <a:pt x="30" y="0"/>
                  </a:lnTo>
                  <a:lnTo>
                    <a:pt x="35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55" name="Line 95"/>
            <p:cNvSpPr>
              <a:spLocks noChangeShapeType="1"/>
            </p:cNvSpPr>
            <p:nvPr/>
          </p:nvSpPr>
          <p:spPr bwMode="auto">
            <a:xfrm>
              <a:off x="1562" y="3087"/>
              <a:ext cx="10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56" name="Freeform 96"/>
            <p:cNvSpPr>
              <a:spLocks/>
            </p:cNvSpPr>
            <p:nvPr/>
          </p:nvSpPr>
          <p:spPr bwMode="auto">
            <a:xfrm>
              <a:off x="1527" y="3052"/>
              <a:ext cx="49" cy="24"/>
            </a:xfrm>
            <a:custGeom>
              <a:avLst/>
              <a:gdLst>
                <a:gd name="T0" fmla="*/ 0 w 49"/>
                <a:gd name="T1" fmla="*/ 0 h 24"/>
                <a:gd name="T2" fmla="*/ 5 w 49"/>
                <a:gd name="T3" fmla="*/ 7 h 24"/>
                <a:gd name="T4" fmla="*/ 13 w 49"/>
                <a:gd name="T5" fmla="*/ 14 h 24"/>
                <a:gd name="T6" fmla="*/ 23 w 49"/>
                <a:gd name="T7" fmla="*/ 20 h 24"/>
                <a:gd name="T8" fmla="*/ 27 w 49"/>
                <a:gd name="T9" fmla="*/ 21 h 24"/>
                <a:gd name="T10" fmla="*/ 32 w 49"/>
                <a:gd name="T11" fmla="*/ 22 h 24"/>
                <a:gd name="T12" fmla="*/ 39 w 49"/>
                <a:gd name="T13" fmla="*/ 24 h 24"/>
                <a:gd name="T14" fmla="*/ 49 w 49"/>
                <a:gd name="T15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" h="24">
                  <a:moveTo>
                    <a:pt x="0" y="0"/>
                  </a:moveTo>
                  <a:lnTo>
                    <a:pt x="5" y="7"/>
                  </a:lnTo>
                  <a:lnTo>
                    <a:pt x="13" y="14"/>
                  </a:lnTo>
                  <a:lnTo>
                    <a:pt x="23" y="20"/>
                  </a:lnTo>
                  <a:lnTo>
                    <a:pt x="27" y="21"/>
                  </a:lnTo>
                  <a:lnTo>
                    <a:pt x="32" y="22"/>
                  </a:lnTo>
                  <a:lnTo>
                    <a:pt x="39" y="24"/>
                  </a:lnTo>
                  <a:lnTo>
                    <a:pt x="49" y="2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57" name="Freeform 97"/>
            <p:cNvSpPr>
              <a:spLocks/>
            </p:cNvSpPr>
            <p:nvPr/>
          </p:nvSpPr>
          <p:spPr bwMode="auto">
            <a:xfrm>
              <a:off x="1436" y="2991"/>
              <a:ext cx="92" cy="14"/>
            </a:xfrm>
            <a:custGeom>
              <a:avLst/>
              <a:gdLst>
                <a:gd name="T0" fmla="*/ 0 w 92"/>
                <a:gd name="T1" fmla="*/ 0 h 14"/>
                <a:gd name="T2" fmla="*/ 13 w 92"/>
                <a:gd name="T3" fmla="*/ 8 h 14"/>
                <a:gd name="T4" fmla="*/ 29 w 92"/>
                <a:gd name="T5" fmla="*/ 13 h 14"/>
                <a:gd name="T6" fmla="*/ 47 w 92"/>
                <a:gd name="T7" fmla="*/ 14 h 14"/>
                <a:gd name="T8" fmla="*/ 68 w 92"/>
                <a:gd name="T9" fmla="*/ 14 h 14"/>
                <a:gd name="T10" fmla="*/ 87 w 92"/>
                <a:gd name="T11" fmla="*/ 11 h 14"/>
                <a:gd name="T12" fmla="*/ 92 w 92"/>
                <a:gd name="T1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2" h="14">
                  <a:moveTo>
                    <a:pt x="0" y="0"/>
                  </a:moveTo>
                  <a:lnTo>
                    <a:pt x="13" y="8"/>
                  </a:lnTo>
                  <a:lnTo>
                    <a:pt x="29" y="13"/>
                  </a:lnTo>
                  <a:lnTo>
                    <a:pt x="47" y="14"/>
                  </a:lnTo>
                  <a:lnTo>
                    <a:pt x="68" y="14"/>
                  </a:lnTo>
                  <a:lnTo>
                    <a:pt x="87" y="11"/>
                  </a:lnTo>
                  <a:lnTo>
                    <a:pt x="92" y="8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58" name="Freeform 98"/>
            <p:cNvSpPr>
              <a:spLocks/>
            </p:cNvSpPr>
            <p:nvPr/>
          </p:nvSpPr>
          <p:spPr bwMode="auto">
            <a:xfrm>
              <a:off x="1495" y="3015"/>
              <a:ext cx="22" cy="3"/>
            </a:xfrm>
            <a:custGeom>
              <a:avLst/>
              <a:gdLst>
                <a:gd name="T0" fmla="*/ 0 w 22"/>
                <a:gd name="T1" fmla="*/ 3 h 3"/>
                <a:gd name="T2" fmla="*/ 15 w 22"/>
                <a:gd name="T3" fmla="*/ 2 h 3"/>
                <a:gd name="T4" fmla="*/ 22 w 22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" h="3">
                  <a:moveTo>
                    <a:pt x="0" y="3"/>
                  </a:moveTo>
                  <a:lnTo>
                    <a:pt x="15" y="2"/>
                  </a:lnTo>
                  <a:lnTo>
                    <a:pt x="22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59" name="Freeform 99"/>
            <p:cNvSpPr>
              <a:spLocks/>
            </p:cNvSpPr>
            <p:nvPr/>
          </p:nvSpPr>
          <p:spPr bwMode="auto">
            <a:xfrm>
              <a:off x="1403" y="2881"/>
              <a:ext cx="13" cy="36"/>
            </a:xfrm>
            <a:custGeom>
              <a:avLst/>
              <a:gdLst>
                <a:gd name="T0" fmla="*/ 0 w 13"/>
                <a:gd name="T1" fmla="*/ 0 h 36"/>
                <a:gd name="T2" fmla="*/ 6 w 13"/>
                <a:gd name="T3" fmla="*/ 5 h 36"/>
                <a:gd name="T4" fmla="*/ 13 w 13"/>
                <a:gd name="T5" fmla="*/ 17 h 36"/>
                <a:gd name="T6" fmla="*/ 13 w 13"/>
                <a:gd name="T7" fmla="*/ 30 h 36"/>
                <a:gd name="T8" fmla="*/ 9 w 13"/>
                <a:gd name="T9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36">
                  <a:moveTo>
                    <a:pt x="0" y="0"/>
                  </a:moveTo>
                  <a:lnTo>
                    <a:pt x="6" y="5"/>
                  </a:lnTo>
                  <a:lnTo>
                    <a:pt x="13" y="17"/>
                  </a:lnTo>
                  <a:lnTo>
                    <a:pt x="13" y="30"/>
                  </a:lnTo>
                  <a:lnTo>
                    <a:pt x="9" y="36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60" name="Freeform 100"/>
            <p:cNvSpPr>
              <a:spLocks/>
            </p:cNvSpPr>
            <p:nvPr/>
          </p:nvSpPr>
          <p:spPr bwMode="auto">
            <a:xfrm>
              <a:off x="1471" y="3065"/>
              <a:ext cx="15" cy="5"/>
            </a:xfrm>
            <a:custGeom>
              <a:avLst/>
              <a:gdLst>
                <a:gd name="T0" fmla="*/ 15 w 15"/>
                <a:gd name="T1" fmla="*/ 5 h 5"/>
                <a:gd name="T2" fmla="*/ 8 w 15"/>
                <a:gd name="T3" fmla="*/ 5 h 5"/>
                <a:gd name="T4" fmla="*/ 0 w 15"/>
                <a:gd name="T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" h="5">
                  <a:moveTo>
                    <a:pt x="15" y="5"/>
                  </a:moveTo>
                  <a:lnTo>
                    <a:pt x="8" y="5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61" name="Freeform 101"/>
            <p:cNvSpPr>
              <a:spLocks/>
            </p:cNvSpPr>
            <p:nvPr/>
          </p:nvSpPr>
          <p:spPr bwMode="auto">
            <a:xfrm>
              <a:off x="1528" y="3041"/>
              <a:ext cx="17" cy="16"/>
            </a:xfrm>
            <a:custGeom>
              <a:avLst/>
              <a:gdLst>
                <a:gd name="T0" fmla="*/ 17 w 17"/>
                <a:gd name="T1" fmla="*/ 16 h 16"/>
                <a:gd name="T2" fmla="*/ 12 w 17"/>
                <a:gd name="T3" fmla="*/ 9 h 16"/>
                <a:gd name="T4" fmla="*/ 6 w 17"/>
                <a:gd name="T5" fmla="*/ 3 h 16"/>
                <a:gd name="T6" fmla="*/ 0 w 17"/>
                <a:gd name="T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6">
                  <a:moveTo>
                    <a:pt x="17" y="16"/>
                  </a:moveTo>
                  <a:lnTo>
                    <a:pt x="12" y="9"/>
                  </a:lnTo>
                  <a:lnTo>
                    <a:pt x="6" y="3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62" name="Freeform 102"/>
            <p:cNvSpPr>
              <a:spLocks/>
            </p:cNvSpPr>
            <p:nvPr/>
          </p:nvSpPr>
          <p:spPr bwMode="auto">
            <a:xfrm>
              <a:off x="1545" y="3057"/>
              <a:ext cx="16" cy="29"/>
            </a:xfrm>
            <a:custGeom>
              <a:avLst/>
              <a:gdLst>
                <a:gd name="T0" fmla="*/ 0 w 16"/>
                <a:gd name="T1" fmla="*/ 0 h 29"/>
                <a:gd name="T2" fmla="*/ 9 w 16"/>
                <a:gd name="T3" fmla="*/ 16 h 29"/>
                <a:gd name="T4" fmla="*/ 16 w 16"/>
                <a:gd name="T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29">
                  <a:moveTo>
                    <a:pt x="0" y="0"/>
                  </a:moveTo>
                  <a:lnTo>
                    <a:pt x="9" y="16"/>
                  </a:lnTo>
                  <a:lnTo>
                    <a:pt x="16" y="29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63" name="Freeform 103"/>
            <p:cNvSpPr>
              <a:spLocks/>
            </p:cNvSpPr>
            <p:nvPr/>
          </p:nvSpPr>
          <p:spPr bwMode="auto">
            <a:xfrm>
              <a:off x="1514" y="3042"/>
              <a:ext cx="45" cy="15"/>
            </a:xfrm>
            <a:custGeom>
              <a:avLst/>
              <a:gdLst>
                <a:gd name="T0" fmla="*/ 0 w 45"/>
                <a:gd name="T1" fmla="*/ 0 h 15"/>
                <a:gd name="T2" fmla="*/ 13 w 45"/>
                <a:gd name="T3" fmla="*/ 10 h 15"/>
                <a:gd name="T4" fmla="*/ 32 w 45"/>
                <a:gd name="T5" fmla="*/ 15 h 15"/>
                <a:gd name="T6" fmla="*/ 45 w 45"/>
                <a:gd name="T7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" h="15">
                  <a:moveTo>
                    <a:pt x="0" y="0"/>
                  </a:moveTo>
                  <a:lnTo>
                    <a:pt x="13" y="10"/>
                  </a:lnTo>
                  <a:lnTo>
                    <a:pt x="32" y="15"/>
                  </a:lnTo>
                  <a:lnTo>
                    <a:pt x="45" y="15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64" name="Freeform 104"/>
            <p:cNvSpPr>
              <a:spLocks/>
            </p:cNvSpPr>
            <p:nvPr/>
          </p:nvSpPr>
          <p:spPr bwMode="auto">
            <a:xfrm>
              <a:off x="1493" y="3030"/>
              <a:ext cx="17" cy="34"/>
            </a:xfrm>
            <a:custGeom>
              <a:avLst/>
              <a:gdLst>
                <a:gd name="T0" fmla="*/ 17 w 17"/>
                <a:gd name="T1" fmla="*/ 0 h 34"/>
                <a:gd name="T2" fmla="*/ 4 w 17"/>
                <a:gd name="T3" fmla="*/ 27 h 34"/>
                <a:gd name="T4" fmla="*/ 0 w 17"/>
                <a:gd name="T5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34">
                  <a:moveTo>
                    <a:pt x="17" y="0"/>
                  </a:moveTo>
                  <a:lnTo>
                    <a:pt x="4" y="27"/>
                  </a:lnTo>
                  <a:lnTo>
                    <a:pt x="0" y="3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65" name="Line 105"/>
            <p:cNvSpPr>
              <a:spLocks noChangeShapeType="1"/>
            </p:cNvSpPr>
            <p:nvPr/>
          </p:nvSpPr>
          <p:spPr bwMode="auto">
            <a:xfrm>
              <a:off x="1510" y="3030"/>
              <a:ext cx="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66" name="Freeform 106"/>
            <p:cNvSpPr>
              <a:spLocks/>
            </p:cNvSpPr>
            <p:nvPr/>
          </p:nvSpPr>
          <p:spPr bwMode="auto">
            <a:xfrm>
              <a:off x="1510" y="3017"/>
              <a:ext cx="22" cy="16"/>
            </a:xfrm>
            <a:custGeom>
              <a:avLst/>
              <a:gdLst>
                <a:gd name="T0" fmla="*/ 0 w 22"/>
                <a:gd name="T1" fmla="*/ 0 h 16"/>
                <a:gd name="T2" fmla="*/ 5 w 22"/>
                <a:gd name="T3" fmla="*/ 5 h 16"/>
                <a:gd name="T4" fmla="*/ 13 w 22"/>
                <a:gd name="T5" fmla="*/ 12 h 16"/>
                <a:gd name="T6" fmla="*/ 22 w 22"/>
                <a:gd name="T7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16">
                  <a:moveTo>
                    <a:pt x="0" y="0"/>
                  </a:moveTo>
                  <a:lnTo>
                    <a:pt x="5" y="5"/>
                  </a:lnTo>
                  <a:lnTo>
                    <a:pt x="13" y="12"/>
                  </a:lnTo>
                  <a:lnTo>
                    <a:pt x="22" y="16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67" name="Line 107"/>
            <p:cNvSpPr>
              <a:spLocks noChangeShapeType="1"/>
            </p:cNvSpPr>
            <p:nvPr/>
          </p:nvSpPr>
          <p:spPr bwMode="auto">
            <a:xfrm flipH="1">
              <a:off x="1513" y="3022"/>
              <a:ext cx="2" cy="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68" name="Line 108"/>
            <p:cNvSpPr>
              <a:spLocks noChangeShapeType="1"/>
            </p:cNvSpPr>
            <p:nvPr/>
          </p:nvSpPr>
          <p:spPr bwMode="auto">
            <a:xfrm flipH="1">
              <a:off x="1334" y="3082"/>
              <a:ext cx="5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69" name="Freeform 109"/>
            <p:cNvSpPr>
              <a:spLocks/>
            </p:cNvSpPr>
            <p:nvPr/>
          </p:nvSpPr>
          <p:spPr bwMode="auto">
            <a:xfrm>
              <a:off x="1349" y="3059"/>
              <a:ext cx="6" cy="15"/>
            </a:xfrm>
            <a:custGeom>
              <a:avLst/>
              <a:gdLst>
                <a:gd name="T0" fmla="*/ 0 w 6"/>
                <a:gd name="T1" fmla="*/ 0 h 15"/>
                <a:gd name="T2" fmla="*/ 2 w 6"/>
                <a:gd name="T3" fmla="*/ 6 h 15"/>
                <a:gd name="T4" fmla="*/ 4 w 6"/>
                <a:gd name="T5" fmla="*/ 11 h 15"/>
                <a:gd name="T6" fmla="*/ 6 w 6"/>
                <a:gd name="T7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5">
                  <a:moveTo>
                    <a:pt x="0" y="0"/>
                  </a:moveTo>
                  <a:lnTo>
                    <a:pt x="2" y="6"/>
                  </a:lnTo>
                  <a:lnTo>
                    <a:pt x="4" y="11"/>
                  </a:lnTo>
                  <a:lnTo>
                    <a:pt x="6" y="15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70" name="Freeform 110"/>
            <p:cNvSpPr>
              <a:spLocks/>
            </p:cNvSpPr>
            <p:nvPr/>
          </p:nvSpPr>
          <p:spPr bwMode="auto">
            <a:xfrm>
              <a:off x="1347" y="2996"/>
              <a:ext cx="2" cy="26"/>
            </a:xfrm>
            <a:custGeom>
              <a:avLst/>
              <a:gdLst>
                <a:gd name="T0" fmla="*/ 1 w 2"/>
                <a:gd name="T1" fmla="*/ 0 h 26"/>
                <a:gd name="T2" fmla="*/ 2 w 2"/>
                <a:gd name="T3" fmla="*/ 6 h 26"/>
                <a:gd name="T4" fmla="*/ 2 w 2"/>
                <a:gd name="T5" fmla="*/ 19 h 26"/>
                <a:gd name="T6" fmla="*/ 0 w 2"/>
                <a:gd name="T7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6">
                  <a:moveTo>
                    <a:pt x="1" y="0"/>
                  </a:moveTo>
                  <a:lnTo>
                    <a:pt x="2" y="6"/>
                  </a:lnTo>
                  <a:lnTo>
                    <a:pt x="2" y="19"/>
                  </a:lnTo>
                  <a:lnTo>
                    <a:pt x="0" y="26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71" name="Line 111"/>
            <p:cNvSpPr>
              <a:spLocks noChangeShapeType="1"/>
            </p:cNvSpPr>
            <p:nvPr/>
          </p:nvSpPr>
          <p:spPr bwMode="auto">
            <a:xfrm flipH="1" flipV="1">
              <a:off x="1346" y="2985"/>
              <a:ext cx="9" cy="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72" name="Freeform 112"/>
            <p:cNvSpPr>
              <a:spLocks/>
            </p:cNvSpPr>
            <p:nvPr/>
          </p:nvSpPr>
          <p:spPr bwMode="auto">
            <a:xfrm>
              <a:off x="1353" y="2989"/>
              <a:ext cx="4" cy="6"/>
            </a:xfrm>
            <a:custGeom>
              <a:avLst/>
              <a:gdLst>
                <a:gd name="T0" fmla="*/ 0 w 4"/>
                <a:gd name="T1" fmla="*/ 6 h 6"/>
                <a:gd name="T2" fmla="*/ 4 w 4"/>
                <a:gd name="T3" fmla="*/ 1 h 6"/>
                <a:gd name="T4" fmla="*/ 2 w 4"/>
                <a:gd name="T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6">
                  <a:moveTo>
                    <a:pt x="0" y="6"/>
                  </a:moveTo>
                  <a:lnTo>
                    <a:pt x="4" y="1"/>
                  </a:lnTo>
                  <a:lnTo>
                    <a:pt x="2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73" name="Freeform 113"/>
            <p:cNvSpPr>
              <a:spLocks/>
            </p:cNvSpPr>
            <p:nvPr/>
          </p:nvSpPr>
          <p:spPr bwMode="auto">
            <a:xfrm>
              <a:off x="1330" y="2957"/>
              <a:ext cx="6" cy="29"/>
            </a:xfrm>
            <a:custGeom>
              <a:avLst/>
              <a:gdLst>
                <a:gd name="T0" fmla="*/ 3 w 6"/>
                <a:gd name="T1" fmla="*/ 0 h 29"/>
                <a:gd name="T2" fmla="*/ 5 w 6"/>
                <a:gd name="T3" fmla="*/ 8 h 29"/>
                <a:gd name="T4" fmla="*/ 6 w 6"/>
                <a:gd name="T5" fmla="*/ 20 h 29"/>
                <a:gd name="T6" fmla="*/ 0 w 6"/>
                <a:gd name="T7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29">
                  <a:moveTo>
                    <a:pt x="3" y="0"/>
                  </a:moveTo>
                  <a:lnTo>
                    <a:pt x="5" y="8"/>
                  </a:lnTo>
                  <a:lnTo>
                    <a:pt x="6" y="20"/>
                  </a:lnTo>
                  <a:lnTo>
                    <a:pt x="0" y="29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74" name="Line 114"/>
            <p:cNvSpPr>
              <a:spLocks noChangeShapeType="1"/>
            </p:cNvSpPr>
            <p:nvPr/>
          </p:nvSpPr>
          <p:spPr bwMode="auto">
            <a:xfrm>
              <a:off x="1344" y="2960"/>
              <a:ext cx="13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75" name="Freeform 115"/>
            <p:cNvSpPr>
              <a:spLocks/>
            </p:cNvSpPr>
            <p:nvPr/>
          </p:nvSpPr>
          <p:spPr bwMode="auto">
            <a:xfrm>
              <a:off x="1353" y="2989"/>
              <a:ext cx="2" cy="6"/>
            </a:xfrm>
            <a:custGeom>
              <a:avLst/>
              <a:gdLst>
                <a:gd name="T0" fmla="*/ 2 w 2"/>
                <a:gd name="T1" fmla="*/ 0 h 6"/>
                <a:gd name="T2" fmla="*/ 0 w 2"/>
                <a:gd name="T3" fmla="*/ 1 h 6"/>
                <a:gd name="T4" fmla="*/ 0 w 2"/>
                <a:gd name="T5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6">
                  <a:moveTo>
                    <a:pt x="2" y="0"/>
                  </a:moveTo>
                  <a:lnTo>
                    <a:pt x="0" y="1"/>
                  </a:lnTo>
                  <a:lnTo>
                    <a:pt x="0" y="6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76" name="Freeform 116"/>
            <p:cNvSpPr>
              <a:spLocks/>
            </p:cNvSpPr>
            <p:nvPr/>
          </p:nvSpPr>
          <p:spPr bwMode="auto">
            <a:xfrm>
              <a:off x="1348" y="2961"/>
              <a:ext cx="7" cy="28"/>
            </a:xfrm>
            <a:custGeom>
              <a:avLst/>
              <a:gdLst>
                <a:gd name="T0" fmla="*/ 0 w 7"/>
                <a:gd name="T1" fmla="*/ 0 h 28"/>
                <a:gd name="T2" fmla="*/ 0 w 7"/>
                <a:gd name="T3" fmla="*/ 12 h 28"/>
                <a:gd name="T4" fmla="*/ 5 w 7"/>
                <a:gd name="T5" fmla="*/ 17 h 28"/>
                <a:gd name="T6" fmla="*/ 7 w 7"/>
                <a:gd name="T7" fmla="*/ 25 h 28"/>
                <a:gd name="T8" fmla="*/ 7 w 7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28">
                  <a:moveTo>
                    <a:pt x="0" y="0"/>
                  </a:moveTo>
                  <a:lnTo>
                    <a:pt x="0" y="12"/>
                  </a:lnTo>
                  <a:lnTo>
                    <a:pt x="5" y="17"/>
                  </a:lnTo>
                  <a:lnTo>
                    <a:pt x="7" y="25"/>
                  </a:lnTo>
                  <a:lnTo>
                    <a:pt x="7" y="28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77" name="Freeform 117"/>
            <p:cNvSpPr>
              <a:spLocks/>
            </p:cNvSpPr>
            <p:nvPr/>
          </p:nvSpPr>
          <p:spPr bwMode="auto">
            <a:xfrm>
              <a:off x="1353" y="2961"/>
              <a:ext cx="26" cy="8"/>
            </a:xfrm>
            <a:custGeom>
              <a:avLst/>
              <a:gdLst>
                <a:gd name="T0" fmla="*/ 0 w 26"/>
                <a:gd name="T1" fmla="*/ 0 h 8"/>
                <a:gd name="T2" fmla="*/ 12 w 26"/>
                <a:gd name="T3" fmla="*/ 6 h 8"/>
                <a:gd name="T4" fmla="*/ 16 w 26"/>
                <a:gd name="T5" fmla="*/ 8 h 8"/>
                <a:gd name="T6" fmla="*/ 26 w 26"/>
                <a:gd name="T7" fmla="*/ 8 h 8"/>
                <a:gd name="T8" fmla="*/ 20 w 26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8">
                  <a:moveTo>
                    <a:pt x="0" y="0"/>
                  </a:moveTo>
                  <a:lnTo>
                    <a:pt x="12" y="6"/>
                  </a:lnTo>
                  <a:lnTo>
                    <a:pt x="16" y="8"/>
                  </a:lnTo>
                  <a:lnTo>
                    <a:pt x="26" y="8"/>
                  </a:lnTo>
                  <a:lnTo>
                    <a:pt x="2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78" name="Line 118"/>
            <p:cNvSpPr>
              <a:spLocks noChangeShapeType="1"/>
            </p:cNvSpPr>
            <p:nvPr/>
          </p:nvSpPr>
          <p:spPr bwMode="auto">
            <a:xfrm>
              <a:off x="1335" y="2956"/>
              <a:ext cx="9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79" name="Line 119"/>
            <p:cNvSpPr>
              <a:spLocks noChangeShapeType="1"/>
            </p:cNvSpPr>
            <p:nvPr/>
          </p:nvSpPr>
          <p:spPr bwMode="auto">
            <a:xfrm>
              <a:off x="1334" y="2947"/>
              <a:ext cx="6" cy="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80" name="Line 120"/>
            <p:cNvSpPr>
              <a:spLocks noChangeShapeType="1"/>
            </p:cNvSpPr>
            <p:nvPr/>
          </p:nvSpPr>
          <p:spPr bwMode="auto">
            <a:xfrm>
              <a:off x="1343" y="2951"/>
              <a:ext cx="8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81" name="Freeform 121"/>
            <p:cNvSpPr>
              <a:spLocks/>
            </p:cNvSpPr>
            <p:nvPr/>
          </p:nvSpPr>
          <p:spPr bwMode="auto">
            <a:xfrm>
              <a:off x="1349" y="2952"/>
              <a:ext cx="24" cy="12"/>
            </a:xfrm>
            <a:custGeom>
              <a:avLst/>
              <a:gdLst>
                <a:gd name="T0" fmla="*/ 0 w 24"/>
                <a:gd name="T1" fmla="*/ 0 h 12"/>
                <a:gd name="T2" fmla="*/ 8 w 24"/>
                <a:gd name="T3" fmla="*/ 4 h 12"/>
                <a:gd name="T4" fmla="*/ 17 w 24"/>
                <a:gd name="T5" fmla="*/ 5 h 12"/>
                <a:gd name="T6" fmla="*/ 24 w 24"/>
                <a:gd name="T7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2">
                  <a:moveTo>
                    <a:pt x="0" y="0"/>
                  </a:moveTo>
                  <a:lnTo>
                    <a:pt x="8" y="4"/>
                  </a:lnTo>
                  <a:lnTo>
                    <a:pt x="17" y="5"/>
                  </a:lnTo>
                  <a:lnTo>
                    <a:pt x="24" y="12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82" name="Line 122"/>
            <p:cNvSpPr>
              <a:spLocks noChangeShapeType="1"/>
            </p:cNvSpPr>
            <p:nvPr/>
          </p:nvSpPr>
          <p:spPr bwMode="auto">
            <a:xfrm flipV="1">
              <a:off x="1357" y="2986"/>
              <a:ext cx="17" cy="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83" name="Line 123"/>
            <p:cNvSpPr>
              <a:spLocks noChangeShapeType="1"/>
            </p:cNvSpPr>
            <p:nvPr/>
          </p:nvSpPr>
          <p:spPr bwMode="auto">
            <a:xfrm>
              <a:off x="1333" y="2957"/>
              <a:ext cx="9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84" name="Freeform 124"/>
            <p:cNvSpPr>
              <a:spLocks/>
            </p:cNvSpPr>
            <p:nvPr/>
          </p:nvSpPr>
          <p:spPr bwMode="auto">
            <a:xfrm>
              <a:off x="569" y="3691"/>
              <a:ext cx="25" cy="49"/>
            </a:xfrm>
            <a:custGeom>
              <a:avLst/>
              <a:gdLst>
                <a:gd name="T0" fmla="*/ 25 w 25"/>
                <a:gd name="T1" fmla="*/ 0 h 49"/>
                <a:gd name="T2" fmla="*/ 25 w 25"/>
                <a:gd name="T3" fmla="*/ 10 h 49"/>
                <a:gd name="T4" fmla="*/ 22 w 25"/>
                <a:gd name="T5" fmla="*/ 20 h 49"/>
                <a:gd name="T6" fmla="*/ 15 w 25"/>
                <a:gd name="T7" fmla="*/ 32 h 49"/>
                <a:gd name="T8" fmla="*/ 9 w 25"/>
                <a:gd name="T9" fmla="*/ 40 h 49"/>
                <a:gd name="T10" fmla="*/ 0 w 25"/>
                <a:gd name="T11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49">
                  <a:moveTo>
                    <a:pt x="25" y="0"/>
                  </a:moveTo>
                  <a:lnTo>
                    <a:pt x="25" y="10"/>
                  </a:lnTo>
                  <a:lnTo>
                    <a:pt x="22" y="20"/>
                  </a:lnTo>
                  <a:lnTo>
                    <a:pt x="15" y="32"/>
                  </a:lnTo>
                  <a:lnTo>
                    <a:pt x="9" y="40"/>
                  </a:lnTo>
                  <a:lnTo>
                    <a:pt x="0" y="49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85" name="Freeform 125"/>
            <p:cNvSpPr>
              <a:spLocks/>
            </p:cNvSpPr>
            <p:nvPr/>
          </p:nvSpPr>
          <p:spPr bwMode="auto">
            <a:xfrm>
              <a:off x="578" y="3691"/>
              <a:ext cx="21" cy="49"/>
            </a:xfrm>
            <a:custGeom>
              <a:avLst/>
              <a:gdLst>
                <a:gd name="T0" fmla="*/ 21 w 21"/>
                <a:gd name="T1" fmla="*/ 0 h 49"/>
                <a:gd name="T2" fmla="*/ 19 w 21"/>
                <a:gd name="T3" fmla="*/ 13 h 49"/>
                <a:gd name="T4" fmla="*/ 16 w 21"/>
                <a:gd name="T5" fmla="*/ 24 h 49"/>
                <a:gd name="T6" fmla="*/ 10 w 21"/>
                <a:gd name="T7" fmla="*/ 33 h 49"/>
                <a:gd name="T8" fmla="*/ 5 w 21"/>
                <a:gd name="T9" fmla="*/ 42 h 49"/>
                <a:gd name="T10" fmla="*/ 0 w 21"/>
                <a:gd name="T11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49">
                  <a:moveTo>
                    <a:pt x="21" y="0"/>
                  </a:moveTo>
                  <a:lnTo>
                    <a:pt x="19" y="13"/>
                  </a:lnTo>
                  <a:lnTo>
                    <a:pt x="16" y="24"/>
                  </a:lnTo>
                  <a:lnTo>
                    <a:pt x="10" y="33"/>
                  </a:lnTo>
                  <a:lnTo>
                    <a:pt x="5" y="42"/>
                  </a:lnTo>
                  <a:lnTo>
                    <a:pt x="0" y="49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86" name="Freeform 126"/>
            <p:cNvSpPr>
              <a:spLocks/>
            </p:cNvSpPr>
            <p:nvPr/>
          </p:nvSpPr>
          <p:spPr bwMode="auto">
            <a:xfrm>
              <a:off x="1046" y="3456"/>
              <a:ext cx="38" cy="14"/>
            </a:xfrm>
            <a:custGeom>
              <a:avLst/>
              <a:gdLst>
                <a:gd name="T0" fmla="*/ 0 w 38"/>
                <a:gd name="T1" fmla="*/ 14 h 14"/>
                <a:gd name="T2" fmla="*/ 19 w 38"/>
                <a:gd name="T3" fmla="*/ 5 h 14"/>
                <a:gd name="T4" fmla="*/ 38 w 38"/>
                <a:gd name="T5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14">
                  <a:moveTo>
                    <a:pt x="0" y="14"/>
                  </a:moveTo>
                  <a:lnTo>
                    <a:pt x="19" y="5"/>
                  </a:lnTo>
                  <a:lnTo>
                    <a:pt x="38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87" name="Freeform 127"/>
            <p:cNvSpPr>
              <a:spLocks/>
            </p:cNvSpPr>
            <p:nvPr/>
          </p:nvSpPr>
          <p:spPr bwMode="auto">
            <a:xfrm>
              <a:off x="1276" y="3307"/>
              <a:ext cx="178" cy="459"/>
            </a:xfrm>
            <a:custGeom>
              <a:avLst/>
              <a:gdLst>
                <a:gd name="T0" fmla="*/ 0 w 178"/>
                <a:gd name="T1" fmla="*/ 459 h 459"/>
                <a:gd name="T2" fmla="*/ 14 w 178"/>
                <a:gd name="T3" fmla="*/ 445 h 459"/>
                <a:gd name="T4" fmla="*/ 24 w 178"/>
                <a:gd name="T5" fmla="*/ 433 h 459"/>
                <a:gd name="T6" fmla="*/ 41 w 178"/>
                <a:gd name="T7" fmla="*/ 415 h 459"/>
                <a:gd name="T8" fmla="*/ 54 w 178"/>
                <a:gd name="T9" fmla="*/ 395 h 459"/>
                <a:gd name="T10" fmla="*/ 76 w 178"/>
                <a:gd name="T11" fmla="*/ 373 h 459"/>
                <a:gd name="T12" fmla="*/ 89 w 178"/>
                <a:gd name="T13" fmla="*/ 359 h 459"/>
                <a:gd name="T14" fmla="*/ 95 w 178"/>
                <a:gd name="T15" fmla="*/ 364 h 459"/>
                <a:gd name="T16" fmla="*/ 103 w 178"/>
                <a:gd name="T17" fmla="*/ 372 h 459"/>
                <a:gd name="T18" fmla="*/ 101 w 178"/>
                <a:gd name="T19" fmla="*/ 363 h 459"/>
                <a:gd name="T20" fmla="*/ 94 w 178"/>
                <a:gd name="T21" fmla="*/ 354 h 459"/>
                <a:gd name="T22" fmla="*/ 101 w 178"/>
                <a:gd name="T23" fmla="*/ 345 h 459"/>
                <a:gd name="T24" fmla="*/ 103 w 178"/>
                <a:gd name="T25" fmla="*/ 333 h 459"/>
                <a:gd name="T26" fmla="*/ 114 w 178"/>
                <a:gd name="T27" fmla="*/ 290 h 459"/>
                <a:gd name="T28" fmla="*/ 123 w 178"/>
                <a:gd name="T29" fmla="*/ 267 h 459"/>
                <a:gd name="T30" fmla="*/ 130 w 178"/>
                <a:gd name="T31" fmla="*/ 253 h 459"/>
                <a:gd name="T32" fmla="*/ 140 w 178"/>
                <a:gd name="T33" fmla="*/ 245 h 459"/>
                <a:gd name="T34" fmla="*/ 143 w 178"/>
                <a:gd name="T35" fmla="*/ 242 h 459"/>
                <a:gd name="T36" fmla="*/ 162 w 178"/>
                <a:gd name="T37" fmla="*/ 247 h 459"/>
                <a:gd name="T38" fmla="*/ 159 w 178"/>
                <a:gd name="T39" fmla="*/ 240 h 459"/>
                <a:gd name="T40" fmla="*/ 150 w 178"/>
                <a:gd name="T41" fmla="*/ 221 h 459"/>
                <a:gd name="T42" fmla="*/ 156 w 178"/>
                <a:gd name="T43" fmla="*/ 215 h 459"/>
                <a:gd name="T44" fmla="*/ 154 w 178"/>
                <a:gd name="T45" fmla="*/ 157 h 459"/>
                <a:gd name="T46" fmla="*/ 154 w 178"/>
                <a:gd name="T47" fmla="*/ 129 h 459"/>
                <a:gd name="T48" fmla="*/ 156 w 178"/>
                <a:gd name="T49" fmla="*/ 75 h 459"/>
                <a:gd name="T50" fmla="*/ 162 w 178"/>
                <a:gd name="T51" fmla="*/ 44 h 459"/>
                <a:gd name="T52" fmla="*/ 168 w 178"/>
                <a:gd name="T53" fmla="*/ 19 h 459"/>
                <a:gd name="T54" fmla="*/ 178 w 178"/>
                <a:gd name="T55" fmla="*/ 0 h 459"/>
                <a:gd name="T56" fmla="*/ 172 w 178"/>
                <a:gd name="T57" fmla="*/ 6 h 459"/>
                <a:gd name="T58" fmla="*/ 162 w 178"/>
                <a:gd name="T59" fmla="*/ 19 h 459"/>
                <a:gd name="T60" fmla="*/ 154 w 178"/>
                <a:gd name="T61" fmla="*/ 37 h 459"/>
                <a:gd name="T62" fmla="*/ 153 w 178"/>
                <a:gd name="T63" fmla="*/ 89 h 459"/>
                <a:gd name="T64" fmla="*/ 154 w 178"/>
                <a:gd name="T65" fmla="*/ 129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8" h="459">
                  <a:moveTo>
                    <a:pt x="0" y="459"/>
                  </a:moveTo>
                  <a:lnTo>
                    <a:pt x="14" y="445"/>
                  </a:lnTo>
                  <a:lnTo>
                    <a:pt x="24" y="433"/>
                  </a:lnTo>
                  <a:lnTo>
                    <a:pt x="41" y="415"/>
                  </a:lnTo>
                  <a:lnTo>
                    <a:pt x="54" y="395"/>
                  </a:lnTo>
                  <a:lnTo>
                    <a:pt x="76" y="373"/>
                  </a:lnTo>
                  <a:lnTo>
                    <a:pt x="89" y="359"/>
                  </a:lnTo>
                  <a:lnTo>
                    <a:pt x="95" y="364"/>
                  </a:lnTo>
                  <a:lnTo>
                    <a:pt x="103" y="372"/>
                  </a:lnTo>
                  <a:lnTo>
                    <a:pt x="101" y="363"/>
                  </a:lnTo>
                  <a:lnTo>
                    <a:pt x="94" y="354"/>
                  </a:lnTo>
                  <a:lnTo>
                    <a:pt x="101" y="345"/>
                  </a:lnTo>
                  <a:lnTo>
                    <a:pt x="103" y="333"/>
                  </a:lnTo>
                  <a:lnTo>
                    <a:pt x="114" y="290"/>
                  </a:lnTo>
                  <a:lnTo>
                    <a:pt x="123" y="267"/>
                  </a:lnTo>
                  <a:lnTo>
                    <a:pt x="130" y="253"/>
                  </a:lnTo>
                  <a:lnTo>
                    <a:pt x="140" y="245"/>
                  </a:lnTo>
                  <a:lnTo>
                    <a:pt x="143" y="242"/>
                  </a:lnTo>
                  <a:lnTo>
                    <a:pt x="162" y="247"/>
                  </a:lnTo>
                  <a:lnTo>
                    <a:pt x="159" y="240"/>
                  </a:lnTo>
                  <a:lnTo>
                    <a:pt x="150" y="221"/>
                  </a:lnTo>
                  <a:lnTo>
                    <a:pt x="156" y="215"/>
                  </a:lnTo>
                  <a:lnTo>
                    <a:pt x="154" y="157"/>
                  </a:lnTo>
                  <a:lnTo>
                    <a:pt x="154" y="129"/>
                  </a:lnTo>
                  <a:lnTo>
                    <a:pt x="156" y="75"/>
                  </a:lnTo>
                  <a:lnTo>
                    <a:pt x="162" y="44"/>
                  </a:lnTo>
                  <a:lnTo>
                    <a:pt x="168" y="19"/>
                  </a:lnTo>
                  <a:lnTo>
                    <a:pt x="178" y="0"/>
                  </a:lnTo>
                  <a:lnTo>
                    <a:pt x="172" y="6"/>
                  </a:lnTo>
                  <a:lnTo>
                    <a:pt x="162" y="19"/>
                  </a:lnTo>
                  <a:lnTo>
                    <a:pt x="154" y="37"/>
                  </a:lnTo>
                  <a:lnTo>
                    <a:pt x="153" y="89"/>
                  </a:lnTo>
                  <a:lnTo>
                    <a:pt x="154" y="129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88" name="Freeform 128"/>
            <p:cNvSpPr>
              <a:spLocks/>
            </p:cNvSpPr>
            <p:nvPr/>
          </p:nvSpPr>
          <p:spPr bwMode="auto">
            <a:xfrm>
              <a:off x="1670" y="3195"/>
              <a:ext cx="29" cy="35"/>
            </a:xfrm>
            <a:custGeom>
              <a:avLst/>
              <a:gdLst>
                <a:gd name="T0" fmla="*/ 29 w 29"/>
                <a:gd name="T1" fmla="*/ 35 h 35"/>
                <a:gd name="T2" fmla="*/ 15 w 29"/>
                <a:gd name="T3" fmla="*/ 23 h 35"/>
                <a:gd name="T4" fmla="*/ 6 w 29"/>
                <a:gd name="T5" fmla="*/ 12 h 35"/>
                <a:gd name="T6" fmla="*/ 0 w 29"/>
                <a:gd name="T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35">
                  <a:moveTo>
                    <a:pt x="29" y="35"/>
                  </a:moveTo>
                  <a:lnTo>
                    <a:pt x="15" y="23"/>
                  </a:lnTo>
                  <a:lnTo>
                    <a:pt x="6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89" name="Freeform 129"/>
            <p:cNvSpPr>
              <a:spLocks/>
            </p:cNvSpPr>
            <p:nvPr/>
          </p:nvSpPr>
          <p:spPr bwMode="auto">
            <a:xfrm>
              <a:off x="766" y="3201"/>
              <a:ext cx="41" cy="21"/>
            </a:xfrm>
            <a:custGeom>
              <a:avLst/>
              <a:gdLst>
                <a:gd name="T0" fmla="*/ 0 w 41"/>
                <a:gd name="T1" fmla="*/ 21 h 21"/>
                <a:gd name="T2" fmla="*/ 5 w 41"/>
                <a:gd name="T3" fmla="*/ 11 h 21"/>
                <a:gd name="T4" fmla="*/ 12 w 41"/>
                <a:gd name="T5" fmla="*/ 6 h 21"/>
                <a:gd name="T6" fmla="*/ 18 w 41"/>
                <a:gd name="T7" fmla="*/ 0 h 21"/>
                <a:gd name="T8" fmla="*/ 29 w 41"/>
                <a:gd name="T9" fmla="*/ 0 h 21"/>
                <a:gd name="T10" fmla="*/ 35 w 41"/>
                <a:gd name="T11" fmla="*/ 3 h 21"/>
                <a:gd name="T12" fmla="*/ 40 w 41"/>
                <a:gd name="T13" fmla="*/ 10 h 21"/>
                <a:gd name="T14" fmla="*/ 41 w 41"/>
                <a:gd name="T15" fmla="*/ 16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21">
                  <a:moveTo>
                    <a:pt x="0" y="21"/>
                  </a:moveTo>
                  <a:lnTo>
                    <a:pt x="5" y="11"/>
                  </a:lnTo>
                  <a:lnTo>
                    <a:pt x="12" y="6"/>
                  </a:lnTo>
                  <a:lnTo>
                    <a:pt x="18" y="0"/>
                  </a:lnTo>
                  <a:lnTo>
                    <a:pt x="29" y="0"/>
                  </a:lnTo>
                  <a:lnTo>
                    <a:pt x="35" y="3"/>
                  </a:lnTo>
                  <a:lnTo>
                    <a:pt x="40" y="10"/>
                  </a:lnTo>
                  <a:lnTo>
                    <a:pt x="41" y="16"/>
                  </a:lnTo>
                </a:path>
              </a:pathLst>
            </a:custGeom>
            <a:noFill/>
            <a:ln w="0">
              <a:solidFill>
                <a:srgbClr val="FF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90" name="Freeform 130"/>
            <p:cNvSpPr>
              <a:spLocks/>
            </p:cNvSpPr>
            <p:nvPr/>
          </p:nvSpPr>
          <p:spPr bwMode="auto">
            <a:xfrm>
              <a:off x="807" y="3201"/>
              <a:ext cx="42" cy="21"/>
            </a:xfrm>
            <a:custGeom>
              <a:avLst/>
              <a:gdLst>
                <a:gd name="T0" fmla="*/ 42 w 42"/>
                <a:gd name="T1" fmla="*/ 21 h 21"/>
                <a:gd name="T2" fmla="*/ 37 w 42"/>
                <a:gd name="T3" fmla="*/ 12 h 21"/>
                <a:gd name="T4" fmla="*/ 30 w 42"/>
                <a:gd name="T5" fmla="*/ 6 h 21"/>
                <a:gd name="T6" fmla="*/ 23 w 42"/>
                <a:gd name="T7" fmla="*/ 2 h 21"/>
                <a:gd name="T8" fmla="*/ 15 w 42"/>
                <a:gd name="T9" fmla="*/ 0 h 21"/>
                <a:gd name="T10" fmla="*/ 7 w 42"/>
                <a:gd name="T11" fmla="*/ 3 h 21"/>
                <a:gd name="T12" fmla="*/ 2 w 42"/>
                <a:gd name="T13" fmla="*/ 10 h 21"/>
                <a:gd name="T14" fmla="*/ 0 w 42"/>
                <a:gd name="T15" fmla="*/ 16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" h="21">
                  <a:moveTo>
                    <a:pt x="42" y="21"/>
                  </a:moveTo>
                  <a:lnTo>
                    <a:pt x="37" y="12"/>
                  </a:lnTo>
                  <a:lnTo>
                    <a:pt x="30" y="6"/>
                  </a:lnTo>
                  <a:lnTo>
                    <a:pt x="23" y="2"/>
                  </a:lnTo>
                  <a:lnTo>
                    <a:pt x="15" y="0"/>
                  </a:lnTo>
                  <a:lnTo>
                    <a:pt x="7" y="3"/>
                  </a:lnTo>
                  <a:lnTo>
                    <a:pt x="2" y="10"/>
                  </a:lnTo>
                  <a:lnTo>
                    <a:pt x="0" y="16"/>
                  </a:lnTo>
                </a:path>
              </a:pathLst>
            </a:custGeom>
            <a:noFill/>
            <a:ln w="0">
              <a:solidFill>
                <a:srgbClr val="FF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91" name="Freeform 131"/>
            <p:cNvSpPr>
              <a:spLocks/>
            </p:cNvSpPr>
            <p:nvPr/>
          </p:nvSpPr>
          <p:spPr bwMode="auto">
            <a:xfrm>
              <a:off x="807" y="3207"/>
              <a:ext cx="35" cy="32"/>
            </a:xfrm>
            <a:custGeom>
              <a:avLst/>
              <a:gdLst>
                <a:gd name="T0" fmla="*/ 35 w 35"/>
                <a:gd name="T1" fmla="*/ 32 h 32"/>
                <a:gd name="T2" fmla="*/ 33 w 35"/>
                <a:gd name="T3" fmla="*/ 19 h 32"/>
                <a:gd name="T4" fmla="*/ 29 w 35"/>
                <a:gd name="T5" fmla="*/ 10 h 32"/>
                <a:gd name="T6" fmla="*/ 24 w 35"/>
                <a:gd name="T7" fmla="*/ 4 h 32"/>
                <a:gd name="T8" fmla="*/ 19 w 35"/>
                <a:gd name="T9" fmla="*/ 0 h 32"/>
                <a:gd name="T10" fmla="*/ 11 w 35"/>
                <a:gd name="T11" fmla="*/ 0 h 32"/>
                <a:gd name="T12" fmla="*/ 4 w 35"/>
                <a:gd name="T13" fmla="*/ 5 h 32"/>
                <a:gd name="T14" fmla="*/ 0 w 35"/>
                <a:gd name="T15" fmla="*/ 1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32">
                  <a:moveTo>
                    <a:pt x="35" y="32"/>
                  </a:moveTo>
                  <a:lnTo>
                    <a:pt x="33" y="19"/>
                  </a:lnTo>
                  <a:lnTo>
                    <a:pt x="29" y="10"/>
                  </a:lnTo>
                  <a:lnTo>
                    <a:pt x="24" y="4"/>
                  </a:lnTo>
                  <a:lnTo>
                    <a:pt x="19" y="0"/>
                  </a:lnTo>
                  <a:lnTo>
                    <a:pt x="11" y="0"/>
                  </a:lnTo>
                  <a:lnTo>
                    <a:pt x="4" y="5"/>
                  </a:lnTo>
                  <a:lnTo>
                    <a:pt x="0" y="10"/>
                  </a:lnTo>
                </a:path>
              </a:pathLst>
            </a:custGeom>
            <a:noFill/>
            <a:ln w="0">
              <a:solidFill>
                <a:srgbClr val="FF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92" name="Freeform 132"/>
            <p:cNvSpPr>
              <a:spLocks/>
            </p:cNvSpPr>
            <p:nvPr/>
          </p:nvSpPr>
          <p:spPr bwMode="auto">
            <a:xfrm>
              <a:off x="774" y="3207"/>
              <a:ext cx="33" cy="32"/>
            </a:xfrm>
            <a:custGeom>
              <a:avLst/>
              <a:gdLst>
                <a:gd name="T0" fmla="*/ 0 w 33"/>
                <a:gd name="T1" fmla="*/ 32 h 32"/>
                <a:gd name="T2" fmla="*/ 2 w 33"/>
                <a:gd name="T3" fmla="*/ 19 h 32"/>
                <a:gd name="T4" fmla="*/ 6 w 33"/>
                <a:gd name="T5" fmla="*/ 10 h 32"/>
                <a:gd name="T6" fmla="*/ 10 w 33"/>
                <a:gd name="T7" fmla="*/ 4 h 32"/>
                <a:gd name="T8" fmla="*/ 17 w 33"/>
                <a:gd name="T9" fmla="*/ 0 h 32"/>
                <a:gd name="T10" fmla="*/ 23 w 33"/>
                <a:gd name="T11" fmla="*/ 0 h 32"/>
                <a:gd name="T12" fmla="*/ 30 w 33"/>
                <a:gd name="T13" fmla="*/ 5 h 32"/>
                <a:gd name="T14" fmla="*/ 33 w 33"/>
                <a:gd name="T15" fmla="*/ 1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3" h="32">
                  <a:moveTo>
                    <a:pt x="0" y="32"/>
                  </a:moveTo>
                  <a:lnTo>
                    <a:pt x="2" y="19"/>
                  </a:lnTo>
                  <a:lnTo>
                    <a:pt x="6" y="10"/>
                  </a:lnTo>
                  <a:lnTo>
                    <a:pt x="10" y="4"/>
                  </a:lnTo>
                  <a:lnTo>
                    <a:pt x="17" y="0"/>
                  </a:lnTo>
                  <a:lnTo>
                    <a:pt x="23" y="0"/>
                  </a:lnTo>
                  <a:lnTo>
                    <a:pt x="30" y="5"/>
                  </a:lnTo>
                  <a:lnTo>
                    <a:pt x="33" y="10"/>
                  </a:lnTo>
                </a:path>
              </a:pathLst>
            </a:custGeom>
            <a:noFill/>
            <a:ln w="0">
              <a:solidFill>
                <a:srgbClr val="FF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93" name="Freeform 133"/>
            <p:cNvSpPr>
              <a:spLocks/>
            </p:cNvSpPr>
            <p:nvPr/>
          </p:nvSpPr>
          <p:spPr bwMode="auto">
            <a:xfrm>
              <a:off x="807" y="3190"/>
              <a:ext cx="29" cy="27"/>
            </a:xfrm>
            <a:custGeom>
              <a:avLst/>
              <a:gdLst>
                <a:gd name="T0" fmla="*/ 0 w 29"/>
                <a:gd name="T1" fmla="*/ 27 h 27"/>
                <a:gd name="T2" fmla="*/ 0 w 29"/>
                <a:gd name="T3" fmla="*/ 19 h 27"/>
                <a:gd name="T4" fmla="*/ 3 w 29"/>
                <a:gd name="T5" fmla="*/ 11 h 27"/>
                <a:gd name="T6" fmla="*/ 7 w 29"/>
                <a:gd name="T7" fmla="*/ 5 h 27"/>
                <a:gd name="T8" fmla="*/ 15 w 29"/>
                <a:gd name="T9" fmla="*/ 1 h 27"/>
                <a:gd name="T10" fmla="*/ 23 w 29"/>
                <a:gd name="T11" fmla="*/ 0 h 27"/>
                <a:gd name="T12" fmla="*/ 29 w 29"/>
                <a:gd name="T13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7">
                  <a:moveTo>
                    <a:pt x="0" y="27"/>
                  </a:moveTo>
                  <a:lnTo>
                    <a:pt x="0" y="19"/>
                  </a:lnTo>
                  <a:lnTo>
                    <a:pt x="3" y="11"/>
                  </a:lnTo>
                  <a:lnTo>
                    <a:pt x="7" y="5"/>
                  </a:lnTo>
                  <a:lnTo>
                    <a:pt x="15" y="1"/>
                  </a:lnTo>
                  <a:lnTo>
                    <a:pt x="23" y="0"/>
                  </a:lnTo>
                  <a:lnTo>
                    <a:pt x="29" y="2"/>
                  </a:lnTo>
                </a:path>
              </a:pathLst>
            </a:custGeom>
            <a:noFill/>
            <a:ln w="0">
              <a:solidFill>
                <a:srgbClr val="FF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94" name="Freeform 134"/>
            <p:cNvSpPr>
              <a:spLocks/>
            </p:cNvSpPr>
            <p:nvPr/>
          </p:nvSpPr>
          <p:spPr bwMode="auto">
            <a:xfrm>
              <a:off x="776" y="3188"/>
              <a:ext cx="31" cy="29"/>
            </a:xfrm>
            <a:custGeom>
              <a:avLst/>
              <a:gdLst>
                <a:gd name="T0" fmla="*/ 31 w 31"/>
                <a:gd name="T1" fmla="*/ 29 h 29"/>
                <a:gd name="T2" fmla="*/ 30 w 31"/>
                <a:gd name="T3" fmla="*/ 17 h 29"/>
                <a:gd name="T4" fmla="*/ 26 w 31"/>
                <a:gd name="T5" fmla="*/ 10 h 29"/>
                <a:gd name="T6" fmla="*/ 21 w 31"/>
                <a:gd name="T7" fmla="*/ 4 h 29"/>
                <a:gd name="T8" fmla="*/ 13 w 31"/>
                <a:gd name="T9" fmla="*/ 0 h 29"/>
                <a:gd name="T10" fmla="*/ 7 w 31"/>
                <a:gd name="T11" fmla="*/ 2 h 29"/>
                <a:gd name="T12" fmla="*/ 3 w 31"/>
                <a:gd name="T13" fmla="*/ 6 h 29"/>
                <a:gd name="T14" fmla="*/ 0 w 31"/>
                <a:gd name="T15" fmla="*/ 1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" h="29">
                  <a:moveTo>
                    <a:pt x="31" y="29"/>
                  </a:moveTo>
                  <a:lnTo>
                    <a:pt x="30" y="17"/>
                  </a:lnTo>
                  <a:lnTo>
                    <a:pt x="26" y="10"/>
                  </a:lnTo>
                  <a:lnTo>
                    <a:pt x="21" y="4"/>
                  </a:lnTo>
                  <a:lnTo>
                    <a:pt x="13" y="0"/>
                  </a:lnTo>
                  <a:lnTo>
                    <a:pt x="7" y="2"/>
                  </a:lnTo>
                  <a:lnTo>
                    <a:pt x="3" y="6"/>
                  </a:lnTo>
                  <a:lnTo>
                    <a:pt x="0" y="11"/>
                  </a:lnTo>
                </a:path>
              </a:pathLst>
            </a:custGeom>
            <a:noFill/>
            <a:ln w="0">
              <a:solidFill>
                <a:srgbClr val="FF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95" name="Freeform 135"/>
            <p:cNvSpPr>
              <a:spLocks/>
            </p:cNvSpPr>
            <p:nvPr/>
          </p:nvSpPr>
          <p:spPr bwMode="auto">
            <a:xfrm>
              <a:off x="806" y="3183"/>
              <a:ext cx="7" cy="34"/>
            </a:xfrm>
            <a:custGeom>
              <a:avLst/>
              <a:gdLst>
                <a:gd name="T0" fmla="*/ 1 w 7"/>
                <a:gd name="T1" fmla="*/ 34 h 34"/>
                <a:gd name="T2" fmla="*/ 0 w 7"/>
                <a:gd name="T3" fmla="*/ 25 h 34"/>
                <a:gd name="T4" fmla="*/ 0 w 7"/>
                <a:gd name="T5" fmla="*/ 7 h 34"/>
                <a:gd name="T6" fmla="*/ 1 w 7"/>
                <a:gd name="T7" fmla="*/ 2 h 34"/>
                <a:gd name="T8" fmla="*/ 4 w 7"/>
                <a:gd name="T9" fmla="*/ 0 h 34"/>
                <a:gd name="T10" fmla="*/ 7 w 7"/>
                <a:gd name="T11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34">
                  <a:moveTo>
                    <a:pt x="1" y="34"/>
                  </a:moveTo>
                  <a:lnTo>
                    <a:pt x="0" y="25"/>
                  </a:lnTo>
                  <a:lnTo>
                    <a:pt x="0" y="7"/>
                  </a:lnTo>
                  <a:lnTo>
                    <a:pt x="1" y="2"/>
                  </a:lnTo>
                  <a:lnTo>
                    <a:pt x="4" y="0"/>
                  </a:lnTo>
                  <a:lnTo>
                    <a:pt x="7" y="2"/>
                  </a:lnTo>
                </a:path>
              </a:pathLst>
            </a:custGeom>
            <a:noFill/>
            <a:ln w="0">
              <a:solidFill>
                <a:srgbClr val="FF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96" name="Freeform 136"/>
            <p:cNvSpPr>
              <a:spLocks/>
            </p:cNvSpPr>
            <p:nvPr/>
          </p:nvSpPr>
          <p:spPr bwMode="auto">
            <a:xfrm>
              <a:off x="784" y="3216"/>
              <a:ext cx="23" cy="20"/>
            </a:xfrm>
            <a:custGeom>
              <a:avLst/>
              <a:gdLst>
                <a:gd name="T0" fmla="*/ 23 w 23"/>
                <a:gd name="T1" fmla="*/ 1 h 20"/>
                <a:gd name="T2" fmla="*/ 18 w 23"/>
                <a:gd name="T3" fmla="*/ 0 h 20"/>
                <a:gd name="T4" fmla="*/ 12 w 23"/>
                <a:gd name="T5" fmla="*/ 1 h 20"/>
                <a:gd name="T6" fmla="*/ 7 w 23"/>
                <a:gd name="T7" fmla="*/ 5 h 20"/>
                <a:gd name="T8" fmla="*/ 1 w 23"/>
                <a:gd name="T9" fmla="*/ 14 h 20"/>
                <a:gd name="T10" fmla="*/ 0 w 23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" h="20">
                  <a:moveTo>
                    <a:pt x="23" y="1"/>
                  </a:moveTo>
                  <a:lnTo>
                    <a:pt x="18" y="0"/>
                  </a:lnTo>
                  <a:lnTo>
                    <a:pt x="12" y="1"/>
                  </a:lnTo>
                  <a:lnTo>
                    <a:pt x="7" y="5"/>
                  </a:lnTo>
                  <a:lnTo>
                    <a:pt x="1" y="14"/>
                  </a:lnTo>
                  <a:lnTo>
                    <a:pt x="0" y="20"/>
                  </a:lnTo>
                </a:path>
              </a:pathLst>
            </a:custGeom>
            <a:noFill/>
            <a:ln w="0">
              <a:solidFill>
                <a:srgbClr val="FF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97" name="Freeform 137"/>
            <p:cNvSpPr>
              <a:spLocks/>
            </p:cNvSpPr>
            <p:nvPr/>
          </p:nvSpPr>
          <p:spPr bwMode="auto">
            <a:xfrm>
              <a:off x="797" y="3217"/>
              <a:ext cx="10" cy="35"/>
            </a:xfrm>
            <a:custGeom>
              <a:avLst/>
              <a:gdLst>
                <a:gd name="T0" fmla="*/ 10 w 10"/>
                <a:gd name="T1" fmla="*/ 0 h 35"/>
                <a:gd name="T2" fmla="*/ 7 w 10"/>
                <a:gd name="T3" fmla="*/ 1 h 35"/>
                <a:gd name="T4" fmla="*/ 4 w 10"/>
                <a:gd name="T5" fmla="*/ 8 h 35"/>
                <a:gd name="T6" fmla="*/ 0 w 10"/>
                <a:gd name="T7" fmla="*/ 19 h 35"/>
                <a:gd name="T8" fmla="*/ 0 w 10"/>
                <a:gd name="T9" fmla="*/ 27 h 35"/>
                <a:gd name="T10" fmla="*/ 1 w 10"/>
                <a:gd name="T11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35">
                  <a:moveTo>
                    <a:pt x="10" y="0"/>
                  </a:moveTo>
                  <a:lnTo>
                    <a:pt x="7" y="1"/>
                  </a:lnTo>
                  <a:lnTo>
                    <a:pt x="4" y="8"/>
                  </a:lnTo>
                  <a:lnTo>
                    <a:pt x="0" y="19"/>
                  </a:lnTo>
                  <a:lnTo>
                    <a:pt x="0" y="27"/>
                  </a:lnTo>
                  <a:lnTo>
                    <a:pt x="1" y="35"/>
                  </a:lnTo>
                </a:path>
              </a:pathLst>
            </a:custGeom>
            <a:noFill/>
            <a:ln w="0">
              <a:solidFill>
                <a:srgbClr val="FF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98" name="Freeform 138"/>
            <p:cNvSpPr>
              <a:spLocks/>
            </p:cNvSpPr>
            <p:nvPr/>
          </p:nvSpPr>
          <p:spPr bwMode="auto">
            <a:xfrm>
              <a:off x="807" y="3217"/>
              <a:ext cx="7" cy="44"/>
            </a:xfrm>
            <a:custGeom>
              <a:avLst/>
              <a:gdLst>
                <a:gd name="T0" fmla="*/ 0 w 7"/>
                <a:gd name="T1" fmla="*/ 0 h 44"/>
                <a:gd name="T2" fmla="*/ 4 w 7"/>
                <a:gd name="T3" fmla="*/ 4 h 44"/>
                <a:gd name="T4" fmla="*/ 6 w 7"/>
                <a:gd name="T5" fmla="*/ 8 h 44"/>
                <a:gd name="T6" fmla="*/ 7 w 7"/>
                <a:gd name="T7" fmla="*/ 17 h 44"/>
                <a:gd name="T8" fmla="*/ 7 w 7"/>
                <a:gd name="T9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44">
                  <a:moveTo>
                    <a:pt x="0" y="0"/>
                  </a:moveTo>
                  <a:lnTo>
                    <a:pt x="4" y="4"/>
                  </a:lnTo>
                  <a:lnTo>
                    <a:pt x="6" y="8"/>
                  </a:lnTo>
                  <a:lnTo>
                    <a:pt x="7" y="17"/>
                  </a:lnTo>
                  <a:lnTo>
                    <a:pt x="7" y="44"/>
                  </a:lnTo>
                </a:path>
              </a:pathLst>
            </a:custGeom>
            <a:noFill/>
            <a:ln w="0">
              <a:solidFill>
                <a:srgbClr val="FF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299" name="Freeform 139"/>
            <p:cNvSpPr>
              <a:spLocks/>
            </p:cNvSpPr>
            <p:nvPr/>
          </p:nvSpPr>
          <p:spPr bwMode="auto">
            <a:xfrm>
              <a:off x="809" y="3214"/>
              <a:ext cx="23" cy="22"/>
            </a:xfrm>
            <a:custGeom>
              <a:avLst/>
              <a:gdLst>
                <a:gd name="T0" fmla="*/ 0 w 23"/>
                <a:gd name="T1" fmla="*/ 3 h 22"/>
                <a:gd name="T2" fmla="*/ 4 w 23"/>
                <a:gd name="T3" fmla="*/ 0 h 22"/>
                <a:gd name="T4" fmla="*/ 10 w 23"/>
                <a:gd name="T5" fmla="*/ 0 h 22"/>
                <a:gd name="T6" fmla="*/ 17 w 23"/>
                <a:gd name="T7" fmla="*/ 4 h 22"/>
                <a:gd name="T8" fmla="*/ 21 w 23"/>
                <a:gd name="T9" fmla="*/ 13 h 22"/>
                <a:gd name="T10" fmla="*/ 23 w 23"/>
                <a:gd name="T11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" h="22">
                  <a:moveTo>
                    <a:pt x="0" y="3"/>
                  </a:moveTo>
                  <a:lnTo>
                    <a:pt x="4" y="0"/>
                  </a:lnTo>
                  <a:lnTo>
                    <a:pt x="10" y="0"/>
                  </a:lnTo>
                  <a:lnTo>
                    <a:pt x="17" y="4"/>
                  </a:lnTo>
                  <a:lnTo>
                    <a:pt x="21" y="13"/>
                  </a:lnTo>
                  <a:lnTo>
                    <a:pt x="23" y="22"/>
                  </a:lnTo>
                </a:path>
              </a:pathLst>
            </a:custGeom>
            <a:noFill/>
            <a:ln w="0">
              <a:solidFill>
                <a:srgbClr val="FF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00" name="Freeform 140"/>
            <p:cNvSpPr>
              <a:spLocks/>
            </p:cNvSpPr>
            <p:nvPr/>
          </p:nvSpPr>
          <p:spPr bwMode="auto">
            <a:xfrm>
              <a:off x="795" y="3371"/>
              <a:ext cx="35" cy="21"/>
            </a:xfrm>
            <a:custGeom>
              <a:avLst/>
              <a:gdLst>
                <a:gd name="T0" fmla="*/ 0 w 35"/>
                <a:gd name="T1" fmla="*/ 21 h 21"/>
                <a:gd name="T2" fmla="*/ 3 w 35"/>
                <a:gd name="T3" fmla="*/ 12 h 21"/>
                <a:gd name="T4" fmla="*/ 9 w 35"/>
                <a:gd name="T5" fmla="*/ 7 h 21"/>
                <a:gd name="T6" fmla="*/ 15 w 35"/>
                <a:gd name="T7" fmla="*/ 2 h 21"/>
                <a:gd name="T8" fmla="*/ 23 w 35"/>
                <a:gd name="T9" fmla="*/ 0 h 21"/>
                <a:gd name="T10" fmla="*/ 28 w 35"/>
                <a:gd name="T11" fmla="*/ 4 h 21"/>
                <a:gd name="T12" fmla="*/ 33 w 35"/>
                <a:gd name="T13" fmla="*/ 9 h 21"/>
                <a:gd name="T14" fmla="*/ 35 w 35"/>
                <a:gd name="T15" fmla="*/ 16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21">
                  <a:moveTo>
                    <a:pt x="0" y="21"/>
                  </a:moveTo>
                  <a:lnTo>
                    <a:pt x="3" y="12"/>
                  </a:lnTo>
                  <a:lnTo>
                    <a:pt x="9" y="7"/>
                  </a:lnTo>
                  <a:lnTo>
                    <a:pt x="15" y="2"/>
                  </a:lnTo>
                  <a:lnTo>
                    <a:pt x="23" y="0"/>
                  </a:lnTo>
                  <a:lnTo>
                    <a:pt x="28" y="4"/>
                  </a:lnTo>
                  <a:lnTo>
                    <a:pt x="33" y="9"/>
                  </a:lnTo>
                  <a:lnTo>
                    <a:pt x="35" y="16"/>
                  </a:lnTo>
                </a:path>
              </a:pathLst>
            </a:custGeom>
            <a:noFill/>
            <a:ln w="0">
              <a:solidFill>
                <a:srgbClr val="FFC2C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01" name="Freeform 141"/>
            <p:cNvSpPr>
              <a:spLocks/>
            </p:cNvSpPr>
            <p:nvPr/>
          </p:nvSpPr>
          <p:spPr bwMode="auto">
            <a:xfrm>
              <a:off x="830" y="3373"/>
              <a:ext cx="33" cy="19"/>
            </a:xfrm>
            <a:custGeom>
              <a:avLst/>
              <a:gdLst>
                <a:gd name="T0" fmla="*/ 33 w 33"/>
                <a:gd name="T1" fmla="*/ 19 h 19"/>
                <a:gd name="T2" fmla="*/ 29 w 33"/>
                <a:gd name="T3" fmla="*/ 10 h 19"/>
                <a:gd name="T4" fmla="*/ 24 w 33"/>
                <a:gd name="T5" fmla="*/ 5 h 19"/>
                <a:gd name="T6" fmla="*/ 18 w 33"/>
                <a:gd name="T7" fmla="*/ 0 h 19"/>
                <a:gd name="T8" fmla="*/ 11 w 33"/>
                <a:gd name="T9" fmla="*/ 0 h 19"/>
                <a:gd name="T10" fmla="*/ 5 w 33"/>
                <a:gd name="T11" fmla="*/ 2 h 19"/>
                <a:gd name="T12" fmla="*/ 0 w 33"/>
                <a:gd name="T13" fmla="*/ 9 h 19"/>
                <a:gd name="T14" fmla="*/ 0 w 33"/>
                <a:gd name="T15" fmla="*/ 1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3" h="19">
                  <a:moveTo>
                    <a:pt x="33" y="19"/>
                  </a:moveTo>
                  <a:lnTo>
                    <a:pt x="29" y="10"/>
                  </a:lnTo>
                  <a:lnTo>
                    <a:pt x="24" y="5"/>
                  </a:lnTo>
                  <a:lnTo>
                    <a:pt x="18" y="0"/>
                  </a:lnTo>
                  <a:lnTo>
                    <a:pt x="11" y="0"/>
                  </a:lnTo>
                  <a:lnTo>
                    <a:pt x="5" y="2"/>
                  </a:lnTo>
                  <a:lnTo>
                    <a:pt x="0" y="9"/>
                  </a:lnTo>
                  <a:lnTo>
                    <a:pt x="0" y="15"/>
                  </a:lnTo>
                </a:path>
              </a:pathLst>
            </a:custGeom>
            <a:noFill/>
            <a:ln w="0">
              <a:solidFill>
                <a:srgbClr val="FFC2C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02" name="Freeform 142"/>
            <p:cNvSpPr>
              <a:spLocks/>
            </p:cNvSpPr>
            <p:nvPr/>
          </p:nvSpPr>
          <p:spPr bwMode="auto">
            <a:xfrm>
              <a:off x="830" y="3378"/>
              <a:ext cx="28" cy="30"/>
            </a:xfrm>
            <a:custGeom>
              <a:avLst/>
              <a:gdLst>
                <a:gd name="T0" fmla="*/ 28 w 28"/>
                <a:gd name="T1" fmla="*/ 30 h 30"/>
                <a:gd name="T2" fmla="*/ 25 w 28"/>
                <a:gd name="T3" fmla="*/ 18 h 30"/>
                <a:gd name="T4" fmla="*/ 24 w 28"/>
                <a:gd name="T5" fmla="*/ 10 h 30"/>
                <a:gd name="T6" fmla="*/ 19 w 28"/>
                <a:gd name="T7" fmla="*/ 4 h 30"/>
                <a:gd name="T8" fmla="*/ 14 w 28"/>
                <a:gd name="T9" fmla="*/ 0 h 30"/>
                <a:gd name="T10" fmla="*/ 7 w 28"/>
                <a:gd name="T11" fmla="*/ 0 h 30"/>
                <a:gd name="T12" fmla="*/ 2 w 28"/>
                <a:gd name="T13" fmla="*/ 4 h 30"/>
                <a:gd name="T14" fmla="*/ 0 w 28"/>
                <a:gd name="T15" fmla="*/ 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30">
                  <a:moveTo>
                    <a:pt x="28" y="30"/>
                  </a:moveTo>
                  <a:lnTo>
                    <a:pt x="25" y="18"/>
                  </a:lnTo>
                  <a:lnTo>
                    <a:pt x="24" y="10"/>
                  </a:lnTo>
                  <a:lnTo>
                    <a:pt x="19" y="4"/>
                  </a:lnTo>
                  <a:lnTo>
                    <a:pt x="14" y="0"/>
                  </a:lnTo>
                  <a:lnTo>
                    <a:pt x="7" y="0"/>
                  </a:lnTo>
                  <a:lnTo>
                    <a:pt x="2" y="4"/>
                  </a:lnTo>
                  <a:lnTo>
                    <a:pt x="0" y="9"/>
                  </a:lnTo>
                </a:path>
              </a:pathLst>
            </a:custGeom>
            <a:noFill/>
            <a:ln w="0">
              <a:solidFill>
                <a:srgbClr val="FFC2C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03" name="Freeform 143"/>
            <p:cNvSpPr>
              <a:spLocks/>
            </p:cNvSpPr>
            <p:nvPr/>
          </p:nvSpPr>
          <p:spPr bwMode="auto">
            <a:xfrm>
              <a:off x="800" y="3378"/>
              <a:ext cx="30" cy="30"/>
            </a:xfrm>
            <a:custGeom>
              <a:avLst/>
              <a:gdLst>
                <a:gd name="T0" fmla="*/ 0 w 30"/>
                <a:gd name="T1" fmla="*/ 30 h 30"/>
                <a:gd name="T2" fmla="*/ 2 w 30"/>
                <a:gd name="T3" fmla="*/ 18 h 30"/>
                <a:gd name="T4" fmla="*/ 5 w 30"/>
                <a:gd name="T5" fmla="*/ 10 h 30"/>
                <a:gd name="T6" fmla="*/ 9 w 30"/>
                <a:gd name="T7" fmla="*/ 4 h 30"/>
                <a:gd name="T8" fmla="*/ 14 w 30"/>
                <a:gd name="T9" fmla="*/ 0 h 30"/>
                <a:gd name="T10" fmla="*/ 20 w 30"/>
                <a:gd name="T11" fmla="*/ 0 h 30"/>
                <a:gd name="T12" fmla="*/ 26 w 30"/>
                <a:gd name="T13" fmla="*/ 4 h 30"/>
                <a:gd name="T14" fmla="*/ 30 w 30"/>
                <a:gd name="T15" fmla="*/ 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30">
                  <a:moveTo>
                    <a:pt x="0" y="30"/>
                  </a:moveTo>
                  <a:lnTo>
                    <a:pt x="2" y="18"/>
                  </a:lnTo>
                  <a:lnTo>
                    <a:pt x="5" y="10"/>
                  </a:lnTo>
                  <a:lnTo>
                    <a:pt x="9" y="4"/>
                  </a:lnTo>
                  <a:lnTo>
                    <a:pt x="14" y="0"/>
                  </a:lnTo>
                  <a:lnTo>
                    <a:pt x="20" y="0"/>
                  </a:lnTo>
                  <a:lnTo>
                    <a:pt x="26" y="4"/>
                  </a:lnTo>
                  <a:lnTo>
                    <a:pt x="30" y="9"/>
                  </a:lnTo>
                </a:path>
              </a:pathLst>
            </a:custGeom>
            <a:noFill/>
            <a:ln w="0">
              <a:solidFill>
                <a:srgbClr val="FFC2C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04" name="Freeform 144"/>
            <p:cNvSpPr>
              <a:spLocks/>
            </p:cNvSpPr>
            <p:nvPr/>
          </p:nvSpPr>
          <p:spPr bwMode="auto">
            <a:xfrm>
              <a:off x="830" y="3361"/>
              <a:ext cx="24" cy="26"/>
            </a:xfrm>
            <a:custGeom>
              <a:avLst/>
              <a:gdLst>
                <a:gd name="T0" fmla="*/ 0 w 24"/>
                <a:gd name="T1" fmla="*/ 26 h 26"/>
                <a:gd name="T2" fmla="*/ 0 w 24"/>
                <a:gd name="T3" fmla="*/ 19 h 26"/>
                <a:gd name="T4" fmla="*/ 1 w 24"/>
                <a:gd name="T5" fmla="*/ 10 h 26"/>
                <a:gd name="T6" fmla="*/ 5 w 24"/>
                <a:gd name="T7" fmla="*/ 5 h 26"/>
                <a:gd name="T8" fmla="*/ 11 w 24"/>
                <a:gd name="T9" fmla="*/ 0 h 26"/>
                <a:gd name="T10" fmla="*/ 18 w 24"/>
                <a:gd name="T11" fmla="*/ 0 h 26"/>
                <a:gd name="T12" fmla="*/ 24 w 24"/>
                <a:gd name="T13" fmla="*/ 1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26">
                  <a:moveTo>
                    <a:pt x="0" y="26"/>
                  </a:moveTo>
                  <a:lnTo>
                    <a:pt x="0" y="19"/>
                  </a:lnTo>
                  <a:lnTo>
                    <a:pt x="1" y="10"/>
                  </a:lnTo>
                  <a:lnTo>
                    <a:pt x="5" y="5"/>
                  </a:lnTo>
                  <a:lnTo>
                    <a:pt x="11" y="0"/>
                  </a:lnTo>
                  <a:lnTo>
                    <a:pt x="18" y="0"/>
                  </a:lnTo>
                  <a:lnTo>
                    <a:pt x="24" y="1"/>
                  </a:lnTo>
                </a:path>
              </a:pathLst>
            </a:custGeom>
            <a:noFill/>
            <a:ln w="0">
              <a:solidFill>
                <a:srgbClr val="FFC2C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05" name="Freeform 145"/>
            <p:cNvSpPr>
              <a:spLocks/>
            </p:cNvSpPr>
            <p:nvPr/>
          </p:nvSpPr>
          <p:spPr bwMode="auto">
            <a:xfrm>
              <a:off x="802" y="3361"/>
              <a:ext cx="28" cy="26"/>
            </a:xfrm>
            <a:custGeom>
              <a:avLst/>
              <a:gdLst>
                <a:gd name="T0" fmla="*/ 28 w 28"/>
                <a:gd name="T1" fmla="*/ 26 h 26"/>
                <a:gd name="T2" fmla="*/ 26 w 28"/>
                <a:gd name="T3" fmla="*/ 14 h 26"/>
                <a:gd name="T4" fmla="*/ 22 w 28"/>
                <a:gd name="T5" fmla="*/ 7 h 26"/>
                <a:gd name="T6" fmla="*/ 17 w 28"/>
                <a:gd name="T7" fmla="*/ 3 h 26"/>
                <a:gd name="T8" fmla="*/ 12 w 28"/>
                <a:gd name="T9" fmla="*/ 0 h 26"/>
                <a:gd name="T10" fmla="*/ 7 w 28"/>
                <a:gd name="T11" fmla="*/ 0 h 26"/>
                <a:gd name="T12" fmla="*/ 2 w 28"/>
                <a:gd name="T13" fmla="*/ 4 h 26"/>
                <a:gd name="T14" fmla="*/ 0 w 28"/>
                <a:gd name="T15" fmla="*/ 9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26">
                  <a:moveTo>
                    <a:pt x="28" y="26"/>
                  </a:moveTo>
                  <a:lnTo>
                    <a:pt x="26" y="14"/>
                  </a:lnTo>
                  <a:lnTo>
                    <a:pt x="22" y="7"/>
                  </a:lnTo>
                  <a:lnTo>
                    <a:pt x="17" y="3"/>
                  </a:lnTo>
                  <a:lnTo>
                    <a:pt x="12" y="0"/>
                  </a:lnTo>
                  <a:lnTo>
                    <a:pt x="7" y="0"/>
                  </a:lnTo>
                  <a:lnTo>
                    <a:pt x="2" y="4"/>
                  </a:lnTo>
                  <a:lnTo>
                    <a:pt x="0" y="9"/>
                  </a:lnTo>
                </a:path>
              </a:pathLst>
            </a:custGeom>
            <a:noFill/>
            <a:ln w="0">
              <a:solidFill>
                <a:srgbClr val="FFC2C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06" name="Freeform 146"/>
            <p:cNvSpPr>
              <a:spLocks/>
            </p:cNvSpPr>
            <p:nvPr/>
          </p:nvSpPr>
          <p:spPr bwMode="auto">
            <a:xfrm>
              <a:off x="828" y="3355"/>
              <a:ext cx="5" cy="32"/>
            </a:xfrm>
            <a:custGeom>
              <a:avLst/>
              <a:gdLst>
                <a:gd name="T0" fmla="*/ 2 w 5"/>
                <a:gd name="T1" fmla="*/ 32 h 32"/>
                <a:gd name="T2" fmla="*/ 0 w 5"/>
                <a:gd name="T3" fmla="*/ 23 h 32"/>
                <a:gd name="T4" fmla="*/ 0 w 5"/>
                <a:gd name="T5" fmla="*/ 6 h 32"/>
                <a:gd name="T6" fmla="*/ 2 w 5"/>
                <a:gd name="T7" fmla="*/ 1 h 32"/>
                <a:gd name="T8" fmla="*/ 3 w 5"/>
                <a:gd name="T9" fmla="*/ 0 h 32"/>
                <a:gd name="T10" fmla="*/ 5 w 5"/>
                <a:gd name="T11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32">
                  <a:moveTo>
                    <a:pt x="2" y="32"/>
                  </a:moveTo>
                  <a:lnTo>
                    <a:pt x="0" y="23"/>
                  </a:lnTo>
                  <a:lnTo>
                    <a:pt x="0" y="6"/>
                  </a:lnTo>
                  <a:lnTo>
                    <a:pt x="2" y="1"/>
                  </a:lnTo>
                  <a:lnTo>
                    <a:pt x="3" y="0"/>
                  </a:lnTo>
                  <a:lnTo>
                    <a:pt x="5" y="1"/>
                  </a:lnTo>
                </a:path>
              </a:pathLst>
            </a:custGeom>
            <a:noFill/>
            <a:ln w="0">
              <a:solidFill>
                <a:srgbClr val="FFC2C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07" name="Freeform 147"/>
            <p:cNvSpPr>
              <a:spLocks/>
            </p:cNvSpPr>
            <p:nvPr/>
          </p:nvSpPr>
          <p:spPr bwMode="auto">
            <a:xfrm>
              <a:off x="810" y="3386"/>
              <a:ext cx="20" cy="20"/>
            </a:xfrm>
            <a:custGeom>
              <a:avLst/>
              <a:gdLst>
                <a:gd name="T0" fmla="*/ 20 w 20"/>
                <a:gd name="T1" fmla="*/ 1 h 20"/>
                <a:gd name="T2" fmla="*/ 13 w 20"/>
                <a:gd name="T3" fmla="*/ 0 h 20"/>
                <a:gd name="T4" fmla="*/ 9 w 20"/>
                <a:gd name="T5" fmla="*/ 1 h 20"/>
                <a:gd name="T6" fmla="*/ 5 w 20"/>
                <a:gd name="T7" fmla="*/ 5 h 20"/>
                <a:gd name="T8" fmla="*/ 0 w 20"/>
                <a:gd name="T9" fmla="*/ 14 h 20"/>
                <a:gd name="T10" fmla="*/ 0 w 20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20">
                  <a:moveTo>
                    <a:pt x="20" y="1"/>
                  </a:moveTo>
                  <a:lnTo>
                    <a:pt x="13" y="0"/>
                  </a:lnTo>
                  <a:lnTo>
                    <a:pt x="9" y="1"/>
                  </a:lnTo>
                  <a:lnTo>
                    <a:pt x="5" y="5"/>
                  </a:lnTo>
                  <a:lnTo>
                    <a:pt x="0" y="14"/>
                  </a:lnTo>
                  <a:lnTo>
                    <a:pt x="0" y="20"/>
                  </a:lnTo>
                </a:path>
              </a:pathLst>
            </a:custGeom>
            <a:noFill/>
            <a:ln w="0">
              <a:solidFill>
                <a:srgbClr val="FFC2C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08" name="Freeform 148"/>
            <p:cNvSpPr>
              <a:spLocks/>
            </p:cNvSpPr>
            <p:nvPr/>
          </p:nvSpPr>
          <p:spPr bwMode="auto">
            <a:xfrm>
              <a:off x="820" y="3388"/>
              <a:ext cx="10" cy="34"/>
            </a:xfrm>
            <a:custGeom>
              <a:avLst/>
              <a:gdLst>
                <a:gd name="T0" fmla="*/ 10 w 10"/>
                <a:gd name="T1" fmla="*/ 0 h 34"/>
                <a:gd name="T2" fmla="*/ 6 w 10"/>
                <a:gd name="T3" fmla="*/ 2 h 34"/>
                <a:gd name="T4" fmla="*/ 3 w 10"/>
                <a:gd name="T5" fmla="*/ 7 h 34"/>
                <a:gd name="T6" fmla="*/ 2 w 10"/>
                <a:gd name="T7" fmla="*/ 18 h 34"/>
                <a:gd name="T8" fmla="*/ 0 w 10"/>
                <a:gd name="T9" fmla="*/ 26 h 34"/>
                <a:gd name="T10" fmla="*/ 2 w 10"/>
                <a:gd name="T11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34">
                  <a:moveTo>
                    <a:pt x="10" y="0"/>
                  </a:moveTo>
                  <a:lnTo>
                    <a:pt x="6" y="2"/>
                  </a:lnTo>
                  <a:lnTo>
                    <a:pt x="3" y="7"/>
                  </a:lnTo>
                  <a:lnTo>
                    <a:pt x="2" y="18"/>
                  </a:lnTo>
                  <a:lnTo>
                    <a:pt x="0" y="26"/>
                  </a:lnTo>
                  <a:lnTo>
                    <a:pt x="2" y="34"/>
                  </a:lnTo>
                </a:path>
              </a:pathLst>
            </a:custGeom>
            <a:noFill/>
            <a:ln w="0">
              <a:solidFill>
                <a:srgbClr val="FFC2C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09" name="Freeform 149"/>
            <p:cNvSpPr>
              <a:spLocks/>
            </p:cNvSpPr>
            <p:nvPr/>
          </p:nvSpPr>
          <p:spPr bwMode="auto">
            <a:xfrm>
              <a:off x="830" y="3387"/>
              <a:ext cx="5" cy="44"/>
            </a:xfrm>
            <a:custGeom>
              <a:avLst/>
              <a:gdLst>
                <a:gd name="T0" fmla="*/ 0 w 5"/>
                <a:gd name="T1" fmla="*/ 0 h 44"/>
                <a:gd name="T2" fmla="*/ 2 w 5"/>
                <a:gd name="T3" fmla="*/ 4 h 44"/>
                <a:gd name="T4" fmla="*/ 3 w 5"/>
                <a:gd name="T5" fmla="*/ 8 h 44"/>
                <a:gd name="T6" fmla="*/ 5 w 5"/>
                <a:gd name="T7" fmla="*/ 16 h 44"/>
                <a:gd name="T8" fmla="*/ 5 w 5"/>
                <a:gd name="T9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4">
                  <a:moveTo>
                    <a:pt x="0" y="0"/>
                  </a:moveTo>
                  <a:lnTo>
                    <a:pt x="2" y="4"/>
                  </a:lnTo>
                  <a:lnTo>
                    <a:pt x="3" y="8"/>
                  </a:lnTo>
                  <a:lnTo>
                    <a:pt x="5" y="16"/>
                  </a:lnTo>
                  <a:lnTo>
                    <a:pt x="5" y="44"/>
                  </a:lnTo>
                </a:path>
              </a:pathLst>
            </a:custGeom>
            <a:noFill/>
            <a:ln w="0">
              <a:solidFill>
                <a:srgbClr val="FFC2C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10" name="Freeform 150"/>
            <p:cNvSpPr>
              <a:spLocks/>
            </p:cNvSpPr>
            <p:nvPr/>
          </p:nvSpPr>
          <p:spPr bwMode="auto">
            <a:xfrm>
              <a:off x="830" y="3384"/>
              <a:ext cx="20" cy="22"/>
            </a:xfrm>
            <a:custGeom>
              <a:avLst/>
              <a:gdLst>
                <a:gd name="T0" fmla="*/ 0 w 20"/>
                <a:gd name="T1" fmla="*/ 4 h 22"/>
                <a:gd name="T2" fmla="*/ 3 w 20"/>
                <a:gd name="T3" fmla="*/ 0 h 22"/>
                <a:gd name="T4" fmla="*/ 9 w 20"/>
                <a:gd name="T5" fmla="*/ 0 h 22"/>
                <a:gd name="T6" fmla="*/ 15 w 20"/>
                <a:gd name="T7" fmla="*/ 6 h 22"/>
                <a:gd name="T8" fmla="*/ 19 w 20"/>
                <a:gd name="T9" fmla="*/ 13 h 22"/>
                <a:gd name="T10" fmla="*/ 20 w 20"/>
                <a:gd name="T11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22">
                  <a:moveTo>
                    <a:pt x="0" y="4"/>
                  </a:moveTo>
                  <a:lnTo>
                    <a:pt x="3" y="0"/>
                  </a:lnTo>
                  <a:lnTo>
                    <a:pt x="9" y="0"/>
                  </a:lnTo>
                  <a:lnTo>
                    <a:pt x="15" y="6"/>
                  </a:lnTo>
                  <a:lnTo>
                    <a:pt x="19" y="13"/>
                  </a:lnTo>
                  <a:lnTo>
                    <a:pt x="20" y="22"/>
                  </a:lnTo>
                </a:path>
              </a:pathLst>
            </a:custGeom>
            <a:noFill/>
            <a:ln w="0">
              <a:solidFill>
                <a:srgbClr val="FFC2C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11" name="Freeform 151"/>
            <p:cNvSpPr>
              <a:spLocks/>
            </p:cNvSpPr>
            <p:nvPr/>
          </p:nvSpPr>
          <p:spPr bwMode="auto">
            <a:xfrm>
              <a:off x="797" y="3281"/>
              <a:ext cx="48" cy="18"/>
            </a:xfrm>
            <a:custGeom>
              <a:avLst/>
              <a:gdLst>
                <a:gd name="T0" fmla="*/ 48 w 48"/>
                <a:gd name="T1" fmla="*/ 18 h 18"/>
                <a:gd name="T2" fmla="*/ 43 w 48"/>
                <a:gd name="T3" fmla="*/ 9 h 18"/>
                <a:gd name="T4" fmla="*/ 33 w 48"/>
                <a:gd name="T5" fmla="*/ 2 h 18"/>
                <a:gd name="T6" fmla="*/ 21 w 48"/>
                <a:gd name="T7" fmla="*/ 0 h 18"/>
                <a:gd name="T8" fmla="*/ 9 w 48"/>
                <a:gd name="T9" fmla="*/ 1 h 18"/>
                <a:gd name="T10" fmla="*/ 3 w 48"/>
                <a:gd name="T11" fmla="*/ 5 h 18"/>
                <a:gd name="T12" fmla="*/ 0 w 48"/>
                <a:gd name="T13" fmla="*/ 15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8">
                  <a:moveTo>
                    <a:pt x="48" y="18"/>
                  </a:moveTo>
                  <a:lnTo>
                    <a:pt x="43" y="9"/>
                  </a:lnTo>
                  <a:lnTo>
                    <a:pt x="33" y="2"/>
                  </a:lnTo>
                  <a:lnTo>
                    <a:pt x="21" y="0"/>
                  </a:lnTo>
                  <a:lnTo>
                    <a:pt x="9" y="1"/>
                  </a:lnTo>
                  <a:lnTo>
                    <a:pt x="3" y="5"/>
                  </a:lnTo>
                  <a:lnTo>
                    <a:pt x="0" y="15"/>
                  </a:lnTo>
                </a:path>
              </a:pathLst>
            </a:custGeom>
            <a:noFill/>
            <a:ln w="0">
              <a:solidFill>
                <a:srgbClr val="C2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12" name="Freeform 152"/>
            <p:cNvSpPr>
              <a:spLocks/>
            </p:cNvSpPr>
            <p:nvPr/>
          </p:nvSpPr>
          <p:spPr bwMode="auto">
            <a:xfrm>
              <a:off x="793" y="3290"/>
              <a:ext cx="52" cy="32"/>
            </a:xfrm>
            <a:custGeom>
              <a:avLst/>
              <a:gdLst>
                <a:gd name="T0" fmla="*/ 52 w 52"/>
                <a:gd name="T1" fmla="*/ 9 h 32"/>
                <a:gd name="T2" fmla="*/ 43 w 52"/>
                <a:gd name="T3" fmla="*/ 2 h 32"/>
                <a:gd name="T4" fmla="*/ 29 w 52"/>
                <a:gd name="T5" fmla="*/ 0 h 32"/>
                <a:gd name="T6" fmla="*/ 13 w 52"/>
                <a:gd name="T7" fmla="*/ 2 h 32"/>
                <a:gd name="T8" fmla="*/ 4 w 52"/>
                <a:gd name="T9" fmla="*/ 11 h 32"/>
                <a:gd name="T10" fmla="*/ 2 w 52"/>
                <a:gd name="T11" fmla="*/ 22 h 32"/>
                <a:gd name="T12" fmla="*/ 0 w 52"/>
                <a:gd name="T13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32">
                  <a:moveTo>
                    <a:pt x="52" y="9"/>
                  </a:moveTo>
                  <a:lnTo>
                    <a:pt x="43" y="2"/>
                  </a:lnTo>
                  <a:lnTo>
                    <a:pt x="29" y="0"/>
                  </a:lnTo>
                  <a:lnTo>
                    <a:pt x="13" y="2"/>
                  </a:lnTo>
                  <a:lnTo>
                    <a:pt x="4" y="11"/>
                  </a:lnTo>
                  <a:lnTo>
                    <a:pt x="2" y="22"/>
                  </a:lnTo>
                  <a:lnTo>
                    <a:pt x="0" y="32"/>
                  </a:lnTo>
                </a:path>
              </a:pathLst>
            </a:custGeom>
            <a:noFill/>
            <a:ln w="0">
              <a:solidFill>
                <a:srgbClr val="C2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13" name="Freeform 153"/>
            <p:cNvSpPr>
              <a:spLocks/>
            </p:cNvSpPr>
            <p:nvPr/>
          </p:nvSpPr>
          <p:spPr bwMode="auto">
            <a:xfrm>
              <a:off x="810" y="3271"/>
              <a:ext cx="35" cy="28"/>
            </a:xfrm>
            <a:custGeom>
              <a:avLst/>
              <a:gdLst>
                <a:gd name="T0" fmla="*/ 35 w 35"/>
                <a:gd name="T1" fmla="*/ 28 h 28"/>
                <a:gd name="T2" fmla="*/ 32 w 35"/>
                <a:gd name="T3" fmla="*/ 13 h 28"/>
                <a:gd name="T4" fmla="*/ 25 w 35"/>
                <a:gd name="T5" fmla="*/ 6 h 28"/>
                <a:gd name="T6" fmla="*/ 13 w 35"/>
                <a:gd name="T7" fmla="*/ 0 h 28"/>
                <a:gd name="T8" fmla="*/ 7 w 35"/>
                <a:gd name="T9" fmla="*/ 3 h 28"/>
                <a:gd name="T10" fmla="*/ 0 w 35"/>
                <a:gd name="T11" fmla="*/ 15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28">
                  <a:moveTo>
                    <a:pt x="35" y="28"/>
                  </a:moveTo>
                  <a:lnTo>
                    <a:pt x="32" y="13"/>
                  </a:lnTo>
                  <a:lnTo>
                    <a:pt x="25" y="6"/>
                  </a:lnTo>
                  <a:lnTo>
                    <a:pt x="13" y="0"/>
                  </a:lnTo>
                  <a:lnTo>
                    <a:pt x="7" y="3"/>
                  </a:lnTo>
                  <a:lnTo>
                    <a:pt x="0" y="15"/>
                  </a:lnTo>
                </a:path>
              </a:pathLst>
            </a:custGeom>
            <a:noFill/>
            <a:ln w="0">
              <a:solidFill>
                <a:srgbClr val="C2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14" name="Freeform 154"/>
            <p:cNvSpPr>
              <a:spLocks/>
            </p:cNvSpPr>
            <p:nvPr/>
          </p:nvSpPr>
          <p:spPr bwMode="auto">
            <a:xfrm>
              <a:off x="832" y="3260"/>
              <a:ext cx="14" cy="39"/>
            </a:xfrm>
            <a:custGeom>
              <a:avLst/>
              <a:gdLst>
                <a:gd name="T0" fmla="*/ 13 w 14"/>
                <a:gd name="T1" fmla="*/ 39 h 39"/>
                <a:gd name="T2" fmla="*/ 13 w 14"/>
                <a:gd name="T3" fmla="*/ 24 h 39"/>
                <a:gd name="T4" fmla="*/ 14 w 14"/>
                <a:gd name="T5" fmla="*/ 13 h 39"/>
                <a:gd name="T6" fmla="*/ 10 w 14"/>
                <a:gd name="T7" fmla="*/ 2 h 39"/>
                <a:gd name="T8" fmla="*/ 7 w 14"/>
                <a:gd name="T9" fmla="*/ 0 h 39"/>
                <a:gd name="T10" fmla="*/ 0 w 14"/>
                <a:gd name="T11" fmla="*/ 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39">
                  <a:moveTo>
                    <a:pt x="13" y="39"/>
                  </a:moveTo>
                  <a:lnTo>
                    <a:pt x="13" y="24"/>
                  </a:lnTo>
                  <a:lnTo>
                    <a:pt x="14" y="13"/>
                  </a:lnTo>
                  <a:lnTo>
                    <a:pt x="10" y="2"/>
                  </a:lnTo>
                  <a:lnTo>
                    <a:pt x="7" y="0"/>
                  </a:lnTo>
                  <a:lnTo>
                    <a:pt x="0" y="2"/>
                  </a:lnTo>
                </a:path>
              </a:pathLst>
            </a:custGeom>
            <a:noFill/>
            <a:ln w="0">
              <a:solidFill>
                <a:srgbClr val="C2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15" name="Freeform 155"/>
            <p:cNvSpPr>
              <a:spLocks/>
            </p:cNvSpPr>
            <p:nvPr/>
          </p:nvSpPr>
          <p:spPr bwMode="auto">
            <a:xfrm>
              <a:off x="845" y="3269"/>
              <a:ext cx="26" cy="28"/>
            </a:xfrm>
            <a:custGeom>
              <a:avLst/>
              <a:gdLst>
                <a:gd name="T0" fmla="*/ 0 w 26"/>
                <a:gd name="T1" fmla="*/ 28 h 28"/>
                <a:gd name="T2" fmla="*/ 7 w 26"/>
                <a:gd name="T3" fmla="*/ 12 h 28"/>
                <a:gd name="T4" fmla="*/ 12 w 26"/>
                <a:gd name="T5" fmla="*/ 4 h 28"/>
                <a:gd name="T6" fmla="*/ 16 w 26"/>
                <a:gd name="T7" fmla="*/ 1 h 28"/>
                <a:gd name="T8" fmla="*/ 26 w 26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28">
                  <a:moveTo>
                    <a:pt x="0" y="28"/>
                  </a:moveTo>
                  <a:lnTo>
                    <a:pt x="7" y="12"/>
                  </a:lnTo>
                  <a:lnTo>
                    <a:pt x="12" y="4"/>
                  </a:lnTo>
                  <a:lnTo>
                    <a:pt x="16" y="1"/>
                  </a:lnTo>
                  <a:lnTo>
                    <a:pt x="26" y="0"/>
                  </a:lnTo>
                </a:path>
              </a:pathLst>
            </a:custGeom>
            <a:noFill/>
            <a:ln w="0">
              <a:solidFill>
                <a:srgbClr val="C2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16" name="Freeform 156"/>
            <p:cNvSpPr>
              <a:spLocks/>
            </p:cNvSpPr>
            <p:nvPr/>
          </p:nvSpPr>
          <p:spPr bwMode="auto">
            <a:xfrm>
              <a:off x="845" y="3277"/>
              <a:ext cx="52" cy="22"/>
            </a:xfrm>
            <a:custGeom>
              <a:avLst/>
              <a:gdLst>
                <a:gd name="T0" fmla="*/ 0 w 52"/>
                <a:gd name="T1" fmla="*/ 22 h 22"/>
                <a:gd name="T2" fmla="*/ 9 w 52"/>
                <a:gd name="T3" fmla="*/ 6 h 22"/>
                <a:gd name="T4" fmla="*/ 20 w 52"/>
                <a:gd name="T5" fmla="*/ 2 h 22"/>
                <a:gd name="T6" fmla="*/ 34 w 52"/>
                <a:gd name="T7" fmla="*/ 0 h 22"/>
                <a:gd name="T8" fmla="*/ 44 w 52"/>
                <a:gd name="T9" fmla="*/ 4 h 22"/>
                <a:gd name="T10" fmla="*/ 52 w 52"/>
                <a:gd name="T11" fmla="*/ 1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22">
                  <a:moveTo>
                    <a:pt x="0" y="22"/>
                  </a:moveTo>
                  <a:lnTo>
                    <a:pt x="9" y="6"/>
                  </a:lnTo>
                  <a:lnTo>
                    <a:pt x="20" y="2"/>
                  </a:lnTo>
                  <a:lnTo>
                    <a:pt x="34" y="0"/>
                  </a:lnTo>
                  <a:lnTo>
                    <a:pt x="44" y="4"/>
                  </a:lnTo>
                  <a:lnTo>
                    <a:pt x="52" y="14"/>
                  </a:lnTo>
                </a:path>
              </a:pathLst>
            </a:custGeom>
            <a:noFill/>
            <a:ln w="0">
              <a:solidFill>
                <a:srgbClr val="C2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17" name="Freeform 157"/>
            <p:cNvSpPr>
              <a:spLocks/>
            </p:cNvSpPr>
            <p:nvPr/>
          </p:nvSpPr>
          <p:spPr bwMode="auto">
            <a:xfrm>
              <a:off x="845" y="3292"/>
              <a:ext cx="69" cy="31"/>
            </a:xfrm>
            <a:custGeom>
              <a:avLst/>
              <a:gdLst>
                <a:gd name="T0" fmla="*/ 0 w 69"/>
                <a:gd name="T1" fmla="*/ 7 h 31"/>
                <a:gd name="T2" fmla="*/ 14 w 69"/>
                <a:gd name="T3" fmla="*/ 0 h 31"/>
                <a:gd name="T4" fmla="*/ 47 w 69"/>
                <a:gd name="T5" fmla="*/ 0 h 31"/>
                <a:gd name="T6" fmla="*/ 58 w 69"/>
                <a:gd name="T7" fmla="*/ 7 h 31"/>
                <a:gd name="T8" fmla="*/ 66 w 69"/>
                <a:gd name="T9" fmla="*/ 17 h 31"/>
                <a:gd name="T10" fmla="*/ 69 w 69"/>
                <a:gd name="T11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9" h="31">
                  <a:moveTo>
                    <a:pt x="0" y="7"/>
                  </a:moveTo>
                  <a:lnTo>
                    <a:pt x="14" y="0"/>
                  </a:lnTo>
                  <a:lnTo>
                    <a:pt x="47" y="0"/>
                  </a:lnTo>
                  <a:lnTo>
                    <a:pt x="58" y="7"/>
                  </a:lnTo>
                  <a:lnTo>
                    <a:pt x="66" y="17"/>
                  </a:lnTo>
                  <a:lnTo>
                    <a:pt x="69" y="31"/>
                  </a:lnTo>
                </a:path>
              </a:pathLst>
            </a:custGeom>
            <a:noFill/>
            <a:ln w="0">
              <a:solidFill>
                <a:srgbClr val="C2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18" name="Freeform 158"/>
            <p:cNvSpPr>
              <a:spLocks/>
            </p:cNvSpPr>
            <p:nvPr/>
          </p:nvSpPr>
          <p:spPr bwMode="auto">
            <a:xfrm>
              <a:off x="845" y="3296"/>
              <a:ext cx="40" cy="56"/>
            </a:xfrm>
            <a:custGeom>
              <a:avLst/>
              <a:gdLst>
                <a:gd name="T0" fmla="*/ 0 w 40"/>
                <a:gd name="T1" fmla="*/ 3 h 56"/>
                <a:gd name="T2" fmla="*/ 16 w 40"/>
                <a:gd name="T3" fmla="*/ 0 h 56"/>
                <a:gd name="T4" fmla="*/ 29 w 40"/>
                <a:gd name="T5" fmla="*/ 3 h 56"/>
                <a:gd name="T6" fmla="*/ 38 w 40"/>
                <a:gd name="T7" fmla="*/ 13 h 56"/>
                <a:gd name="T8" fmla="*/ 40 w 40"/>
                <a:gd name="T9" fmla="*/ 30 h 56"/>
                <a:gd name="T10" fmla="*/ 40 w 40"/>
                <a:gd name="T11" fmla="*/ 42 h 56"/>
                <a:gd name="T12" fmla="*/ 36 w 40"/>
                <a:gd name="T13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56">
                  <a:moveTo>
                    <a:pt x="0" y="3"/>
                  </a:moveTo>
                  <a:lnTo>
                    <a:pt x="16" y="0"/>
                  </a:lnTo>
                  <a:lnTo>
                    <a:pt x="29" y="3"/>
                  </a:lnTo>
                  <a:lnTo>
                    <a:pt x="38" y="13"/>
                  </a:lnTo>
                  <a:lnTo>
                    <a:pt x="40" y="30"/>
                  </a:lnTo>
                  <a:lnTo>
                    <a:pt x="40" y="42"/>
                  </a:lnTo>
                  <a:lnTo>
                    <a:pt x="36" y="56"/>
                  </a:lnTo>
                </a:path>
              </a:pathLst>
            </a:custGeom>
            <a:noFill/>
            <a:ln w="0">
              <a:solidFill>
                <a:srgbClr val="C2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19" name="Freeform 159"/>
            <p:cNvSpPr>
              <a:spLocks/>
            </p:cNvSpPr>
            <p:nvPr/>
          </p:nvSpPr>
          <p:spPr bwMode="auto">
            <a:xfrm>
              <a:off x="845" y="3300"/>
              <a:ext cx="18" cy="40"/>
            </a:xfrm>
            <a:custGeom>
              <a:avLst/>
              <a:gdLst>
                <a:gd name="T0" fmla="*/ 0 w 18"/>
                <a:gd name="T1" fmla="*/ 0 h 40"/>
                <a:gd name="T2" fmla="*/ 13 w 18"/>
                <a:gd name="T3" fmla="*/ 3 h 40"/>
                <a:gd name="T4" fmla="*/ 18 w 18"/>
                <a:gd name="T5" fmla="*/ 10 h 40"/>
                <a:gd name="T6" fmla="*/ 18 w 18"/>
                <a:gd name="T7" fmla="*/ 25 h 40"/>
                <a:gd name="T8" fmla="*/ 16 w 18"/>
                <a:gd name="T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40">
                  <a:moveTo>
                    <a:pt x="0" y="0"/>
                  </a:moveTo>
                  <a:lnTo>
                    <a:pt x="13" y="3"/>
                  </a:lnTo>
                  <a:lnTo>
                    <a:pt x="18" y="10"/>
                  </a:lnTo>
                  <a:lnTo>
                    <a:pt x="18" y="25"/>
                  </a:lnTo>
                  <a:lnTo>
                    <a:pt x="16" y="40"/>
                  </a:lnTo>
                </a:path>
              </a:pathLst>
            </a:custGeom>
            <a:noFill/>
            <a:ln w="0">
              <a:solidFill>
                <a:srgbClr val="C2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20" name="Freeform 160"/>
            <p:cNvSpPr>
              <a:spLocks/>
            </p:cNvSpPr>
            <p:nvPr/>
          </p:nvSpPr>
          <p:spPr bwMode="auto">
            <a:xfrm>
              <a:off x="844" y="3300"/>
              <a:ext cx="8" cy="44"/>
            </a:xfrm>
            <a:custGeom>
              <a:avLst/>
              <a:gdLst>
                <a:gd name="T0" fmla="*/ 1 w 8"/>
                <a:gd name="T1" fmla="*/ 0 h 44"/>
                <a:gd name="T2" fmla="*/ 6 w 8"/>
                <a:gd name="T3" fmla="*/ 5 h 44"/>
                <a:gd name="T4" fmla="*/ 8 w 8"/>
                <a:gd name="T5" fmla="*/ 18 h 44"/>
                <a:gd name="T6" fmla="*/ 5 w 8"/>
                <a:gd name="T7" fmla="*/ 31 h 44"/>
                <a:gd name="T8" fmla="*/ 0 w 8"/>
                <a:gd name="T9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44">
                  <a:moveTo>
                    <a:pt x="1" y="0"/>
                  </a:moveTo>
                  <a:lnTo>
                    <a:pt x="6" y="5"/>
                  </a:lnTo>
                  <a:lnTo>
                    <a:pt x="8" y="18"/>
                  </a:lnTo>
                  <a:lnTo>
                    <a:pt x="5" y="31"/>
                  </a:lnTo>
                  <a:lnTo>
                    <a:pt x="0" y="44"/>
                  </a:lnTo>
                </a:path>
              </a:pathLst>
            </a:custGeom>
            <a:noFill/>
            <a:ln w="0">
              <a:solidFill>
                <a:srgbClr val="C2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21" name="Freeform 161"/>
            <p:cNvSpPr>
              <a:spLocks/>
            </p:cNvSpPr>
            <p:nvPr/>
          </p:nvSpPr>
          <p:spPr bwMode="auto">
            <a:xfrm>
              <a:off x="833" y="3300"/>
              <a:ext cx="12" cy="29"/>
            </a:xfrm>
            <a:custGeom>
              <a:avLst/>
              <a:gdLst>
                <a:gd name="T0" fmla="*/ 12 w 12"/>
                <a:gd name="T1" fmla="*/ 0 h 29"/>
                <a:gd name="T2" fmla="*/ 6 w 12"/>
                <a:gd name="T3" fmla="*/ 7 h 29"/>
                <a:gd name="T4" fmla="*/ 0 w 12"/>
                <a:gd name="T5" fmla="*/ 18 h 29"/>
                <a:gd name="T6" fmla="*/ 0 w 12"/>
                <a:gd name="T7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29">
                  <a:moveTo>
                    <a:pt x="12" y="0"/>
                  </a:moveTo>
                  <a:lnTo>
                    <a:pt x="6" y="7"/>
                  </a:lnTo>
                  <a:lnTo>
                    <a:pt x="0" y="18"/>
                  </a:lnTo>
                  <a:lnTo>
                    <a:pt x="0" y="29"/>
                  </a:lnTo>
                </a:path>
              </a:pathLst>
            </a:custGeom>
            <a:noFill/>
            <a:ln w="0">
              <a:solidFill>
                <a:srgbClr val="C2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22" name="Freeform 162"/>
            <p:cNvSpPr>
              <a:spLocks/>
            </p:cNvSpPr>
            <p:nvPr/>
          </p:nvSpPr>
          <p:spPr bwMode="auto">
            <a:xfrm>
              <a:off x="810" y="3297"/>
              <a:ext cx="35" cy="42"/>
            </a:xfrm>
            <a:custGeom>
              <a:avLst/>
              <a:gdLst>
                <a:gd name="T0" fmla="*/ 35 w 35"/>
                <a:gd name="T1" fmla="*/ 3 h 42"/>
                <a:gd name="T2" fmla="*/ 26 w 35"/>
                <a:gd name="T3" fmla="*/ 0 h 42"/>
                <a:gd name="T4" fmla="*/ 13 w 35"/>
                <a:gd name="T5" fmla="*/ 2 h 42"/>
                <a:gd name="T6" fmla="*/ 5 w 35"/>
                <a:gd name="T7" fmla="*/ 10 h 42"/>
                <a:gd name="T8" fmla="*/ 0 w 35"/>
                <a:gd name="T9" fmla="*/ 25 h 42"/>
                <a:gd name="T10" fmla="*/ 3 w 35"/>
                <a:gd name="T1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42">
                  <a:moveTo>
                    <a:pt x="35" y="3"/>
                  </a:moveTo>
                  <a:lnTo>
                    <a:pt x="26" y="0"/>
                  </a:lnTo>
                  <a:lnTo>
                    <a:pt x="13" y="2"/>
                  </a:lnTo>
                  <a:lnTo>
                    <a:pt x="5" y="10"/>
                  </a:lnTo>
                  <a:lnTo>
                    <a:pt x="0" y="25"/>
                  </a:lnTo>
                  <a:lnTo>
                    <a:pt x="3" y="42"/>
                  </a:lnTo>
                </a:path>
              </a:pathLst>
            </a:custGeom>
            <a:noFill/>
            <a:ln w="0">
              <a:solidFill>
                <a:srgbClr val="C2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23" name="Freeform 163"/>
            <p:cNvSpPr>
              <a:spLocks/>
            </p:cNvSpPr>
            <p:nvPr/>
          </p:nvSpPr>
          <p:spPr bwMode="auto">
            <a:xfrm>
              <a:off x="877" y="3444"/>
              <a:ext cx="28" cy="12"/>
            </a:xfrm>
            <a:custGeom>
              <a:avLst/>
              <a:gdLst>
                <a:gd name="T0" fmla="*/ 0 w 28"/>
                <a:gd name="T1" fmla="*/ 12 h 12"/>
                <a:gd name="T2" fmla="*/ 2 w 28"/>
                <a:gd name="T3" fmla="*/ 5 h 12"/>
                <a:gd name="T4" fmla="*/ 8 w 28"/>
                <a:gd name="T5" fmla="*/ 3 h 12"/>
                <a:gd name="T6" fmla="*/ 16 w 28"/>
                <a:gd name="T7" fmla="*/ 0 h 12"/>
                <a:gd name="T8" fmla="*/ 23 w 28"/>
                <a:gd name="T9" fmla="*/ 1 h 12"/>
                <a:gd name="T10" fmla="*/ 26 w 28"/>
                <a:gd name="T11" fmla="*/ 3 h 12"/>
                <a:gd name="T12" fmla="*/ 28 w 28"/>
                <a:gd name="T13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12">
                  <a:moveTo>
                    <a:pt x="0" y="12"/>
                  </a:moveTo>
                  <a:lnTo>
                    <a:pt x="2" y="5"/>
                  </a:lnTo>
                  <a:lnTo>
                    <a:pt x="8" y="3"/>
                  </a:lnTo>
                  <a:lnTo>
                    <a:pt x="16" y="0"/>
                  </a:lnTo>
                  <a:lnTo>
                    <a:pt x="23" y="1"/>
                  </a:lnTo>
                  <a:lnTo>
                    <a:pt x="26" y="3"/>
                  </a:lnTo>
                  <a:lnTo>
                    <a:pt x="28" y="9"/>
                  </a:lnTo>
                </a:path>
              </a:pathLst>
            </a:custGeom>
            <a:noFill/>
            <a:ln w="0">
              <a:solidFill>
                <a:srgbClr val="FF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24" name="Freeform 164"/>
            <p:cNvSpPr>
              <a:spLocks/>
            </p:cNvSpPr>
            <p:nvPr/>
          </p:nvSpPr>
          <p:spPr bwMode="auto">
            <a:xfrm>
              <a:off x="877" y="3449"/>
              <a:ext cx="30" cy="21"/>
            </a:xfrm>
            <a:custGeom>
              <a:avLst/>
              <a:gdLst>
                <a:gd name="T0" fmla="*/ 0 w 30"/>
                <a:gd name="T1" fmla="*/ 7 h 21"/>
                <a:gd name="T2" fmla="*/ 4 w 30"/>
                <a:gd name="T3" fmla="*/ 3 h 21"/>
                <a:gd name="T4" fmla="*/ 13 w 30"/>
                <a:gd name="T5" fmla="*/ 0 h 21"/>
                <a:gd name="T6" fmla="*/ 23 w 30"/>
                <a:gd name="T7" fmla="*/ 3 h 21"/>
                <a:gd name="T8" fmla="*/ 28 w 30"/>
                <a:gd name="T9" fmla="*/ 8 h 21"/>
                <a:gd name="T10" fmla="*/ 30 w 30"/>
                <a:gd name="T11" fmla="*/ 13 h 21"/>
                <a:gd name="T12" fmla="*/ 30 w 30"/>
                <a:gd name="T1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21">
                  <a:moveTo>
                    <a:pt x="0" y="7"/>
                  </a:moveTo>
                  <a:lnTo>
                    <a:pt x="4" y="3"/>
                  </a:lnTo>
                  <a:lnTo>
                    <a:pt x="13" y="0"/>
                  </a:lnTo>
                  <a:lnTo>
                    <a:pt x="23" y="3"/>
                  </a:lnTo>
                  <a:lnTo>
                    <a:pt x="28" y="8"/>
                  </a:lnTo>
                  <a:lnTo>
                    <a:pt x="30" y="13"/>
                  </a:lnTo>
                  <a:lnTo>
                    <a:pt x="30" y="21"/>
                  </a:lnTo>
                </a:path>
              </a:pathLst>
            </a:custGeom>
            <a:noFill/>
            <a:ln w="0">
              <a:solidFill>
                <a:srgbClr val="FF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25" name="Freeform 165"/>
            <p:cNvSpPr>
              <a:spLocks/>
            </p:cNvSpPr>
            <p:nvPr/>
          </p:nvSpPr>
          <p:spPr bwMode="auto">
            <a:xfrm>
              <a:off x="877" y="3439"/>
              <a:ext cx="20" cy="17"/>
            </a:xfrm>
            <a:custGeom>
              <a:avLst/>
              <a:gdLst>
                <a:gd name="T0" fmla="*/ 0 w 20"/>
                <a:gd name="T1" fmla="*/ 17 h 17"/>
                <a:gd name="T2" fmla="*/ 0 w 20"/>
                <a:gd name="T3" fmla="*/ 8 h 17"/>
                <a:gd name="T4" fmla="*/ 6 w 20"/>
                <a:gd name="T5" fmla="*/ 2 h 17"/>
                <a:gd name="T6" fmla="*/ 13 w 20"/>
                <a:gd name="T7" fmla="*/ 0 h 17"/>
                <a:gd name="T8" fmla="*/ 17 w 20"/>
                <a:gd name="T9" fmla="*/ 1 h 17"/>
                <a:gd name="T10" fmla="*/ 20 w 20"/>
                <a:gd name="T11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17">
                  <a:moveTo>
                    <a:pt x="0" y="17"/>
                  </a:moveTo>
                  <a:lnTo>
                    <a:pt x="0" y="8"/>
                  </a:lnTo>
                  <a:lnTo>
                    <a:pt x="6" y="2"/>
                  </a:lnTo>
                  <a:lnTo>
                    <a:pt x="13" y="0"/>
                  </a:lnTo>
                  <a:lnTo>
                    <a:pt x="17" y="1"/>
                  </a:lnTo>
                  <a:lnTo>
                    <a:pt x="20" y="8"/>
                  </a:lnTo>
                </a:path>
              </a:pathLst>
            </a:custGeom>
            <a:noFill/>
            <a:ln w="0">
              <a:solidFill>
                <a:srgbClr val="FF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26" name="Freeform 166"/>
            <p:cNvSpPr>
              <a:spLocks/>
            </p:cNvSpPr>
            <p:nvPr/>
          </p:nvSpPr>
          <p:spPr bwMode="auto">
            <a:xfrm>
              <a:off x="875" y="3431"/>
              <a:ext cx="9" cy="25"/>
            </a:xfrm>
            <a:custGeom>
              <a:avLst/>
              <a:gdLst>
                <a:gd name="T0" fmla="*/ 2 w 9"/>
                <a:gd name="T1" fmla="*/ 25 h 25"/>
                <a:gd name="T2" fmla="*/ 1 w 9"/>
                <a:gd name="T3" fmla="*/ 16 h 25"/>
                <a:gd name="T4" fmla="*/ 0 w 9"/>
                <a:gd name="T5" fmla="*/ 8 h 25"/>
                <a:gd name="T6" fmla="*/ 2 w 9"/>
                <a:gd name="T7" fmla="*/ 3 h 25"/>
                <a:gd name="T8" fmla="*/ 5 w 9"/>
                <a:gd name="T9" fmla="*/ 0 h 25"/>
                <a:gd name="T10" fmla="*/ 9 w 9"/>
                <a:gd name="T11" fmla="*/ 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25">
                  <a:moveTo>
                    <a:pt x="2" y="25"/>
                  </a:moveTo>
                  <a:lnTo>
                    <a:pt x="1" y="16"/>
                  </a:lnTo>
                  <a:lnTo>
                    <a:pt x="0" y="8"/>
                  </a:lnTo>
                  <a:lnTo>
                    <a:pt x="2" y="3"/>
                  </a:lnTo>
                  <a:lnTo>
                    <a:pt x="5" y="0"/>
                  </a:lnTo>
                  <a:lnTo>
                    <a:pt x="9" y="3"/>
                  </a:lnTo>
                </a:path>
              </a:pathLst>
            </a:custGeom>
            <a:noFill/>
            <a:ln w="0">
              <a:solidFill>
                <a:srgbClr val="FF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27" name="Freeform 167"/>
            <p:cNvSpPr>
              <a:spLocks/>
            </p:cNvSpPr>
            <p:nvPr/>
          </p:nvSpPr>
          <p:spPr bwMode="auto">
            <a:xfrm>
              <a:off x="861" y="3438"/>
              <a:ext cx="16" cy="16"/>
            </a:xfrm>
            <a:custGeom>
              <a:avLst/>
              <a:gdLst>
                <a:gd name="T0" fmla="*/ 16 w 16"/>
                <a:gd name="T1" fmla="*/ 16 h 16"/>
                <a:gd name="T2" fmla="*/ 11 w 16"/>
                <a:gd name="T3" fmla="*/ 6 h 16"/>
                <a:gd name="T4" fmla="*/ 7 w 16"/>
                <a:gd name="T5" fmla="*/ 1 h 16"/>
                <a:gd name="T6" fmla="*/ 6 w 16"/>
                <a:gd name="T7" fmla="*/ 0 h 16"/>
                <a:gd name="T8" fmla="*/ 0 w 16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6" y="16"/>
                  </a:moveTo>
                  <a:lnTo>
                    <a:pt x="11" y="6"/>
                  </a:lnTo>
                  <a:lnTo>
                    <a:pt x="7" y="1"/>
                  </a:lnTo>
                  <a:lnTo>
                    <a:pt x="6" y="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28" name="Freeform 168"/>
            <p:cNvSpPr>
              <a:spLocks/>
            </p:cNvSpPr>
            <p:nvPr/>
          </p:nvSpPr>
          <p:spPr bwMode="auto">
            <a:xfrm>
              <a:off x="845" y="3441"/>
              <a:ext cx="32" cy="15"/>
            </a:xfrm>
            <a:custGeom>
              <a:avLst/>
              <a:gdLst>
                <a:gd name="T0" fmla="*/ 32 w 32"/>
                <a:gd name="T1" fmla="*/ 15 h 15"/>
                <a:gd name="T2" fmla="*/ 26 w 32"/>
                <a:gd name="T3" fmla="*/ 6 h 15"/>
                <a:gd name="T4" fmla="*/ 20 w 32"/>
                <a:gd name="T5" fmla="*/ 2 h 15"/>
                <a:gd name="T6" fmla="*/ 10 w 32"/>
                <a:gd name="T7" fmla="*/ 0 h 15"/>
                <a:gd name="T8" fmla="*/ 4 w 32"/>
                <a:gd name="T9" fmla="*/ 3 h 15"/>
                <a:gd name="T10" fmla="*/ 0 w 32"/>
                <a:gd name="T11" fmla="*/ 1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15">
                  <a:moveTo>
                    <a:pt x="32" y="15"/>
                  </a:moveTo>
                  <a:lnTo>
                    <a:pt x="26" y="6"/>
                  </a:lnTo>
                  <a:lnTo>
                    <a:pt x="20" y="2"/>
                  </a:lnTo>
                  <a:lnTo>
                    <a:pt x="10" y="0"/>
                  </a:lnTo>
                  <a:lnTo>
                    <a:pt x="4" y="3"/>
                  </a:lnTo>
                  <a:lnTo>
                    <a:pt x="0" y="10"/>
                  </a:lnTo>
                </a:path>
              </a:pathLst>
            </a:custGeom>
            <a:noFill/>
            <a:ln w="0">
              <a:solidFill>
                <a:srgbClr val="FF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29" name="Freeform 169"/>
            <p:cNvSpPr>
              <a:spLocks/>
            </p:cNvSpPr>
            <p:nvPr/>
          </p:nvSpPr>
          <p:spPr bwMode="auto">
            <a:xfrm>
              <a:off x="833" y="3452"/>
              <a:ext cx="43" cy="18"/>
            </a:xfrm>
            <a:custGeom>
              <a:avLst/>
              <a:gdLst>
                <a:gd name="T0" fmla="*/ 43 w 43"/>
                <a:gd name="T1" fmla="*/ 4 h 18"/>
                <a:gd name="T2" fmla="*/ 34 w 43"/>
                <a:gd name="T3" fmla="*/ 0 h 18"/>
                <a:gd name="T4" fmla="*/ 15 w 43"/>
                <a:gd name="T5" fmla="*/ 0 h 18"/>
                <a:gd name="T6" fmla="*/ 8 w 43"/>
                <a:gd name="T7" fmla="*/ 4 h 18"/>
                <a:gd name="T8" fmla="*/ 3 w 43"/>
                <a:gd name="T9" fmla="*/ 10 h 18"/>
                <a:gd name="T10" fmla="*/ 0 w 43"/>
                <a:gd name="T11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" h="18">
                  <a:moveTo>
                    <a:pt x="43" y="4"/>
                  </a:moveTo>
                  <a:lnTo>
                    <a:pt x="34" y="0"/>
                  </a:lnTo>
                  <a:lnTo>
                    <a:pt x="15" y="0"/>
                  </a:lnTo>
                  <a:lnTo>
                    <a:pt x="8" y="4"/>
                  </a:lnTo>
                  <a:lnTo>
                    <a:pt x="3" y="10"/>
                  </a:lnTo>
                  <a:lnTo>
                    <a:pt x="0" y="18"/>
                  </a:lnTo>
                </a:path>
              </a:pathLst>
            </a:custGeom>
            <a:noFill/>
            <a:ln w="0">
              <a:solidFill>
                <a:srgbClr val="FF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30" name="Freeform 170"/>
            <p:cNvSpPr>
              <a:spLocks/>
            </p:cNvSpPr>
            <p:nvPr/>
          </p:nvSpPr>
          <p:spPr bwMode="auto">
            <a:xfrm>
              <a:off x="852" y="3453"/>
              <a:ext cx="25" cy="35"/>
            </a:xfrm>
            <a:custGeom>
              <a:avLst/>
              <a:gdLst>
                <a:gd name="T0" fmla="*/ 25 w 25"/>
                <a:gd name="T1" fmla="*/ 3 h 35"/>
                <a:gd name="T2" fmla="*/ 15 w 25"/>
                <a:gd name="T3" fmla="*/ 0 h 35"/>
                <a:gd name="T4" fmla="*/ 6 w 25"/>
                <a:gd name="T5" fmla="*/ 3 h 35"/>
                <a:gd name="T6" fmla="*/ 2 w 25"/>
                <a:gd name="T7" fmla="*/ 9 h 35"/>
                <a:gd name="T8" fmla="*/ 0 w 25"/>
                <a:gd name="T9" fmla="*/ 20 h 35"/>
                <a:gd name="T10" fmla="*/ 0 w 25"/>
                <a:gd name="T11" fmla="*/ 25 h 35"/>
                <a:gd name="T12" fmla="*/ 2 w 25"/>
                <a:gd name="T13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35">
                  <a:moveTo>
                    <a:pt x="25" y="3"/>
                  </a:moveTo>
                  <a:lnTo>
                    <a:pt x="15" y="0"/>
                  </a:lnTo>
                  <a:lnTo>
                    <a:pt x="6" y="3"/>
                  </a:lnTo>
                  <a:lnTo>
                    <a:pt x="2" y="9"/>
                  </a:lnTo>
                  <a:lnTo>
                    <a:pt x="0" y="20"/>
                  </a:lnTo>
                  <a:lnTo>
                    <a:pt x="0" y="25"/>
                  </a:lnTo>
                  <a:lnTo>
                    <a:pt x="2" y="35"/>
                  </a:lnTo>
                </a:path>
              </a:pathLst>
            </a:custGeom>
            <a:noFill/>
            <a:ln w="0">
              <a:solidFill>
                <a:srgbClr val="FF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31" name="Freeform 171"/>
            <p:cNvSpPr>
              <a:spLocks/>
            </p:cNvSpPr>
            <p:nvPr/>
          </p:nvSpPr>
          <p:spPr bwMode="auto">
            <a:xfrm>
              <a:off x="865" y="3456"/>
              <a:ext cx="11" cy="24"/>
            </a:xfrm>
            <a:custGeom>
              <a:avLst/>
              <a:gdLst>
                <a:gd name="T0" fmla="*/ 11 w 11"/>
                <a:gd name="T1" fmla="*/ 0 h 24"/>
                <a:gd name="T2" fmla="*/ 3 w 11"/>
                <a:gd name="T3" fmla="*/ 2 h 24"/>
                <a:gd name="T4" fmla="*/ 0 w 11"/>
                <a:gd name="T5" fmla="*/ 6 h 24"/>
                <a:gd name="T6" fmla="*/ 0 w 11"/>
                <a:gd name="T7" fmla="*/ 15 h 24"/>
                <a:gd name="T8" fmla="*/ 2 w 11"/>
                <a:gd name="T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24">
                  <a:moveTo>
                    <a:pt x="11" y="0"/>
                  </a:moveTo>
                  <a:lnTo>
                    <a:pt x="3" y="2"/>
                  </a:lnTo>
                  <a:lnTo>
                    <a:pt x="0" y="6"/>
                  </a:lnTo>
                  <a:lnTo>
                    <a:pt x="0" y="15"/>
                  </a:lnTo>
                  <a:lnTo>
                    <a:pt x="2" y="24"/>
                  </a:lnTo>
                </a:path>
              </a:pathLst>
            </a:custGeom>
            <a:noFill/>
            <a:ln w="0">
              <a:solidFill>
                <a:srgbClr val="FF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32" name="Freeform 172"/>
            <p:cNvSpPr>
              <a:spLocks/>
            </p:cNvSpPr>
            <p:nvPr/>
          </p:nvSpPr>
          <p:spPr bwMode="auto">
            <a:xfrm>
              <a:off x="872" y="3456"/>
              <a:ext cx="5" cy="27"/>
            </a:xfrm>
            <a:custGeom>
              <a:avLst/>
              <a:gdLst>
                <a:gd name="T0" fmla="*/ 5 w 5"/>
                <a:gd name="T1" fmla="*/ 0 h 27"/>
                <a:gd name="T2" fmla="*/ 0 w 5"/>
                <a:gd name="T3" fmla="*/ 4 h 27"/>
                <a:gd name="T4" fmla="*/ 0 w 5"/>
                <a:gd name="T5" fmla="*/ 10 h 27"/>
                <a:gd name="T6" fmla="*/ 2 w 5"/>
                <a:gd name="T7" fmla="*/ 19 h 27"/>
                <a:gd name="T8" fmla="*/ 5 w 5"/>
                <a:gd name="T9" fmla="*/ 27 h 27"/>
                <a:gd name="T10" fmla="*/ 5 w 5"/>
                <a:gd name="T11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27">
                  <a:moveTo>
                    <a:pt x="5" y="0"/>
                  </a:moveTo>
                  <a:lnTo>
                    <a:pt x="0" y="4"/>
                  </a:lnTo>
                  <a:lnTo>
                    <a:pt x="0" y="10"/>
                  </a:lnTo>
                  <a:lnTo>
                    <a:pt x="2" y="19"/>
                  </a:lnTo>
                  <a:lnTo>
                    <a:pt x="5" y="27"/>
                  </a:lnTo>
                  <a:lnTo>
                    <a:pt x="5" y="26"/>
                  </a:lnTo>
                </a:path>
              </a:pathLst>
            </a:custGeom>
            <a:noFill/>
            <a:ln w="0">
              <a:solidFill>
                <a:srgbClr val="FF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33" name="Freeform 173"/>
            <p:cNvSpPr>
              <a:spLocks/>
            </p:cNvSpPr>
            <p:nvPr/>
          </p:nvSpPr>
          <p:spPr bwMode="auto">
            <a:xfrm>
              <a:off x="877" y="3456"/>
              <a:ext cx="7" cy="18"/>
            </a:xfrm>
            <a:custGeom>
              <a:avLst/>
              <a:gdLst>
                <a:gd name="T0" fmla="*/ 0 w 7"/>
                <a:gd name="T1" fmla="*/ 0 h 18"/>
                <a:gd name="T2" fmla="*/ 3 w 7"/>
                <a:gd name="T3" fmla="*/ 4 h 18"/>
                <a:gd name="T4" fmla="*/ 6 w 7"/>
                <a:gd name="T5" fmla="*/ 10 h 18"/>
                <a:gd name="T6" fmla="*/ 7 w 7"/>
                <a:gd name="T7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8">
                  <a:moveTo>
                    <a:pt x="0" y="0"/>
                  </a:moveTo>
                  <a:lnTo>
                    <a:pt x="3" y="4"/>
                  </a:lnTo>
                  <a:lnTo>
                    <a:pt x="6" y="10"/>
                  </a:lnTo>
                  <a:lnTo>
                    <a:pt x="7" y="18"/>
                  </a:lnTo>
                </a:path>
              </a:pathLst>
            </a:custGeom>
            <a:noFill/>
            <a:ln w="0">
              <a:solidFill>
                <a:srgbClr val="FF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34" name="Freeform 174"/>
            <p:cNvSpPr>
              <a:spLocks/>
            </p:cNvSpPr>
            <p:nvPr/>
          </p:nvSpPr>
          <p:spPr bwMode="auto">
            <a:xfrm>
              <a:off x="877" y="3454"/>
              <a:ext cx="21" cy="25"/>
            </a:xfrm>
            <a:custGeom>
              <a:avLst/>
              <a:gdLst>
                <a:gd name="T0" fmla="*/ 0 w 21"/>
                <a:gd name="T1" fmla="*/ 2 h 25"/>
                <a:gd name="T2" fmla="*/ 4 w 21"/>
                <a:gd name="T3" fmla="*/ 0 h 25"/>
                <a:gd name="T4" fmla="*/ 12 w 21"/>
                <a:gd name="T5" fmla="*/ 2 h 25"/>
                <a:gd name="T6" fmla="*/ 17 w 21"/>
                <a:gd name="T7" fmla="*/ 6 h 25"/>
                <a:gd name="T8" fmla="*/ 21 w 21"/>
                <a:gd name="T9" fmla="*/ 15 h 25"/>
                <a:gd name="T10" fmla="*/ 19 w 21"/>
                <a:gd name="T11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25">
                  <a:moveTo>
                    <a:pt x="0" y="2"/>
                  </a:moveTo>
                  <a:lnTo>
                    <a:pt x="4" y="0"/>
                  </a:lnTo>
                  <a:lnTo>
                    <a:pt x="12" y="2"/>
                  </a:lnTo>
                  <a:lnTo>
                    <a:pt x="17" y="6"/>
                  </a:lnTo>
                  <a:lnTo>
                    <a:pt x="21" y="15"/>
                  </a:lnTo>
                  <a:lnTo>
                    <a:pt x="19" y="25"/>
                  </a:lnTo>
                </a:path>
              </a:pathLst>
            </a:custGeom>
            <a:noFill/>
            <a:ln w="0">
              <a:solidFill>
                <a:srgbClr val="FF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35" name="Freeform 175"/>
            <p:cNvSpPr>
              <a:spLocks/>
            </p:cNvSpPr>
            <p:nvPr/>
          </p:nvSpPr>
          <p:spPr bwMode="auto">
            <a:xfrm>
              <a:off x="791" y="3217"/>
              <a:ext cx="54" cy="260"/>
            </a:xfrm>
            <a:custGeom>
              <a:avLst/>
              <a:gdLst>
                <a:gd name="T0" fmla="*/ 15 w 54"/>
                <a:gd name="T1" fmla="*/ 0 h 260"/>
                <a:gd name="T2" fmla="*/ 9 w 54"/>
                <a:gd name="T3" fmla="*/ 21 h 260"/>
                <a:gd name="T4" fmla="*/ 4 w 54"/>
                <a:gd name="T5" fmla="*/ 49 h 260"/>
                <a:gd name="T6" fmla="*/ 0 w 54"/>
                <a:gd name="T7" fmla="*/ 83 h 260"/>
                <a:gd name="T8" fmla="*/ 0 w 54"/>
                <a:gd name="T9" fmla="*/ 174 h 260"/>
                <a:gd name="T10" fmla="*/ 2 w 54"/>
                <a:gd name="T11" fmla="*/ 223 h 260"/>
                <a:gd name="T12" fmla="*/ 6 w 54"/>
                <a:gd name="T13" fmla="*/ 260 h 260"/>
                <a:gd name="T14" fmla="*/ 5 w 54"/>
                <a:gd name="T15" fmla="*/ 232 h 260"/>
                <a:gd name="T16" fmla="*/ 6 w 54"/>
                <a:gd name="T17" fmla="*/ 205 h 260"/>
                <a:gd name="T18" fmla="*/ 9 w 54"/>
                <a:gd name="T19" fmla="*/ 169 h 260"/>
                <a:gd name="T20" fmla="*/ 13 w 54"/>
                <a:gd name="T21" fmla="*/ 141 h 260"/>
                <a:gd name="T22" fmla="*/ 18 w 54"/>
                <a:gd name="T23" fmla="*/ 106 h 260"/>
                <a:gd name="T24" fmla="*/ 24 w 54"/>
                <a:gd name="T25" fmla="*/ 83 h 260"/>
                <a:gd name="T26" fmla="*/ 32 w 54"/>
                <a:gd name="T27" fmla="*/ 70 h 260"/>
                <a:gd name="T28" fmla="*/ 41 w 54"/>
                <a:gd name="T29" fmla="*/ 65 h 260"/>
                <a:gd name="T30" fmla="*/ 49 w 54"/>
                <a:gd name="T31" fmla="*/ 66 h 260"/>
                <a:gd name="T32" fmla="*/ 54 w 54"/>
                <a:gd name="T33" fmla="*/ 79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4" h="260">
                  <a:moveTo>
                    <a:pt x="15" y="0"/>
                  </a:moveTo>
                  <a:lnTo>
                    <a:pt x="9" y="21"/>
                  </a:lnTo>
                  <a:lnTo>
                    <a:pt x="4" y="49"/>
                  </a:lnTo>
                  <a:lnTo>
                    <a:pt x="0" y="83"/>
                  </a:lnTo>
                  <a:lnTo>
                    <a:pt x="0" y="174"/>
                  </a:lnTo>
                  <a:lnTo>
                    <a:pt x="2" y="223"/>
                  </a:lnTo>
                  <a:lnTo>
                    <a:pt x="6" y="260"/>
                  </a:lnTo>
                  <a:lnTo>
                    <a:pt x="5" y="232"/>
                  </a:lnTo>
                  <a:lnTo>
                    <a:pt x="6" y="205"/>
                  </a:lnTo>
                  <a:lnTo>
                    <a:pt x="9" y="169"/>
                  </a:lnTo>
                  <a:lnTo>
                    <a:pt x="13" y="141"/>
                  </a:lnTo>
                  <a:lnTo>
                    <a:pt x="18" y="106"/>
                  </a:lnTo>
                  <a:lnTo>
                    <a:pt x="24" y="83"/>
                  </a:lnTo>
                  <a:lnTo>
                    <a:pt x="32" y="70"/>
                  </a:lnTo>
                  <a:lnTo>
                    <a:pt x="41" y="65"/>
                  </a:lnTo>
                  <a:lnTo>
                    <a:pt x="49" y="66"/>
                  </a:lnTo>
                  <a:lnTo>
                    <a:pt x="54" y="79"/>
                  </a:lnTo>
                </a:path>
              </a:pathLst>
            </a:custGeom>
            <a:noFill/>
            <a:ln w="0">
              <a:solidFill>
                <a:srgbClr val="FFC2C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36" name="Freeform 176"/>
            <p:cNvSpPr>
              <a:spLocks/>
            </p:cNvSpPr>
            <p:nvPr/>
          </p:nvSpPr>
          <p:spPr bwMode="auto">
            <a:xfrm>
              <a:off x="797" y="3387"/>
              <a:ext cx="31" cy="90"/>
            </a:xfrm>
            <a:custGeom>
              <a:avLst/>
              <a:gdLst>
                <a:gd name="T0" fmla="*/ 0 w 31"/>
                <a:gd name="T1" fmla="*/ 90 h 90"/>
                <a:gd name="T2" fmla="*/ 0 w 31"/>
                <a:gd name="T3" fmla="*/ 66 h 90"/>
                <a:gd name="T4" fmla="*/ 1 w 31"/>
                <a:gd name="T5" fmla="*/ 43 h 90"/>
                <a:gd name="T6" fmla="*/ 5 w 31"/>
                <a:gd name="T7" fmla="*/ 29 h 90"/>
                <a:gd name="T8" fmla="*/ 10 w 31"/>
                <a:gd name="T9" fmla="*/ 14 h 90"/>
                <a:gd name="T10" fmla="*/ 20 w 31"/>
                <a:gd name="T11" fmla="*/ 4 h 90"/>
                <a:gd name="T12" fmla="*/ 31 w 31"/>
                <a:gd name="T1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90">
                  <a:moveTo>
                    <a:pt x="0" y="90"/>
                  </a:moveTo>
                  <a:lnTo>
                    <a:pt x="0" y="66"/>
                  </a:lnTo>
                  <a:lnTo>
                    <a:pt x="1" y="43"/>
                  </a:lnTo>
                  <a:lnTo>
                    <a:pt x="5" y="29"/>
                  </a:lnTo>
                  <a:lnTo>
                    <a:pt x="10" y="14"/>
                  </a:lnTo>
                  <a:lnTo>
                    <a:pt x="20" y="4"/>
                  </a:lnTo>
                  <a:lnTo>
                    <a:pt x="31" y="0"/>
                  </a:lnTo>
                </a:path>
              </a:pathLst>
            </a:custGeom>
            <a:noFill/>
            <a:ln w="0">
              <a:solidFill>
                <a:srgbClr val="FFC2C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37" name="Freeform 177"/>
            <p:cNvSpPr>
              <a:spLocks/>
            </p:cNvSpPr>
            <p:nvPr/>
          </p:nvSpPr>
          <p:spPr bwMode="auto">
            <a:xfrm>
              <a:off x="877" y="3452"/>
              <a:ext cx="43" cy="48"/>
            </a:xfrm>
            <a:custGeom>
              <a:avLst/>
              <a:gdLst>
                <a:gd name="T0" fmla="*/ 0 w 43"/>
                <a:gd name="T1" fmla="*/ 4 h 48"/>
                <a:gd name="T2" fmla="*/ 8 w 43"/>
                <a:gd name="T3" fmla="*/ 0 h 48"/>
                <a:gd name="T4" fmla="*/ 20 w 43"/>
                <a:gd name="T5" fmla="*/ 1 h 48"/>
                <a:gd name="T6" fmla="*/ 28 w 43"/>
                <a:gd name="T7" fmla="*/ 10 h 48"/>
                <a:gd name="T8" fmla="*/ 37 w 43"/>
                <a:gd name="T9" fmla="*/ 30 h 48"/>
                <a:gd name="T10" fmla="*/ 43 w 43"/>
                <a:gd name="T11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" h="48">
                  <a:moveTo>
                    <a:pt x="0" y="4"/>
                  </a:moveTo>
                  <a:lnTo>
                    <a:pt x="8" y="0"/>
                  </a:lnTo>
                  <a:lnTo>
                    <a:pt x="20" y="1"/>
                  </a:lnTo>
                  <a:lnTo>
                    <a:pt x="28" y="10"/>
                  </a:lnTo>
                  <a:lnTo>
                    <a:pt x="37" y="30"/>
                  </a:lnTo>
                  <a:lnTo>
                    <a:pt x="43" y="48"/>
                  </a:lnTo>
                </a:path>
              </a:pathLst>
            </a:custGeom>
            <a:noFill/>
            <a:ln w="0">
              <a:solidFill>
                <a:srgbClr val="FF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38" name="Freeform 178"/>
            <p:cNvSpPr>
              <a:spLocks/>
            </p:cNvSpPr>
            <p:nvPr/>
          </p:nvSpPr>
          <p:spPr bwMode="auto">
            <a:xfrm>
              <a:off x="1602" y="3383"/>
              <a:ext cx="33" cy="33"/>
            </a:xfrm>
            <a:custGeom>
              <a:avLst/>
              <a:gdLst>
                <a:gd name="T0" fmla="*/ 30 w 33"/>
                <a:gd name="T1" fmla="*/ 33 h 33"/>
                <a:gd name="T2" fmla="*/ 26 w 33"/>
                <a:gd name="T3" fmla="*/ 25 h 33"/>
                <a:gd name="T4" fmla="*/ 21 w 33"/>
                <a:gd name="T5" fmla="*/ 17 h 33"/>
                <a:gd name="T6" fmla="*/ 5 w 33"/>
                <a:gd name="T7" fmla="*/ 4 h 33"/>
                <a:gd name="T8" fmla="*/ 0 w 33"/>
                <a:gd name="T9" fmla="*/ 0 h 33"/>
                <a:gd name="T10" fmla="*/ 12 w 33"/>
                <a:gd name="T11" fmla="*/ 1 h 33"/>
                <a:gd name="T12" fmla="*/ 24 w 33"/>
                <a:gd name="T13" fmla="*/ 7 h 33"/>
                <a:gd name="T14" fmla="*/ 33 w 33"/>
                <a:gd name="T15" fmla="*/ 1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3" h="33">
                  <a:moveTo>
                    <a:pt x="30" y="33"/>
                  </a:moveTo>
                  <a:lnTo>
                    <a:pt x="26" y="25"/>
                  </a:lnTo>
                  <a:lnTo>
                    <a:pt x="21" y="17"/>
                  </a:lnTo>
                  <a:lnTo>
                    <a:pt x="5" y="4"/>
                  </a:lnTo>
                  <a:lnTo>
                    <a:pt x="0" y="0"/>
                  </a:lnTo>
                  <a:lnTo>
                    <a:pt x="12" y="1"/>
                  </a:lnTo>
                  <a:lnTo>
                    <a:pt x="24" y="7"/>
                  </a:lnTo>
                  <a:lnTo>
                    <a:pt x="33" y="13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220378" name="Group 218"/>
          <p:cNvGrpSpPr>
            <a:grpSpLocks/>
          </p:cNvGrpSpPr>
          <p:nvPr/>
        </p:nvGrpSpPr>
        <p:grpSpPr bwMode="auto">
          <a:xfrm>
            <a:off x="1979613" y="4521201"/>
            <a:ext cx="576262" cy="422275"/>
            <a:chOff x="2255" y="1955"/>
            <a:chExt cx="507" cy="380"/>
          </a:xfrm>
        </p:grpSpPr>
        <p:sp>
          <p:nvSpPr>
            <p:cNvPr id="220355" name="Freeform 195"/>
            <p:cNvSpPr>
              <a:spLocks/>
            </p:cNvSpPr>
            <p:nvPr/>
          </p:nvSpPr>
          <p:spPr bwMode="auto">
            <a:xfrm>
              <a:off x="2255" y="1955"/>
              <a:ext cx="507" cy="138"/>
            </a:xfrm>
            <a:custGeom>
              <a:avLst/>
              <a:gdLst>
                <a:gd name="T0" fmla="*/ 246 w 507"/>
                <a:gd name="T1" fmla="*/ 0 h 138"/>
                <a:gd name="T2" fmla="*/ 175 w 507"/>
                <a:gd name="T3" fmla="*/ 3 h 138"/>
                <a:gd name="T4" fmla="*/ 146 w 507"/>
                <a:gd name="T5" fmla="*/ 5 h 138"/>
                <a:gd name="T6" fmla="*/ 115 w 507"/>
                <a:gd name="T7" fmla="*/ 9 h 138"/>
                <a:gd name="T8" fmla="*/ 96 w 507"/>
                <a:gd name="T9" fmla="*/ 13 h 138"/>
                <a:gd name="T10" fmla="*/ 77 w 507"/>
                <a:gd name="T11" fmla="*/ 15 h 138"/>
                <a:gd name="T12" fmla="*/ 56 w 507"/>
                <a:gd name="T13" fmla="*/ 21 h 138"/>
                <a:gd name="T14" fmla="*/ 42 w 507"/>
                <a:gd name="T15" fmla="*/ 25 h 138"/>
                <a:gd name="T16" fmla="*/ 35 w 507"/>
                <a:gd name="T17" fmla="*/ 32 h 138"/>
                <a:gd name="T18" fmla="*/ 29 w 507"/>
                <a:gd name="T19" fmla="*/ 36 h 138"/>
                <a:gd name="T20" fmla="*/ 25 w 507"/>
                <a:gd name="T21" fmla="*/ 42 h 138"/>
                <a:gd name="T22" fmla="*/ 0 w 507"/>
                <a:gd name="T23" fmla="*/ 105 h 138"/>
                <a:gd name="T24" fmla="*/ 0 w 507"/>
                <a:gd name="T25" fmla="*/ 107 h 138"/>
                <a:gd name="T26" fmla="*/ 2 w 507"/>
                <a:gd name="T27" fmla="*/ 111 h 138"/>
                <a:gd name="T28" fmla="*/ 12 w 507"/>
                <a:gd name="T29" fmla="*/ 130 h 138"/>
                <a:gd name="T30" fmla="*/ 16 w 507"/>
                <a:gd name="T31" fmla="*/ 134 h 138"/>
                <a:gd name="T32" fmla="*/ 19 w 507"/>
                <a:gd name="T33" fmla="*/ 134 h 138"/>
                <a:gd name="T34" fmla="*/ 121 w 507"/>
                <a:gd name="T35" fmla="*/ 107 h 138"/>
                <a:gd name="T36" fmla="*/ 127 w 507"/>
                <a:gd name="T37" fmla="*/ 101 h 138"/>
                <a:gd name="T38" fmla="*/ 127 w 507"/>
                <a:gd name="T39" fmla="*/ 71 h 138"/>
                <a:gd name="T40" fmla="*/ 135 w 507"/>
                <a:gd name="T41" fmla="*/ 67 h 138"/>
                <a:gd name="T42" fmla="*/ 150 w 507"/>
                <a:gd name="T43" fmla="*/ 63 h 138"/>
                <a:gd name="T44" fmla="*/ 161 w 507"/>
                <a:gd name="T45" fmla="*/ 61 h 138"/>
                <a:gd name="T46" fmla="*/ 183 w 507"/>
                <a:gd name="T47" fmla="*/ 57 h 138"/>
                <a:gd name="T48" fmla="*/ 204 w 507"/>
                <a:gd name="T49" fmla="*/ 55 h 138"/>
                <a:gd name="T50" fmla="*/ 229 w 507"/>
                <a:gd name="T51" fmla="*/ 53 h 138"/>
                <a:gd name="T52" fmla="*/ 254 w 507"/>
                <a:gd name="T53" fmla="*/ 53 h 138"/>
                <a:gd name="T54" fmla="*/ 277 w 507"/>
                <a:gd name="T55" fmla="*/ 55 h 138"/>
                <a:gd name="T56" fmla="*/ 302 w 507"/>
                <a:gd name="T57" fmla="*/ 57 h 138"/>
                <a:gd name="T58" fmla="*/ 325 w 507"/>
                <a:gd name="T59" fmla="*/ 59 h 138"/>
                <a:gd name="T60" fmla="*/ 350 w 507"/>
                <a:gd name="T61" fmla="*/ 63 h 138"/>
                <a:gd name="T62" fmla="*/ 363 w 507"/>
                <a:gd name="T63" fmla="*/ 67 h 138"/>
                <a:gd name="T64" fmla="*/ 373 w 507"/>
                <a:gd name="T65" fmla="*/ 71 h 138"/>
                <a:gd name="T66" fmla="*/ 380 w 507"/>
                <a:gd name="T67" fmla="*/ 73 h 138"/>
                <a:gd name="T68" fmla="*/ 382 w 507"/>
                <a:gd name="T69" fmla="*/ 103 h 138"/>
                <a:gd name="T70" fmla="*/ 382 w 507"/>
                <a:gd name="T71" fmla="*/ 107 h 138"/>
                <a:gd name="T72" fmla="*/ 386 w 507"/>
                <a:gd name="T73" fmla="*/ 107 h 138"/>
                <a:gd name="T74" fmla="*/ 488 w 507"/>
                <a:gd name="T75" fmla="*/ 138 h 138"/>
                <a:gd name="T76" fmla="*/ 490 w 507"/>
                <a:gd name="T77" fmla="*/ 136 h 138"/>
                <a:gd name="T78" fmla="*/ 494 w 507"/>
                <a:gd name="T79" fmla="*/ 134 h 138"/>
                <a:gd name="T80" fmla="*/ 497 w 507"/>
                <a:gd name="T81" fmla="*/ 126 h 138"/>
                <a:gd name="T82" fmla="*/ 507 w 507"/>
                <a:gd name="T83" fmla="*/ 107 h 138"/>
                <a:gd name="T84" fmla="*/ 494 w 507"/>
                <a:gd name="T85" fmla="*/ 73 h 138"/>
                <a:gd name="T86" fmla="*/ 476 w 507"/>
                <a:gd name="T87" fmla="*/ 38 h 138"/>
                <a:gd name="T88" fmla="*/ 472 w 507"/>
                <a:gd name="T89" fmla="*/ 32 h 138"/>
                <a:gd name="T90" fmla="*/ 467 w 507"/>
                <a:gd name="T91" fmla="*/ 28 h 138"/>
                <a:gd name="T92" fmla="*/ 457 w 507"/>
                <a:gd name="T93" fmla="*/ 23 h 138"/>
                <a:gd name="T94" fmla="*/ 446 w 507"/>
                <a:gd name="T95" fmla="*/ 21 h 138"/>
                <a:gd name="T96" fmla="*/ 428 w 507"/>
                <a:gd name="T97" fmla="*/ 17 h 138"/>
                <a:gd name="T98" fmla="*/ 411 w 507"/>
                <a:gd name="T99" fmla="*/ 13 h 138"/>
                <a:gd name="T100" fmla="*/ 378 w 507"/>
                <a:gd name="T101" fmla="*/ 9 h 138"/>
                <a:gd name="T102" fmla="*/ 344 w 507"/>
                <a:gd name="T103" fmla="*/ 5 h 138"/>
                <a:gd name="T104" fmla="*/ 311 w 507"/>
                <a:gd name="T105" fmla="*/ 3 h 138"/>
                <a:gd name="T106" fmla="*/ 279 w 507"/>
                <a:gd name="T107" fmla="*/ 2 h 138"/>
                <a:gd name="T108" fmla="*/ 246 w 507"/>
                <a:gd name="T109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07" h="138">
                  <a:moveTo>
                    <a:pt x="246" y="0"/>
                  </a:moveTo>
                  <a:lnTo>
                    <a:pt x="175" y="3"/>
                  </a:lnTo>
                  <a:lnTo>
                    <a:pt x="146" y="5"/>
                  </a:lnTo>
                  <a:lnTo>
                    <a:pt x="115" y="9"/>
                  </a:lnTo>
                  <a:lnTo>
                    <a:pt x="96" y="13"/>
                  </a:lnTo>
                  <a:lnTo>
                    <a:pt x="77" y="15"/>
                  </a:lnTo>
                  <a:lnTo>
                    <a:pt x="56" y="21"/>
                  </a:lnTo>
                  <a:lnTo>
                    <a:pt x="42" y="25"/>
                  </a:lnTo>
                  <a:lnTo>
                    <a:pt x="35" y="32"/>
                  </a:lnTo>
                  <a:lnTo>
                    <a:pt x="29" y="36"/>
                  </a:lnTo>
                  <a:lnTo>
                    <a:pt x="25" y="42"/>
                  </a:lnTo>
                  <a:lnTo>
                    <a:pt x="0" y="105"/>
                  </a:lnTo>
                  <a:lnTo>
                    <a:pt x="0" y="107"/>
                  </a:lnTo>
                  <a:lnTo>
                    <a:pt x="2" y="111"/>
                  </a:lnTo>
                  <a:lnTo>
                    <a:pt x="12" y="130"/>
                  </a:lnTo>
                  <a:lnTo>
                    <a:pt x="16" y="134"/>
                  </a:lnTo>
                  <a:lnTo>
                    <a:pt x="19" y="134"/>
                  </a:lnTo>
                  <a:lnTo>
                    <a:pt x="121" y="107"/>
                  </a:lnTo>
                  <a:lnTo>
                    <a:pt x="127" y="101"/>
                  </a:lnTo>
                  <a:lnTo>
                    <a:pt x="127" y="71"/>
                  </a:lnTo>
                  <a:lnTo>
                    <a:pt x="135" y="67"/>
                  </a:lnTo>
                  <a:lnTo>
                    <a:pt x="150" y="63"/>
                  </a:lnTo>
                  <a:lnTo>
                    <a:pt x="161" y="61"/>
                  </a:lnTo>
                  <a:lnTo>
                    <a:pt x="183" y="57"/>
                  </a:lnTo>
                  <a:lnTo>
                    <a:pt x="204" y="55"/>
                  </a:lnTo>
                  <a:lnTo>
                    <a:pt x="229" y="53"/>
                  </a:lnTo>
                  <a:lnTo>
                    <a:pt x="254" y="53"/>
                  </a:lnTo>
                  <a:lnTo>
                    <a:pt x="277" y="55"/>
                  </a:lnTo>
                  <a:lnTo>
                    <a:pt x="302" y="57"/>
                  </a:lnTo>
                  <a:lnTo>
                    <a:pt x="325" y="59"/>
                  </a:lnTo>
                  <a:lnTo>
                    <a:pt x="350" y="63"/>
                  </a:lnTo>
                  <a:lnTo>
                    <a:pt x="363" y="67"/>
                  </a:lnTo>
                  <a:lnTo>
                    <a:pt x="373" y="71"/>
                  </a:lnTo>
                  <a:lnTo>
                    <a:pt x="380" y="73"/>
                  </a:lnTo>
                  <a:lnTo>
                    <a:pt x="382" y="103"/>
                  </a:lnTo>
                  <a:lnTo>
                    <a:pt x="382" y="107"/>
                  </a:lnTo>
                  <a:lnTo>
                    <a:pt x="386" y="107"/>
                  </a:lnTo>
                  <a:lnTo>
                    <a:pt x="488" y="138"/>
                  </a:lnTo>
                  <a:lnTo>
                    <a:pt x="490" y="136"/>
                  </a:lnTo>
                  <a:lnTo>
                    <a:pt x="494" y="134"/>
                  </a:lnTo>
                  <a:lnTo>
                    <a:pt x="497" y="126"/>
                  </a:lnTo>
                  <a:lnTo>
                    <a:pt x="507" y="107"/>
                  </a:lnTo>
                  <a:lnTo>
                    <a:pt x="494" y="73"/>
                  </a:lnTo>
                  <a:lnTo>
                    <a:pt x="476" y="38"/>
                  </a:lnTo>
                  <a:lnTo>
                    <a:pt x="472" y="32"/>
                  </a:lnTo>
                  <a:lnTo>
                    <a:pt x="467" y="28"/>
                  </a:lnTo>
                  <a:lnTo>
                    <a:pt x="457" y="23"/>
                  </a:lnTo>
                  <a:lnTo>
                    <a:pt x="446" y="21"/>
                  </a:lnTo>
                  <a:lnTo>
                    <a:pt x="428" y="17"/>
                  </a:lnTo>
                  <a:lnTo>
                    <a:pt x="411" y="13"/>
                  </a:lnTo>
                  <a:lnTo>
                    <a:pt x="378" y="9"/>
                  </a:lnTo>
                  <a:lnTo>
                    <a:pt x="344" y="5"/>
                  </a:lnTo>
                  <a:lnTo>
                    <a:pt x="311" y="3"/>
                  </a:lnTo>
                  <a:lnTo>
                    <a:pt x="279" y="2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B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56" name="Rectangle 196"/>
            <p:cNvSpPr>
              <a:spLocks noChangeArrowheads="1"/>
            </p:cNvSpPr>
            <p:nvPr/>
          </p:nvSpPr>
          <p:spPr bwMode="auto">
            <a:xfrm>
              <a:off x="2445" y="2118"/>
              <a:ext cx="33" cy="21"/>
            </a:xfrm>
            <a:prstGeom prst="rect">
              <a:avLst/>
            </a:prstGeom>
            <a:solidFill>
              <a:srgbClr val="B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57" name="Rectangle 197"/>
            <p:cNvSpPr>
              <a:spLocks noChangeArrowheads="1"/>
            </p:cNvSpPr>
            <p:nvPr/>
          </p:nvSpPr>
          <p:spPr bwMode="auto">
            <a:xfrm>
              <a:off x="2493" y="2118"/>
              <a:ext cx="33" cy="21"/>
            </a:xfrm>
            <a:prstGeom prst="rect">
              <a:avLst/>
            </a:prstGeom>
            <a:solidFill>
              <a:srgbClr val="B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58" name="Rectangle 198"/>
            <p:cNvSpPr>
              <a:spLocks noChangeArrowheads="1"/>
            </p:cNvSpPr>
            <p:nvPr/>
          </p:nvSpPr>
          <p:spPr bwMode="auto">
            <a:xfrm>
              <a:off x="2541" y="2118"/>
              <a:ext cx="33" cy="21"/>
            </a:xfrm>
            <a:prstGeom prst="rect">
              <a:avLst/>
            </a:prstGeom>
            <a:solidFill>
              <a:srgbClr val="B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59" name="Rectangle 199"/>
            <p:cNvSpPr>
              <a:spLocks noChangeArrowheads="1"/>
            </p:cNvSpPr>
            <p:nvPr/>
          </p:nvSpPr>
          <p:spPr bwMode="auto">
            <a:xfrm>
              <a:off x="2445" y="2156"/>
              <a:ext cx="33" cy="19"/>
            </a:xfrm>
            <a:prstGeom prst="rect">
              <a:avLst/>
            </a:prstGeom>
            <a:solidFill>
              <a:srgbClr val="B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60" name="Rectangle 200"/>
            <p:cNvSpPr>
              <a:spLocks noChangeArrowheads="1"/>
            </p:cNvSpPr>
            <p:nvPr/>
          </p:nvSpPr>
          <p:spPr bwMode="auto">
            <a:xfrm>
              <a:off x="2493" y="2156"/>
              <a:ext cx="33" cy="19"/>
            </a:xfrm>
            <a:prstGeom prst="rect">
              <a:avLst/>
            </a:prstGeom>
            <a:solidFill>
              <a:srgbClr val="B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61" name="Rectangle 201"/>
            <p:cNvSpPr>
              <a:spLocks noChangeArrowheads="1"/>
            </p:cNvSpPr>
            <p:nvPr/>
          </p:nvSpPr>
          <p:spPr bwMode="auto">
            <a:xfrm>
              <a:off x="2541" y="2156"/>
              <a:ext cx="33" cy="19"/>
            </a:xfrm>
            <a:prstGeom prst="rect">
              <a:avLst/>
            </a:prstGeom>
            <a:solidFill>
              <a:srgbClr val="B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62" name="Rectangle 202"/>
            <p:cNvSpPr>
              <a:spLocks noChangeArrowheads="1"/>
            </p:cNvSpPr>
            <p:nvPr/>
          </p:nvSpPr>
          <p:spPr bwMode="auto">
            <a:xfrm>
              <a:off x="2445" y="2191"/>
              <a:ext cx="33" cy="23"/>
            </a:xfrm>
            <a:prstGeom prst="rect">
              <a:avLst/>
            </a:prstGeom>
            <a:solidFill>
              <a:srgbClr val="B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63" name="Rectangle 203"/>
            <p:cNvSpPr>
              <a:spLocks noChangeArrowheads="1"/>
            </p:cNvSpPr>
            <p:nvPr/>
          </p:nvSpPr>
          <p:spPr bwMode="auto">
            <a:xfrm>
              <a:off x="2493" y="2191"/>
              <a:ext cx="33" cy="23"/>
            </a:xfrm>
            <a:prstGeom prst="rect">
              <a:avLst/>
            </a:prstGeom>
            <a:solidFill>
              <a:srgbClr val="B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64" name="Rectangle 204"/>
            <p:cNvSpPr>
              <a:spLocks noChangeArrowheads="1"/>
            </p:cNvSpPr>
            <p:nvPr/>
          </p:nvSpPr>
          <p:spPr bwMode="auto">
            <a:xfrm>
              <a:off x="2541" y="2191"/>
              <a:ext cx="33" cy="23"/>
            </a:xfrm>
            <a:prstGeom prst="rect">
              <a:avLst/>
            </a:prstGeom>
            <a:solidFill>
              <a:srgbClr val="B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65" name="Freeform 205"/>
            <p:cNvSpPr>
              <a:spLocks/>
            </p:cNvSpPr>
            <p:nvPr/>
          </p:nvSpPr>
          <p:spPr bwMode="auto">
            <a:xfrm>
              <a:off x="2319" y="2035"/>
              <a:ext cx="380" cy="300"/>
            </a:xfrm>
            <a:custGeom>
              <a:avLst/>
              <a:gdLst>
                <a:gd name="T0" fmla="*/ 32 w 380"/>
                <a:gd name="T1" fmla="*/ 192 h 300"/>
                <a:gd name="T2" fmla="*/ 28 w 380"/>
                <a:gd name="T3" fmla="*/ 190 h 300"/>
                <a:gd name="T4" fmla="*/ 25 w 380"/>
                <a:gd name="T5" fmla="*/ 188 h 300"/>
                <a:gd name="T6" fmla="*/ 25 w 380"/>
                <a:gd name="T7" fmla="*/ 181 h 300"/>
                <a:gd name="T8" fmla="*/ 53 w 380"/>
                <a:gd name="T9" fmla="*/ 75 h 300"/>
                <a:gd name="T10" fmla="*/ 53 w 380"/>
                <a:gd name="T11" fmla="*/ 73 h 300"/>
                <a:gd name="T12" fmla="*/ 57 w 380"/>
                <a:gd name="T13" fmla="*/ 69 h 300"/>
                <a:gd name="T14" fmla="*/ 318 w 380"/>
                <a:gd name="T15" fmla="*/ 69 h 300"/>
                <a:gd name="T16" fmla="*/ 322 w 380"/>
                <a:gd name="T17" fmla="*/ 71 h 300"/>
                <a:gd name="T18" fmla="*/ 324 w 380"/>
                <a:gd name="T19" fmla="*/ 73 h 300"/>
                <a:gd name="T20" fmla="*/ 324 w 380"/>
                <a:gd name="T21" fmla="*/ 75 h 300"/>
                <a:gd name="T22" fmla="*/ 334 w 380"/>
                <a:gd name="T23" fmla="*/ 108 h 300"/>
                <a:gd name="T24" fmla="*/ 353 w 380"/>
                <a:gd name="T25" fmla="*/ 184 h 300"/>
                <a:gd name="T26" fmla="*/ 353 w 380"/>
                <a:gd name="T27" fmla="*/ 188 h 300"/>
                <a:gd name="T28" fmla="*/ 351 w 380"/>
                <a:gd name="T29" fmla="*/ 190 h 300"/>
                <a:gd name="T30" fmla="*/ 347 w 380"/>
                <a:gd name="T31" fmla="*/ 192 h 300"/>
                <a:gd name="T32" fmla="*/ 32 w 380"/>
                <a:gd name="T33" fmla="*/ 192 h 300"/>
                <a:gd name="T34" fmla="*/ 23 w 380"/>
                <a:gd name="T35" fmla="*/ 286 h 300"/>
                <a:gd name="T36" fmla="*/ 23 w 380"/>
                <a:gd name="T37" fmla="*/ 300 h 300"/>
                <a:gd name="T38" fmla="*/ 69 w 380"/>
                <a:gd name="T39" fmla="*/ 300 h 300"/>
                <a:gd name="T40" fmla="*/ 69 w 380"/>
                <a:gd name="T41" fmla="*/ 286 h 300"/>
                <a:gd name="T42" fmla="*/ 309 w 380"/>
                <a:gd name="T43" fmla="*/ 286 h 300"/>
                <a:gd name="T44" fmla="*/ 309 w 380"/>
                <a:gd name="T45" fmla="*/ 300 h 300"/>
                <a:gd name="T46" fmla="*/ 355 w 380"/>
                <a:gd name="T47" fmla="*/ 300 h 300"/>
                <a:gd name="T48" fmla="*/ 355 w 380"/>
                <a:gd name="T49" fmla="*/ 286 h 300"/>
                <a:gd name="T50" fmla="*/ 380 w 380"/>
                <a:gd name="T51" fmla="*/ 286 h 300"/>
                <a:gd name="T52" fmla="*/ 380 w 380"/>
                <a:gd name="T53" fmla="*/ 190 h 300"/>
                <a:gd name="T54" fmla="*/ 345 w 380"/>
                <a:gd name="T55" fmla="*/ 62 h 300"/>
                <a:gd name="T56" fmla="*/ 343 w 380"/>
                <a:gd name="T57" fmla="*/ 56 h 300"/>
                <a:gd name="T58" fmla="*/ 339 w 380"/>
                <a:gd name="T59" fmla="*/ 50 h 300"/>
                <a:gd name="T60" fmla="*/ 335 w 380"/>
                <a:gd name="T61" fmla="*/ 48 h 300"/>
                <a:gd name="T62" fmla="*/ 332 w 380"/>
                <a:gd name="T63" fmla="*/ 46 h 300"/>
                <a:gd name="T64" fmla="*/ 324 w 380"/>
                <a:gd name="T65" fmla="*/ 44 h 300"/>
                <a:gd name="T66" fmla="*/ 293 w 380"/>
                <a:gd name="T67" fmla="*/ 44 h 300"/>
                <a:gd name="T68" fmla="*/ 293 w 380"/>
                <a:gd name="T69" fmla="*/ 0 h 300"/>
                <a:gd name="T70" fmla="*/ 255 w 380"/>
                <a:gd name="T71" fmla="*/ 0 h 300"/>
                <a:gd name="T72" fmla="*/ 255 w 380"/>
                <a:gd name="T73" fmla="*/ 44 h 300"/>
                <a:gd name="T74" fmla="*/ 126 w 380"/>
                <a:gd name="T75" fmla="*/ 44 h 300"/>
                <a:gd name="T76" fmla="*/ 126 w 380"/>
                <a:gd name="T77" fmla="*/ 0 h 300"/>
                <a:gd name="T78" fmla="*/ 84 w 380"/>
                <a:gd name="T79" fmla="*/ 0 h 300"/>
                <a:gd name="T80" fmla="*/ 84 w 380"/>
                <a:gd name="T81" fmla="*/ 44 h 300"/>
                <a:gd name="T82" fmla="*/ 51 w 380"/>
                <a:gd name="T83" fmla="*/ 44 h 300"/>
                <a:gd name="T84" fmla="*/ 44 w 380"/>
                <a:gd name="T85" fmla="*/ 46 h 300"/>
                <a:gd name="T86" fmla="*/ 34 w 380"/>
                <a:gd name="T87" fmla="*/ 56 h 300"/>
                <a:gd name="T88" fmla="*/ 32 w 380"/>
                <a:gd name="T89" fmla="*/ 60 h 300"/>
                <a:gd name="T90" fmla="*/ 0 w 380"/>
                <a:gd name="T91" fmla="*/ 194 h 300"/>
                <a:gd name="T92" fmla="*/ 0 w 380"/>
                <a:gd name="T93" fmla="*/ 286 h 300"/>
                <a:gd name="T94" fmla="*/ 23 w 380"/>
                <a:gd name="T95" fmla="*/ 286 h 300"/>
                <a:gd name="T96" fmla="*/ 32 w 380"/>
                <a:gd name="T97" fmla="*/ 192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0" h="300">
                  <a:moveTo>
                    <a:pt x="32" y="192"/>
                  </a:moveTo>
                  <a:lnTo>
                    <a:pt x="28" y="190"/>
                  </a:lnTo>
                  <a:lnTo>
                    <a:pt x="25" y="188"/>
                  </a:lnTo>
                  <a:lnTo>
                    <a:pt x="25" y="181"/>
                  </a:lnTo>
                  <a:lnTo>
                    <a:pt x="53" y="75"/>
                  </a:lnTo>
                  <a:lnTo>
                    <a:pt x="53" y="73"/>
                  </a:lnTo>
                  <a:lnTo>
                    <a:pt x="57" y="69"/>
                  </a:lnTo>
                  <a:lnTo>
                    <a:pt x="318" y="69"/>
                  </a:lnTo>
                  <a:lnTo>
                    <a:pt x="322" y="71"/>
                  </a:lnTo>
                  <a:lnTo>
                    <a:pt x="324" y="73"/>
                  </a:lnTo>
                  <a:lnTo>
                    <a:pt x="324" y="75"/>
                  </a:lnTo>
                  <a:lnTo>
                    <a:pt x="334" y="108"/>
                  </a:lnTo>
                  <a:lnTo>
                    <a:pt x="353" y="184"/>
                  </a:lnTo>
                  <a:lnTo>
                    <a:pt x="353" y="188"/>
                  </a:lnTo>
                  <a:lnTo>
                    <a:pt x="351" y="190"/>
                  </a:lnTo>
                  <a:lnTo>
                    <a:pt x="347" y="192"/>
                  </a:lnTo>
                  <a:lnTo>
                    <a:pt x="32" y="192"/>
                  </a:lnTo>
                  <a:lnTo>
                    <a:pt x="23" y="286"/>
                  </a:lnTo>
                  <a:lnTo>
                    <a:pt x="23" y="300"/>
                  </a:lnTo>
                  <a:lnTo>
                    <a:pt x="69" y="300"/>
                  </a:lnTo>
                  <a:lnTo>
                    <a:pt x="69" y="286"/>
                  </a:lnTo>
                  <a:lnTo>
                    <a:pt x="309" y="286"/>
                  </a:lnTo>
                  <a:lnTo>
                    <a:pt x="309" y="300"/>
                  </a:lnTo>
                  <a:lnTo>
                    <a:pt x="355" y="300"/>
                  </a:lnTo>
                  <a:lnTo>
                    <a:pt x="355" y="286"/>
                  </a:lnTo>
                  <a:lnTo>
                    <a:pt x="380" y="286"/>
                  </a:lnTo>
                  <a:lnTo>
                    <a:pt x="380" y="190"/>
                  </a:lnTo>
                  <a:lnTo>
                    <a:pt x="345" y="62"/>
                  </a:lnTo>
                  <a:lnTo>
                    <a:pt x="343" y="56"/>
                  </a:lnTo>
                  <a:lnTo>
                    <a:pt x="339" y="50"/>
                  </a:lnTo>
                  <a:lnTo>
                    <a:pt x="335" y="48"/>
                  </a:lnTo>
                  <a:lnTo>
                    <a:pt x="332" y="46"/>
                  </a:lnTo>
                  <a:lnTo>
                    <a:pt x="324" y="44"/>
                  </a:lnTo>
                  <a:lnTo>
                    <a:pt x="293" y="44"/>
                  </a:lnTo>
                  <a:lnTo>
                    <a:pt x="293" y="0"/>
                  </a:lnTo>
                  <a:lnTo>
                    <a:pt x="255" y="0"/>
                  </a:lnTo>
                  <a:lnTo>
                    <a:pt x="255" y="44"/>
                  </a:lnTo>
                  <a:lnTo>
                    <a:pt x="126" y="44"/>
                  </a:lnTo>
                  <a:lnTo>
                    <a:pt x="126" y="0"/>
                  </a:lnTo>
                  <a:lnTo>
                    <a:pt x="84" y="0"/>
                  </a:lnTo>
                  <a:lnTo>
                    <a:pt x="84" y="44"/>
                  </a:lnTo>
                  <a:lnTo>
                    <a:pt x="51" y="44"/>
                  </a:lnTo>
                  <a:lnTo>
                    <a:pt x="44" y="46"/>
                  </a:lnTo>
                  <a:lnTo>
                    <a:pt x="34" y="56"/>
                  </a:lnTo>
                  <a:lnTo>
                    <a:pt x="32" y="60"/>
                  </a:lnTo>
                  <a:lnTo>
                    <a:pt x="0" y="194"/>
                  </a:lnTo>
                  <a:lnTo>
                    <a:pt x="0" y="286"/>
                  </a:lnTo>
                  <a:lnTo>
                    <a:pt x="23" y="286"/>
                  </a:lnTo>
                  <a:lnTo>
                    <a:pt x="32" y="192"/>
                  </a:lnTo>
                  <a:close/>
                </a:path>
              </a:pathLst>
            </a:custGeom>
            <a:solidFill>
              <a:srgbClr val="B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20418" name="Freeform 258" descr="Орех"/>
          <p:cNvSpPr>
            <a:spLocks/>
          </p:cNvSpPr>
          <p:nvPr/>
        </p:nvSpPr>
        <p:spPr bwMode="auto">
          <a:xfrm>
            <a:off x="5516563" y="5491164"/>
            <a:ext cx="1860550" cy="1203325"/>
          </a:xfrm>
          <a:custGeom>
            <a:avLst/>
            <a:gdLst>
              <a:gd name="T0" fmla="*/ 0 w 1410"/>
              <a:gd name="T1" fmla="*/ 250 h 758"/>
              <a:gd name="T2" fmla="*/ 784 w 1410"/>
              <a:gd name="T3" fmla="*/ 0 h 758"/>
              <a:gd name="T4" fmla="*/ 1410 w 1410"/>
              <a:gd name="T5" fmla="*/ 232 h 758"/>
              <a:gd name="T6" fmla="*/ 578 w 1410"/>
              <a:gd name="T7" fmla="*/ 758 h 758"/>
              <a:gd name="T8" fmla="*/ 56 w 1410"/>
              <a:gd name="T9" fmla="*/ 340 h 758"/>
              <a:gd name="T10" fmla="*/ 0 w 1410"/>
              <a:gd name="T11" fmla="*/ 250 h 7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410" h="758">
                <a:moveTo>
                  <a:pt x="0" y="250"/>
                </a:moveTo>
                <a:lnTo>
                  <a:pt x="784" y="0"/>
                </a:lnTo>
                <a:lnTo>
                  <a:pt x="1410" y="232"/>
                </a:lnTo>
                <a:lnTo>
                  <a:pt x="578" y="758"/>
                </a:lnTo>
                <a:lnTo>
                  <a:pt x="56" y="340"/>
                </a:lnTo>
                <a:lnTo>
                  <a:pt x="0" y="25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20589" name="Rectangle 429"/>
          <p:cNvSpPr>
            <a:spLocks noChangeArrowheads="1"/>
          </p:cNvSpPr>
          <p:nvPr/>
        </p:nvSpPr>
        <p:spPr bwMode="auto">
          <a:xfrm>
            <a:off x="1960563" y="5392738"/>
            <a:ext cx="9041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/>
              <a:t>модем </a:t>
            </a:r>
          </a:p>
        </p:txBody>
      </p:sp>
      <p:sp>
        <p:nvSpPr>
          <p:cNvPr id="220591" name="Line 431"/>
          <p:cNvSpPr>
            <a:spLocks noChangeShapeType="1"/>
          </p:cNvSpPr>
          <p:nvPr/>
        </p:nvSpPr>
        <p:spPr bwMode="auto">
          <a:xfrm>
            <a:off x="2541588" y="4840288"/>
            <a:ext cx="5651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oval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grpSp>
        <p:nvGrpSpPr>
          <p:cNvPr id="220581" name="Group 421"/>
          <p:cNvGrpSpPr>
            <a:grpSpLocks/>
          </p:cNvGrpSpPr>
          <p:nvPr/>
        </p:nvGrpSpPr>
        <p:grpSpPr bwMode="auto">
          <a:xfrm>
            <a:off x="2870200" y="5540375"/>
            <a:ext cx="598488" cy="171450"/>
            <a:chOff x="1188" y="1866"/>
            <a:chExt cx="798" cy="210"/>
          </a:xfrm>
        </p:grpSpPr>
        <p:sp>
          <p:nvSpPr>
            <p:cNvPr id="220574" name="AutoShape 414"/>
            <p:cNvSpPr>
              <a:spLocks noChangeArrowheads="1"/>
            </p:cNvSpPr>
            <p:nvPr/>
          </p:nvSpPr>
          <p:spPr bwMode="auto">
            <a:xfrm>
              <a:off x="1188" y="1866"/>
              <a:ext cx="798" cy="186"/>
            </a:xfrm>
            <a:prstGeom prst="roundRect">
              <a:avLst>
                <a:gd name="adj" fmla="val 16667"/>
              </a:avLst>
            </a:prstGeom>
            <a:solidFill>
              <a:srgbClr val="EAEAEA"/>
            </a:solidFill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20575" name="Oval 415"/>
            <p:cNvSpPr>
              <a:spLocks noChangeArrowheads="1"/>
            </p:cNvSpPr>
            <p:nvPr/>
          </p:nvSpPr>
          <p:spPr bwMode="auto">
            <a:xfrm>
              <a:off x="1250" y="1925"/>
              <a:ext cx="68" cy="68"/>
            </a:xfrm>
            <a:prstGeom prst="ellipse">
              <a:avLst/>
            </a:prstGeom>
            <a:solidFill>
              <a:srgbClr val="00FF00"/>
            </a:solidFill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20576" name="Oval 416"/>
            <p:cNvSpPr>
              <a:spLocks noChangeArrowheads="1"/>
            </p:cNvSpPr>
            <p:nvPr/>
          </p:nvSpPr>
          <p:spPr bwMode="auto">
            <a:xfrm>
              <a:off x="1346" y="1925"/>
              <a:ext cx="68" cy="68"/>
            </a:xfrm>
            <a:prstGeom prst="ellipse">
              <a:avLst/>
            </a:prstGeom>
            <a:solidFill>
              <a:srgbClr val="808080"/>
            </a:solidFill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20577" name="Oval 417"/>
            <p:cNvSpPr>
              <a:spLocks noChangeArrowheads="1"/>
            </p:cNvSpPr>
            <p:nvPr/>
          </p:nvSpPr>
          <p:spPr bwMode="auto">
            <a:xfrm>
              <a:off x="1446" y="1925"/>
              <a:ext cx="68" cy="68"/>
            </a:xfrm>
            <a:prstGeom prst="ellipse">
              <a:avLst/>
            </a:prstGeom>
            <a:solidFill>
              <a:srgbClr val="00FF00"/>
            </a:solidFill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20579" name="Rectangle 419"/>
            <p:cNvSpPr>
              <a:spLocks noChangeArrowheads="1"/>
            </p:cNvSpPr>
            <p:nvPr/>
          </p:nvSpPr>
          <p:spPr bwMode="auto">
            <a:xfrm>
              <a:off x="1282" y="2049"/>
              <a:ext cx="48" cy="27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20580" name="Rectangle 420"/>
            <p:cNvSpPr>
              <a:spLocks noChangeArrowheads="1"/>
            </p:cNvSpPr>
            <p:nvPr/>
          </p:nvSpPr>
          <p:spPr bwMode="auto">
            <a:xfrm>
              <a:off x="1862" y="2047"/>
              <a:ext cx="48" cy="27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</p:grpSp>
      <p:sp>
        <p:nvSpPr>
          <p:cNvPr id="220594" name="Freeform 434"/>
          <p:cNvSpPr>
            <a:spLocks/>
          </p:cNvSpPr>
          <p:nvPr/>
        </p:nvSpPr>
        <p:spPr bwMode="auto">
          <a:xfrm>
            <a:off x="3201989" y="4203700"/>
            <a:ext cx="320675" cy="731838"/>
          </a:xfrm>
          <a:custGeom>
            <a:avLst/>
            <a:gdLst>
              <a:gd name="T0" fmla="*/ 0 w 202"/>
              <a:gd name="T1" fmla="*/ 461 h 461"/>
              <a:gd name="T2" fmla="*/ 202 w 202"/>
              <a:gd name="T3" fmla="*/ 320 h 461"/>
              <a:gd name="T4" fmla="*/ 199 w 202"/>
              <a:gd name="T5" fmla="*/ 0 h 4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2" h="461">
                <a:moveTo>
                  <a:pt x="0" y="461"/>
                </a:moveTo>
                <a:lnTo>
                  <a:pt x="202" y="320"/>
                </a:lnTo>
                <a:lnTo>
                  <a:pt x="199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oval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20598" name="Rectangle 438"/>
          <p:cNvSpPr>
            <a:spLocks noChangeArrowheads="1"/>
          </p:cNvSpPr>
          <p:nvPr/>
        </p:nvSpPr>
        <p:spPr bwMode="auto">
          <a:xfrm>
            <a:off x="3997140" y="4294189"/>
            <a:ext cx="172598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ru-RU" altLang="ru-RU" sz="1600"/>
              <a:t>разделитель </a:t>
            </a:r>
            <a:br>
              <a:rPr lang="ru-RU" altLang="ru-RU" sz="1600"/>
            </a:br>
            <a:r>
              <a:rPr lang="ru-RU" altLang="ru-RU" sz="1600"/>
              <a:t>частот (сплиттер) </a:t>
            </a:r>
          </a:p>
        </p:txBody>
      </p:sp>
      <p:sp>
        <p:nvSpPr>
          <p:cNvPr id="220599" name="Freeform 439"/>
          <p:cNvSpPr>
            <a:spLocks/>
          </p:cNvSpPr>
          <p:nvPr/>
        </p:nvSpPr>
        <p:spPr bwMode="auto">
          <a:xfrm>
            <a:off x="6742114" y="5245100"/>
            <a:ext cx="319087" cy="617538"/>
          </a:xfrm>
          <a:custGeom>
            <a:avLst/>
            <a:gdLst>
              <a:gd name="T0" fmla="*/ 0 w 201"/>
              <a:gd name="T1" fmla="*/ 340 h 389"/>
              <a:gd name="T2" fmla="*/ 168 w 201"/>
              <a:gd name="T3" fmla="*/ 332 h 389"/>
              <a:gd name="T4" fmla="*/ 196 w 201"/>
              <a:gd name="T5" fmla="*/ 0 h 3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1" h="389">
                <a:moveTo>
                  <a:pt x="0" y="340"/>
                </a:moveTo>
                <a:cubicBezTo>
                  <a:pt x="67" y="364"/>
                  <a:pt x="135" y="389"/>
                  <a:pt x="168" y="332"/>
                </a:cubicBezTo>
                <a:cubicBezTo>
                  <a:pt x="201" y="275"/>
                  <a:pt x="198" y="137"/>
                  <a:pt x="196" y="0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grpSp>
        <p:nvGrpSpPr>
          <p:cNvPr id="220380" name="Group 220"/>
          <p:cNvGrpSpPr>
            <a:grpSpLocks noChangeAspect="1"/>
          </p:cNvGrpSpPr>
          <p:nvPr/>
        </p:nvGrpSpPr>
        <p:grpSpPr bwMode="auto">
          <a:xfrm>
            <a:off x="5383213" y="5154613"/>
            <a:ext cx="1465262" cy="1166812"/>
            <a:chOff x="2215" y="2809"/>
            <a:chExt cx="1279" cy="1019"/>
          </a:xfrm>
        </p:grpSpPr>
        <p:sp>
          <p:nvSpPr>
            <p:cNvPr id="220379" name="AutoShape 219"/>
            <p:cNvSpPr>
              <a:spLocks noChangeAspect="1" noChangeArrowheads="1" noTextEdit="1"/>
            </p:cNvSpPr>
            <p:nvPr/>
          </p:nvSpPr>
          <p:spPr bwMode="auto">
            <a:xfrm>
              <a:off x="2215" y="2809"/>
              <a:ext cx="1279" cy="10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81" name="Freeform 221"/>
            <p:cNvSpPr>
              <a:spLocks/>
            </p:cNvSpPr>
            <p:nvPr/>
          </p:nvSpPr>
          <p:spPr bwMode="auto">
            <a:xfrm>
              <a:off x="2216" y="3086"/>
              <a:ext cx="523" cy="737"/>
            </a:xfrm>
            <a:custGeom>
              <a:avLst/>
              <a:gdLst>
                <a:gd name="T0" fmla="*/ 135 w 523"/>
                <a:gd name="T1" fmla="*/ 0 h 737"/>
                <a:gd name="T2" fmla="*/ 159 w 523"/>
                <a:gd name="T3" fmla="*/ 6 h 737"/>
                <a:gd name="T4" fmla="*/ 186 w 523"/>
                <a:gd name="T5" fmla="*/ 20 h 737"/>
                <a:gd name="T6" fmla="*/ 213 w 523"/>
                <a:gd name="T7" fmla="*/ 40 h 737"/>
                <a:gd name="T8" fmla="*/ 238 w 523"/>
                <a:gd name="T9" fmla="*/ 63 h 737"/>
                <a:gd name="T10" fmla="*/ 259 w 523"/>
                <a:gd name="T11" fmla="*/ 88 h 737"/>
                <a:gd name="T12" fmla="*/ 278 w 523"/>
                <a:gd name="T13" fmla="*/ 115 h 737"/>
                <a:gd name="T14" fmla="*/ 293 w 523"/>
                <a:gd name="T15" fmla="*/ 146 h 737"/>
                <a:gd name="T16" fmla="*/ 292 w 523"/>
                <a:gd name="T17" fmla="*/ 149 h 737"/>
                <a:gd name="T18" fmla="*/ 292 w 523"/>
                <a:gd name="T19" fmla="*/ 153 h 737"/>
                <a:gd name="T20" fmla="*/ 307 w 523"/>
                <a:gd name="T21" fmla="*/ 161 h 737"/>
                <a:gd name="T22" fmla="*/ 328 w 523"/>
                <a:gd name="T23" fmla="*/ 175 h 737"/>
                <a:gd name="T24" fmla="*/ 347 w 523"/>
                <a:gd name="T25" fmla="*/ 193 h 737"/>
                <a:gd name="T26" fmla="*/ 356 w 523"/>
                <a:gd name="T27" fmla="*/ 201 h 737"/>
                <a:gd name="T28" fmla="*/ 362 w 523"/>
                <a:gd name="T29" fmla="*/ 213 h 737"/>
                <a:gd name="T30" fmla="*/ 364 w 523"/>
                <a:gd name="T31" fmla="*/ 232 h 737"/>
                <a:gd name="T32" fmla="*/ 366 w 523"/>
                <a:gd name="T33" fmla="*/ 256 h 737"/>
                <a:gd name="T34" fmla="*/ 375 w 523"/>
                <a:gd name="T35" fmla="*/ 300 h 737"/>
                <a:gd name="T36" fmla="*/ 385 w 523"/>
                <a:gd name="T37" fmla="*/ 344 h 737"/>
                <a:gd name="T38" fmla="*/ 400 w 523"/>
                <a:gd name="T39" fmla="*/ 385 h 737"/>
                <a:gd name="T40" fmla="*/ 404 w 523"/>
                <a:gd name="T41" fmla="*/ 396 h 737"/>
                <a:gd name="T42" fmla="*/ 396 w 523"/>
                <a:gd name="T43" fmla="*/ 448 h 737"/>
                <a:gd name="T44" fmla="*/ 396 w 523"/>
                <a:gd name="T45" fmla="*/ 449 h 737"/>
                <a:gd name="T46" fmla="*/ 395 w 523"/>
                <a:gd name="T47" fmla="*/ 464 h 737"/>
                <a:gd name="T48" fmla="*/ 386 w 523"/>
                <a:gd name="T49" fmla="*/ 538 h 737"/>
                <a:gd name="T50" fmla="*/ 386 w 523"/>
                <a:gd name="T51" fmla="*/ 545 h 737"/>
                <a:gd name="T52" fmla="*/ 395 w 523"/>
                <a:gd name="T53" fmla="*/ 554 h 737"/>
                <a:gd name="T54" fmla="*/ 441 w 523"/>
                <a:gd name="T55" fmla="*/ 509 h 737"/>
                <a:gd name="T56" fmla="*/ 457 w 523"/>
                <a:gd name="T57" fmla="*/ 511 h 737"/>
                <a:gd name="T58" fmla="*/ 476 w 523"/>
                <a:gd name="T59" fmla="*/ 519 h 737"/>
                <a:gd name="T60" fmla="*/ 494 w 523"/>
                <a:gd name="T61" fmla="*/ 529 h 737"/>
                <a:gd name="T62" fmla="*/ 508 w 523"/>
                <a:gd name="T63" fmla="*/ 543 h 737"/>
                <a:gd name="T64" fmla="*/ 519 w 523"/>
                <a:gd name="T65" fmla="*/ 559 h 737"/>
                <a:gd name="T66" fmla="*/ 522 w 523"/>
                <a:gd name="T67" fmla="*/ 563 h 737"/>
                <a:gd name="T68" fmla="*/ 523 w 523"/>
                <a:gd name="T69" fmla="*/ 566 h 737"/>
                <a:gd name="T70" fmla="*/ 523 w 523"/>
                <a:gd name="T71" fmla="*/ 574 h 737"/>
                <a:gd name="T72" fmla="*/ 520 w 523"/>
                <a:gd name="T73" fmla="*/ 582 h 737"/>
                <a:gd name="T74" fmla="*/ 507 w 523"/>
                <a:gd name="T75" fmla="*/ 586 h 737"/>
                <a:gd name="T76" fmla="*/ 508 w 523"/>
                <a:gd name="T77" fmla="*/ 586 h 737"/>
                <a:gd name="T78" fmla="*/ 491 w 523"/>
                <a:gd name="T79" fmla="*/ 591 h 737"/>
                <a:gd name="T80" fmla="*/ 488 w 523"/>
                <a:gd name="T81" fmla="*/ 614 h 737"/>
                <a:gd name="T82" fmla="*/ 484 w 523"/>
                <a:gd name="T83" fmla="*/ 619 h 737"/>
                <a:gd name="T84" fmla="*/ 458 w 523"/>
                <a:gd name="T85" fmla="*/ 647 h 737"/>
                <a:gd name="T86" fmla="*/ 432 w 523"/>
                <a:gd name="T87" fmla="*/ 671 h 737"/>
                <a:gd name="T88" fmla="*/ 401 w 523"/>
                <a:gd name="T89" fmla="*/ 690 h 737"/>
                <a:gd name="T90" fmla="*/ 370 w 523"/>
                <a:gd name="T91" fmla="*/ 708 h 737"/>
                <a:gd name="T92" fmla="*/ 335 w 523"/>
                <a:gd name="T93" fmla="*/ 722 h 737"/>
                <a:gd name="T94" fmla="*/ 300 w 523"/>
                <a:gd name="T95" fmla="*/ 731 h 737"/>
                <a:gd name="T96" fmla="*/ 300 w 523"/>
                <a:gd name="T97" fmla="*/ 732 h 737"/>
                <a:gd name="T98" fmla="*/ 286 w 523"/>
                <a:gd name="T99" fmla="*/ 736 h 737"/>
                <a:gd name="T100" fmla="*/ 273 w 523"/>
                <a:gd name="T101" fmla="*/ 737 h 737"/>
                <a:gd name="T102" fmla="*/ 0 w 523"/>
                <a:gd name="T103" fmla="*/ 737 h 737"/>
                <a:gd name="T104" fmla="*/ 0 w 523"/>
                <a:gd name="T105" fmla="*/ 132 h 737"/>
                <a:gd name="T106" fmla="*/ 8 w 523"/>
                <a:gd name="T107" fmla="*/ 102 h 737"/>
                <a:gd name="T108" fmla="*/ 28 w 523"/>
                <a:gd name="T109" fmla="*/ 80 h 737"/>
                <a:gd name="T110" fmla="*/ 40 w 523"/>
                <a:gd name="T111" fmla="*/ 67 h 737"/>
                <a:gd name="T112" fmla="*/ 51 w 523"/>
                <a:gd name="T113" fmla="*/ 61 h 737"/>
                <a:gd name="T114" fmla="*/ 62 w 523"/>
                <a:gd name="T115" fmla="*/ 52 h 737"/>
                <a:gd name="T116" fmla="*/ 79 w 523"/>
                <a:gd name="T117" fmla="*/ 48 h 737"/>
                <a:gd name="T118" fmla="*/ 109 w 523"/>
                <a:gd name="T119" fmla="*/ 6 h 737"/>
                <a:gd name="T120" fmla="*/ 116 w 523"/>
                <a:gd name="T121" fmla="*/ 1 h 737"/>
                <a:gd name="T122" fmla="*/ 131 w 523"/>
                <a:gd name="T123" fmla="*/ 1 h 737"/>
                <a:gd name="T124" fmla="*/ 135 w 523"/>
                <a:gd name="T12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23" h="737">
                  <a:moveTo>
                    <a:pt x="135" y="0"/>
                  </a:moveTo>
                  <a:lnTo>
                    <a:pt x="159" y="6"/>
                  </a:lnTo>
                  <a:lnTo>
                    <a:pt x="186" y="20"/>
                  </a:lnTo>
                  <a:lnTo>
                    <a:pt x="213" y="40"/>
                  </a:lnTo>
                  <a:lnTo>
                    <a:pt x="238" y="63"/>
                  </a:lnTo>
                  <a:lnTo>
                    <a:pt x="259" y="88"/>
                  </a:lnTo>
                  <a:lnTo>
                    <a:pt x="278" y="115"/>
                  </a:lnTo>
                  <a:lnTo>
                    <a:pt x="293" y="146"/>
                  </a:lnTo>
                  <a:lnTo>
                    <a:pt x="292" y="149"/>
                  </a:lnTo>
                  <a:lnTo>
                    <a:pt x="292" y="153"/>
                  </a:lnTo>
                  <a:lnTo>
                    <a:pt x="307" y="161"/>
                  </a:lnTo>
                  <a:lnTo>
                    <a:pt x="328" y="175"/>
                  </a:lnTo>
                  <a:lnTo>
                    <a:pt x="347" y="193"/>
                  </a:lnTo>
                  <a:lnTo>
                    <a:pt x="356" y="201"/>
                  </a:lnTo>
                  <a:lnTo>
                    <a:pt x="362" y="213"/>
                  </a:lnTo>
                  <a:lnTo>
                    <a:pt x="364" y="232"/>
                  </a:lnTo>
                  <a:lnTo>
                    <a:pt x="366" y="256"/>
                  </a:lnTo>
                  <a:lnTo>
                    <a:pt x="375" y="300"/>
                  </a:lnTo>
                  <a:lnTo>
                    <a:pt x="385" y="344"/>
                  </a:lnTo>
                  <a:lnTo>
                    <a:pt x="400" y="385"/>
                  </a:lnTo>
                  <a:lnTo>
                    <a:pt x="404" y="396"/>
                  </a:lnTo>
                  <a:lnTo>
                    <a:pt x="396" y="448"/>
                  </a:lnTo>
                  <a:lnTo>
                    <a:pt x="396" y="449"/>
                  </a:lnTo>
                  <a:lnTo>
                    <a:pt x="395" y="464"/>
                  </a:lnTo>
                  <a:lnTo>
                    <a:pt x="386" y="538"/>
                  </a:lnTo>
                  <a:lnTo>
                    <a:pt x="386" y="545"/>
                  </a:lnTo>
                  <a:lnTo>
                    <a:pt x="395" y="554"/>
                  </a:lnTo>
                  <a:lnTo>
                    <a:pt x="441" y="509"/>
                  </a:lnTo>
                  <a:lnTo>
                    <a:pt x="457" y="511"/>
                  </a:lnTo>
                  <a:lnTo>
                    <a:pt x="476" y="519"/>
                  </a:lnTo>
                  <a:lnTo>
                    <a:pt x="494" y="529"/>
                  </a:lnTo>
                  <a:lnTo>
                    <a:pt x="508" y="543"/>
                  </a:lnTo>
                  <a:lnTo>
                    <a:pt x="519" y="559"/>
                  </a:lnTo>
                  <a:lnTo>
                    <a:pt x="522" y="563"/>
                  </a:lnTo>
                  <a:lnTo>
                    <a:pt x="523" y="566"/>
                  </a:lnTo>
                  <a:lnTo>
                    <a:pt x="523" y="574"/>
                  </a:lnTo>
                  <a:lnTo>
                    <a:pt x="520" y="582"/>
                  </a:lnTo>
                  <a:lnTo>
                    <a:pt x="507" y="586"/>
                  </a:lnTo>
                  <a:lnTo>
                    <a:pt x="508" y="586"/>
                  </a:lnTo>
                  <a:lnTo>
                    <a:pt x="491" y="591"/>
                  </a:lnTo>
                  <a:lnTo>
                    <a:pt x="488" y="614"/>
                  </a:lnTo>
                  <a:lnTo>
                    <a:pt x="484" y="619"/>
                  </a:lnTo>
                  <a:lnTo>
                    <a:pt x="458" y="647"/>
                  </a:lnTo>
                  <a:lnTo>
                    <a:pt x="432" y="671"/>
                  </a:lnTo>
                  <a:lnTo>
                    <a:pt x="401" y="690"/>
                  </a:lnTo>
                  <a:lnTo>
                    <a:pt x="370" y="708"/>
                  </a:lnTo>
                  <a:lnTo>
                    <a:pt x="335" y="722"/>
                  </a:lnTo>
                  <a:lnTo>
                    <a:pt x="300" y="731"/>
                  </a:lnTo>
                  <a:lnTo>
                    <a:pt x="300" y="732"/>
                  </a:lnTo>
                  <a:lnTo>
                    <a:pt x="286" y="736"/>
                  </a:lnTo>
                  <a:lnTo>
                    <a:pt x="273" y="737"/>
                  </a:lnTo>
                  <a:lnTo>
                    <a:pt x="0" y="737"/>
                  </a:lnTo>
                  <a:lnTo>
                    <a:pt x="0" y="132"/>
                  </a:lnTo>
                  <a:lnTo>
                    <a:pt x="8" y="102"/>
                  </a:lnTo>
                  <a:lnTo>
                    <a:pt x="28" y="80"/>
                  </a:lnTo>
                  <a:lnTo>
                    <a:pt x="40" y="67"/>
                  </a:lnTo>
                  <a:lnTo>
                    <a:pt x="51" y="61"/>
                  </a:lnTo>
                  <a:lnTo>
                    <a:pt x="62" y="52"/>
                  </a:lnTo>
                  <a:lnTo>
                    <a:pt x="79" y="48"/>
                  </a:lnTo>
                  <a:lnTo>
                    <a:pt x="109" y="6"/>
                  </a:lnTo>
                  <a:lnTo>
                    <a:pt x="116" y="1"/>
                  </a:lnTo>
                  <a:lnTo>
                    <a:pt x="131" y="1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FFFF9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382" name="Freeform 222"/>
            <p:cNvSpPr>
              <a:spLocks/>
            </p:cNvSpPr>
            <p:nvPr/>
          </p:nvSpPr>
          <p:spPr bwMode="auto">
            <a:xfrm>
              <a:off x="2334" y="2810"/>
              <a:ext cx="383" cy="269"/>
            </a:xfrm>
            <a:custGeom>
              <a:avLst/>
              <a:gdLst>
                <a:gd name="T0" fmla="*/ 12 w 383"/>
                <a:gd name="T1" fmla="*/ 268 h 269"/>
                <a:gd name="T2" fmla="*/ 26 w 383"/>
                <a:gd name="T3" fmla="*/ 262 h 269"/>
                <a:gd name="T4" fmla="*/ 41 w 383"/>
                <a:gd name="T5" fmla="*/ 258 h 269"/>
                <a:gd name="T6" fmla="*/ 56 w 383"/>
                <a:gd name="T7" fmla="*/ 258 h 269"/>
                <a:gd name="T8" fmla="*/ 73 w 383"/>
                <a:gd name="T9" fmla="*/ 262 h 269"/>
                <a:gd name="T10" fmla="*/ 85 w 383"/>
                <a:gd name="T11" fmla="*/ 269 h 269"/>
                <a:gd name="T12" fmla="*/ 121 w 383"/>
                <a:gd name="T13" fmla="*/ 239 h 269"/>
                <a:gd name="T14" fmla="*/ 117 w 383"/>
                <a:gd name="T15" fmla="*/ 230 h 269"/>
                <a:gd name="T16" fmla="*/ 117 w 383"/>
                <a:gd name="T17" fmla="*/ 222 h 269"/>
                <a:gd name="T18" fmla="*/ 125 w 383"/>
                <a:gd name="T19" fmla="*/ 188 h 269"/>
                <a:gd name="T20" fmla="*/ 125 w 383"/>
                <a:gd name="T21" fmla="*/ 186 h 269"/>
                <a:gd name="T22" fmla="*/ 131 w 383"/>
                <a:gd name="T23" fmla="*/ 177 h 269"/>
                <a:gd name="T24" fmla="*/ 141 w 383"/>
                <a:gd name="T25" fmla="*/ 170 h 269"/>
                <a:gd name="T26" fmla="*/ 151 w 383"/>
                <a:gd name="T27" fmla="*/ 168 h 269"/>
                <a:gd name="T28" fmla="*/ 163 w 383"/>
                <a:gd name="T29" fmla="*/ 169 h 269"/>
                <a:gd name="T30" fmla="*/ 173 w 383"/>
                <a:gd name="T31" fmla="*/ 174 h 269"/>
                <a:gd name="T32" fmla="*/ 180 w 383"/>
                <a:gd name="T33" fmla="*/ 183 h 269"/>
                <a:gd name="T34" fmla="*/ 183 w 383"/>
                <a:gd name="T35" fmla="*/ 193 h 269"/>
                <a:gd name="T36" fmla="*/ 183 w 383"/>
                <a:gd name="T37" fmla="*/ 205 h 269"/>
                <a:gd name="T38" fmla="*/ 179 w 383"/>
                <a:gd name="T39" fmla="*/ 216 h 269"/>
                <a:gd name="T40" fmla="*/ 225 w 383"/>
                <a:gd name="T41" fmla="*/ 235 h 269"/>
                <a:gd name="T42" fmla="*/ 249 w 383"/>
                <a:gd name="T43" fmla="*/ 179 h 269"/>
                <a:gd name="T44" fmla="*/ 265 w 383"/>
                <a:gd name="T45" fmla="*/ 168 h 269"/>
                <a:gd name="T46" fmla="*/ 260 w 383"/>
                <a:gd name="T47" fmla="*/ 149 h 269"/>
                <a:gd name="T48" fmla="*/ 282 w 383"/>
                <a:gd name="T49" fmla="*/ 154 h 269"/>
                <a:gd name="T50" fmla="*/ 305 w 383"/>
                <a:gd name="T51" fmla="*/ 156 h 269"/>
                <a:gd name="T52" fmla="*/ 326 w 383"/>
                <a:gd name="T53" fmla="*/ 154 h 269"/>
                <a:gd name="T54" fmla="*/ 335 w 383"/>
                <a:gd name="T55" fmla="*/ 151 h 269"/>
                <a:gd name="T56" fmla="*/ 339 w 383"/>
                <a:gd name="T57" fmla="*/ 154 h 269"/>
                <a:gd name="T58" fmla="*/ 358 w 383"/>
                <a:gd name="T59" fmla="*/ 158 h 269"/>
                <a:gd name="T60" fmla="*/ 362 w 383"/>
                <a:gd name="T61" fmla="*/ 158 h 269"/>
                <a:gd name="T62" fmla="*/ 370 w 383"/>
                <a:gd name="T63" fmla="*/ 156 h 269"/>
                <a:gd name="T64" fmla="*/ 378 w 383"/>
                <a:gd name="T65" fmla="*/ 151 h 269"/>
                <a:gd name="T66" fmla="*/ 383 w 383"/>
                <a:gd name="T67" fmla="*/ 141 h 269"/>
                <a:gd name="T68" fmla="*/ 381 w 383"/>
                <a:gd name="T69" fmla="*/ 136 h 269"/>
                <a:gd name="T70" fmla="*/ 377 w 383"/>
                <a:gd name="T71" fmla="*/ 128 h 269"/>
                <a:gd name="T72" fmla="*/ 353 w 383"/>
                <a:gd name="T73" fmla="*/ 101 h 269"/>
                <a:gd name="T74" fmla="*/ 325 w 383"/>
                <a:gd name="T75" fmla="*/ 75 h 269"/>
                <a:gd name="T76" fmla="*/ 295 w 383"/>
                <a:gd name="T77" fmla="*/ 55 h 269"/>
                <a:gd name="T78" fmla="*/ 263 w 383"/>
                <a:gd name="T79" fmla="*/ 36 h 269"/>
                <a:gd name="T80" fmla="*/ 229 w 383"/>
                <a:gd name="T81" fmla="*/ 21 h 269"/>
                <a:gd name="T82" fmla="*/ 193 w 383"/>
                <a:gd name="T83" fmla="*/ 10 h 269"/>
                <a:gd name="T84" fmla="*/ 156 w 383"/>
                <a:gd name="T85" fmla="*/ 3 h 269"/>
                <a:gd name="T86" fmla="*/ 136 w 383"/>
                <a:gd name="T87" fmla="*/ 0 h 269"/>
                <a:gd name="T88" fmla="*/ 108 w 383"/>
                <a:gd name="T89" fmla="*/ 15 h 269"/>
                <a:gd name="T90" fmla="*/ 81 w 383"/>
                <a:gd name="T91" fmla="*/ 33 h 269"/>
                <a:gd name="T92" fmla="*/ 57 w 383"/>
                <a:gd name="T93" fmla="*/ 55 h 269"/>
                <a:gd name="T94" fmla="*/ 37 w 383"/>
                <a:gd name="T95" fmla="*/ 79 h 269"/>
                <a:gd name="T96" fmla="*/ 19 w 383"/>
                <a:gd name="T97" fmla="*/ 106 h 269"/>
                <a:gd name="T98" fmla="*/ 7 w 383"/>
                <a:gd name="T99" fmla="*/ 132 h 269"/>
                <a:gd name="T100" fmla="*/ 0 w 383"/>
                <a:gd name="T101" fmla="*/ 151 h 269"/>
                <a:gd name="T102" fmla="*/ 8 w 383"/>
                <a:gd name="T103" fmla="*/ 173 h 269"/>
                <a:gd name="T104" fmla="*/ 12 w 383"/>
                <a:gd name="T105" fmla="*/ 194 h 269"/>
                <a:gd name="T106" fmla="*/ 12 w 383"/>
                <a:gd name="T107" fmla="*/ 216 h 269"/>
                <a:gd name="T108" fmla="*/ 8 w 383"/>
                <a:gd name="T109" fmla="*/ 238 h 269"/>
                <a:gd name="T110" fmla="*/ 0 w 383"/>
                <a:gd name="T111" fmla="*/ 258 h 269"/>
                <a:gd name="T112" fmla="*/ 8 w 383"/>
                <a:gd name="T113" fmla="*/ 265 h 269"/>
                <a:gd name="T114" fmla="*/ 12 w 383"/>
                <a:gd name="T115" fmla="*/ 268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83" h="269">
                  <a:moveTo>
                    <a:pt x="12" y="268"/>
                  </a:moveTo>
                  <a:lnTo>
                    <a:pt x="26" y="262"/>
                  </a:lnTo>
                  <a:lnTo>
                    <a:pt x="41" y="258"/>
                  </a:lnTo>
                  <a:lnTo>
                    <a:pt x="56" y="258"/>
                  </a:lnTo>
                  <a:lnTo>
                    <a:pt x="73" y="262"/>
                  </a:lnTo>
                  <a:lnTo>
                    <a:pt x="85" y="269"/>
                  </a:lnTo>
                  <a:lnTo>
                    <a:pt x="121" y="239"/>
                  </a:lnTo>
                  <a:lnTo>
                    <a:pt x="117" y="230"/>
                  </a:lnTo>
                  <a:lnTo>
                    <a:pt x="117" y="222"/>
                  </a:lnTo>
                  <a:lnTo>
                    <a:pt x="125" y="188"/>
                  </a:lnTo>
                  <a:lnTo>
                    <a:pt x="125" y="186"/>
                  </a:lnTo>
                  <a:lnTo>
                    <a:pt x="131" y="177"/>
                  </a:lnTo>
                  <a:lnTo>
                    <a:pt x="141" y="170"/>
                  </a:lnTo>
                  <a:lnTo>
                    <a:pt x="151" y="168"/>
                  </a:lnTo>
                  <a:lnTo>
                    <a:pt x="163" y="169"/>
                  </a:lnTo>
                  <a:lnTo>
                    <a:pt x="173" y="174"/>
                  </a:lnTo>
                  <a:lnTo>
                    <a:pt x="180" y="183"/>
                  </a:lnTo>
                  <a:lnTo>
                    <a:pt x="183" y="193"/>
                  </a:lnTo>
                  <a:lnTo>
                    <a:pt x="183" y="205"/>
                  </a:lnTo>
                  <a:lnTo>
                    <a:pt x="179" y="216"/>
                  </a:lnTo>
                  <a:lnTo>
                    <a:pt x="225" y="235"/>
                  </a:lnTo>
                  <a:lnTo>
                    <a:pt x="249" y="179"/>
                  </a:lnTo>
                  <a:lnTo>
                    <a:pt x="265" y="168"/>
                  </a:lnTo>
                  <a:lnTo>
                    <a:pt x="260" y="149"/>
                  </a:lnTo>
                  <a:lnTo>
                    <a:pt x="282" y="154"/>
                  </a:lnTo>
                  <a:lnTo>
                    <a:pt x="305" y="156"/>
                  </a:lnTo>
                  <a:lnTo>
                    <a:pt x="326" y="154"/>
                  </a:lnTo>
                  <a:lnTo>
                    <a:pt x="335" y="151"/>
                  </a:lnTo>
                  <a:lnTo>
                    <a:pt x="339" y="154"/>
                  </a:lnTo>
                  <a:lnTo>
                    <a:pt x="358" y="158"/>
                  </a:lnTo>
                  <a:lnTo>
                    <a:pt x="362" y="158"/>
                  </a:lnTo>
                  <a:lnTo>
                    <a:pt x="370" y="156"/>
                  </a:lnTo>
                  <a:lnTo>
                    <a:pt x="378" y="151"/>
                  </a:lnTo>
                  <a:lnTo>
                    <a:pt x="383" y="141"/>
                  </a:lnTo>
                  <a:lnTo>
                    <a:pt x="381" y="136"/>
                  </a:lnTo>
                  <a:lnTo>
                    <a:pt x="377" y="128"/>
                  </a:lnTo>
                  <a:lnTo>
                    <a:pt x="353" y="101"/>
                  </a:lnTo>
                  <a:lnTo>
                    <a:pt x="325" y="75"/>
                  </a:lnTo>
                  <a:lnTo>
                    <a:pt x="295" y="55"/>
                  </a:lnTo>
                  <a:lnTo>
                    <a:pt x="263" y="36"/>
                  </a:lnTo>
                  <a:lnTo>
                    <a:pt x="229" y="21"/>
                  </a:lnTo>
                  <a:lnTo>
                    <a:pt x="193" y="10"/>
                  </a:lnTo>
                  <a:lnTo>
                    <a:pt x="156" y="3"/>
                  </a:lnTo>
                  <a:lnTo>
                    <a:pt x="136" y="0"/>
                  </a:lnTo>
                  <a:lnTo>
                    <a:pt x="108" y="15"/>
                  </a:lnTo>
                  <a:lnTo>
                    <a:pt x="81" y="33"/>
                  </a:lnTo>
                  <a:lnTo>
                    <a:pt x="57" y="55"/>
                  </a:lnTo>
                  <a:lnTo>
                    <a:pt x="37" y="79"/>
                  </a:lnTo>
                  <a:lnTo>
                    <a:pt x="19" y="106"/>
                  </a:lnTo>
                  <a:lnTo>
                    <a:pt x="7" y="132"/>
                  </a:lnTo>
                  <a:lnTo>
                    <a:pt x="0" y="151"/>
                  </a:lnTo>
                  <a:lnTo>
                    <a:pt x="8" y="173"/>
                  </a:lnTo>
                  <a:lnTo>
                    <a:pt x="12" y="194"/>
                  </a:lnTo>
                  <a:lnTo>
                    <a:pt x="12" y="216"/>
                  </a:lnTo>
                  <a:lnTo>
                    <a:pt x="8" y="238"/>
                  </a:lnTo>
                  <a:lnTo>
                    <a:pt x="0" y="258"/>
                  </a:lnTo>
                  <a:lnTo>
                    <a:pt x="8" y="265"/>
                  </a:lnTo>
                  <a:lnTo>
                    <a:pt x="12" y="26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383" name="Freeform 223"/>
            <p:cNvSpPr>
              <a:spLocks/>
            </p:cNvSpPr>
            <p:nvPr/>
          </p:nvSpPr>
          <p:spPr bwMode="auto">
            <a:xfrm>
              <a:off x="2346" y="2959"/>
              <a:ext cx="346" cy="273"/>
            </a:xfrm>
            <a:custGeom>
              <a:avLst/>
              <a:gdLst>
                <a:gd name="T0" fmla="*/ 346 w 346"/>
                <a:gd name="T1" fmla="*/ 9 h 273"/>
                <a:gd name="T2" fmla="*/ 327 w 346"/>
                <a:gd name="T3" fmla="*/ 5 h 273"/>
                <a:gd name="T4" fmla="*/ 323 w 346"/>
                <a:gd name="T5" fmla="*/ 2 h 273"/>
                <a:gd name="T6" fmla="*/ 314 w 346"/>
                <a:gd name="T7" fmla="*/ 5 h 273"/>
                <a:gd name="T8" fmla="*/ 293 w 346"/>
                <a:gd name="T9" fmla="*/ 7 h 273"/>
                <a:gd name="T10" fmla="*/ 270 w 346"/>
                <a:gd name="T11" fmla="*/ 5 h 273"/>
                <a:gd name="T12" fmla="*/ 248 w 346"/>
                <a:gd name="T13" fmla="*/ 0 h 273"/>
                <a:gd name="T14" fmla="*/ 253 w 346"/>
                <a:gd name="T15" fmla="*/ 19 h 273"/>
                <a:gd name="T16" fmla="*/ 237 w 346"/>
                <a:gd name="T17" fmla="*/ 30 h 273"/>
                <a:gd name="T18" fmla="*/ 213 w 346"/>
                <a:gd name="T19" fmla="*/ 86 h 273"/>
                <a:gd name="T20" fmla="*/ 167 w 346"/>
                <a:gd name="T21" fmla="*/ 67 h 273"/>
                <a:gd name="T22" fmla="*/ 171 w 346"/>
                <a:gd name="T23" fmla="*/ 56 h 273"/>
                <a:gd name="T24" fmla="*/ 171 w 346"/>
                <a:gd name="T25" fmla="*/ 44 h 273"/>
                <a:gd name="T26" fmla="*/ 168 w 346"/>
                <a:gd name="T27" fmla="*/ 34 h 273"/>
                <a:gd name="T28" fmla="*/ 161 w 346"/>
                <a:gd name="T29" fmla="*/ 25 h 273"/>
                <a:gd name="T30" fmla="*/ 151 w 346"/>
                <a:gd name="T31" fmla="*/ 20 h 273"/>
                <a:gd name="T32" fmla="*/ 139 w 346"/>
                <a:gd name="T33" fmla="*/ 19 h 273"/>
                <a:gd name="T34" fmla="*/ 129 w 346"/>
                <a:gd name="T35" fmla="*/ 21 h 273"/>
                <a:gd name="T36" fmla="*/ 119 w 346"/>
                <a:gd name="T37" fmla="*/ 28 h 273"/>
                <a:gd name="T38" fmla="*/ 113 w 346"/>
                <a:gd name="T39" fmla="*/ 37 h 273"/>
                <a:gd name="T40" fmla="*/ 113 w 346"/>
                <a:gd name="T41" fmla="*/ 39 h 273"/>
                <a:gd name="T42" fmla="*/ 105 w 346"/>
                <a:gd name="T43" fmla="*/ 73 h 273"/>
                <a:gd name="T44" fmla="*/ 105 w 346"/>
                <a:gd name="T45" fmla="*/ 81 h 273"/>
                <a:gd name="T46" fmla="*/ 109 w 346"/>
                <a:gd name="T47" fmla="*/ 90 h 273"/>
                <a:gd name="T48" fmla="*/ 73 w 346"/>
                <a:gd name="T49" fmla="*/ 120 h 273"/>
                <a:gd name="T50" fmla="*/ 61 w 346"/>
                <a:gd name="T51" fmla="*/ 113 h 273"/>
                <a:gd name="T52" fmla="*/ 44 w 346"/>
                <a:gd name="T53" fmla="*/ 109 h 273"/>
                <a:gd name="T54" fmla="*/ 29 w 346"/>
                <a:gd name="T55" fmla="*/ 109 h 273"/>
                <a:gd name="T56" fmla="*/ 14 w 346"/>
                <a:gd name="T57" fmla="*/ 113 h 273"/>
                <a:gd name="T58" fmla="*/ 0 w 346"/>
                <a:gd name="T59" fmla="*/ 119 h 273"/>
                <a:gd name="T60" fmla="*/ 5 w 346"/>
                <a:gd name="T61" fmla="*/ 127 h 273"/>
                <a:gd name="T62" fmla="*/ 29 w 346"/>
                <a:gd name="T63" fmla="*/ 133 h 273"/>
                <a:gd name="T64" fmla="*/ 56 w 346"/>
                <a:gd name="T65" fmla="*/ 147 h 273"/>
                <a:gd name="T66" fmla="*/ 83 w 346"/>
                <a:gd name="T67" fmla="*/ 167 h 273"/>
                <a:gd name="T68" fmla="*/ 108 w 346"/>
                <a:gd name="T69" fmla="*/ 190 h 273"/>
                <a:gd name="T70" fmla="*/ 129 w 346"/>
                <a:gd name="T71" fmla="*/ 215 h 273"/>
                <a:gd name="T72" fmla="*/ 148 w 346"/>
                <a:gd name="T73" fmla="*/ 242 h 273"/>
                <a:gd name="T74" fmla="*/ 163 w 346"/>
                <a:gd name="T75" fmla="*/ 273 h 273"/>
                <a:gd name="T76" fmla="*/ 175 w 346"/>
                <a:gd name="T77" fmla="*/ 265 h 273"/>
                <a:gd name="T78" fmla="*/ 260 w 346"/>
                <a:gd name="T79" fmla="*/ 265 h 273"/>
                <a:gd name="T80" fmla="*/ 269 w 346"/>
                <a:gd name="T81" fmla="*/ 261 h 273"/>
                <a:gd name="T82" fmla="*/ 276 w 346"/>
                <a:gd name="T83" fmla="*/ 255 h 273"/>
                <a:gd name="T84" fmla="*/ 278 w 346"/>
                <a:gd name="T85" fmla="*/ 246 h 273"/>
                <a:gd name="T86" fmla="*/ 278 w 346"/>
                <a:gd name="T87" fmla="*/ 238 h 273"/>
                <a:gd name="T88" fmla="*/ 276 w 346"/>
                <a:gd name="T89" fmla="*/ 232 h 273"/>
                <a:gd name="T90" fmla="*/ 292 w 346"/>
                <a:gd name="T91" fmla="*/ 205 h 273"/>
                <a:gd name="T92" fmla="*/ 283 w 346"/>
                <a:gd name="T93" fmla="*/ 199 h 273"/>
                <a:gd name="T94" fmla="*/ 269 w 346"/>
                <a:gd name="T95" fmla="*/ 188 h 273"/>
                <a:gd name="T96" fmla="*/ 262 w 346"/>
                <a:gd name="T97" fmla="*/ 184 h 273"/>
                <a:gd name="T98" fmla="*/ 266 w 346"/>
                <a:gd name="T99" fmla="*/ 175 h 273"/>
                <a:gd name="T100" fmla="*/ 288 w 346"/>
                <a:gd name="T101" fmla="*/ 188 h 273"/>
                <a:gd name="T102" fmla="*/ 295 w 346"/>
                <a:gd name="T103" fmla="*/ 190 h 273"/>
                <a:gd name="T104" fmla="*/ 302 w 346"/>
                <a:gd name="T105" fmla="*/ 169 h 273"/>
                <a:gd name="T106" fmla="*/ 304 w 346"/>
                <a:gd name="T107" fmla="*/ 166 h 273"/>
                <a:gd name="T108" fmla="*/ 331 w 346"/>
                <a:gd name="T109" fmla="*/ 166 h 273"/>
                <a:gd name="T110" fmla="*/ 332 w 346"/>
                <a:gd name="T111" fmla="*/ 162 h 273"/>
                <a:gd name="T112" fmla="*/ 327 w 346"/>
                <a:gd name="T113" fmla="*/ 96 h 273"/>
                <a:gd name="T114" fmla="*/ 333 w 346"/>
                <a:gd name="T115" fmla="*/ 94 h 273"/>
                <a:gd name="T116" fmla="*/ 338 w 346"/>
                <a:gd name="T117" fmla="*/ 87 h 273"/>
                <a:gd name="T118" fmla="*/ 340 w 346"/>
                <a:gd name="T119" fmla="*/ 80 h 273"/>
                <a:gd name="T120" fmla="*/ 340 w 346"/>
                <a:gd name="T121" fmla="*/ 77 h 273"/>
                <a:gd name="T122" fmla="*/ 346 w 346"/>
                <a:gd name="T123" fmla="*/ 9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46" h="273">
                  <a:moveTo>
                    <a:pt x="346" y="9"/>
                  </a:moveTo>
                  <a:lnTo>
                    <a:pt x="327" y="5"/>
                  </a:lnTo>
                  <a:lnTo>
                    <a:pt x="323" y="2"/>
                  </a:lnTo>
                  <a:lnTo>
                    <a:pt x="314" y="5"/>
                  </a:lnTo>
                  <a:lnTo>
                    <a:pt x="293" y="7"/>
                  </a:lnTo>
                  <a:lnTo>
                    <a:pt x="270" y="5"/>
                  </a:lnTo>
                  <a:lnTo>
                    <a:pt x="248" y="0"/>
                  </a:lnTo>
                  <a:lnTo>
                    <a:pt x="253" y="19"/>
                  </a:lnTo>
                  <a:lnTo>
                    <a:pt x="237" y="30"/>
                  </a:lnTo>
                  <a:lnTo>
                    <a:pt x="213" y="86"/>
                  </a:lnTo>
                  <a:lnTo>
                    <a:pt x="167" y="67"/>
                  </a:lnTo>
                  <a:lnTo>
                    <a:pt x="171" y="56"/>
                  </a:lnTo>
                  <a:lnTo>
                    <a:pt x="171" y="44"/>
                  </a:lnTo>
                  <a:lnTo>
                    <a:pt x="168" y="34"/>
                  </a:lnTo>
                  <a:lnTo>
                    <a:pt x="161" y="25"/>
                  </a:lnTo>
                  <a:lnTo>
                    <a:pt x="151" y="20"/>
                  </a:lnTo>
                  <a:lnTo>
                    <a:pt x="139" y="19"/>
                  </a:lnTo>
                  <a:lnTo>
                    <a:pt x="129" y="21"/>
                  </a:lnTo>
                  <a:lnTo>
                    <a:pt x="119" y="28"/>
                  </a:lnTo>
                  <a:lnTo>
                    <a:pt x="113" y="37"/>
                  </a:lnTo>
                  <a:lnTo>
                    <a:pt x="113" y="39"/>
                  </a:lnTo>
                  <a:lnTo>
                    <a:pt x="105" y="73"/>
                  </a:lnTo>
                  <a:lnTo>
                    <a:pt x="105" y="81"/>
                  </a:lnTo>
                  <a:lnTo>
                    <a:pt x="109" y="90"/>
                  </a:lnTo>
                  <a:lnTo>
                    <a:pt x="73" y="120"/>
                  </a:lnTo>
                  <a:lnTo>
                    <a:pt x="61" y="113"/>
                  </a:lnTo>
                  <a:lnTo>
                    <a:pt x="44" y="109"/>
                  </a:lnTo>
                  <a:lnTo>
                    <a:pt x="29" y="109"/>
                  </a:lnTo>
                  <a:lnTo>
                    <a:pt x="14" y="113"/>
                  </a:lnTo>
                  <a:lnTo>
                    <a:pt x="0" y="119"/>
                  </a:lnTo>
                  <a:lnTo>
                    <a:pt x="5" y="127"/>
                  </a:lnTo>
                  <a:lnTo>
                    <a:pt x="29" y="133"/>
                  </a:lnTo>
                  <a:lnTo>
                    <a:pt x="56" y="147"/>
                  </a:lnTo>
                  <a:lnTo>
                    <a:pt x="83" y="167"/>
                  </a:lnTo>
                  <a:lnTo>
                    <a:pt x="108" y="190"/>
                  </a:lnTo>
                  <a:lnTo>
                    <a:pt x="129" y="215"/>
                  </a:lnTo>
                  <a:lnTo>
                    <a:pt x="148" y="242"/>
                  </a:lnTo>
                  <a:lnTo>
                    <a:pt x="163" y="273"/>
                  </a:lnTo>
                  <a:lnTo>
                    <a:pt x="175" y="265"/>
                  </a:lnTo>
                  <a:lnTo>
                    <a:pt x="260" y="265"/>
                  </a:lnTo>
                  <a:lnTo>
                    <a:pt x="269" y="261"/>
                  </a:lnTo>
                  <a:lnTo>
                    <a:pt x="276" y="255"/>
                  </a:lnTo>
                  <a:lnTo>
                    <a:pt x="278" y="246"/>
                  </a:lnTo>
                  <a:lnTo>
                    <a:pt x="278" y="238"/>
                  </a:lnTo>
                  <a:lnTo>
                    <a:pt x="276" y="232"/>
                  </a:lnTo>
                  <a:lnTo>
                    <a:pt x="292" y="205"/>
                  </a:lnTo>
                  <a:lnTo>
                    <a:pt x="283" y="199"/>
                  </a:lnTo>
                  <a:lnTo>
                    <a:pt x="269" y="188"/>
                  </a:lnTo>
                  <a:lnTo>
                    <a:pt x="262" y="184"/>
                  </a:lnTo>
                  <a:lnTo>
                    <a:pt x="266" y="175"/>
                  </a:lnTo>
                  <a:lnTo>
                    <a:pt x="288" y="188"/>
                  </a:lnTo>
                  <a:lnTo>
                    <a:pt x="295" y="190"/>
                  </a:lnTo>
                  <a:lnTo>
                    <a:pt x="302" y="169"/>
                  </a:lnTo>
                  <a:lnTo>
                    <a:pt x="304" y="166"/>
                  </a:lnTo>
                  <a:lnTo>
                    <a:pt x="331" y="166"/>
                  </a:lnTo>
                  <a:lnTo>
                    <a:pt x="332" y="162"/>
                  </a:lnTo>
                  <a:lnTo>
                    <a:pt x="327" y="96"/>
                  </a:lnTo>
                  <a:lnTo>
                    <a:pt x="333" y="94"/>
                  </a:lnTo>
                  <a:lnTo>
                    <a:pt x="338" y="87"/>
                  </a:lnTo>
                  <a:lnTo>
                    <a:pt x="340" y="80"/>
                  </a:lnTo>
                  <a:lnTo>
                    <a:pt x="340" y="77"/>
                  </a:lnTo>
                  <a:lnTo>
                    <a:pt x="346" y="9"/>
                  </a:lnTo>
                  <a:close/>
                </a:path>
              </a:pathLst>
            </a:custGeom>
            <a:solidFill>
              <a:srgbClr val="FCE6C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384" name="Freeform 224"/>
            <p:cNvSpPr>
              <a:spLocks/>
            </p:cNvSpPr>
            <p:nvPr/>
          </p:nvSpPr>
          <p:spPr bwMode="auto">
            <a:xfrm>
              <a:off x="2641" y="3103"/>
              <a:ext cx="4" cy="18"/>
            </a:xfrm>
            <a:custGeom>
              <a:avLst/>
              <a:gdLst>
                <a:gd name="T0" fmla="*/ 3 w 4"/>
                <a:gd name="T1" fmla="*/ 0 h 18"/>
                <a:gd name="T2" fmla="*/ 2 w 4"/>
                <a:gd name="T3" fmla="*/ 3 h 18"/>
                <a:gd name="T4" fmla="*/ 0 w 4"/>
                <a:gd name="T5" fmla="*/ 5 h 18"/>
                <a:gd name="T6" fmla="*/ 0 w 4"/>
                <a:gd name="T7" fmla="*/ 12 h 18"/>
                <a:gd name="T8" fmla="*/ 2 w 4"/>
                <a:gd name="T9" fmla="*/ 14 h 18"/>
                <a:gd name="T10" fmla="*/ 4 w 4"/>
                <a:gd name="T11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18">
                  <a:moveTo>
                    <a:pt x="3" y="0"/>
                  </a:moveTo>
                  <a:lnTo>
                    <a:pt x="2" y="3"/>
                  </a:lnTo>
                  <a:lnTo>
                    <a:pt x="0" y="5"/>
                  </a:lnTo>
                  <a:lnTo>
                    <a:pt x="0" y="12"/>
                  </a:lnTo>
                  <a:lnTo>
                    <a:pt x="2" y="14"/>
                  </a:lnTo>
                  <a:lnTo>
                    <a:pt x="4" y="18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85" name="Line 225"/>
            <p:cNvSpPr>
              <a:spLocks noChangeShapeType="1"/>
            </p:cNvSpPr>
            <p:nvPr/>
          </p:nvSpPr>
          <p:spPr bwMode="auto">
            <a:xfrm flipH="1">
              <a:off x="2591" y="3110"/>
              <a:ext cx="11" cy="3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86" name="Freeform 226"/>
            <p:cNvSpPr>
              <a:spLocks/>
            </p:cNvSpPr>
            <p:nvPr/>
          </p:nvSpPr>
          <p:spPr bwMode="auto">
            <a:xfrm>
              <a:off x="2454" y="3049"/>
              <a:ext cx="20" cy="26"/>
            </a:xfrm>
            <a:custGeom>
              <a:avLst/>
              <a:gdLst>
                <a:gd name="T0" fmla="*/ 20 w 20"/>
                <a:gd name="T1" fmla="*/ 26 h 26"/>
                <a:gd name="T2" fmla="*/ 10 w 20"/>
                <a:gd name="T3" fmla="*/ 18 h 26"/>
                <a:gd name="T4" fmla="*/ 3 w 20"/>
                <a:gd name="T5" fmla="*/ 6 h 26"/>
                <a:gd name="T6" fmla="*/ 0 w 20"/>
                <a:gd name="T7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6">
                  <a:moveTo>
                    <a:pt x="20" y="26"/>
                  </a:moveTo>
                  <a:lnTo>
                    <a:pt x="10" y="18"/>
                  </a:lnTo>
                  <a:lnTo>
                    <a:pt x="3" y="6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87" name="Freeform 227"/>
            <p:cNvSpPr>
              <a:spLocks/>
            </p:cNvSpPr>
            <p:nvPr/>
          </p:nvSpPr>
          <p:spPr bwMode="auto">
            <a:xfrm>
              <a:off x="2622" y="3032"/>
              <a:ext cx="47" cy="23"/>
            </a:xfrm>
            <a:custGeom>
              <a:avLst/>
              <a:gdLst>
                <a:gd name="T0" fmla="*/ 8 w 47"/>
                <a:gd name="T1" fmla="*/ 0 h 23"/>
                <a:gd name="T2" fmla="*/ 47 w 47"/>
                <a:gd name="T3" fmla="*/ 13 h 23"/>
                <a:gd name="T4" fmla="*/ 31 w 47"/>
                <a:gd name="T5" fmla="*/ 23 h 23"/>
                <a:gd name="T6" fmla="*/ 16 w 47"/>
                <a:gd name="T7" fmla="*/ 21 h 23"/>
                <a:gd name="T8" fmla="*/ 5 w 47"/>
                <a:gd name="T9" fmla="*/ 17 h 23"/>
                <a:gd name="T10" fmla="*/ 0 w 47"/>
                <a:gd name="T11" fmla="*/ 16 h 23"/>
                <a:gd name="T12" fmla="*/ 28 w 47"/>
                <a:gd name="T13" fmla="*/ 21 h 23"/>
                <a:gd name="T14" fmla="*/ 32 w 47"/>
                <a:gd name="T15" fmla="*/ 16 h 23"/>
                <a:gd name="T16" fmla="*/ 8 w 47"/>
                <a:gd name="T1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23">
                  <a:moveTo>
                    <a:pt x="8" y="0"/>
                  </a:moveTo>
                  <a:lnTo>
                    <a:pt x="47" y="13"/>
                  </a:lnTo>
                  <a:lnTo>
                    <a:pt x="31" y="23"/>
                  </a:lnTo>
                  <a:lnTo>
                    <a:pt x="16" y="21"/>
                  </a:lnTo>
                  <a:lnTo>
                    <a:pt x="5" y="17"/>
                  </a:lnTo>
                  <a:lnTo>
                    <a:pt x="0" y="16"/>
                  </a:lnTo>
                  <a:lnTo>
                    <a:pt x="28" y="21"/>
                  </a:lnTo>
                  <a:lnTo>
                    <a:pt x="32" y="16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388" name="Freeform 228"/>
            <p:cNvSpPr>
              <a:spLocks/>
            </p:cNvSpPr>
            <p:nvPr/>
          </p:nvSpPr>
          <p:spPr bwMode="auto">
            <a:xfrm>
              <a:off x="2626" y="3049"/>
              <a:ext cx="12" cy="15"/>
            </a:xfrm>
            <a:custGeom>
              <a:avLst/>
              <a:gdLst>
                <a:gd name="T0" fmla="*/ 12 w 12"/>
                <a:gd name="T1" fmla="*/ 4 h 15"/>
                <a:gd name="T2" fmla="*/ 8 w 12"/>
                <a:gd name="T3" fmla="*/ 15 h 15"/>
                <a:gd name="T4" fmla="*/ 0 w 12"/>
                <a:gd name="T5" fmla="*/ 15 h 15"/>
                <a:gd name="T6" fmla="*/ 1 w 12"/>
                <a:gd name="T7" fmla="*/ 0 h 15"/>
                <a:gd name="T8" fmla="*/ 12 w 12"/>
                <a:gd name="T9" fmla="*/ 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5">
                  <a:moveTo>
                    <a:pt x="12" y="4"/>
                  </a:moveTo>
                  <a:lnTo>
                    <a:pt x="8" y="15"/>
                  </a:lnTo>
                  <a:lnTo>
                    <a:pt x="0" y="15"/>
                  </a:lnTo>
                  <a:lnTo>
                    <a:pt x="1" y="0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389" name="Freeform 229"/>
            <p:cNvSpPr>
              <a:spLocks/>
            </p:cNvSpPr>
            <p:nvPr/>
          </p:nvSpPr>
          <p:spPr bwMode="auto">
            <a:xfrm>
              <a:off x="2474" y="3070"/>
              <a:ext cx="24" cy="13"/>
            </a:xfrm>
            <a:custGeom>
              <a:avLst/>
              <a:gdLst>
                <a:gd name="T0" fmla="*/ 0 w 24"/>
                <a:gd name="T1" fmla="*/ 5 h 13"/>
                <a:gd name="T2" fmla="*/ 11 w 24"/>
                <a:gd name="T3" fmla="*/ 13 h 13"/>
                <a:gd name="T4" fmla="*/ 24 w 24"/>
                <a:gd name="T5" fmla="*/ 13 h 13"/>
                <a:gd name="T6" fmla="*/ 20 w 24"/>
                <a:gd name="T7" fmla="*/ 0 h 13"/>
                <a:gd name="T8" fmla="*/ 14 w 24"/>
                <a:gd name="T9" fmla="*/ 4 h 13"/>
                <a:gd name="T10" fmla="*/ 0 w 24"/>
                <a:gd name="T11" fmla="*/ 5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13">
                  <a:moveTo>
                    <a:pt x="0" y="5"/>
                  </a:moveTo>
                  <a:lnTo>
                    <a:pt x="11" y="13"/>
                  </a:lnTo>
                  <a:lnTo>
                    <a:pt x="24" y="13"/>
                  </a:lnTo>
                  <a:lnTo>
                    <a:pt x="20" y="0"/>
                  </a:lnTo>
                  <a:lnTo>
                    <a:pt x="14" y="4"/>
                  </a:lnTo>
                  <a:lnTo>
                    <a:pt x="0" y="5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90" name="Freeform 230"/>
            <p:cNvSpPr>
              <a:spLocks/>
            </p:cNvSpPr>
            <p:nvPr/>
          </p:nvSpPr>
          <p:spPr bwMode="auto">
            <a:xfrm>
              <a:off x="2645" y="3119"/>
              <a:ext cx="26" cy="6"/>
            </a:xfrm>
            <a:custGeom>
              <a:avLst/>
              <a:gdLst>
                <a:gd name="T0" fmla="*/ 26 w 26"/>
                <a:gd name="T1" fmla="*/ 6 h 6"/>
                <a:gd name="T2" fmla="*/ 24 w 26"/>
                <a:gd name="T3" fmla="*/ 0 h 6"/>
                <a:gd name="T4" fmla="*/ 0 w 26"/>
                <a:gd name="T5" fmla="*/ 2 h 6"/>
                <a:gd name="T6" fmla="*/ 5 w 26"/>
                <a:gd name="T7" fmla="*/ 6 h 6"/>
                <a:gd name="T8" fmla="*/ 26 w 2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6">
                  <a:moveTo>
                    <a:pt x="26" y="6"/>
                  </a:moveTo>
                  <a:lnTo>
                    <a:pt x="24" y="0"/>
                  </a:lnTo>
                  <a:lnTo>
                    <a:pt x="0" y="2"/>
                  </a:lnTo>
                  <a:lnTo>
                    <a:pt x="5" y="6"/>
                  </a:lnTo>
                  <a:lnTo>
                    <a:pt x="26" y="6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91" name="Freeform 231"/>
            <p:cNvSpPr>
              <a:spLocks/>
            </p:cNvSpPr>
            <p:nvPr/>
          </p:nvSpPr>
          <p:spPr bwMode="auto">
            <a:xfrm>
              <a:off x="2608" y="3134"/>
              <a:ext cx="26" cy="24"/>
            </a:xfrm>
            <a:custGeom>
              <a:avLst/>
              <a:gdLst>
                <a:gd name="T0" fmla="*/ 21 w 26"/>
                <a:gd name="T1" fmla="*/ 24 h 24"/>
                <a:gd name="T2" fmla="*/ 7 w 26"/>
                <a:gd name="T3" fmla="*/ 13 h 24"/>
                <a:gd name="T4" fmla="*/ 0 w 26"/>
                <a:gd name="T5" fmla="*/ 9 h 24"/>
                <a:gd name="T6" fmla="*/ 4 w 26"/>
                <a:gd name="T7" fmla="*/ 0 h 24"/>
                <a:gd name="T8" fmla="*/ 26 w 26"/>
                <a:gd name="T9" fmla="*/ 13 h 24"/>
                <a:gd name="T10" fmla="*/ 21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21" y="24"/>
                  </a:moveTo>
                  <a:lnTo>
                    <a:pt x="7" y="13"/>
                  </a:lnTo>
                  <a:lnTo>
                    <a:pt x="0" y="9"/>
                  </a:lnTo>
                  <a:lnTo>
                    <a:pt x="4" y="0"/>
                  </a:lnTo>
                  <a:lnTo>
                    <a:pt x="26" y="13"/>
                  </a:lnTo>
                  <a:lnTo>
                    <a:pt x="21" y="24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392" name="Line 232"/>
            <p:cNvSpPr>
              <a:spLocks noChangeShapeType="1"/>
            </p:cNvSpPr>
            <p:nvPr/>
          </p:nvSpPr>
          <p:spPr bwMode="auto">
            <a:xfrm flipH="1">
              <a:off x="2606" y="3143"/>
              <a:ext cx="2" cy="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93" name="Line 233"/>
            <p:cNvSpPr>
              <a:spLocks noChangeShapeType="1"/>
            </p:cNvSpPr>
            <p:nvPr/>
          </p:nvSpPr>
          <p:spPr bwMode="auto">
            <a:xfrm>
              <a:off x="2612" y="3130"/>
              <a:ext cx="1" cy="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94" name="Freeform 234"/>
            <p:cNvSpPr>
              <a:spLocks/>
            </p:cNvSpPr>
            <p:nvPr/>
          </p:nvSpPr>
          <p:spPr bwMode="auto">
            <a:xfrm>
              <a:off x="2657" y="3529"/>
              <a:ext cx="203" cy="120"/>
            </a:xfrm>
            <a:custGeom>
              <a:avLst/>
              <a:gdLst>
                <a:gd name="T0" fmla="*/ 78 w 203"/>
                <a:gd name="T1" fmla="*/ 116 h 120"/>
                <a:gd name="T2" fmla="*/ 67 w 203"/>
                <a:gd name="T3" fmla="*/ 100 h 120"/>
                <a:gd name="T4" fmla="*/ 53 w 203"/>
                <a:gd name="T5" fmla="*/ 86 h 120"/>
                <a:gd name="T6" fmla="*/ 35 w 203"/>
                <a:gd name="T7" fmla="*/ 76 h 120"/>
                <a:gd name="T8" fmla="*/ 16 w 203"/>
                <a:gd name="T9" fmla="*/ 68 h 120"/>
                <a:gd name="T10" fmla="*/ 0 w 203"/>
                <a:gd name="T11" fmla="*/ 66 h 120"/>
                <a:gd name="T12" fmla="*/ 6 w 203"/>
                <a:gd name="T13" fmla="*/ 53 h 120"/>
                <a:gd name="T14" fmla="*/ 20 w 203"/>
                <a:gd name="T15" fmla="*/ 34 h 120"/>
                <a:gd name="T16" fmla="*/ 44 w 203"/>
                <a:gd name="T17" fmla="*/ 11 h 120"/>
                <a:gd name="T18" fmla="*/ 60 w 203"/>
                <a:gd name="T19" fmla="*/ 2 h 120"/>
                <a:gd name="T20" fmla="*/ 66 w 203"/>
                <a:gd name="T21" fmla="*/ 1 h 120"/>
                <a:gd name="T22" fmla="*/ 69 w 203"/>
                <a:gd name="T23" fmla="*/ 0 h 120"/>
                <a:gd name="T24" fmla="*/ 79 w 203"/>
                <a:gd name="T25" fmla="*/ 0 h 120"/>
                <a:gd name="T26" fmla="*/ 88 w 203"/>
                <a:gd name="T27" fmla="*/ 1 h 120"/>
                <a:gd name="T28" fmla="*/ 99 w 203"/>
                <a:gd name="T29" fmla="*/ 6 h 120"/>
                <a:gd name="T30" fmla="*/ 105 w 203"/>
                <a:gd name="T31" fmla="*/ 12 h 120"/>
                <a:gd name="T32" fmla="*/ 110 w 203"/>
                <a:gd name="T33" fmla="*/ 20 h 120"/>
                <a:gd name="T34" fmla="*/ 116 w 203"/>
                <a:gd name="T35" fmla="*/ 29 h 120"/>
                <a:gd name="T36" fmla="*/ 133 w 203"/>
                <a:gd name="T37" fmla="*/ 26 h 120"/>
                <a:gd name="T38" fmla="*/ 140 w 203"/>
                <a:gd name="T39" fmla="*/ 25 h 120"/>
                <a:gd name="T40" fmla="*/ 145 w 203"/>
                <a:gd name="T41" fmla="*/ 22 h 120"/>
                <a:gd name="T42" fmla="*/ 158 w 203"/>
                <a:gd name="T43" fmla="*/ 24 h 120"/>
                <a:gd name="T44" fmla="*/ 167 w 203"/>
                <a:gd name="T45" fmla="*/ 29 h 120"/>
                <a:gd name="T46" fmla="*/ 173 w 203"/>
                <a:gd name="T47" fmla="*/ 38 h 120"/>
                <a:gd name="T48" fmla="*/ 178 w 203"/>
                <a:gd name="T49" fmla="*/ 44 h 120"/>
                <a:gd name="T50" fmla="*/ 184 w 203"/>
                <a:gd name="T51" fmla="*/ 62 h 120"/>
                <a:gd name="T52" fmla="*/ 186 w 203"/>
                <a:gd name="T53" fmla="*/ 64 h 120"/>
                <a:gd name="T54" fmla="*/ 191 w 203"/>
                <a:gd name="T55" fmla="*/ 67 h 120"/>
                <a:gd name="T56" fmla="*/ 195 w 203"/>
                <a:gd name="T57" fmla="*/ 69 h 120"/>
                <a:gd name="T58" fmla="*/ 199 w 203"/>
                <a:gd name="T59" fmla="*/ 76 h 120"/>
                <a:gd name="T60" fmla="*/ 203 w 203"/>
                <a:gd name="T61" fmla="*/ 85 h 120"/>
                <a:gd name="T62" fmla="*/ 167 w 203"/>
                <a:gd name="T63" fmla="*/ 85 h 120"/>
                <a:gd name="T64" fmla="*/ 147 w 203"/>
                <a:gd name="T65" fmla="*/ 88 h 120"/>
                <a:gd name="T66" fmla="*/ 128 w 203"/>
                <a:gd name="T67" fmla="*/ 95 h 120"/>
                <a:gd name="T68" fmla="*/ 110 w 203"/>
                <a:gd name="T69" fmla="*/ 106 h 120"/>
                <a:gd name="T70" fmla="*/ 99 w 203"/>
                <a:gd name="T71" fmla="*/ 116 h 120"/>
                <a:gd name="T72" fmla="*/ 81 w 203"/>
                <a:gd name="T73" fmla="*/ 120 h 120"/>
                <a:gd name="T74" fmla="*/ 78 w 203"/>
                <a:gd name="T75" fmla="*/ 116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3" h="120">
                  <a:moveTo>
                    <a:pt x="78" y="116"/>
                  </a:moveTo>
                  <a:lnTo>
                    <a:pt x="67" y="100"/>
                  </a:lnTo>
                  <a:lnTo>
                    <a:pt x="53" y="86"/>
                  </a:lnTo>
                  <a:lnTo>
                    <a:pt x="35" y="76"/>
                  </a:lnTo>
                  <a:lnTo>
                    <a:pt x="16" y="68"/>
                  </a:lnTo>
                  <a:lnTo>
                    <a:pt x="0" y="66"/>
                  </a:lnTo>
                  <a:lnTo>
                    <a:pt x="6" y="53"/>
                  </a:lnTo>
                  <a:lnTo>
                    <a:pt x="20" y="34"/>
                  </a:lnTo>
                  <a:lnTo>
                    <a:pt x="44" y="11"/>
                  </a:lnTo>
                  <a:lnTo>
                    <a:pt x="60" y="2"/>
                  </a:lnTo>
                  <a:lnTo>
                    <a:pt x="66" y="1"/>
                  </a:lnTo>
                  <a:lnTo>
                    <a:pt x="69" y="0"/>
                  </a:lnTo>
                  <a:lnTo>
                    <a:pt x="79" y="0"/>
                  </a:lnTo>
                  <a:lnTo>
                    <a:pt x="88" y="1"/>
                  </a:lnTo>
                  <a:lnTo>
                    <a:pt x="99" y="6"/>
                  </a:lnTo>
                  <a:lnTo>
                    <a:pt x="105" y="12"/>
                  </a:lnTo>
                  <a:lnTo>
                    <a:pt x="110" y="20"/>
                  </a:lnTo>
                  <a:lnTo>
                    <a:pt x="116" y="29"/>
                  </a:lnTo>
                  <a:lnTo>
                    <a:pt x="133" y="26"/>
                  </a:lnTo>
                  <a:lnTo>
                    <a:pt x="140" y="25"/>
                  </a:lnTo>
                  <a:lnTo>
                    <a:pt x="145" y="22"/>
                  </a:lnTo>
                  <a:lnTo>
                    <a:pt x="158" y="24"/>
                  </a:lnTo>
                  <a:lnTo>
                    <a:pt x="167" y="29"/>
                  </a:lnTo>
                  <a:lnTo>
                    <a:pt x="173" y="38"/>
                  </a:lnTo>
                  <a:lnTo>
                    <a:pt x="178" y="44"/>
                  </a:lnTo>
                  <a:lnTo>
                    <a:pt x="184" y="62"/>
                  </a:lnTo>
                  <a:lnTo>
                    <a:pt x="186" y="64"/>
                  </a:lnTo>
                  <a:lnTo>
                    <a:pt x="191" y="67"/>
                  </a:lnTo>
                  <a:lnTo>
                    <a:pt x="195" y="69"/>
                  </a:lnTo>
                  <a:lnTo>
                    <a:pt x="199" y="76"/>
                  </a:lnTo>
                  <a:lnTo>
                    <a:pt x="203" y="85"/>
                  </a:lnTo>
                  <a:lnTo>
                    <a:pt x="167" y="85"/>
                  </a:lnTo>
                  <a:lnTo>
                    <a:pt x="147" y="88"/>
                  </a:lnTo>
                  <a:lnTo>
                    <a:pt x="128" y="95"/>
                  </a:lnTo>
                  <a:lnTo>
                    <a:pt x="110" y="106"/>
                  </a:lnTo>
                  <a:lnTo>
                    <a:pt x="99" y="116"/>
                  </a:lnTo>
                  <a:lnTo>
                    <a:pt x="81" y="120"/>
                  </a:lnTo>
                  <a:lnTo>
                    <a:pt x="78" y="116"/>
                  </a:lnTo>
                  <a:close/>
                </a:path>
              </a:pathLst>
            </a:custGeom>
            <a:solidFill>
              <a:srgbClr val="FCE6C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395" name="Freeform 235"/>
            <p:cNvSpPr>
              <a:spLocks/>
            </p:cNvSpPr>
            <p:nvPr/>
          </p:nvSpPr>
          <p:spPr bwMode="auto">
            <a:xfrm>
              <a:off x="2800" y="3582"/>
              <a:ext cx="22" cy="7"/>
            </a:xfrm>
            <a:custGeom>
              <a:avLst/>
              <a:gdLst>
                <a:gd name="T0" fmla="*/ 0 w 22"/>
                <a:gd name="T1" fmla="*/ 6 h 7"/>
                <a:gd name="T2" fmla="*/ 5 w 22"/>
                <a:gd name="T3" fmla="*/ 5 h 7"/>
                <a:gd name="T4" fmla="*/ 11 w 22"/>
                <a:gd name="T5" fmla="*/ 1 h 7"/>
                <a:gd name="T6" fmla="*/ 14 w 22"/>
                <a:gd name="T7" fmla="*/ 0 h 7"/>
                <a:gd name="T8" fmla="*/ 19 w 22"/>
                <a:gd name="T9" fmla="*/ 1 h 7"/>
                <a:gd name="T10" fmla="*/ 22 w 22"/>
                <a:gd name="T11" fmla="*/ 6 h 7"/>
                <a:gd name="T12" fmla="*/ 15 w 22"/>
                <a:gd name="T13" fmla="*/ 6 h 7"/>
                <a:gd name="T14" fmla="*/ 4 w 22"/>
                <a:gd name="T15" fmla="*/ 7 h 7"/>
                <a:gd name="T16" fmla="*/ 0 w 22"/>
                <a:gd name="T17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7">
                  <a:moveTo>
                    <a:pt x="0" y="6"/>
                  </a:moveTo>
                  <a:lnTo>
                    <a:pt x="5" y="5"/>
                  </a:lnTo>
                  <a:lnTo>
                    <a:pt x="11" y="1"/>
                  </a:lnTo>
                  <a:lnTo>
                    <a:pt x="14" y="0"/>
                  </a:lnTo>
                  <a:lnTo>
                    <a:pt x="19" y="1"/>
                  </a:lnTo>
                  <a:lnTo>
                    <a:pt x="22" y="6"/>
                  </a:lnTo>
                  <a:lnTo>
                    <a:pt x="15" y="6"/>
                  </a:lnTo>
                  <a:lnTo>
                    <a:pt x="4" y="7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396" name="Freeform 236"/>
            <p:cNvSpPr>
              <a:spLocks/>
            </p:cNvSpPr>
            <p:nvPr/>
          </p:nvSpPr>
          <p:spPr bwMode="auto">
            <a:xfrm>
              <a:off x="2611" y="3512"/>
              <a:ext cx="106" cy="38"/>
            </a:xfrm>
            <a:custGeom>
              <a:avLst/>
              <a:gdLst>
                <a:gd name="T0" fmla="*/ 90 w 106"/>
                <a:gd name="T1" fmla="*/ 28 h 38"/>
                <a:gd name="T2" fmla="*/ 89 w 106"/>
                <a:gd name="T3" fmla="*/ 27 h 38"/>
                <a:gd name="T4" fmla="*/ 81 w 106"/>
                <a:gd name="T5" fmla="*/ 24 h 38"/>
                <a:gd name="T6" fmla="*/ 67 w 106"/>
                <a:gd name="T7" fmla="*/ 20 h 38"/>
                <a:gd name="T8" fmla="*/ 49 w 106"/>
                <a:gd name="T9" fmla="*/ 20 h 38"/>
                <a:gd name="T10" fmla="*/ 32 w 106"/>
                <a:gd name="T11" fmla="*/ 24 h 38"/>
                <a:gd name="T12" fmla="*/ 15 w 106"/>
                <a:gd name="T13" fmla="*/ 29 h 38"/>
                <a:gd name="T14" fmla="*/ 0 w 106"/>
                <a:gd name="T15" fmla="*/ 37 h 38"/>
                <a:gd name="T16" fmla="*/ 0 w 106"/>
                <a:gd name="T17" fmla="*/ 38 h 38"/>
                <a:gd name="T18" fmla="*/ 1 w 106"/>
                <a:gd name="T19" fmla="*/ 23 h 38"/>
                <a:gd name="T20" fmla="*/ 42 w 106"/>
                <a:gd name="T21" fmla="*/ 0 h 38"/>
                <a:gd name="T22" fmla="*/ 106 w 106"/>
                <a:gd name="T23" fmla="*/ 19 h 38"/>
                <a:gd name="T24" fmla="*/ 90 w 106"/>
                <a:gd name="T25" fmla="*/ 2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38">
                  <a:moveTo>
                    <a:pt x="90" y="28"/>
                  </a:moveTo>
                  <a:lnTo>
                    <a:pt x="89" y="27"/>
                  </a:lnTo>
                  <a:lnTo>
                    <a:pt x="81" y="24"/>
                  </a:lnTo>
                  <a:lnTo>
                    <a:pt x="67" y="20"/>
                  </a:lnTo>
                  <a:lnTo>
                    <a:pt x="49" y="20"/>
                  </a:lnTo>
                  <a:lnTo>
                    <a:pt x="32" y="24"/>
                  </a:lnTo>
                  <a:lnTo>
                    <a:pt x="15" y="29"/>
                  </a:lnTo>
                  <a:lnTo>
                    <a:pt x="0" y="37"/>
                  </a:lnTo>
                  <a:lnTo>
                    <a:pt x="0" y="38"/>
                  </a:lnTo>
                  <a:lnTo>
                    <a:pt x="1" y="23"/>
                  </a:lnTo>
                  <a:lnTo>
                    <a:pt x="42" y="0"/>
                  </a:lnTo>
                  <a:lnTo>
                    <a:pt x="106" y="19"/>
                  </a:lnTo>
                  <a:lnTo>
                    <a:pt x="90" y="28"/>
                  </a:lnTo>
                  <a:close/>
                </a:path>
              </a:pathLst>
            </a:custGeom>
            <a:solidFill>
              <a:srgbClr val="EAEAEA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397" name="Freeform 237"/>
            <p:cNvSpPr>
              <a:spLocks/>
            </p:cNvSpPr>
            <p:nvPr/>
          </p:nvSpPr>
          <p:spPr bwMode="auto">
            <a:xfrm>
              <a:off x="2602" y="3532"/>
              <a:ext cx="99" cy="98"/>
            </a:xfrm>
            <a:custGeom>
              <a:avLst/>
              <a:gdLst>
                <a:gd name="T0" fmla="*/ 53 w 99"/>
                <a:gd name="T1" fmla="*/ 64 h 98"/>
                <a:gd name="T2" fmla="*/ 19 w 99"/>
                <a:gd name="T3" fmla="*/ 98 h 98"/>
                <a:gd name="T4" fmla="*/ 0 w 99"/>
                <a:gd name="T5" fmla="*/ 92 h 98"/>
                <a:gd name="T6" fmla="*/ 9 w 99"/>
                <a:gd name="T7" fmla="*/ 18 h 98"/>
                <a:gd name="T8" fmla="*/ 9 w 99"/>
                <a:gd name="T9" fmla="*/ 17 h 98"/>
                <a:gd name="T10" fmla="*/ 24 w 99"/>
                <a:gd name="T11" fmla="*/ 9 h 98"/>
                <a:gd name="T12" fmla="*/ 41 w 99"/>
                <a:gd name="T13" fmla="*/ 4 h 98"/>
                <a:gd name="T14" fmla="*/ 58 w 99"/>
                <a:gd name="T15" fmla="*/ 0 h 98"/>
                <a:gd name="T16" fmla="*/ 76 w 99"/>
                <a:gd name="T17" fmla="*/ 0 h 98"/>
                <a:gd name="T18" fmla="*/ 90 w 99"/>
                <a:gd name="T19" fmla="*/ 4 h 98"/>
                <a:gd name="T20" fmla="*/ 98 w 99"/>
                <a:gd name="T21" fmla="*/ 7 h 98"/>
                <a:gd name="T22" fmla="*/ 99 w 99"/>
                <a:gd name="T23" fmla="*/ 8 h 98"/>
                <a:gd name="T24" fmla="*/ 75 w 99"/>
                <a:gd name="T25" fmla="*/ 31 h 98"/>
                <a:gd name="T26" fmla="*/ 61 w 99"/>
                <a:gd name="T27" fmla="*/ 50 h 98"/>
                <a:gd name="T28" fmla="*/ 55 w 99"/>
                <a:gd name="T29" fmla="*/ 63 h 98"/>
                <a:gd name="T30" fmla="*/ 53 w 99"/>
                <a:gd name="T31" fmla="*/ 64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9" h="98">
                  <a:moveTo>
                    <a:pt x="53" y="64"/>
                  </a:moveTo>
                  <a:lnTo>
                    <a:pt x="19" y="98"/>
                  </a:lnTo>
                  <a:lnTo>
                    <a:pt x="0" y="92"/>
                  </a:lnTo>
                  <a:lnTo>
                    <a:pt x="9" y="18"/>
                  </a:lnTo>
                  <a:lnTo>
                    <a:pt x="9" y="17"/>
                  </a:lnTo>
                  <a:lnTo>
                    <a:pt x="24" y="9"/>
                  </a:lnTo>
                  <a:lnTo>
                    <a:pt x="41" y="4"/>
                  </a:lnTo>
                  <a:lnTo>
                    <a:pt x="58" y="0"/>
                  </a:lnTo>
                  <a:lnTo>
                    <a:pt x="76" y="0"/>
                  </a:lnTo>
                  <a:lnTo>
                    <a:pt x="90" y="4"/>
                  </a:lnTo>
                  <a:lnTo>
                    <a:pt x="98" y="7"/>
                  </a:lnTo>
                  <a:lnTo>
                    <a:pt x="99" y="8"/>
                  </a:lnTo>
                  <a:lnTo>
                    <a:pt x="75" y="31"/>
                  </a:lnTo>
                  <a:lnTo>
                    <a:pt x="61" y="50"/>
                  </a:lnTo>
                  <a:lnTo>
                    <a:pt x="55" y="63"/>
                  </a:lnTo>
                  <a:lnTo>
                    <a:pt x="53" y="64"/>
                  </a:lnTo>
                  <a:close/>
                </a:path>
              </a:pathLst>
            </a:custGeom>
            <a:solidFill>
              <a:srgbClr val="FCE6C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398" name="Freeform 238"/>
            <p:cNvSpPr>
              <a:spLocks/>
            </p:cNvSpPr>
            <p:nvPr/>
          </p:nvSpPr>
          <p:spPr bwMode="auto">
            <a:xfrm>
              <a:off x="2602" y="3624"/>
              <a:ext cx="19" cy="16"/>
            </a:xfrm>
            <a:custGeom>
              <a:avLst/>
              <a:gdLst>
                <a:gd name="T0" fmla="*/ 19 w 19"/>
                <a:gd name="T1" fmla="*/ 6 h 16"/>
                <a:gd name="T2" fmla="*/ 0 w 19"/>
                <a:gd name="T3" fmla="*/ 0 h 16"/>
                <a:gd name="T4" fmla="*/ 0 w 19"/>
                <a:gd name="T5" fmla="*/ 7 h 16"/>
                <a:gd name="T6" fmla="*/ 9 w 19"/>
                <a:gd name="T7" fmla="*/ 16 h 16"/>
                <a:gd name="T8" fmla="*/ 19 w 19"/>
                <a:gd name="T9" fmla="*/ 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6">
                  <a:moveTo>
                    <a:pt x="19" y="6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9" y="16"/>
                  </a:lnTo>
                  <a:lnTo>
                    <a:pt x="19" y="6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399" name="Freeform 239"/>
            <p:cNvSpPr>
              <a:spLocks/>
            </p:cNvSpPr>
            <p:nvPr/>
          </p:nvSpPr>
          <p:spPr bwMode="auto">
            <a:xfrm>
              <a:off x="2767" y="3549"/>
              <a:ext cx="23" cy="9"/>
            </a:xfrm>
            <a:custGeom>
              <a:avLst/>
              <a:gdLst>
                <a:gd name="T0" fmla="*/ 0 w 23"/>
                <a:gd name="T1" fmla="*/ 0 h 9"/>
                <a:gd name="T2" fmla="*/ 6 w 23"/>
                <a:gd name="T3" fmla="*/ 9 h 9"/>
                <a:gd name="T4" fmla="*/ 23 w 23"/>
                <a:gd name="T5" fmla="*/ 6 h 9"/>
                <a:gd name="T6" fmla="*/ 0 w 23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9">
                  <a:moveTo>
                    <a:pt x="0" y="0"/>
                  </a:moveTo>
                  <a:lnTo>
                    <a:pt x="6" y="9"/>
                  </a:lnTo>
                  <a:lnTo>
                    <a:pt x="23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400" name="Freeform 240"/>
            <p:cNvSpPr>
              <a:spLocks/>
            </p:cNvSpPr>
            <p:nvPr/>
          </p:nvSpPr>
          <p:spPr bwMode="auto">
            <a:xfrm>
              <a:off x="2724" y="3567"/>
              <a:ext cx="295" cy="152"/>
            </a:xfrm>
            <a:custGeom>
              <a:avLst/>
              <a:gdLst>
                <a:gd name="T0" fmla="*/ 14 w 295"/>
                <a:gd name="T1" fmla="*/ 82 h 152"/>
                <a:gd name="T2" fmla="*/ 32 w 295"/>
                <a:gd name="T3" fmla="*/ 78 h 152"/>
                <a:gd name="T4" fmla="*/ 43 w 295"/>
                <a:gd name="T5" fmla="*/ 68 h 152"/>
                <a:gd name="T6" fmla="*/ 61 w 295"/>
                <a:gd name="T7" fmla="*/ 57 h 152"/>
                <a:gd name="T8" fmla="*/ 80 w 295"/>
                <a:gd name="T9" fmla="*/ 50 h 152"/>
                <a:gd name="T10" fmla="*/ 100 w 295"/>
                <a:gd name="T11" fmla="*/ 47 h 152"/>
                <a:gd name="T12" fmla="*/ 136 w 295"/>
                <a:gd name="T13" fmla="*/ 47 h 152"/>
                <a:gd name="T14" fmla="*/ 132 w 295"/>
                <a:gd name="T15" fmla="*/ 38 h 152"/>
                <a:gd name="T16" fmla="*/ 128 w 295"/>
                <a:gd name="T17" fmla="*/ 31 h 152"/>
                <a:gd name="T18" fmla="*/ 124 w 295"/>
                <a:gd name="T19" fmla="*/ 29 h 152"/>
                <a:gd name="T20" fmla="*/ 119 w 295"/>
                <a:gd name="T21" fmla="*/ 26 h 152"/>
                <a:gd name="T22" fmla="*/ 117 w 295"/>
                <a:gd name="T23" fmla="*/ 24 h 152"/>
                <a:gd name="T24" fmla="*/ 111 w 295"/>
                <a:gd name="T25" fmla="*/ 6 h 152"/>
                <a:gd name="T26" fmla="*/ 106 w 295"/>
                <a:gd name="T27" fmla="*/ 0 h 152"/>
                <a:gd name="T28" fmla="*/ 292 w 295"/>
                <a:gd name="T29" fmla="*/ 47 h 152"/>
                <a:gd name="T30" fmla="*/ 295 w 295"/>
                <a:gd name="T31" fmla="*/ 54 h 152"/>
                <a:gd name="T32" fmla="*/ 295 w 295"/>
                <a:gd name="T33" fmla="*/ 63 h 152"/>
                <a:gd name="T34" fmla="*/ 292 w 295"/>
                <a:gd name="T35" fmla="*/ 71 h 152"/>
                <a:gd name="T36" fmla="*/ 147 w 295"/>
                <a:gd name="T37" fmla="*/ 148 h 152"/>
                <a:gd name="T38" fmla="*/ 137 w 295"/>
                <a:gd name="T39" fmla="*/ 152 h 152"/>
                <a:gd name="T40" fmla="*/ 128 w 295"/>
                <a:gd name="T41" fmla="*/ 152 h 152"/>
                <a:gd name="T42" fmla="*/ 0 w 295"/>
                <a:gd name="T43" fmla="*/ 105 h 152"/>
                <a:gd name="T44" fmla="*/ 12 w 295"/>
                <a:gd name="T45" fmla="*/ 101 h 152"/>
                <a:gd name="T46" fmla="*/ 15 w 295"/>
                <a:gd name="T47" fmla="*/ 93 h 152"/>
                <a:gd name="T48" fmla="*/ 15 w 295"/>
                <a:gd name="T49" fmla="*/ 85 h 152"/>
                <a:gd name="T50" fmla="*/ 14 w 295"/>
                <a:gd name="T51" fmla="*/ 8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95" h="152">
                  <a:moveTo>
                    <a:pt x="14" y="82"/>
                  </a:moveTo>
                  <a:lnTo>
                    <a:pt x="32" y="78"/>
                  </a:lnTo>
                  <a:lnTo>
                    <a:pt x="43" y="68"/>
                  </a:lnTo>
                  <a:lnTo>
                    <a:pt x="61" y="57"/>
                  </a:lnTo>
                  <a:lnTo>
                    <a:pt x="80" y="50"/>
                  </a:lnTo>
                  <a:lnTo>
                    <a:pt x="100" y="47"/>
                  </a:lnTo>
                  <a:lnTo>
                    <a:pt x="136" y="47"/>
                  </a:lnTo>
                  <a:lnTo>
                    <a:pt x="132" y="38"/>
                  </a:lnTo>
                  <a:lnTo>
                    <a:pt x="128" y="31"/>
                  </a:lnTo>
                  <a:lnTo>
                    <a:pt x="124" y="29"/>
                  </a:lnTo>
                  <a:lnTo>
                    <a:pt x="119" y="26"/>
                  </a:lnTo>
                  <a:lnTo>
                    <a:pt x="117" y="24"/>
                  </a:lnTo>
                  <a:lnTo>
                    <a:pt x="111" y="6"/>
                  </a:lnTo>
                  <a:lnTo>
                    <a:pt x="106" y="0"/>
                  </a:lnTo>
                  <a:lnTo>
                    <a:pt x="292" y="47"/>
                  </a:lnTo>
                  <a:lnTo>
                    <a:pt x="295" y="54"/>
                  </a:lnTo>
                  <a:lnTo>
                    <a:pt x="295" y="63"/>
                  </a:lnTo>
                  <a:lnTo>
                    <a:pt x="292" y="71"/>
                  </a:lnTo>
                  <a:lnTo>
                    <a:pt x="147" y="148"/>
                  </a:lnTo>
                  <a:lnTo>
                    <a:pt x="137" y="152"/>
                  </a:lnTo>
                  <a:lnTo>
                    <a:pt x="128" y="152"/>
                  </a:lnTo>
                  <a:lnTo>
                    <a:pt x="0" y="105"/>
                  </a:lnTo>
                  <a:lnTo>
                    <a:pt x="12" y="101"/>
                  </a:lnTo>
                  <a:lnTo>
                    <a:pt x="15" y="93"/>
                  </a:lnTo>
                  <a:lnTo>
                    <a:pt x="15" y="85"/>
                  </a:lnTo>
                  <a:lnTo>
                    <a:pt x="14" y="82"/>
                  </a:lnTo>
                  <a:close/>
                </a:path>
              </a:pathLst>
            </a:custGeom>
            <a:solidFill>
              <a:srgbClr val="EAEAEA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401" name="Freeform 241"/>
            <p:cNvSpPr>
              <a:spLocks/>
            </p:cNvSpPr>
            <p:nvPr/>
          </p:nvSpPr>
          <p:spPr bwMode="auto">
            <a:xfrm>
              <a:off x="2960" y="3210"/>
              <a:ext cx="465" cy="454"/>
            </a:xfrm>
            <a:custGeom>
              <a:avLst/>
              <a:gdLst>
                <a:gd name="T0" fmla="*/ 240 w 465"/>
                <a:gd name="T1" fmla="*/ 345 h 454"/>
                <a:gd name="T2" fmla="*/ 373 w 465"/>
                <a:gd name="T3" fmla="*/ 108 h 454"/>
                <a:gd name="T4" fmla="*/ 339 w 465"/>
                <a:gd name="T5" fmla="*/ 89 h 454"/>
                <a:gd name="T6" fmla="*/ 339 w 465"/>
                <a:gd name="T7" fmla="*/ 88 h 454"/>
                <a:gd name="T8" fmla="*/ 180 w 465"/>
                <a:gd name="T9" fmla="*/ 39 h 454"/>
                <a:gd name="T10" fmla="*/ 177 w 465"/>
                <a:gd name="T11" fmla="*/ 44 h 454"/>
                <a:gd name="T12" fmla="*/ 110 w 465"/>
                <a:gd name="T13" fmla="*/ 25 h 454"/>
                <a:gd name="T14" fmla="*/ 16 w 465"/>
                <a:gd name="T15" fmla="*/ 181 h 454"/>
                <a:gd name="T16" fmla="*/ 0 w 465"/>
                <a:gd name="T17" fmla="*/ 174 h 454"/>
                <a:gd name="T18" fmla="*/ 42 w 465"/>
                <a:gd name="T19" fmla="*/ 100 h 454"/>
                <a:gd name="T20" fmla="*/ 63 w 465"/>
                <a:gd name="T21" fmla="*/ 60 h 454"/>
                <a:gd name="T22" fmla="*/ 76 w 465"/>
                <a:gd name="T23" fmla="*/ 37 h 454"/>
                <a:gd name="T24" fmla="*/ 98 w 465"/>
                <a:gd name="T25" fmla="*/ 0 h 454"/>
                <a:gd name="T26" fmla="*/ 118 w 465"/>
                <a:gd name="T27" fmla="*/ 5 h 454"/>
                <a:gd name="T28" fmla="*/ 169 w 465"/>
                <a:gd name="T29" fmla="*/ 19 h 454"/>
                <a:gd name="T30" fmla="*/ 358 w 465"/>
                <a:gd name="T31" fmla="*/ 67 h 454"/>
                <a:gd name="T32" fmla="*/ 453 w 465"/>
                <a:gd name="T33" fmla="*/ 91 h 454"/>
                <a:gd name="T34" fmla="*/ 326 w 465"/>
                <a:gd name="T35" fmla="*/ 319 h 454"/>
                <a:gd name="T36" fmla="*/ 465 w 465"/>
                <a:gd name="T37" fmla="*/ 450 h 454"/>
                <a:gd name="T38" fmla="*/ 465 w 465"/>
                <a:gd name="T39" fmla="*/ 454 h 454"/>
                <a:gd name="T40" fmla="*/ 240 w 465"/>
                <a:gd name="T41" fmla="*/ 345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65" h="454">
                  <a:moveTo>
                    <a:pt x="240" y="345"/>
                  </a:moveTo>
                  <a:lnTo>
                    <a:pt x="373" y="108"/>
                  </a:lnTo>
                  <a:lnTo>
                    <a:pt x="339" y="89"/>
                  </a:lnTo>
                  <a:lnTo>
                    <a:pt x="339" y="88"/>
                  </a:lnTo>
                  <a:lnTo>
                    <a:pt x="180" y="39"/>
                  </a:lnTo>
                  <a:lnTo>
                    <a:pt x="177" y="44"/>
                  </a:lnTo>
                  <a:lnTo>
                    <a:pt x="110" y="25"/>
                  </a:lnTo>
                  <a:lnTo>
                    <a:pt x="16" y="181"/>
                  </a:lnTo>
                  <a:lnTo>
                    <a:pt x="0" y="174"/>
                  </a:lnTo>
                  <a:lnTo>
                    <a:pt x="42" y="100"/>
                  </a:lnTo>
                  <a:lnTo>
                    <a:pt x="63" y="60"/>
                  </a:lnTo>
                  <a:lnTo>
                    <a:pt x="76" y="37"/>
                  </a:lnTo>
                  <a:lnTo>
                    <a:pt x="98" y="0"/>
                  </a:lnTo>
                  <a:lnTo>
                    <a:pt x="118" y="5"/>
                  </a:lnTo>
                  <a:lnTo>
                    <a:pt x="169" y="19"/>
                  </a:lnTo>
                  <a:lnTo>
                    <a:pt x="358" y="67"/>
                  </a:lnTo>
                  <a:lnTo>
                    <a:pt x="453" y="91"/>
                  </a:lnTo>
                  <a:lnTo>
                    <a:pt x="326" y="319"/>
                  </a:lnTo>
                  <a:lnTo>
                    <a:pt x="465" y="450"/>
                  </a:lnTo>
                  <a:lnTo>
                    <a:pt x="465" y="454"/>
                  </a:lnTo>
                  <a:lnTo>
                    <a:pt x="240" y="345"/>
                  </a:lnTo>
                  <a:close/>
                </a:path>
              </a:pathLst>
            </a:custGeom>
            <a:solidFill>
              <a:srgbClr val="FFFF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402" name="Freeform 242"/>
            <p:cNvSpPr>
              <a:spLocks/>
            </p:cNvSpPr>
            <p:nvPr/>
          </p:nvSpPr>
          <p:spPr bwMode="auto">
            <a:xfrm>
              <a:off x="2907" y="3235"/>
              <a:ext cx="230" cy="324"/>
            </a:xfrm>
            <a:custGeom>
              <a:avLst/>
              <a:gdLst>
                <a:gd name="T0" fmla="*/ 119 w 230"/>
                <a:gd name="T1" fmla="*/ 182 h 324"/>
                <a:gd name="T2" fmla="*/ 131 w 230"/>
                <a:gd name="T3" fmla="*/ 189 h 324"/>
                <a:gd name="T4" fmla="*/ 69 w 230"/>
                <a:gd name="T5" fmla="*/ 297 h 324"/>
                <a:gd name="T6" fmla="*/ 58 w 230"/>
                <a:gd name="T7" fmla="*/ 290 h 324"/>
                <a:gd name="T8" fmla="*/ 55 w 230"/>
                <a:gd name="T9" fmla="*/ 290 h 324"/>
                <a:gd name="T10" fmla="*/ 52 w 230"/>
                <a:gd name="T11" fmla="*/ 291 h 324"/>
                <a:gd name="T12" fmla="*/ 50 w 230"/>
                <a:gd name="T13" fmla="*/ 294 h 324"/>
                <a:gd name="T14" fmla="*/ 50 w 230"/>
                <a:gd name="T15" fmla="*/ 299 h 324"/>
                <a:gd name="T16" fmla="*/ 52 w 230"/>
                <a:gd name="T17" fmla="*/ 301 h 324"/>
                <a:gd name="T18" fmla="*/ 53 w 230"/>
                <a:gd name="T19" fmla="*/ 304 h 324"/>
                <a:gd name="T20" fmla="*/ 63 w 230"/>
                <a:gd name="T21" fmla="*/ 310 h 324"/>
                <a:gd name="T22" fmla="*/ 58 w 230"/>
                <a:gd name="T23" fmla="*/ 324 h 324"/>
                <a:gd name="T24" fmla="*/ 0 w 230"/>
                <a:gd name="T25" fmla="*/ 274 h 324"/>
                <a:gd name="T26" fmla="*/ 11 w 230"/>
                <a:gd name="T27" fmla="*/ 254 h 324"/>
                <a:gd name="T28" fmla="*/ 69 w 230"/>
                <a:gd name="T29" fmla="*/ 156 h 324"/>
                <a:gd name="T30" fmla="*/ 163 w 230"/>
                <a:gd name="T31" fmla="*/ 0 h 324"/>
                <a:gd name="T32" fmla="*/ 230 w 230"/>
                <a:gd name="T33" fmla="*/ 19 h 324"/>
                <a:gd name="T34" fmla="*/ 224 w 230"/>
                <a:gd name="T35" fmla="*/ 33 h 324"/>
                <a:gd name="T36" fmla="*/ 208 w 230"/>
                <a:gd name="T37" fmla="*/ 27 h 324"/>
                <a:gd name="T38" fmla="*/ 203 w 230"/>
                <a:gd name="T39" fmla="*/ 28 h 324"/>
                <a:gd name="T40" fmla="*/ 201 w 230"/>
                <a:gd name="T41" fmla="*/ 30 h 324"/>
                <a:gd name="T42" fmla="*/ 199 w 230"/>
                <a:gd name="T43" fmla="*/ 33 h 324"/>
                <a:gd name="T44" fmla="*/ 199 w 230"/>
                <a:gd name="T45" fmla="*/ 35 h 324"/>
                <a:gd name="T46" fmla="*/ 201 w 230"/>
                <a:gd name="T47" fmla="*/ 36 h 324"/>
                <a:gd name="T48" fmla="*/ 201 w 230"/>
                <a:gd name="T49" fmla="*/ 38 h 324"/>
                <a:gd name="T50" fmla="*/ 203 w 230"/>
                <a:gd name="T51" fmla="*/ 41 h 324"/>
                <a:gd name="T52" fmla="*/ 214 w 230"/>
                <a:gd name="T53" fmla="*/ 45 h 324"/>
                <a:gd name="T54" fmla="*/ 138 w 230"/>
                <a:gd name="T55" fmla="*/ 177 h 324"/>
                <a:gd name="T56" fmla="*/ 125 w 230"/>
                <a:gd name="T57" fmla="*/ 170 h 324"/>
                <a:gd name="T58" fmla="*/ 121 w 230"/>
                <a:gd name="T59" fmla="*/ 172 h 324"/>
                <a:gd name="T60" fmla="*/ 119 w 230"/>
                <a:gd name="T61" fmla="*/ 173 h 324"/>
                <a:gd name="T62" fmla="*/ 119 w 230"/>
                <a:gd name="T63" fmla="*/ 176 h 324"/>
                <a:gd name="T64" fmla="*/ 116 w 230"/>
                <a:gd name="T65" fmla="*/ 177 h 324"/>
                <a:gd name="T66" fmla="*/ 119 w 230"/>
                <a:gd name="T67" fmla="*/ 181 h 324"/>
                <a:gd name="T68" fmla="*/ 119 w 230"/>
                <a:gd name="T69" fmla="*/ 182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30" h="324">
                  <a:moveTo>
                    <a:pt x="119" y="182"/>
                  </a:moveTo>
                  <a:lnTo>
                    <a:pt x="131" y="189"/>
                  </a:lnTo>
                  <a:lnTo>
                    <a:pt x="69" y="297"/>
                  </a:lnTo>
                  <a:lnTo>
                    <a:pt x="58" y="290"/>
                  </a:lnTo>
                  <a:lnTo>
                    <a:pt x="55" y="290"/>
                  </a:lnTo>
                  <a:lnTo>
                    <a:pt x="52" y="291"/>
                  </a:lnTo>
                  <a:lnTo>
                    <a:pt x="50" y="294"/>
                  </a:lnTo>
                  <a:lnTo>
                    <a:pt x="50" y="299"/>
                  </a:lnTo>
                  <a:lnTo>
                    <a:pt x="52" y="301"/>
                  </a:lnTo>
                  <a:lnTo>
                    <a:pt x="53" y="304"/>
                  </a:lnTo>
                  <a:lnTo>
                    <a:pt x="63" y="310"/>
                  </a:lnTo>
                  <a:lnTo>
                    <a:pt x="58" y="324"/>
                  </a:lnTo>
                  <a:lnTo>
                    <a:pt x="0" y="274"/>
                  </a:lnTo>
                  <a:lnTo>
                    <a:pt x="11" y="254"/>
                  </a:lnTo>
                  <a:lnTo>
                    <a:pt x="69" y="156"/>
                  </a:lnTo>
                  <a:lnTo>
                    <a:pt x="163" y="0"/>
                  </a:lnTo>
                  <a:lnTo>
                    <a:pt x="230" y="19"/>
                  </a:lnTo>
                  <a:lnTo>
                    <a:pt x="224" y="33"/>
                  </a:lnTo>
                  <a:lnTo>
                    <a:pt x="208" y="27"/>
                  </a:lnTo>
                  <a:lnTo>
                    <a:pt x="203" y="28"/>
                  </a:lnTo>
                  <a:lnTo>
                    <a:pt x="201" y="30"/>
                  </a:lnTo>
                  <a:lnTo>
                    <a:pt x="199" y="33"/>
                  </a:lnTo>
                  <a:lnTo>
                    <a:pt x="199" y="35"/>
                  </a:lnTo>
                  <a:lnTo>
                    <a:pt x="201" y="36"/>
                  </a:lnTo>
                  <a:lnTo>
                    <a:pt x="201" y="38"/>
                  </a:lnTo>
                  <a:lnTo>
                    <a:pt x="203" y="41"/>
                  </a:lnTo>
                  <a:lnTo>
                    <a:pt x="214" y="45"/>
                  </a:lnTo>
                  <a:lnTo>
                    <a:pt x="138" y="177"/>
                  </a:lnTo>
                  <a:lnTo>
                    <a:pt x="125" y="170"/>
                  </a:lnTo>
                  <a:lnTo>
                    <a:pt x="121" y="172"/>
                  </a:lnTo>
                  <a:lnTo>
                    <a:pt x="119" y="173"/>
                  </a:lnTo>
                  <a:lnTo>
                    <a:pt x="119" y="176"/>
                  </a:lnTo>
                  <a:lnTo>
                    <a:pt x="116" y="177"/>
                  </a:lnTo>
                  <a:lnTo>
                    <a:pt x="119" y="181"/>
                  </a:lnTo>
                  <a:lnTo>
                    <a:pt x="119" y="182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403" name="Freeform 243"/>
            <p:cNvSpPr>
              <a:spLocks/>
            </p:cNvSpPr>
            <p:nvPr/>
          </p:nvSpPr>
          <p:spPr bwMode="auto">
            <a:xfrm>
              <a:off x="2965" y="3249"/>
              <a:ext cx="334" cy="413"/>
            </a:xfrm>
            <a:custGeom>
              <a:avLst/>
              <a:gdLst>
                <a:gd name="T0" fmla="*/ 5 w 334"/>
                <a:gd name="T1" fmla="*/ 296 h 413"/>
                <a:gd name="T2" fmla="*/ 0 w 334"/>
                <a:gd name="T3" fmla="*/ 310 h 413"/>
                <a:gd name="T4" fmla="*/ 124 w 334"/>
                <a:gd name="T5" fmla="*/ 413 h 413"/>
                <a:gd name="T6" fmla="*/ 334 w 334"/>
                <a:gd name="T7" fmla="*/ 49 h 413"/>
                <a:gd name="T8" fmla="*/ 175 w 334"/>
                <a:gd name="T9" fmla="*/ 0 h 413"/>
                <a:gd name="T10" fmla="*/ 172 w 334"/>
                <a:gd name="T11" fmla="*/ 5 h 413"/>
                <a:gd name="T12" fmla="*/ 166 w 334"/>
                <a:gd name="T13" fmla="*/ 19 h 413"/>
                <a:gd name="T14" fmla="*/ 181 w 334"/>
                <a:gd name="T15" fmla="*/ 24 h 413"/>
                <a:gd name="T16" fmla="*/ 175 w 334"/>
                <a:gd name="T17" fmla="*/ 36 h 413"/>
                <a:gd name="T18" fmla="*/ 156 w 334"/>
                <a:gd name="T19" fmla="*/ 31 h 413"/>
                <a:gd name="T20" fmla="*/ 80 w 334"/>
                <a:gd name="T21" fmla="*/ 163 h 413"/>
                <a:gd name="T22" fmla="*/ 96 w 334"/>
                <a:gd name="T23" fmla="*/ 172 h 413"/>
                <a:gd name="T24" fmla="*/ 90 w 334"/>
                <a:gd name="T25" fmla="*/ 183 h 413"/>
                <a:gd name="T26" fmla="*/ 73 w 334"/>
                <a:gd name="T27" fmla="*/ 175 h 413"/>
                <a:gd name="T28" fmla="*/ 11 w 334"/>
                <a:gd name="T29" fmla="*/ 283 h 413"/>
                <a:gd name="T30" fmla="*/ 27 w 334"/>
                <a:gd name="T31" fmla="*/ 293 h 413"/>
                <a:gd name="T32" fmla="*/ 20 w 334"/>
                <a:gd name="T33" fmla="*/ 306 h 413"/>
                <a:gd name="T34" fmla="*/ 5 w 334"/>
                <a:gd name="T35" fmla="*/ 296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34" h="413">
                  <a:moveTo>
                    <a:pt x="5" y="296"/>
                  </a:moveTo>
                  <a:lnTo>
                    <a:pt x="0" y="310"/>
                  </a:lnTo>
                  <a:lnTo>
                    <a:pt x="124" y="413"/>
                  </a:lnTo>
                  <a:lnTo>
                    <a:pt x="334" y="49"/>
                  </a:lnTo>
                  <a:lnTo>
                    <a:pt x="175" y="0"/>
                  </a:lnTo>
                  <a:lnTo>
                    <a:pt x="172" y="5"/>
                  </a:lnTo>
                  <a:lnTo>
                    <a:pt x="166" y="19"/>
                  </a:lnTo>
                  <a:lnTo>
                    <a:pt x="181" y="24"/>
                  </a:lnTo>
                  <a:lnTo>
                    <a:pt x="175" y="36"/>
                  </a:lnTo>
                  <a:lnTo>
                    <a:pt x="156" y="31"/>
                  </a:lnTo>
                  <a:lnTo>
                    <a:pt x="80" y="163"/>
                  </a:lnTo>
                  <a:lnTo>
                    <a:pt x="96" y="172"/>
                  </a:lnTo>
                  <a:lnTo>
                    <a:pt x="90" y="183"/>
                  </a:lnTo>
                  <a:lnTo>
                    <a:pt x="73" y="175"/>
                  </a:lnTo>
                  <a:lnTo>
                    <a:pt x="11" y="283"/>
                  </a:lnTo>
                  <a:lnTo>
                    <a:pt x="27" y="293"/>
                  </a:lnTo>
                  <a:lnTo>
                    <a:pt x="20" y="306"/>
                  </a:lnTo>
                  <a:lnTo>
                    <a:pt x="5" y="296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404" name="Freeform 244"/>
            <p:cNvSpPr>
              <a:spLocks/>
            </p:cNvSpPr>
            <p:nvPr/>
          </p:nvSpPr>
          <p:spPr bwMode="auto">
            <a:xfrm>
              <a:off x="3089" y="3298"/>
              <a:ext cx="244" cy="376"/>
            </a:xfrm>
            <a:custGeom>
              <a:avLst/>
              <a:gdLst>
                <a:gd name="T0" fmla="*/ 210 w 244"/>
                <a:gd name="T1" fmla="*/ 1 h 376"/>
                <a:gd name="T2" fmla="*/ 244 w 244"/>
                <a:gd name="T3" fmla="*/ 20 h 376"/>
                <a:gd name="T4" fmla="*/ 111 w 244"/>
                <a:gd name="T5" fmla="*/ 257 h 376"/>
                <a:gd name="T6" fmla="*/ 42 w 244"/>
                <a:gd name="T7" fmla="*/ 376 h 376"/>
                <a:gd name="T8" fmla="*/ 0 w 244"/>
                <a:gd name="T9" fmla="*/ 364 h 376"/>
                <a:gd name="T10" fmla="*/ 210 w 244"/>
                <a:gd name="T11" fmla="*/ 0 h 376"/>
                <a:gd name="T12" fmla="*/ 210 w 244"/>
                <a:gd name="T13" fmla="*/ 1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4" h="376">
                  <a:moveTo>
                    <a:pt x="210" y="1"/>
                  </a:moveTo>
                  <a:lnTo>
                    <a:pt x="244" y="20"/>
                  </a:lnTo>
                  <a:lnTo>
                    <a:pt x="111" y="257"/>
                  </a:lnTo>
                  <a:lnTo>
                    <a:pt x="42" y="376"/>
                  </a:lnTo>
                  <a:lnTo>
                    <a:pt x="0" y="364"/>
                  </a:lnTo>
                  <a:lnTo>
                    <a:pt x="210" y="0"/>
                  </a:lnTo>
                  <a:lnTo>
                    <a:pt x="210" y="1"/>
                  </a:lnTo>
                  <a:close/>
                </a:path>
              </a:pathLst>
            </a:custGeom>
            <a:solidFill>
              <a:srgbClr val="E0E0E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405" name="Freeform 245"/>
            <p:cNvSpPr>
              <a:spLocks/>
            </p:cNvSpPr>
            <p:nvPr/>
          </p:nvSpPr>
          <p:spPr bwMode="auto">
            <a:xfrm>
              <a:off x="3106" y="3262"/>
              <a:ext cx="40" cy="23"/>
            </a:xfrm>
            <a:custGeom>
              <a:avLst/>
              <a:gdLst>
                <a:gd name="T0" fmla="*/ 25 w 40"/>
                <a:gd name="T1" fmla="*/ 6 h 23"/>
                <a:gd name="T2" fmla="*/ 9 w 40"/>
                <a:gd name="T3" fmla="*/ 0 h 23"/>
                <a:gd name="T4" fmla="*/ 4 w 40"/>
                <a:gd name="T5" fmla="*/ 1 h 23"/>
                <a:gd name="T6" fmla="*/ 2 w 40"/>
                <a:gd name="T7" fmla="*/ 3 h 23"/>
                <a:gd name="T8" fmla="*/ 0 w 40"/>
                <a:gd name="T9" fmla="*/ 6 h 23"/>
                <a:gd name="T10" fmla="*/ 0 w 40"/>
                <a:gd name="T11" fmla="*/ 8 h 23"/>
                <a:gd name="T12" fmla="*/ 2 w 40"/>
                <a:gd name="T13" fmla="*/ 9 h 23"/>
                <a:gd name="T14" fmla="*/ 2 w 40"/>
                <a:gd name="T15" fmla="*/ 11 h 23"/>
                <a:gd name="T16" fmla="*/ 4 w 40"/>
                <a:gd name="T17" fmla="*/ 14 h 23"/>
                <a:gd name="T18" fmla="*/ 15 w 40"/>
                <a:gd name="T19" fmla="*/ 18 h 23"/>
                <a:gd name="T20" fmla="*/ 34 w 40"/>
                <a:gd name="T21" fmla="*/ 23 h 23"/>
                <a:gd name="T22" fmla="*/ 40 w 40"/>
                <a:gd name="T23" fmla="*/ 11 h 23"/>
                <a:gd name="T24" fmla="*/ 25 w 40"/>
                <a:gd name="T25" fmla="*/ 6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23">
                  <a:moveTo>
                    <a:pt x="25" y="6"/>
                  </a:moveTo>
                  <a:lnTo>
                    <a:pt x="9" y="0"/>
                  </a:lnTo>
                  <a:lnTo>
                    <a:pt x="4" y="1"/>
                  </a:lnTo>
                  <a:lnTo>
                    <a:pt x="2" y="3"/>
                  </a:lnTo>
                  <a:lnTo>
                    <a:pt x="0" y="6"/>
                  </a:lnTo>
                  <a:lnTo>
                    <a:pt x="0" y="8"/>
                  </a:lnTo>
                  <a:lnTo>
                    <a:pt x="2" y="9"/>
                  </a:lnTo>
                  <a:lnTo>
                    <a:pt x="2" y="11"/>
                  </a:lnTo>
                  <a:lnTo>
                    <a:pt x="4" y="14"/>
                  </a:lnTo>
                  <a:lnTo>
                    <a:pt x="15" y="18"/>
                  </a:lnTo>
                  <a:lnTo>
                    <a:pt x="34" y="23"/>
                  </a:lnTo>
                  <a:lnTo>
                    <a:pt x="40" y="11"/>
                  </a:lnTo>
                  <a:lnTo>
                    <a:pt x="25" y="6"/>
                  </a:lnTo>
                  <a:close/>
                </a:path>
              </a:pathLst>
            </a:custGeom>
            <a:solidFill>
              <a:srgbClr val="FF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406" name="Freeform 246"/>
            <p:cNvSpPr>
              <a:spLocks/>
            </p:cNvSpPr>
            <p:nvPr/>
          </p:nvSpPr>
          <p:spPr bwMode="auto">
            <a:xfrm>
              <a:off x="3023" y="3405"/>
              <a:ext cx="38" cy="27"/>
            </a:xfrm>
            <a:custGeom>
              <a:avLst/>
              <a:gdLst>
                <a:gd name="T0" fmla="*/ 22 w 38"/>
                <a:gd name="T1" fmla="*/ 7 h 27"/>
                <a:gd name="T2" fmla="*/ 9 w 38"/>
                <a:gd name="T3" fmla="*/ 0 h 27"/>
                <a:gd name="T4" fmla="*/ 5 w 38"/>
                <a:gd name="T5" fmla="*/ 2 h 27"/>
                <a:gd name="T6" fmla="*/ 3 w 38"/>
                <a:gd name="T7" fmla="*/ 3 h 27"/>
                <a:gd name="T8" fmla="*/ 3 w 38"/>
                <a:gd name="T9" fmla="*/ 6 h 27"/>
                <a:gd name="T10" fmla="*/ 0 w 38"/>
                <a:gd name="T11" fmla="*/ 7 h 27"/>
                <a:gd name="T12" fmla="*/ 3 w 38"/>
                <a:gd name="T13" fmla="*/ 11 h 27"/>
                <a:gd name="T14" fmla="*/ 3 w 38"/>
                <a:gd name="T15" fmla="*/ 12 h 27"/>
                <a:gd name="T16" fmla="*/ 15 w 38"/>
                <a:gd name="T17" fmla="*/ 19 h 27"/>
                <a:gd name="T18" fmla="*/ 32 w 38"/>
                <a:gd name="T19" fmla="*/ 27 h 27"/>
                <a:gd name="T20" fmla="*/ 38 w 38"/>
                <a:gd name="T21" fmla="*/ 16 h 27"/>
                <a:gd name="T22" fmla="*/ 22 w 38"/>
                <a:gd name="T23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8" h="27">
                  <a:moveTo>
                    <a:pt x="22" y="7"/>
                  </a:moveTo>
                  <a:lnTo>
                    <a:pt x="9" y="0"/>
                  </a:lnTo>
                  <a:lnTo>
                    <a:pt x="5" y="2"/>
                  </a:lnTo>
                  <a:lnTo>
                    <a:pt x="3" y="3"/>
                  </a:lnTo>
                  <a:lnTo>
                    <a:pt x="3" y="6"/>
                  </a:lnTo>
                  <a:lnTo>
                    <a:pt x="0" y="7"/>
                  </a:lnTo>
                  <a:lnTo>
                    <a:pt x="3" y="11"/>
                  </a:lnTo>
                  <a:lnTo>
                    <a:pt x="3" y="12"/>
                  </a:lnTo>
                  <a:lnTo>
                    <a:pt x="15" y="19"/>
                  </a:lnTo>
                  <a:lnTo>
                    <a:pt x="32" y="27"/>
                  </a:lnTo>
                  <a:lnTo>
                    <a:pt x="38" y="16"/>
                  </a:lnTo>
                  <a:lnTo>
                    <a:pt x="22" y="7"/>
                  </a:lnTo>
                  <a:close/>
                </a:path>
              </a:pathLst>
            </a:custGeom>
            <a:solidFill>
              <a:srgbClr val="FF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407" name="Freeform 247"/>
            <p:cNvSpPr>
              <a:spLocks/>
            </p:cNvSpPr>
            <p:nvPr/>
          </p:nvSpPr>
          <p:spPr bwMode="auto">
            <a:xfrm>
              <a:off x="2957" y="3525"/>
              <a:ext cx="35" cy="30"/>
            </a:xfrm>
            <a:custGeom>
              <a:avLst/>
              <a:gdLst>
                <a:gd name="T0" fmla="*/ 13 w 35"/>
                <a:gd name="T1" fmla="*/ 20 h 30"/>
                <a:gd name="T2" fmla="*/ 3 w 35"/>
                <a:gd name="T3" fmla="*/ 14 h 30"/>
                <a:gd name="T4" fmla="*/ 2 w 35"/>
                <a:gd name="T5" fmla="*/ 11 h 30"/>
                <a:gd name="T6" fmla="*/ 0 w 35"/>
                <a:gd name="T7" fmla="*/ 9 h 30"/>
                <a:gd name="T8" fmla="*/ 0 w 35"/>
                <a:gd name="T9" fmla="*/ 4 h 30"/>
                <a:gd name="T10" fmla="*/ 2 w 35"/>
                <a:gd name="T11" fmla="*/ 1 h 30"/>
                <a:gd name="T12" fmla="*/ 5 w 35"/>
                <a:gd name="T13" fmla="*/ 0 h 30"/>
                <a:gd name="T14" fmla="*/ 8 w 35"/>
                <a:gd name="T15" fmla="*/ 0 h 30"/>
                <a:gd name="T16" fmla="*/ 19 w 35"/>
                <a:gd name="T17" fmla="*/ 7 h 30"/>
                <a:gd name="T18" fmla="*/ 35 w 35"/>
                <a:gd name="T19" fmla="*/ 17 h 30"/>
                <a:gd name="T20" fmla="*/ 28 w 35"/>
                <a:gd name="T21" fmla="*/ 30 h 30"/>
                <a:gd name="T22" fmla="*/ 13 w 35"/>
                <a:gd name="T23" fmla="*/ 2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5" h="30">
                  <a:moveTo>
                    <a:pt x="13" y="20"/>
                  </a:moveTo>
                  <a:lnTo>
                    <a:pt x="3" y="14"/>
                  </a:lnTo>
                  <a:lnTo>
                    <a:pt x="2" y="11"/>
                  </a:lnTo>
                  <a:lnTo>
                    <a:pt x="0" y="9"/>
                  </a:lnTo>
                  <a:lnTo>
                    <a:pt x="0" y="4"/>
                  </a:lnTo>
                  <a:lnTo>
                    <a:pt x="2" y="1"/>
                  </a:lnTo>
                  <a:lnTo>
                    <a:pt x="5" y="0"/>
                  </a:lnTo>
                  <a:lnTo>
                    <a:pt x="8" y="0"/>
                  </a:lnTo>
                  <a:lnTo>
                    <a:pt x="19" y="7"/>
                  </a:lnTo>
                  <a:lnTo>
                    <a:pt x="35" y="17"/>
                  </a:lnTo>
                  <a:lnTo>
                    <a:pt x="28" y="30"/>
                  </a:lnTo>
                  <a:lnTo>
                    <a:pt x="13" y="20"/>
                  </a:lnTo>
                  <a:close/>
                </a:path>
              </a:pathLst>
            </a:custGeom>
            <a:solidFill>
              <a:srgbClr val="FF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408" name="Freeform 248"/>
            <p:cNvSpPr>
              <a:spLocks/>
            </p:cNvSpPr>
            <p:nvPr/>
          </p:nvSpPr>
          <p:spPr bwMode="auto">
            <a:xfrm>
              <a:off x="3286" y="3258"/>
              <a:ext cx="203" cy="271"/>
            </a:xfrm>
            <a:custGeom>
              <a:avLst/>
              <a:gdLst>
                <a:gd name="T0" fmla="*/ 192 w 203"/>
                <a:gd name="T1" fmla="*/ 0 h 271"/>
                <a:gd name="T2" fmla="*/ 193 w 203"/>
                <a:gd name="T3" fmla="*/ 3 h 271"/>
                <a:gd name="T4" fmla="*/ 199 w 203"/>
                <a:gd name="T5" fmla="*/ 10 h 271"/>
                <a:gd name="T6" fmla="*/ 203 w 203"/>
                <a:gd name="T7" fmla="*/ 21 h 271"/>
                <a:gd name="T8" fmla="*/ 203 w 203"/>
                <a:gd name="T9" fmla="*/ 180 h 271"/>
                <a:gd name="T10" fmla="*/ 202 w 203"/>
                <a:gd name="T11" fmla="*/ 183 h 271"/>
                <a:gd name="T12" fmla="*/ 199 w 203"/>
                <a:gd name="T13" fmla="*/ 185 h 271"/>
                <a:gd name="T14" fmla="*/ 197 w 203"/>
                <a:gd name="T15" fmla="*/ 189 h 271"/>
                <a:gd name="T16" fmla="*/ 0 w 203"/>
                <a:gd name="T17" fmla="*/ 271 h 271"/>
                <a:gd name="T18" fmla="*/ 127 w 203"/>
                <a:gd name="T19" fmla="*/ 43 h 271"/>
                <a:gd name="T20" fmla="*/ 32 w 203"/>
                <a:gd name="T21" fmla="*/ 19 h 271"/>
                <a:gd name="T22" fmla="*/ 108 w 203"/>
                <a:gd name="T23" fmla="*/ 0 h 271"/>
                <a:gd name="T24" fmla="*/ 192 w 203"/>
                <a:gd name="T25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71">
                  <a:moveTo>
                    <a:pt x="192" y="0"/>
                  </a:moveTo>
                  <a:lnTo>
                    <a:pt x="193" y="3"/>
                  </a:lnTo>
                  <a:lnTo>
                    <a:pt x="199" y="10"/>
                  </a:lnTo>
                  <a:lnTo>
                    <a:pt x="203" y="21"/>
                  </a:lnTo>
                  <a:lnTo>
                    <a:pt x="203" y="180"/>
                  </a:lnTo>
                  <a:lnTo>
                    <a:pt x="202" y="183"/>
                  </a:lnTo>
                  <a:lnTo>
                    <a:pt x="199" y="185"/>
                  </a:lnTo>
                  <a:lnTo>
                    <a:pt x="197" y="189"/>
                  </a:lnTo>
                  <a:lnTo>
                    <a:pt x="0" y="271"/>
                  </a:lnTo>
                  <a:lnTo>
                    <a:pt x="127" y="43"/>
                  </a:lnTo>
                  <a:lnTo>
                    <a:pt x="32" y="19"/>
                  </a:lnTo>
                  <a:lnTo>
                    <a:pt x="108" y="0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EAEAEA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409" name="Freeform 249"/>
            <p:cNvSpPr>
              <a:spLocks/>
            </p:cNvSpPr>
            <p:nvPr/>
          </p:nvSpPr>
          <p:spPr bwMode="auto">
            <a:xfrm>
              <a:off x="2766" y="3289"/>
              <a:ext cx="236" cy="204"/>
            </a:xfrm>
            <a:custGeom>
              <a:avLst/>
              <a:gdLst>
                <a:gd name="T0" fmla="*/ 153 w 236"/>
                <a:gd name="T1" fmla="*/ 199 h 204"/>
                <a:gd name="T2" fmla="*/ 210 w 236"/>
                <a:gd name="T3" fmla="*/ 102 h 204"/>
                <a:gd name="T4" fmla="*/ 194 w 236"/>
                <a:gd name="T5" fmla="*/ 95 h 204"/>
                <a:gd name="T6" fmla="*/ 236 w 236"/>
                <a:gd name="T7" fmla="*/ 21 h 204"/>
                <a:gd name="T8" fmla="*/ 80 w 236"/>
                <a:gd name="T9" fmla="*/ 0 h 204"/>
                <a:gd name="T10" fmla="*/ 16 w 236"/>
                <a:gd name="T11" fmla="*/ 7 h 204"/>
                <a:gd name="T12" fmla="*/ 11 w 236"/>
                <a:gd name="T13" fmla="*/ 9 h 204"/>
                <a:gd name="T14" fmla="*/ 5 w 236"/>
                <a:gd name="T15" fmla="*/ 10 h 204"/>
                <a:gd name="T16" fmla="*/ 1 w 236"/>
                <a:gd name="T17" fmla="*/ 14 h 204"/>
                <a:gd name="T18" fmla="*/ 0 w 236"/>
                <a:gd name="T19" fmla="*/ 20 h 204"/>
                <a:gd name="T20" fmla="*/ 0 w 236"/>
                <a:gd name="T21" fmla="*/ 138 h 204"/>
                <a:gd name="T22" fmla="*/ 149 w 236"/>
                <a:gd name="T23" fmla="*/ 204 h 204"/>
                <a:gd name="T24" fmla="*/ 153 w 236"/>
                <a:gd name="T25" fmla="*/ 199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6" h="204">
                  <a:moveTo>
                    <a:pt x="153" y="199"/>
                  </a:moveTo>
                  <a:lnTo>
                    <a:pt x="210" y="102"/>
                  </a:lnTo>
                  <a:lnTo>
                    <a:pt x="194" y="95"/>
                  </a:lnTo>
                  <a:lnTo>
                    <a:pt x="236" y="21"/>
                  </a:lnTo>
                  <a:lnTo>
                    <a:pt x="80" y="0"/>
                  </a:lnTo>
                  <a:lnTo>
                    <a:pt x="16" y="7"/>
                  </a:lnTo>
                  <a:lnTo>
                    <a:pt x="11" y="9"/>
                  </a:lnTo>
                  <a:lnTo>
                    <a:pt x="5" y="10"/>
                  </a:lnTo>
                  <a:lnTo>
                    <a:pt x="1" y="14"/>
                  </a:lnTo>
                  <a:lnTo>
                    <a:pt x="0" y="20"/>
                  </a:lnTo>
                  <a:lnTo>
                    <a:pt x="0" y="138"/>
                  </a:lnTo>
                  <a:lnTo>
                    <a:pt x="149" y="204"/>
                  </a:lnTo>
                  <a:lnTo>
                    <a:pt x="153" y="199"/>
                  </a:lnTo>
                  <a:close/>
                </a:path>
              </a:pathLst>
            </a:custGeom>
            <a:solidFill>
              <a:srgbClr val="EAEAEA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410" name="Freeform 250"/>
            <p:cNvSpPr>
              <a:spLocks/>
            </p:cNvSpPr>
            <p:nvPr/>
          </p:nvSpPr>
          <p:spPr bwMode="auto">
            <a:xfrm>
              <a:off x="2794" y="2966"/>
              <a:ext cx="609" cy="344"/>
            </a:xfrm>
            <a:custGeom>
              <a:avLst/>
              <a:gdLst>
                <a:gd name="T0" fmla="*/ 229 w 609"/>
                <a:gd name="T1" fmla="*/ 304 h 344"/>
                <a:gd name="T2" fmla="*/ 208 w 609"/>
                <a:gd name="T3" fmla="*/ 344 h 344"/>
                <a:gd name="T4" fmla="*/ 52 w 609"/>
                <a:gd name="T5" fmla="*/ 323 h 344"/>
                <a:gd name="T6" fmla="*/ 39 w 609"/>
                <a:gd name="T7" fmla="*/ 320 h 344"/>
                <a:gd name="T8" fmla="*/ 25 w 609"/>
                <a:gd name="T9" fmla="*/ 319 h 344"/>
                <a:gd name="T10" fmla="*/ 14 w 609"/>
                <a:gd name="T11" fmla="*/ 311 h 344"/>
                <a:gd name="T12" fmla="*/ 5 w 609"/>
                <a:gd name="T13" fmla="*/ 301 h 344"/>
                <a:gd name="T14" fmla="*/ 0 w 609"/>
                <a:gd name="T15" fmla="*/ 288 h 344"/>
                <a:gd name="T16" fmla="*/ 30 w 609"/>
                <a:gd name="T17" fmla="*/ 36 h 344"/>
                <a:gd name="T18" fmla="*/ 34 w 609"/>
                <a:gd name="T19" fmla="*/ 23 h 344"/>
                <a:gd name="T20" fmla="*/ 40 w 609"/>
                <a:gd name="T21" fmla="*/ 13 h 344"/>
                <a:gd name="T22" fmla="*/ 52 w 609"/>
                <a:gd name="T23" fmla="*/ 4 h 344"/>
                <a:gd name="T24" fmla="*/ 62 w 609"/>
                <a:gd name="T25" fmla="*/ 0 h 344"/>
                <a:gd name="T26" fmla="*/ 568 w 609"/>
                <a:gd name="T27" fmla="*/ 9 h 344"/>
                <a:gd name="T28" fmla="*/ 577 w 609"/>
                <a:gd name="T29" fmla="*/ 11 h 344"/>
                <a:gd name="T30" fmla="*/ 583 w 609"/>
                <a:gd name="T31" fmla="*/ 14 h 344"/>
                <a:gd name="T32" fmla="*/ 587 w 609"/>
                <a:gd name="T33" fmla="*/ 22 h 344"/>
                <a:gd name="T34" fmla="*/ 590 w 609"/>
                <a:gd name="T35" fmla="*/ 32 h 344"/>
                <a:gd name="T36" fmla="*/ 609 w 609"/>
                <a:gd name="T37" fmla="*/ 280 h 344"/>
                <a:gd name="T38" fmla="*/ 606 w 609"/>
                <a:gd name="T39" fmla="*/ 287 h 344"/>
                <a:gd name="T40" fmla="*/ 600 w 609"/>
                <a:gd name="T41" fmla="*/ 292 h 344"/>
                <a:gd name="T42" fmla="*/ 524 w 609"/>
                <a:gd name="T43" fmla="*/ 311 h 344"/>
                <a:gd name="T44" fmla="*/ 335 w 609"/>
                <a:gd name="T45" fmla="*/ 263 h 344"/>
                <a:gd name="T46" fmla="*/ 349 w 609"/>
                <a:gd name="T47" fmla="*/ 63 h 344"/>
                <a:gd name="T48" fmla="*/ 346 w 609"/>
                <a:gd name="T49" fmla="*/ 54 h 344"/>
                <a:gd name="T50" fmla="*/ 342 w 609"/>
                <a:gd name="T51" fmla="*/ 46 h 344"/>
                <a:gd name="T52" fmla="*/ 333 w 609"/>
                <a:gd name="T53" fmla="*/ 38 h 344"/>
                <a:gd name="T54" fmla="*/ 324 w 609"/>
                <a:gd name="T55" fmla="*/ 37 h 344"/>
                <a:gd name="T56" fmla="*/ 322 w 609"/>
                <a:gd name="T57" fmla="*/ 36 h 344"/>
                <a:gd name="T58" fmla="*/ 71 w 609"/>
                <a:gd name="T59" fmla="*/ 32 h 344"/>
                <a:gd name="T60" fmla="*/ 61 w 609"/>
                <a:gd name="T61" fmla="*/ 41 h 344"/>
                <a:gd name="T62" fmla="*/ 54 w 609"/>
                <a:gd name="T63" fmla="*/ 51 h 344"/>
                <a:gd name="T64" fmla="*/ 34 w 609"/>
                <a:gd name="T65" fmla="*/ 281 h 344"/>
                <a:gd name="T66" fmla="*/ 229 w 609"/>
                <a:gd name="T67" fmla="*/ 30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09" h="344">
                  <a:moveTo>
                    <a:pt x="229" y="304"/>
                  </a:moveTo>
                  <a:lnTo>
                    <a:pt x="208" y="344"/>
                  </a:lnTo>
                  <a:lnTo>
                    <a:pt x="52" y="323"/>
                  </a:lnTo>
                  <a:lnTo>
                    <a:pt x="39" y="320"/>
                  </a:lnTo>
                  <a:lnTo>
                    <a:pt x="25" y="319"/>
                  </a:lnTo>
                  <a:lnTo>
                    <a:pt x="14" y="311"/>
                  </a:lnTo>
                  <a:lnTo>
                    <a:pt x="5" y="301"/>
                  </a:lnTo>
                  <a:lnTo>
                    <a:pt x="0" y="288"/>
                  </a:lnTo>
                  <a:lnTo>
                    <a:pt x="30" y="36"/>
                  </a:lnTo>
                  <a:lnTo>
                    <a:pt x="34" y="23"/>
                  </a:lnTo>
                  <a:lnTo>
                    <a:pt x="40" y="13"/>
                  </a:lnTo>
                  <a:lnTo>
                    <a:pt x="52" y="4"/>
                  </a:lnTo>
                  <a:lnTo>
                    <a:pt x="62" y="0"/>
                  </a:lnTo>
                  <a:lnTo>
                    <a:pt x="568" y="9"/>
                  </a:lnTo>
                  <a:lnTo>
                    <a:pt x="577" y="11"/>
                  </a:lnTo>
                  <a:lnTo>
                    <a:pt x="583" y="14"/>
                  </a:lnTo>
                  <a:lnTo>
                    <a:pt x="587" y="22"/>
                  </a:lnTo>
                  <a:lnTo>
                    <a:pt x="590" y="32"/>
                  </a:lnTo>
                  <a:lnTo>
                    <a:pt x="609" y="280"/>
                  </a:lnTo>
                  <a:lnTo>
                    <a:pt x="606" y="287"/>
                  </a:lnTo>
                  <a:lnTo>
                    <a:pt x="600" y="292"/>
                  </a:lnTo>
                  <a:lnTo>
                    <a:pt x="524" y="311"/>
                  </a:lnTo>
                  <a:lnTo>
                    <a:pt x="335" y="263"/>
                  </a:lnTo>
                  <a:lnTo>
                    <a:pt x="349" y="63"/>
                  </a:lnTo>
                  <a:lnTo>
                    <a:pt x="346" y="54"/>
                  </a:lnTo>
                  <a:lnTo>
                    <a:pt x="342" y="46"/>
                  </a:lnTo>
                  <a:lnTo>
                    <a:pt x="333" y="38"/>
                  </a:lnTo>
                  <a:lnTo>
                    <a:pt x="324" y="37"/>
                  </a:lnTo>
                  <a:lnTo>
                    <a:pt x="322" y="36"/>
                  </a:lnTo>
                  <a:lnTo>
                    <a:pt x="71" y="32"/>
                  </a:lnTo>
                  <a:lnTo>
                    <a:pt x="61" y="41"/>
                  </a:lnTo>
                  <a:lnTo>
                    <a:pt x="54" y="51"/>
                  </a:lnTo>
                  <a:lnTo>
                    <a:pt x="34" y="281"/>
                  </a:lnTo>
                  <a:lnTo>
                    <a:pt x="229" y="304"/>
                  </a:lnTo>
                  <a:close/>
                </a:path>
              </a:pathLst>
            </a:custGeom>
            <a:solidFill>
              <a:srgbClr val="EAEAEA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411" name="Freeform 251"/>
            <p:cNvSpPr>
              <a:spLocks/>
            </p:cNvSpPr>
            <p:nvPr/>
          </p:nvSpPr>
          <p:spPr bwMode="auto">
            <a:xfrm>
              <a:off x="2828" y="2998"/>
              <a:ext cx="315" cy="272"/>
            </a:xfrm>
            <a:custGeom>
              <a:avLst/>
              <a:gdLst>
                <a:gd name="T0" fmla="*/ 255 w 315"/>
                <a:gd name="T1" fmla="*/ 28 h 272"/>
                <a:gd name="T2" fmla="*/ 252 w 315"/>
                <a:gd name="T3" fmla="*/ 25 h 272"/>
                <a:gd name="T4" fmla="*/ 249 w 315"/>
                <a:gd name="T5" fmla="*/ 23 h 272"/>
                <a:gd name="T6" fmla="*/ 240 w 315"/>
                <a:gd name="T7" fmla="*/ 23 h 272"/>
                <a:gd name="T8" fmla="*/ 193 w 315"/>
                <a:gd name="T9" fmla="*/ 22 h 272"/>
                <a:gd name="T10" fmla="*/ 131 w 315"/>
                <a:gd name="T11" fmla="*/ 22 h 272"/>
                <a:gd name="T12" fmla="*/ 91 w 315"/>
                <a:gd name="T13" fmla="*/ 25 h 272"/>
                <a:gd name="T14" fmla="*/ 63 w 315"/>
                <a:gd name="T15" fmla="*/ 25 h 272"/>
                <a:gd name="T16" fmla="*/ 57 w 315"/>
                <a:gd name="T17" fmla="*/ 29 h 272"/>
                <a:gd name="T18" fmla="*/ 52 w 315"/>
                <a:gd name="T19" fmla="*/ 36 h 272"/>
                <a:gd name="T20" fmla="*/ 51 w 315"/>
                <a:gd name="T21" fmla="*/ 38 h 272"/>
                <a:gd name="T22" fmla="*/ 43 w 315"/>
                <a:gd name="T23" fmla="*/ 112 h 272"/>
                <a:gd name="T24" fmla="*/ 40 w 315"/>
                <a:gd name="T25" fmla="*/ 184 h 272"/>
                <a:gd name="T26" fmla="*/ 39 w 315"/>
                <a:gd name="T27" fmla="*/ 215 h 272"/>
                <a:gd name="T28" fmla="*/ 39 w 315"/>
                <a:gd name="T29" fmla="*/ 226 h 272"/>
                <a:gd name="T30" fmla="*/ 40 w 315"/>
                <a:gd name="T31" fmla="*/ 231 h 272"/>
                <a:gd name="T32" fmla="*/ 47 w 315"/>
                <a:gd name="T33" fmla="*/ 234 h 272"/>
                <a:gd name="T34" fmla="*/ 52 w 315"/>
                <a:gd name="T35" fmla="*/ 234 h 272"/>
                <a:gd name="T36" fmla="*/ 101 w 315"/>
                <a:gd name="T37" fmla="*/ 241 h 272"/>
                <a:gd name="T38" fmla="*/ 153 w 315"/>
                <a:gd name="T39" fmla="*/ 248 h 272"/>
                <a:gd name="T40" fmla="*/ 205 w 315"/>
                <a:gd name="T41" fmla="*/ 249 h 272"/>
                <a:gd name="T42" fmla="*/ 208 w 315"/>
                <a:gd name="T43" fmla="*/ 249 h 272"/>
                <a:gd name="T44" fmla="*/ 195 w 315"/>
                <a:gd name="T45" fmla="*/ 272 h 272"/>
                <a:gd name="T46" fmla="*/ 0 w 315"/>
                <a:gd name="T47" fmla="*/ 249 h 272"/>
                <a:gd name="T48" fmla="*/ 20 w 315"/>
                <a:gd name="T49" fmla="*/ 19 h 272"/>
                <a:gd name="T50" fmla="*/ 27 w 315"/>
                <a:gd name="T51" fmla="*/ 9 h 272"/>
                <a:gd name="T52" fmla="*/ 37 w 315"/>
                <a:gd name="T53" fmla="*/ 0 h 272"/>
                <a:gd name="T54" fmla="*/ 288 w 315"/>
                <a:gd name="T55" fmla="*/ 4 h 272"/>
                <a:gd name="T56" fmla="*/ 290 w 315"/>
                <a:gd name="T57" fmla="*/ 5 h 272"/>
                <a:gd name="T58" fmla="*/ 299 w 315"/>
                <a:gd name="T59" fmla="*/ 6 h 272"/>
                <a:gd name="T60" fmla="*/ 308 w 315"/>
                <a:gd name="T61" fmla="*/ 14 h 272"/>
                <a:gd name="T62" fmla="*/ 312 w 315"/>
                <a:gd name="T63" fmla="*/ 22 h 272"/>
                <a:gd name="T64" fmla="*/ 315 w 315"/>
                <a:gd name="T65" fmla="*/ 31 h 272"/>
                <a:gd name="T66" fmla="*/ 301 w 315"/>
                <a:gd name="T67" fmla="*/ 231 h 272"/>
                <a:gd name="T68" fmla="*/ 250 w 315"/>
                <a:gd name="T69" fmla="*/ 217 h 272"/>
                <a:gd name="T70" fmla="*/ 255 w 315"/>
                <a:gd name="T71" fmla="*/ 28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15" h="272">
                  <a:moveTo>
                    <a:pt x="255" y="28"/>
                  </a:moveTo>
                  <a:lnTo>
                    <a:pt x="252" y="25"/>
                  </a:lnTo>
                  <a:lnTo>
                    <a:pt x="249" y="23"/>
                  </a:lnTo>
                  <a:lnTo>
                    <a:pt x="240" y="23"/>
                  </a:lnTo>
                  <a:lnTo>
                    <a:pt x="193" y="22"/>
                  </a:lnTo>
                  <a:lnTo>
                    <a:pt x="131" y="22"/>
                  </a:lnTo>
                  <a:lnTo>
                    <a:pt x="91" y="25"/>
                  </a:lnTo>
                  <a:lnTo>
                    <a:pt x="63" y="25"/>
                  </a:lnTo>
                  <a:lnTo>
                    <a:pt x="57" y="29"/>
                  </a:lnTo>
                  <a:lnTo>
                    <a:pt x="52" y="36"/>
                  </a:lnTo>
                  <a:lnTo>
                    <a:pt x="51" y="38"/>
                  </a:lnTo>
                  <a:lnTo>
                    <a:pt x="43" y="112"/>
                  </a:lnTo>
                  <a:lnTo>
                    <a:pt x="40" y="184"/>
                  </a:lnTo>
                  <a:lnTo>
                    <a:pt x="39" y="215"/>
                  </a:lnTo>
                  <a:lnTo>
                    <a:pt x="39" y="226"/>
                  </a:lnTo>
                  <a:lnTo>
                    <a:pt x="40" y="231"/>
                  </a:lnTo>
                  <a:lnTo>
                    <a:pt x="47" y="234"/>
                  </a:lnTo>
                  <a:lnTo>
                    <a:pt x="52" y="234"/>
                  </a:lnTo>
                  <a:lnTo>
                    <a:pt x="101" y="241"/>
                  </a:lnTo>
                  <a:lnTo>
                    <a:pt x="153" y="248"/>
                  </a:lnTo>
                  <a:lnTo>
                    <a:pt x="205" y="249"/>
                  </a:lnTo>
                  <a:lnTo>
                    <a:pt x="208" y="249"/>
                  </a:lnTo>
                  <a:lnTo>
                    <a:pt x="195" y="272"/>
                  </a:lnTo>
                  <a:lnTo>
                    <a:pt x="0" y="249"/>
                  </a:lnTo>
                  <a:lnTo>
                    <a:pt x="20" y="19"/>
                  </a:lnTo>
                  <a:lnTo>
                    <a:pt x="27" y="9"/>
                  </a:lnTo>
                  <a:lnTo>
                    <a:pt x="37" y="0"/>
                  </a:lnTo>
                  <a:lnTo>
                    <a:pt x="288" y="4"/>
                  </a:lnTo>
                  <a:lnTo>
                    <a:pt x="290" y="5"/>
                  </a:lnTo>
                  <a:lnTo>
                    <a:pt x="299" y="6"/>
                  </a:lnTo>
                  <a:lnTo>
                    <a:pt x="308" y="14"/>
                  </a:lnTo>
                  <a:lnTo>
                    <a:pt x="312" y="22"/>
                  </a:lnTo>
                  <a:lnTo>
                    <a:pt x="315" y="31"/>
                  </a:lnTo>
                  <a:lnTo>
                    <a:pt x="301" y="231"/>
                  </a:lnTo>
                  <a:lnTo>
                    <a:pt x="250" y="217"/>
                  </a:lnTo>
                  <a:lnTo>
                    <a:pt x="255" y="28"/>
                  </a:lnTo>
                  <a:close/>
                </a:path>
              </a:pathLst>
            </a:custGeom>
            <a:solidFill>
              <a:srgbClr val="EAEAEA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412" name="Freeform 252"/>
            <p:cNvSpPr>
              <a:spLocks/>
            </p:cNvSpPr>
            <p:nvPr/>
          </p:nvSpPr>
          <p:spPr bwMode="auto">
            <a:xfrm>
              <a:off x="2867" y="3020"/>
              <a:ext cx="216" cy="227"/>
            </a:xfrm>
            <a:custGeom>
              <a:avLst/>
              <a:gdLst>
                <a:gd name="T0" fmla="*/ 211 w 216"/>
                <a:gd name="T1" fmla="*/ 195 h 227"/>
                <a:gd name="T2" fmla="*/ 191 w 216"/>
                <a:gd name="T3" fmla="*/ 190 h 227"/>
                <a:gd name="T4" fmla="*/ 169 w 216"/>
                <a:gd name="T5" fmla="*/ 227 h 227"/>
                <a:gd name="T6" fmla="*/ 166 w 216"/>
                <a:gd name="T7" fmla="*/ 227 h 227"/>
                <a:gd name="T8" fmla="*/ 114 w 216"/>
                <a:gd name="T9" fmla="*/ 226 h 227"/>
                <a:gd name="T10" fmla="*/ 62 w 216"/>
                <a:gd name="T11" fmla="*/ 219 h 227"/>
                <a:gd name="T12" fmla="*/ 13 w 216"/>
                <a:gd name="T13" fmla="*/ 212 h 227"/>
                <a:gd name="T14" fmla="*/ 8 w 216"/>
                <a:gd name="T15" fmla="*/ 212 h 227"/>
                <a:gd name="T16" fmla="*/ 1 w 216"/>
                <a:gd name="T17" fmla="*/ 209 h 227"/>
                <a:gd name="T18" fmla="*/ 0 w 216"/>
                <a:gd name="T19" fmla="*/ 204 h 227"/>
                <a:gd name="T20" fmla="*/ 0 w 216"/>
                <a:gd name="T21" fmla="*/ 193 h 227"/>
                <a:gd name="T22" fmla="*/ 1 w 216"/>
                <a:gd name="T23" fmla="*/ 162 h 227"/>
                <a:gd name="T24" fmla="*/ 4 w 216"/>
                <a:gd name="T25" fmla="*/ 90 h 227"/>
                <a:gd name="T26" fmla="*/ 12 w 216"/>
                <a:gd name="T27" fmla="*/ 16 h 227"/>
                <a:gd name="T28" fmla="*/ 13 w 216"/>
                <a:gd name="T29" fmla="*/ 14 h 227"/>
                <a:gd name="T30" fmla="*/ 18 w 216"/>
                <a:gd name="T31" fmla="*/ 7 h 227"/>
                <a:gd name="T32" fmla="*/ 24 w 216"/>
                <a:gd name="T33" fmla="*/ 3 h 227"/>
                <a:gd name="T34" fmla="*/ 52 w 216"/>
                <a:gd name="T35" fmla="*/ 3 h 227"/>
                <a:gd name="T36" fmla="*/ 92 w 216"/>
                <a:gd name="T37" fmla="*/ 0 h 227"/>
                <a:gd name="T38" fmla="*/ 154 w 216"/>
                <a:gd name="T39" fmla="*/ 0 h 227"/>
                <a:gd name="T40" fmla="*/ 201 w 216"/>
                <a:gd name="T41" fmla="*/ 1 h 227"/>
                <a:gd name="T42" fmla="*/ 210 w 216"/>
                <a:gd name="T43" fmla="*/ 1 h 227"/>
                <a:gd name="T44" fmla="*/ 213 w 216"/>
                <a:gd name="T45" fmla="*/ 3 h 227"/>
                <a:gd name="T46" fmla="*/ 216 w 216"/>
                <a:gd name="T47" fmla="*/ 6 h 227"/>
                <a:gd name="T48" fmla="*/ 211 w 216"/>
                <a:gd name="T49" fmla="*/ 19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16" h="227">
                  <a:moveTo>
                    <a:pt x="211" y="195"/>
                  </a:moveTo>
                  <a:lnTo>
                    <a:pt x="191" y="190"/>
                  </a:lnTo>
                  <a:lnTo>
                    <a:pt x="169" y="227"/>
                  </a:lnTo>
                  <a:lnTo>
                    <a:pt x="166" y="227"/>
                  </a:lnTo>
                  <a:lnTo>
                    <a:pt x="114" y="226"/>
                  </a:lnTo>
                  <a:lnTo>
                    <a:pt x="62" y="219"/>
                  </a:lnTo>
                  <a:lnTo>
                    <a:pt x="13" y="212"/>
                  </a:lnTo>
                  <a:lnTo>
                    <a:pt x="8" y="212"/>
                  </a:lnTo>
                  <a:lnTo>
                    <a:pt x="1" y="209"/>
                  </a:lnTo>
                  <a:lnTo>
                    <a:pt x="0" y="204"/>
                  </a:lnTo>
                  <a:lnTo>
                    <a:pt x="0" y="193"/>
                  </a:lnTo>
                  <a:lnTo>
                    <a:pt x="1" y="162"/>
                  </a:lnTo>
                  <a:lnTo>
                    <a:pt x="4" y="90"/>
                  </a:lnTo>
                  <a:lnTo>
                    <a:pt x="12" y="16"/>
                  </a:lnTo>
                  <a:lnTo>
                    <a:pt x="13" y="14"/>
                  </a:lnTo>
                  <a:lnTo>
                    <a:pt x="18" y="7"/>
                  </a:lnTo>
                  <a:lnTo>
                    <a:pt x="24" y="3"/>
                  </a:lnTo>
                  <a:lnTo>
                    <a:pt x="52" y="3"/>
                  </a:lnTo>
                  <a:lnTo>
                    <a:pt x="92" y="0"/>
                  </a:lnTo>
                  <a:lnTo>
                    <a:pt x="154" y="0"/>
                  </a:lnTo>
                  <a:lnTo>
                    <a:pt x="201" y="1"/>
                  </a:lnTo>
                  <a:lnTo>
                    <a:pt x="210" y="1"/>
                  </a:lnTo>
                  <a:lnTo>
                    <a:pt x="213" y="3"/>
                  </a:lnTo>
                  <a:lnTo>
                    <a:pt x="216" y="6"/>
                  </a:lnTo>
                  <a:lnTo>
                    <a:pt x="211" y="195"/>
                  </a:lnTo>
                  <a:close/>
                </a:path>
              </a:pathLst>
            </a:custGeom>
            <a:solidFill>
              <a:srgbClr val="0000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0413" name="Line 253"/>
            <p:cNvSpPr>
              <a:spLocks noChangeShapeType="1"/>
            </p:cNvSpPr>
            <p:nvPr/>
          </p:nvSpPr>
          <p:spPr bwMode="auto">
            <a:xfrm flipH="1">
              <a:off x="3110" y="3029"/>
              <a:ext cx="7" cy="19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414" name="Freeform 254"/>
            <p:cNvSpPr>
              <a:spLocks/>
            </p:cNvSpPr>
            <p:nvPr/>
          </p:nvSpPr>
          <p:spPr bwMode="auto">
            <a:xfrm>
              <a:off x="2367" y="3471"/>
              <a:ext cx="117" cy="352"/>
            </a:xfrm>
            <a:custGeom>
              <a:avLst/>
              <a:gdLst>
                <a:gd name="T0" fmla="*/ 0 w 117"/>
                <a:gd name="T1" fmla="*/ 0 h 352"/>
                <a:gd name="T2" fmla="*/ 7 w 117"/>
                <a:gd name="T3" fmla="*/ 64 h 352"/>
                <a:gd name="T4" fmla="*/ 15 w 117"/>
                <a:gd name="T5" fmla="*/ 126 h 352"/>
                <a:gd name="T6" fmla="*/ 31 w 117"/>
                <a:gd name="T7" fmla="*/ 188 h 352"/>
                <a:gd name="T8" fmla="*/ 48 w 117"/>
                <a:gd name="T9" fmla="*/ 248 h 352"/>
                <a:gd name="T10" fmla="*/ 68 w 117"/>
                <a:gd name="T11" fmla="*/ 297 h 352"/>
                <a:gd name="T12" fmla="*/ 88 w 117"/>
                <a:gd name="T13" fmla="*/ 333 h 352"/>
                <a:gd name="T14" fmla="*/ 98 w 117"/>
                <a:gd name="T15" fmla="*/ 344 h 352"/>
                <a:gd name="T16" fmla="*/ 117 w 117"/>
                <a:gd name="T17" fmla="*/ 352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7" h="352">
                  <a:moveTo>
                    <a:pt x="0" y="0"/>
                  </a:moveTo>
                  <a:lnTo>
                    <a:pt x="7" y="64"/>
                  </a:lnTo>
                  <a:lnTo>
                    <a:pt x="15" y="126"/>
                  </a:lnTo>
                  <a:lnTo>
                    <a:pt x="31" y="188"/>
                  </a:lnTo>
                  <a:lnTo>
                    <a:pt x="48" y="248"/>
                  </a:lnTo>
                  <a:lnTo>
                    <a:pt x="68" y="297"/>
                  </a:lnTo>
                  <a:lnTo>
                    <a:pt x="88" y="333"/>
                  </a:lnTo>
                  <a:lnTo>
                    <a:pt x="98" y="344"/>
                  </a:lnTo>
                  <a:lnTo>
                    <a:pt x="117" y="352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415" name="Line 255"/>
            <p:cNvSpPr>
              <a:spLocks noChangeShapeType="1"/>
            </p:cNvSpPr>
            <p:nvPr/>
          </p:nvSpPr>
          <p:spPr bwMode="auto">
            <a:xfrm>
              <a:off x="2611" y="3640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416" name="Line 256"/>
            <p:cNvSpPr>
              <a:spLocks noChangeShapeType="1"/>
            </p:cNvSpPr>
            <p:nvPr/>
          </p:nvSpPr>
          <p:spPr bwMode="auto">
            <a:xfrm flipH="1">
              <a:off x="2597" y="3631"/>
              <a:ext cx="5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417" name="Freeform 257"/>
            <p:cNvSpPr>
              <a:spLocks/>
            </p:cNvSpPr>
            <p:nvPr/>
          </p:nvSpPr>
          <p:spPr bwMode="auto">
            <a:xfrm>
              <a:off x="2438" y="3206"/>
              <a:ext cx="71" cy="33"/>
            </a:xfrm>
            <a:custGeom>
              <a:avLst/>
              <a:gdLst>
                <a:gd name="T0" fmla="*/ 71 w 71"/>
                <a:gd name="T1" fmla="*/ 33 h 33"/>
                <a:gd name="T2" fmla="*/ 62 w 71"/>
                <a:gd name="T3" fmla="*/ 27 h 33"/>
                <a:gd name="T4" fmla="*/ 52 w 71"/>
                <a:gd name="T5" fmla="*/ 20 h 33"/>
                <a:gd name="T6" fmla="*/ 43 w 71"/>
                <a:gd name="T7" fmla="*/ 15 h 33"/>
                <a:gd name="T8" fmla="*/ 32 w 71"/>
                <a:gd name="T9" fmla="*/ 12 h 33"/>
                <a:gd name="T10" fmla="*/ 22 w 71"/>
                <a:gd name="T11" fmla="*/ 7 h 33"/>
                <a:gd name="T12" fmla="*/ 12 w 71"/>
                <a:gd name="T13" fmla="*/ 4 h 33"/>
                <a:gd name="T14" fmla="*/ 0 w 71"/>
                <a:gd name="T1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1" h="33">
                  <a:moveTo>
                    <a:pt x="71" y="33"/>
                  </a:moveTo>
                  <a:lnTo>
                    <a:pt x="62" y="27"/>
                  </a:lnTo>
                  <a:lnTo>
                    <a:pt x="52" y="20"/>
                  </a:lnTo>
                  <a:lnTo>
                    <a:pt x="43" y="15"/>
                  </a:lnTo>
                  <a:lnTo>
                    <a:pt x="32" y="12"/>
                  </a:lnTo>
                  <a:lnTo>
                    <a:pt x="22" y="7"/>
                  </a:lnTo>
                  <a:lnTo>
                    <a:pt x="12" y="4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220582" name="Group 422"/>
          <p:cNvGrpSpPr>
            <a:grpSpLocks/>
          </p:cNvGrpSpPr>
          <p:nvPr/>
        </p:nvGrpSpPr>
        <p:grpSpPr bwMode="auto">
          <a:xfrm>
            <a:off x="6745289" y="5116513"/>
            <a:ext cx="598487" cy="171450"/>
            <a:chOff x="1188" y="1866"/>
            <a:chExt cx="798" cy="210"/>
          </a:xfrm>
        </p:grpSpPr>
        <p:sp>
          <p:nvSpPr>
            <p:cNvPr id="220583" name="AutoShape 423"/>
            <p:cNvSpPr>
              <a:spLocks noChangeArrowheads="1"/>
            </p:cNvSpPr>
            <p:nvPr/>
          </p:nvSpPr>
          <p:spPr bwMode="auto">
            <a:xfrm>
              <a:off x="1188" y="1866"/>
              <a:ext cx="798" cy="186"/>
            </a:xfrm>
            <a:prstGeom prst="roundRect">
              <a:avLst>
                <a:gd name="adj" fmla="val 16667"/>
              </a:avLst>
            </a:prstGeom>
            <a:solidFill>
              <a:srgbClr val="FFCC00"/>
            </a:solidFill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20584" name="Oval 424"/>
            <p:cNvSpPr>
              <a:spLocks noChangeArrowheads="1"/>
            </p:cNvSpPr>
            <p:nvPr/>
          </p:nvSpPr>
          <p:spPr bwMode="auto">
            <a:xfrm>
              <a:off x="1250" y="1925"/>
              <a:ext cx="68" cy="68"/>
            </a:xfrm>
            <a:prstGeom prst="ellipse">
              <a:avLst/>
            </a:prstGeom>
            <a:solidFill>
              <a:srgbClr val="00FF00"/>
            </a:solidFill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20585" name="Oval 425"/>
            <p:cNvSpPr>
              <a:spLocks noChangeArrowheads="1"/>
            </p:cNvSpPr>
            <p:nvPr/>
          </p:nvSpPr>
          <p:spPr bwMode="auto">
            <a:xfrm>
              <a:off x="1346" y="1925"/>
              <a:ext cx="68" cy="68"/>
            </a:xfrm>
            <a:prstGeom prst="ellipse">
              <a:avLst/>
            </a:prstGeom>
            <a:solidFill>
              <a:srgbClr val="808080"/>
            </a:solidFill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20586" name="Oval 426"/>
            <p:cNvSpPr>
              <a:spLocks noChangeArrowheads="1"/>
            </p:cNvSpPr>
            <p:nvPr/>
          </p:nvSpPr>
          <p:spPr bwMode="auto">
            <a:xfrm>
              <a:off x="1446" y="1925"/>
              <a:ext cx="68" cy="68"/>
            </a:xfrm>
            <a:prstGeom prst="ellipse">
              <a:avLst/>
            </a:prstGeom>
            <a:solidFill>
              <a:srgbClr val="00FF00"/>
            </a:solidFill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20587" name="Rectangle 427"/>
            <p:cNvSpPr>
              <a:spLocks noChangeArrowheads="1"/>
            </p:cNvSpPr>
            <p:nvPr/>
          </p:nvSpPr>
          <p:spPr bwMode="auto">
            <a:xfrm>
              <a:off x="1282" y="2049"/>
              <a:ext cx="48" cy="27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20588" name="Rectangle 428"/>
            <p:cNvSpPr>
              <a:spLocks noChangeArrowheads="1"/>
            </p:cNvSpPr>
            <p:nvPr/>
          </p:nvSpPr>
          <p:spPr bwMode="auto">
            <a:xfrm>
              <a:off x="1862" y="2047"/>
              <a:ext cx="48" cy="27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</p:grpSp>
      <p:grpSp>
        <p:nvGrpSpPr>
          <p:cNvPr id="220603" name="Group 443"/>
          <p:cNvGrpSpPr>
            <a:grpSpLocks/>
          </p:cNvGrpSpPr>
          <p:nvPr/>
        </p:nvGrpSpPr>
        <p:grpSpPr bwMode="auto">
          <a:xfrm>
            <a:off x="2422525" y="2249488"/>
            <a:ext cx="598488" cy="171450"/>
            <a:chOff x="1188" y="1866"/>
            <a:chExt cx="798" cy="210"/>
          </a:xfrm>
        </p:grpSpPr>
        <p:sp>
          <p:nvSpPr>
            <p:cNvPr id="220604" name="AutoShape 444"/>
            <p:cNvSpPr>
              <a:spLocks noChangeArrowheads="1"/>
            </p:cNvSpPr>
            <p:nvPr/>
          </p:nvSpPr>
          <p:spPr bwMode="auto">
            <a:xfrm>
              <a:off x="1188" y="1866"/>
              <a:ext cx="798" cy="186"/>
            </a:xfrm>
            <a:prstGeom prst="roundRect">
              <a:avLst>
                <a:gd name="adj" fmla="val 16667"/>
              </a:avLst>
            </a:prstGeom>
            <a:solidFill>
              <a:srgbClr val="EAEAEA"/>
            </a:solidFill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20605" name="Oval 445"/>
            <p:cNvSpPr>
              <a:spLocks noChangeArrowheads="1"/>
            </p:cNvSpPr>
            <p:nvPr/>
          </p:nvSpPr>
          <p:spPr bwMode="auto">
            <a:xfrm>
              <a:off x="1250" y="1925"/>
              <a:ext cx="68" cy="68"/>
            </a:xfrm>
            <a:prstGeom prst="ellipse">
              <a:avLst/>
            </a:prstGeom>
            <a:solidFill>
              <a:srgbClr val="00FF00"/>
            </a:solidFill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20606" name="Oval 446"/>
            <p:cNvSpPr>
              <a:spLocks noChangeArrowheads="1"/>
            </p:cNvSpPr>
            <p:nvPr/>
          </p:nvSpPr>
          <p:spPr bwMode="auto">
            <a:xfrm>
              <a:off x="1346" y="1925"/>
              <a:ext cx="68" cy="68"/>
            </a:xfrm>
            <a:prstGeom prst="ellipse">
              <a:avLst/>
            </a:prstGeom>
            <a:solidFill>
              <a:srgbClr val="808080"/>
            </a:solidFill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20607" name="Oval 447"/>
            <p:cNvSpPr>
              <a:spLocks noChangeArrowheads="1"/>
            </p:cNvSpPr>
            <p:nvPr/>
          </p:nvSpPr>
          <p:spPr bwMode="auto">
            <a:xfrm>
              <a:off x="1446" y="1925"/>
              <a:ext cx="68" cy="68"/>
            </a:xfrm>
            <a:prstGeom prst="ellipse">
              <a:avLst/>
            </a:prstGeom>
            <a:solidFill>
              <a:srgbClr val="00FF00"/>
            </a:solidFill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20608" name="Rectangle 448"/>
            <p:cNvSpPr>
              <a:spLocks noChangeArrowheads="1"/>
            </p:cNvSpPr>
            <p:nvPr/>
          </p:nvSpPr>
          <p:spPr bwMode="auto">
            <a:xfrm>
              <a:off x="1282" y="2049"/>
              <a:ext cx="48" cy="27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20609" name="Rectangle 449"/>
            <p:cNvSpPr>
              <a:spLocks noChangeArrowheads="1"/>
            </p:cNvSpPr>
            <p:nvPr/>
          </p:nvSpPr>
          <p:spPr bwMode="auto">
            <a:xfrm>
              <a:off x="1862" y="2047"/>
              <a:ext cx="48" cy="27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</p:grpSp>
      <p:sp>
        <p:nvSpPr>
          <p:cNvPr id="220610" name="Rectangle 450"/>
          <p:cNvSpPr>
            <a:spLocks noChangeArrowheads="1"/>
          </p:cNvSpPr>
          <p:nvPr/>
        </p:nvSpPr>
        <p:spPr bwMode="auto">
          <a:xfrm>
            <a:off x="2351089" y="3146425"/>
            <a:ext cx="5172075" cy="106045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ru-RU" altLang="ru-RU" sz="2000" b="1"/>
              <a:t>    телефонная станция</a:t>
            </a:r>
          </a:p>
        </p:txBody>
      </p:sp>
      <p:sp>
        <p:nvSpPr>
          <p:cNvPr id="220617" name="Rectangle 457"/>
          <p:cNvSpPr>
            <a:spLocks noChangeArrowheads="1"/>
          </p:cNvSpPr>
          <p:nvPr/>
        </p:nvSpPr>
        <p:spPr bwMode="auto">
          <a:xfrm>
            <a:off x="2287588" y="1889125"/>
            <a:ext cx="9041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/>
              <a:t>модем </a:t>
            </a:r>
          </a:p>
        </p:txBody>
      </p:sp>
      <p:sp>
        <p:nvSpPr>
          <p:cNvPr id="220590" name="Rectangle 430"/>
          <p:cNvSpPr>
            <a:spLocks noChangeArrowheads="1"/>
          </p:cNvSpPr>
          <p:nvPr/>
        </p:nvSpPr>
        <p:spPr bwMode="auto">
          <a:xfrm>
            <a:off x="3871913" y="3144838"/>
            <a:ext cx="14539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ru-RU"/>
              <a:t>ADSL-</a:t>
            </a:r>
            <a:r>
              <a:rPr lang="ru-RU" altLang="ru-RU"/>
              <a:t>модем </a:t>
            </a:r>
          </a:p>
        </p:txBody>
      </p:sp>
      <p:sp>
        <p:nvSpPr>
          <p:cNvPr id="220625" name="Freeform 465"/>
          <p:cNvSpPr>
            <a:spLocks/>
          </p:cNvSpPr>
          <p:nvPr/>
        </p:nvSpPr>
        <p:spPr bwMode="auto">
          <a:xfrm>
            <a:off x="5111751" y="2701926"/>
            <a:ext cx="473075" cy="576263"/>
          </a:xfrm>
          <a:custGeom>
            <a:avLst/>
            <a:gdLst>
              <a:gd name="T0" fmla="*/ 326 w 326"/>
              <a:gd name="T1" fmla="*/ 287 h 287"/>
              <a:gd name="T2" fmla="*/ 285 w 326"/>
              <a:gd name="T3" fmla="*/ 42 h 287"/>
              <a:gd name="T4" fmla="*/ 128 w 326"/>
              <a:gd name="T5" fmla="*/ 34 h 287"/>
              <a:gd name="T6" fmla="*/ 0 w 326"/>
              <a:gd name="T7" fmla="*/ 54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26" h="287">
                <a:moveTo>
                  <a:pt x="326" y="287"/>
                </a:moveTo>
                <a:cubicBezTo>
                  <a:pt x="319" y="247"/>
                  <a:pt x="318" y="84"/>
                  <a:pt x="285" y="42"/>
                </a:cubicBezTo>
                <a:cubicBezTo>
                  <a:pt x="252" y="0"/>
                  <a:pt x="175" y="32"/>
                  <a:pt x="128" y="34"/>
                </a:cubicBezTo>
                <a:cubicBezTo>
                  <a:pt x="81" y="36"/>
                  <a:pt x="27" y="50"/>
                  <a:pt x="0" y="54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grpSp>
        <p:nvGrpSpPr>
          <p:cNvPr id="220618" name="Group 458"/>
          <p:cNvGrpSpPr>
            <a:grpSpLocks/>
          </p:cNvGrpSpPr>
          <p:nvPr/>
        </p:nvGrpSpPr>
        <p:grpSpPr bwMode="auto">
          <a:xfrm>
            <a:off x="5424489" y="3287713"/>
            <a:ext cx="598487" cy="171450"/>
            <a:chOff x="1188" y="1866"/>
            <a:chExt cx="798" cy="210"/>
          </a:xfrm>
        </p:grpSpPr>
        <p:sp>
          <p:nvSpPr>
            <p:cNvPr id="220619" name="AutoShape 459"/>
            <p:cNvSpPr>
              <a:spLocks noChangeArrowheads="1"/>
            </p:cNvSpPr>
            <p:nvPr/>
          </p:nvSpPr>
          <p:spPr bwMode="auto">
            <a:xfrm>
              <a:off x="1188" y="1866"/>
              <a:ext cx="798" cy="186"/>
            </a:xfrm>
            <a:prstGeom prst="roundRect">
              <a:avLst>
                <a:gd name="adj" fmla="val 16667"/>
              </a:avLst>
            </a:prstGeom>
            <a:solidFill>
              <a:srgbClr val="FFCC00"/>
            </a:solidFill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20620" name="Oval 460"/>
            <p:cNvSpPr>
              <a:spLocks noChangeArrowheads="1"/>
            </p:cNvSpPr>
            <p:nvPr/>
          </p:nvSpPr>
          <p:spPr bwMode="auto">
            <a:xfrm>
              <a:off x="1250" y="1925"/>
              <a:ext cx="68" cy="68"/>
            </a:xfrm>
            <a:prstGeom prst="ellipse">
              <a:avLst/>
            </a:prstGeom>
            <a:solidFill>
              <a:srgbClr val="00FF00"/>
            </a:solidFill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20621" name="Oval 461"/>
            <p:cNvSpPr>
              <a:spLocks noChangeArrowheads="1"/>
            </p:cNvSpPr>
            <p:nvPr/>
          </p:nvSpPr>
          <p:spPr bwMode="auto">
            <a:xfrm>
              <a:off x="1346" y="1925"/>
              <a:ext cx="68" cy="68"/>
            </a:xfrm>
            <a:prstGeom prst="ellipse">
              <a:avLst/>
            </a:prstGeom>
            <a:solidFill>
              <a:srgbClr val="808080"/>
            </a:solidFill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20622" name="Oval 462"/>
            <p:cNvSpPr>
              <a:spLocks noChangeArrowheads="1"/>
            </p:cNvSpPr>
            <p:nvPr/>
          </p:nvSpPr>
          <p:spPr bwMode="auto">
            <a:xfrm>
              <a:off x="1446" y="1925"/>
              <a:ext cx="68" cy="68"/>
            </a:xfrm>
            <a:prstGeom prst="ellipse">
              <a:avLst/>
            </a:prstGeom>
            <a:solidFill>
              <a:srgbClr val="00FF00"/>
            </a:solidFill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20623" name="Rectangle 463"/>
            <p:cNvSpPr>
              <a:spLocks noChangeArrowheads="1"/>
            </p:cNvSpPr>
            <p:nvPr/>
          </p:nvSpPr>
          <p:spPr bwMode="auto">
            <a:xfrm>
              <a:off x="1282" y="2049"/>
              <a:ext cx="48" cy="27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20624" name="Rectangle 464"/>
            <p:cNvSpPr>
              <a:spLocks noChangeArrowheads="1"/>
            </p:cNvSpPr>
            <p:nvPr/>
          </p:nvSpPr>
          <p:spPr bwMode="auto">
            <a:xfrm>
              <a:off x="1862" y="2047"/>
              <a:ext cx="48" cy="27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</p:grpSp>
      <p:sp>
        <p:nvSpPr>
          <p:cNvPr id="220626" name="Freeform 466"/>
          <p:cNvSpPr>
            <a:spLocks/>
          </p:cNvSpPr>
          <p:nvPr/>
        </p:nvSpPr>
        <p:spPr bwMode="auto">
          <a:xfrm>
            <a:off x="2422525" y="3152776"/>
            <a:ext cx="1119188" cy="1038225"/>
          </a:xfrm>
          <a:custGeom>
            <a:avLst/>
            <a:gdLst>
              <a:gd name="T0" fmla="*/ 692 w 705"/>
              <a:gd name="T1" fmla="*/ 654 h 654"/>
              <a:gd name="T2" fmla="*/ 620 w 705"/>
              <a:gd name="T3" fmla="*/ 516 h 654"/>
              <a:gd name="T4" fmla="*/ 180 w 705"/>
              <a:gd name="T5" fmla="*/ 498 h 654"/>
              <a:gd name="T6" fmla="*/ 30 w 705"/>
              <a:gd name="T7" fmla="*/ 418 h 654"/>
              <a:gd name="T8" fmla="*/ 16 w 705"/>
              <a:gd name="T9" fmla="*/ 210 h 654"/>
              <a:gd name="T10" fmla="*/ 127 w 705"/>
              <a:gd name="T11" fmla="*/ 88 h 654"/>
              <a:gd name="T12" fmla="*/ 158 w 705"/>
              <a:gd name="T13" fmla="*/ 0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05" h="654">
                <a:moveTo>
                  <a:pt x="692" y="654"/>
                </a:moveTo>
                <a:cubicBezTo>
                  <a:pt x="680" y="631"/>
                  <a:pt x="705" y="542"/>
                  <a:pt x="620" y="516"/>
                </a:cubicBezTo>
                <a:cubicBezTo>
                  <a:pt x="535" y="490"/>
                  <a:pt x="278" y="514"/>
                  <a:pt x="180" y="498"/>
                </a:cubicBezTo>
                <a:cubicBezTo>
                  <a:pt x="82" y="482"/>
                  <a:pt x="57" y="466"/>
                  <a:pt x="30" y="418"/>
                </a:cubicBezTo>
                <a:cubicBezTo>
                  <a:pt x="3" y="370"/>
                  <a:pt x="0" y="265"/>
                  <a:pt x="16" y="210"/>
                </a:cubicBezTo>
                <a:cubicBezTo>
                  <a:pt x="32" y="155"/>
                  <a:pt x="103" y="123"/>
                  <a:pt x="127" y="88"/>
                </a:cubicBezTo>
                <a:cubicBezTo>
                  <a:pt x="151" y="53"/>
                  <a:pt x="152" y="18"/>
                  <a:pt x="158" y="0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ysDot"/>
            <a:round/>
            <a:headEnd type="none" w="med" len="med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20596" name="Line 436"/>
          <p:cNvSpPr>
            <a:spLocks noChangeShapeType="1"/>
          </p:cNvSpPr>
          <p:nvPr/>
        </p:nvSpPr>
        <p:spPr bwMode="auto">
          <a:xfrm flipV="1">
            <a:off x="5765800" y="3884613"/>
            <a:ext cx="0" cy="5889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20595" name="Rectangle 435"/>
          <p:cNvSpPr>
            <a:spLocks noChangeArrowheads="1"/>
          </p:cNvSpPr>
          <p:nvPr/>
        </p:nvSpPr>
        <p:spPr bwMode="auto">
          <a:xfrm>
            <a:off x="5534025" y="4403725"/>
            <a:ext cx="463550" cy="228600"/>
          </a:xfrm>
          <a:prstGeom prst="rect">
            <a:avLst/>
          </a:prstGeom>
          <a:solidFill>
            <a:srgbClr val="B2B2B2"/>
          </a:solidFill>
          <a:ln w="12700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20632" name="Freeform 472"/>
          <p:cNvSpPr>
            <a:spLocks/>
          </p:cNvSpPr>
          <p:nvPr/>
        </p:nvSpPr>
        <p:spPr bwMode="auto">
          <a:xfrm>
            <a:off x="6010276" y="4457701"/>
            <a:ext cx="1141413" cy="125413"/>
          </a:xfrm>
          <a:custGeom>
            <a:avLst/>
            <a:gdLst>
              <a:gd name="T0" fmla="*/ 719 w 719"/>
              <a:gd name="T1" fmla="*/ 79 h 79"/>
              <a:gd name="T2" fmla="*/ 507 w 719"/>
              <a:gd name="T3" fmla="*/ 31 h 79"/>
              <a:gd name="T4" fmla="*/ 386 w 719"/>
              <a:gd name="T5" fmla="*/ 6 h 79"/>
              <a:gd name="T6" fmla="*/ 0 w 719"/>
              <a:gd name="T7" fmla="*/ 0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19" h="79">
                <a:moveTo>
                  <a:pt x="719" y="79"/>
                </a:moveTo>
                <a:cubicBezTo>
                  <a:pt x="684" y="71"/>
                  <a:pt x="562" y="43"/>
                  <a:pt x="507" y="31"/>
                </a:cubicBezTo>
                <a:cubicBezTo>
                  <a:pt x="452" y="19"/>
                  <a:pt x="470" y="11"/>
                  <a:pt x="386" y="6"/>
                </a:cubicBezTo>
                <a:cubicBezTo>
                  <a:pt x="302" y="1"/>
                  <a:pt x="80" y="1"/>
                  <a:pt x="0" y="0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grpSp>
        <p:nvGrpSpPr>
          <p:cNvPr id="220560" name="Group 400"/>
          <p:cNvGrpSpPr>
            <a:grpSpLocks/>
          </p:cNvGrpSpPr>
          <p:nvPr/>
        </p:nvGrpSpPr>
        <p:grpSpPr bwMode="auto">
          <a:xfrm>
            <a:off x="7042151" y="4265614"/>
            <a:ext cx="576263" cy="422275"/>
            <a:chOff x="2255" y="1955"/>
            <a:chExt cx="507" cy="380"/>
          </a:xfrm>
        </p:grpSpPr>
        <p:sp>
          <p:nvSpPr>
            <p:cNvPr id="220561" name="Freeform 401"/>
            <p:cNvSpPr>
              <a:spLocks/>
            </p:cNvSpPr>
            <p:nvPr/>
          </p:nvSpPr>
          <p:spPr bwMode="auto">
            <a:xfrm>
              <a:off x="2255" y="1955"/>
              <a:ext cx="507" cy="138"/>
            </a:xfrm>
            <a:custGeom>
              <a:avLst/>
              <a:gdLst>
                <a:gd name="T0" fmla="*/ 246 w 507"/>
                <a:gd name="T1" fmla="*/ 0 h 138"/>
                <a:gd name="T2" fmla="*/ 175 w 507"/>
                <a:gd name="T3" fmla="*/ 3 h 138"/>
                <a:gd name="T4" fmla="*/ 146 w 507"/>
                <a:gd name="T5" fmla="*/ 5 h 138"/>
                <a:gd name="T6" fmla="*/ 115 w 507"/>
                <a:gd name="T7" fmla="*/ 9 h 138"/>
                <a:gd name="T8" fmla="*/ 96 w 507"/>
                <a:gd name="T9" fmla="*/ 13 h 138"/>
                <a:gd name="T10" fmla="*/ 77 w 507"/>
                <a:gd name="T11" fmla="*/ 15 h 138"/>
                <a:gd name="T12" fmla="*/ 56 w 507"/>
                <a:gd name="T13" fmla="*/ 21 h 138"/>
                <a:gd name="T14" fmla="*/ 42 w 507"/>
                <a:gd name="T15" fmla="*/ 25 h 138"/>
                <a:gd name="T16" fmla="*/ 35 w 507"/>
                <a:gd name="T17" fmla="*/ 32 h 138"/>
                <a:gd name="T18" fmla="*/ 29 w 507"/>
                <a:gd name="T19" fmla="*/ 36 h 138"/>
                <a:gd name="T20" fmla="*/ 25 w 507"/>
                <a:gd name="T21" fmla="*/ 42 h 138"/>
                <a:gd name="T22" fmla="*/ 0 w 507"/>
                <a:gd name="T23" fmla="*/ 105 h 138"/>
                <a:gd name="T24" fmla="*/ 0 w 507"/>
                <a:gd name="T25" fmla="*/ 107 h 138"/>
                <a:gd name="T26" fmla="*/ 2 w 507"/>
                <a:gd name="T27" fmla="*/ 111 h 138"/>
                <a:gd name="T28" fmla="*/ 12 w 507"/>
                <a:gd name="T29" fmla="*/ 130 h 138"/>
                <a:gd name="T30" fmla="*/ 16 w 507"/>
                <a:gd name="T31" fmla="*/ 134 h 138"/>
                <a:gd name="T32" fmla="*/ 19 w 507"/>
                <a:gd name="T33" fmla="*/ 134 h 138"/>
                <a:gd name="T34" fmla="*/ 121 w 507"/>
                <a:gd name="T35" fmla="*/ 107 h 138"/>
                <a:gd name="T36" fmla="*/ 127 w 507"/>
                <a:gd name="T37" fmla="*/ 101 h 138"/>
                <a:gd name="T38" fmla="*/ 127 w 507"/>
                <a:gd name="T39" fmla="*/ 71 h 138"/>
                <a:gd name="T40" fmla="*/ 135 w 507"/>
                <a:gd name="T41" fmla="*/ 67 h 138"/>
                <a:gd name="T42" fmla="*/ 150 w 507"/>
                <a:gd name="T43" fmla="*/ 63 h 138"/>
                <a:gd name="T44" fmla="*/ 161 w 507"/>
                <a:gd name="T45" fmla="*/ 61 h 138"/>
                <a:gd name="T46" fmla="*/ 183 w 507"/>
                <a:gd name="T47" fmla="*/ 57 h 138"/>
                <a:gd name="T48" fmla="*/ 204 w 507"/>
                <a:gd name="T49" fmla="*/ 55 h 138"/>
                <a:gd name="T50" fmla="*/ 229 w 507"/>
                <a:gd name="T51" fmla="*/ 53 h 138"/>
                <a:gd name="T52" fmla="*/ 254 w 507"/>
                <a:gd name="T53" fmla="*/ 53 h 138"/>
                <a:gd name="T54" fmla="*/ 277 w 507"/>
                <a:gd name="T55" fmla="*/ 55 h 138"/>
                <a:gd name="T56" fmla="*/ 302 w 507"/>
                <a:gd name="T57" fmla="*/ 57 h 138"/>
                <a:gd name="T58" fmla="*/ 325 w 507"/>
                <a:gd name="T59" fmla="*/ 59 h 138"/>
                <a:gd name="T60" fmla="*/ 350 w 507"/>
                <a:gd name="T61" fmla="*/ 63 h 138"/>
                <a:gd name="T62" fmla="*/ 363 w 507"/>
                <a:gd name="T63" fmla="*/ 67 h 138"/>
                <a:gd name="T64" fmla="*/ 373 w 507"/>
                <a:gd name="T65" fmla="*/ 71 h 138"/>
                <a:gd name="T66" fmla="*/ 380 w 507"/>
                <a:gd name="T67" fmla="*/ 73 h 138"/>
                <a:gd name="T68" fmla="*/ 382 w 507"/>
                <a:gd name="T69" fmla="*/ 103 h 138"/>
                <a:gd name="T70" fmla="*/ 382 w 507"/>
                <a:gd name="T71" fmla="*/ 107 h 138"/>
                <a:gd name="T72" fmla="*/ 386 w 507"/>
                <a:gd name="T73" fmla="*/ 107 h 138"/>
                <a:gd name="T74" fmla="*/ 488 w 507"/>
                <a:gd name="T75" fmla="*/ 138 h 138"/>
                <a:gd name="T76" fmla="*/ 490 w 507"/>
                <a:gd name="T77" fmla="*/ 136 h 138"/>
                <a:gd name="T78" fmla="*/ 494 w 507"/>
                <a:gd name="T79" fmla="*/ 134 h 138"/>
                <a:gd name="T80" fmla="*/ 497 w 507"/>
                <a:gd name="T81" fmla="*/ 126 h 138"/>
                <a:gd name="T82" fmla="*/ 507 w 507"/>
                <a:gd name="T83" fmla="*/ 107 h 138"/>
                <a:gd name="T84" fmla="*/ 494 w 507"/>
                <a:gd name="T85" fmla="*/ 73 h 138"/>
                <a:gd name="T86" fmla="*/ 476 w 507"/>
                <a:gd name="T87" fmla="*/ 38 h 138"/>
                <a:gd name="T88" fmla="*/ 472 w 507"/>
                <a:gd name="T89" fmla="*/ 32 h 138"/>
                <a:gd name="T90" fmla="*/ 467 w 507"/>
                <a:gd name="T91" fmla="*/ 28 h 138"/>
                <a:gd name="T92" fmla="*/ 457 w 507"/>
                <a:gd name="T93" fmla="*/ 23 h 138"/>
                <a:gd name="T94" fmla="*/ 446 w 507"/>
                <a:gd name="T95" fmla="*/ 21 h 138"/>
                <a:gd name="T96" fmla="*/ 428 w 507"/>
                <a:gd name="T97" fmla="*/ 17 h 138"/>
                <a:gd name="T98" fmla="*/ 411 w 507"/>
                <a:gd name="T99" fmla="*/ 13 h 138"/>
                <a:gd name="T100" fmla="*/ 378 w 507"/>
                <a:gd name="T101" fmla="*/ 9 h 138"/>
                <a:gd name="T102" fmla="*/ 344 w 507"/>
                <a:gd name="T103" fmla="*/ 5 h 138"/>
                <a:gd name="T104" fmla="*/ 311 w 507"/>
                <a:gd name="T105" fmla="*/ 3 h 138"/>
                <a:gd name="T106" fmla="*/ 279 w 507"/>
                <a:gd name="T107" fmla="*/ 2 h 138"/>
                <a:gd name="T108" fmla="*/ 246 w 507"/>
                <a:gd name="T109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07" h="138">
                  <a:moveTo>
                    <a:pt x="246" y="0"/>
                  </a:moveTo>
                  <a:lnTo>
                    <a:pt x="175" y="3"/>
                  </a:lnTo>
                  <a:lnTo>
                    <a:pt x="146" y="5"/>
                  </a:lnTo>
                  <a:lnTo>
                    <a:pt x="115" y="9"/>
                  </a:lnTo>
                  <a:lnTo>
                    <a:pt x="96" y="13"/>
                  </a:lnTo>
                  <a:lnTo>
                    <a:pt x="77" y="15"/>
                  </a:lnTo>
                  <a:lnTo>
                    <a:pt x="56" y="21"/>
                  </a:lnTo>
                  <a:lnTo>
                    <a:pt x="42" y="25"/>
                  </a:lnTo>
                  <a:lnTo>
                    <a:pt x="35" y="32"/>
                  </a:lnTo>
                  <a:lnTo>
                    <a:pt x="29" y="36"/>
                  </a:lnTo>
                  <a:lnTo>
                    <a:pt x="25" y="42"/>
                  </a:lnTo>
                  <a:lnTo>
                    <a:pt x="0" y="105"/>
                  </a:lnTo>
                  <a:lnTo>
                    <a:pt x="0" y="107"/>
                  </a:lnTo>
                  <a:lnTo>
                    <a:pt x="2" y="111"/>
                  </a:lnTo>
                  <a:lnTo>
                    <a:pt x="12" y="130"/>
                  </a:lnTo>
                  <a:lnTo>
                    <a:pt x="16" y="134"/>
                  </a:lnTo>
                  <a:lnTo>
                    <a:pt x="19" y="134"/>
                  </a:lnTo>
                  <a:lnTo>
                    <a:pt x="121" y="107"/>
                  </a:lnTo>
                  <a:lnTo>
                    <a:pt x="127" y="101"/>
                  </a:lnTo>
                  <a:lnTo>
                    <a:pt x="127" y="71"/>
                  </a:lnTo>
                  <a:lnTo>
                    <a:pt x="135" y="67"/>
                  </a:lnTo>
                  <a:lnTo>
                    <a:pt x="150" y="63"/>
                  </a:lnTo>
                  <a:lnTo>
                    <a:pt x="161" y="61"/>
                  </a:lnTo>
                  <a:lnTo>
                    <a:pt x="183" y="57"/>
                  </a:lnTo>
                  <a:lnTo>
                    <a:pt x="204" y="55"/>
                  </a:lnTo>
                  <a:lnTo>
                    <a:pt x="229" y="53"/>
                  </a:lnTo>
                  <a:lnTo>
                    <a:pt x="254" y="53"/>
                  </a:lnTo>
                  <a:lnTo>
                    <a:pt x="277" y="55"/>
                  </a:lnTo>
                  <a:lnTo>
                    <a:pt x="302" y="57"/>
                  </a:lnTo>
                  <a:lnTo>
                    <a:pt x="325" y="59"/>
                  </a:lnTo>
                  <a:lnTo>
                    <a:pt x="350" y="63"/>
                  </a:lnTo>
                  <a:lnTo>
                    <a:pt x="363" y="67"/>
                  </a:lnTo>
                  <a:lnTo>
                    <a:pt x="373" y="71"/>
                  </a:lnTo>
                  <a:lnTo>
                    <a:pt x="380" y="73"/>
                  </a:lnTo>
                  <a:lnTo>
                    <a:pt x="382" y="103"/>
                  </a:lnTo>
                  <a:lnTo>
                    <a:pt x="382" y="107"/>
                  </a:lnTo>
                  <a:lnTo>
                    <a:pt x="386" y="107"/>
                  </a:lnTo>
                  <a:lnTo>
                    <a:pt x="488" y="138"/>
                  </a:lnTo>
                  <a:lnTo>
                    <a:pt x="490" y="136"/>
                  </a:lnTo>
                  <a:lnTo>
                    <a:pt x="494" y="134"/>
                  </a:lnTo>
                  <a:lnTo>
                    <a:pt x="497" y="126"/>
                  </a:lnTo>
                  <a:lnTo>
                    <a:pt x="507" y="107"/>
                  </a:lnTo>
                  <a:lnTo>
                    <a:pt x="494" y="73"/>
                  </a:lnTo>
                  <a:lnTo>
                    <a:pt x="476" y="38"/>
                  </a:lnTo>
                  <a:lnTo>
                    <a:pt x="472" y="32"/>
                  </a:lnTo>
                  <a:lnTo>
                    <a:pt x="467" y="28"/>
                  </a:lnTo>
                  <a:lnTo>
                    <a:pt x="457" y="23"/>
                  </a:lnTo>
                  <a:lnTo>
                    <a:pt x="446" y="21"/>
                  </a:lnTo>
                  <a:lnTo>
                    <a:pt x="428" y="17"/>
                  </a:lnTo>
                  <a:lnTo>
                    <a:pt x="411" y="13"/>
                  </a:lnTo>
                  <a:lnTo>
                    <a:pt x="378" y="9"/>
                  </a:lnTo>
                  <a:lnTo>
                    <a:pt x="344" y="5"/>
                  </a:lnTo>
                  <a:lnTo>
                    <a:pt x="311" y="3"/>
                  </a:lnTo>
                  <a:lnTo>
                    <a:pt x="279" y="2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B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562" name="Rectangle 402"/>
            <p:cNvSpPr>
              <a:spLocks noChangeArrowheads="1"/>
            </p:cNvSpPr>
            <p:nvPr/>
          </p:nvSpPr>
          <p:spPr bwMode="auto">
            <a:xfrm>
              <a:off x="2445" y="2118"/>
              <a:ext cx="33" cy="21"/>
            </a:xfrm>
            <a:prstGeom prst="rect">
              <a:avLst/>
            </a:prstGeom>
            <a:solidFill>
              <a:srgbClr val="B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563" name="Rectangle 403"/>
            <p:cNvSpPr>
              <a:spLocks noChangeArrowheads="1"/>
            </p:cNvSpPr>
            <p:nvPr/>
          </p:nvSpPr>
          <p:spPr bwMode="auto">
            <a:xfrm>
              <a:off x="2493" y="2118"/>
              <a:ext cx="33" cy="21"/>
            </a:xfrm>
            <a:prstGeom prst="rect">
              <a:avLst/>
            </a:prstGeom>
            <a:solidFill>
              <a:srgbClr val="B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564" name="Rectangle 404"/>
            <p:cNvSpPr>
              <a:spLocks noChangeArrowheads="1"/>
            </p:cNvSpPr>
            <p:nvPr/>
          </p:nvSpPr>
          <p:spPr bwMode="auto">
            <a:xfrm>
              <a:off x="2541" y="2118"/>
              <a:ext cx="33" cy="21"/>
            </a:xfrm>
            <a:prstGeom prst="rect">
              <a:avLst/>
            </a:prstGeom>
            <a:solidFill>
              <a:srgbClr val="B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565" name="Rectangle 405"/>
            <p:cNvSpPr>
              <a:spLocks noChangeArrowheads="1"/>
            </p:cNvSpPr>
            <p:nvPr/>
          </p:nvSpPr>
          <p:spPr bwMode="auto">
            <a:xfrm>
              <a:off x="2445" y="2156"/>
              <a:ext cx="33" cy="19"/>
            </a:xfrm>
            <a:prstGeom prst="rect">
              <a:avLst/>
            </a:prstGeom>
            <a:solidFill>
              <a:srgbClr val="B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566" name="Rectangle 406"/>
            <p:cNvSpPr>
              <a:spLocks noChangeArrowheads="1"/>
            </p:cNvSpPr>
            <p:nvPr/>
          </p:nvSpPr>
          <p:spPr bwMode="auto">
            <a:xfrm>
              <a:off x="2493" y="2156"/>
              <a:ext cx="33" cy="19"/>
            </a:xfrm>
            <a:prstGeom prst="rect">
              <a:avLst/>
            </a:prstGeom>
            <a:solidFill>
              <a:srgbClr val="B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567" name="Rectangle 407"/>
            <p:cNvSpPr>
              <a:spLocks noChangeArrowheads="1"/>
            </p:cNvSpPr>
            <p:nvPr/>
          </p:nvSpPr>
          <p:spPr bwMode="auto">
            <a:xfrm>
              <a:off x="2541" y="2156"/>
              <a:ext cx="33" cy="19"/>
            </a:xfrm>
            <a:prstGeom prst="rect">
              <a:avLst/>
            </a:prstGeom>
            <a:solidFill>
              <a:srgbClr val="B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568" name="Rectangle 408"/>
            <p:cNvSpPr>
              <a:spLocks noChangeArrowheads="1"/>
            </p:cNvSpPr>
            <p:nvPr/>
          </p:nvSpPr>
          <p:spPr bwMode="auto">
            <a:xfrm>
              <a:off x="2445" y="2191"/>
              <a:ext cx="33" cy="23"/>
            </a:xfrm>
            <a:prstGeom prst="rect">
              <a:avLst/>
            </a:prstGeom>
            <a:solidFill>
              <a:srgbClr val="B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569" name="Rectangle 409"/>
            <p:cNvSpPr>
              <a:spLocks noChangeArrowheads="1"/>
            </p:cNvSpPr>
            <p:nvPr/>
          </p:nvSpPr>
          <p:spPr bwMode="auto">
            <a:xfrm>
              <a:off x="2493" y="2191"/>
              <a:ext cx="33" cy="23"/>
            </a:xfrm>
            <a:prstGeom prst="rect">
              <a:avLst/>
            </a:prstGeom>
            <a:solidFill>
              <a:srgbClr val="B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570" name="Rectangle 410"/>
            <p:cNvSpPr>
              <a:spLocks noChangeArrowheads="1"/>
            </p:cNvSpPr>
            <p:nvPr/>
          </p:nvSpPr>
          <p:spPr bwMode="auto">
            <a:xfrm>
              <a:off x="2541" y="2191"/>
              <a:ext cx="33" cy="23"/>
            </a:xfrm>
            <a:prstGeom prst="rect">
              <a:avLst/>
            </a:prstGeom>
            <a:solidFill>
              <a:srgbClr val="B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571" name="Freeform 411"/>
            <p:cNvSpPr>
              <a:spLocks/>
            </p:cNvSpPr>
            <p:nvPr/>
          </p:nvSpPr>
          <p:spPr bwMode="auto">
            <a:xfrm>
              <a:off x="2319" y="2035"/>
              <a:ext cx="380" cy="300"/>
            </a:xfrm>
            <a:custGeom>
              <a:avLst/>
              <a:gdLst>
                <a:gd name="T0" fmla="*/ 32 w 380"/>
                <a:gd name="T1" fmla="*/ 192 h 300"/>
                <a:gd name="T2" fmla="*/ 28 w 380"/>
                <a:gd name="T3" fmla="*/ 190 h 300"/>
                <a:gd name="T4" fmla="*/ 25 w 380"/>
                <a:gd name="T5" fmla="*/ 188 h 300"/>
                <a:gd name="T6" fmla="*/ 25 w 380"/>
                <a:gd name="T7" fmla="*/ 181 h 300"/>
                <a:gd name="T8" fmla="*/ 53 w 380"/>
                <a:gd name="T9" fmla="*/ 75 h 300"/>
                <a:gd name="T10" fmla="*/ 53 w 380"/>
                <a:gd name="T11" fmla="*/ 73 h 300"/>
                <a:gd name="T12" fmla="*/ 57 w 380"/>
                <a:gd name="T13" fmla="*/ 69 h 300"/>
                <a:gd name="T14" fmla="*/ 318 w 380"/>
                <a:gd name="T15" fmla="*/ 69 h 300"/>
                <a:gd name="T16" fmla="*/ 322 w 380"/>
                <a:gd name="T17" fmla="*/ 71 h 300"/>
                <a:gd name="T18" fmla="*/ 324 w 380"/>
                <a:gd name="T19" fmla="*/ 73 h 300"/>
                <a:gd name="T20" fmla="*/ 324 w 380"/>
                <a:gd name="T21" fmla="*/ 75 h 300"/>
                <a:gd name="T22" fmla="*/ 334 w 380"/>
                <a:gd name="T23" fmla="*/ 108 h 300"/>
                <a:gd name="T24" fmla="*/ 353 w 380"/>
                <a:gd name="T25" fmla="*/ 184 h 300"/>
                <a:gd name="T26" fmla="*/ 353 w 380"/>
                <a:gd name="T27" fmla="*/ 188 h 300"/>
                <a:gd name="T28" fmla="*/ 351 w 380"/>
                <a:gd name="T29" fmla="*/ 190 h 300"/>
                <a:gd name="T30" fmla="*/ 347 w 380"/>
                <a:gd name="T31" fmla="*/ 192 h 300"/>
                <a:gd name="T32" fmla="*/ 32 w 380"/>
                <a:gd name="T33" fmla="*/ 192 h 300"/>
                <a:gd name="T34" fmla="*/ 23 w 380"/>
                <a:gd name="T35" fmla="*/ 286 h 300"/>
                <a:gd name="T36" fmla="*/ 23 w 380"/>
                <a:gd name="T37" fmla="*/ 300 h 300"/>
                <a:gd name="T38" fmla="*/ 69 w 380"/>
                <a:gd name="T39" fmla="*/ 300 h 300"/>
                <a:gd name="T40" fmla="*/ 69 w 380"/>
                <a:gd name="T41" fmla="*/ 286 h 300"/>
                <a:gd name="T42" fmla="*/ 309 w 380"/>
                <a:gd name="T43" fmla="*/ 286 h 300"/>
                <a:gd name="T44" fmla="*/ 309 w 380"/>
                <a:gd name="T45" fmla="*/ 300 h 300"/>
                <a:gd name="T46" fmla="*/ 355 w 380"/>
                <a:gd name="T47" fmla="*/ 300 h 300"/>
                <a:gd name="T48" fmla="*/ 355 w 380"/>
                <a:gd name="T49" fmla="*/ 286 h 300"/>
                <a:gd name="T50" fmla="*/ 380 w 380"/>
                <a:gd name="T51" fmla="*/ 286 h 300"/>
                <a:gd name="T52" fmla="*/ 380 w 380"/>
                <a:gd name="T53" fmla="*/ 190 h 300"/>
                <a:gd name="T54" fmla="*/ 345 w 380"/>
                <a:gd name="T55" fmla="*/ 62 h 300"/>
                <a:gd name="T56" fmla="*/ 343 w 380"/>
                <a:gd name="T57" fmla="*/ 56 h 300"/>
                <a:gd name="T58" fmla="*/ 339 w 380"/>
                <a:gd name="T59" fmla="*/ 50 h 300"/>
                <a:gd name="T60" fmla="*/ 335 w 380"/>
                <a:gd name="T61" fmla="*/ 48 h 300"/>
                <a:gd name="T62" fmla="*/ 332 w 380"/>
                <a:gd name="T63" fmla="*/ 46 h 300"/>
                <a:gd name="T64" fmla="*/ 324 w 380"/>
                <a:gd name="T65" fmla="*/ 44 h 300"/>
                <a:gd name="T66" fmla="*/ 293 w 380"/>
                <a:gd name="T67" fmla="*/ 44 h 300"/>
                <a:gd name="T68" fmla="*/ 293 w 380"/>
                <a:gd name="T69" fmla="*/ 0 h 300"/>
                <a:gd name="T70" fmla="*/ 255 w 380"/>
                <a:gd name="T71" fmla="*/ 0 h 300"/>
                <a:gd name="T72" fmla="*/ 255 w 380"/>
                <a:gd name="T73" fmla="*/ 44 h 300"/>
                <a:gd name="T74" fmla="*/ 126 w 380"/>
                <a:gd name="T75" fmla="*/ 44 h 300"/>
                <a:gd name="T76" fmla="*/ 126 w 380"/>
                <a:gd name="T77" fmla="*/ 0 h 300"/>
                <a:gd name="T78" fmla="*/ 84 w 380"/>
                <a:gd name="T79" fmla="*/ 0 h 300"/>
                <a:gd name="T80" fmla="*/ 84 w 380"/>
                <a:gd name="T81" fmla="*/ 44 h 300"/>
                <a:gd name="T82" fmla="*/ 51 w 380"/>
                <a:gd name="T83" fmla="*/ 44 h 300"/>
                <a:gd name="T84" fmla="*/ 44 w 380"/>
                <a:gd name="T85" fmla="*/ 46 h 300"/>
                <a:gd name="T86" fmla="*/ 34 w 380"/>
                <a:gd name="T87" fmla="*/ 56 h 300"/>
                <a:gd name="T88" fmla="*/ 32 w 380"/>
                <a:gd name="T89" fmla="*/ 60 h 300"/>
                <a:gd name="T90" fmla="*/ 0 w 380"/>
                <a:gd name="T91" fmla="*/ 194 h 300"/>
                <a:gd name="T92" fmla="*/ 0 w 380"/>
                <a:gd name="T93" fmla="*/ 286 h 300"/>
                <a:gd name="T94" fmla="*/ 23 w 380"/>
                <a:gd name="T95" fmla="*/ 286 h 300"/>
                <a:gd name="T96" fmla="*/ 32 w 380"/>
                <a:gd name="T97" fmla="*/ 192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0" h="300">
                  <a:moveTo>
                    <a:pt x="32" y="192"/>
                  </a:moveTo>
                  <a:lnTo>
                    <a:pt x="28" y="190"/>
                  </a:lnTo>
                  <a:lnTo>
                    <a:pt x="25" y="188"/>
                  </a:lnTo>
                  <a:lnTo>
                    <a:pt x="25" y="181"/>
                  </a:lnTo>
                  <a:lnTo>
                    <a:pt x="53" y="75"/>
                  </a:lnTo>
                  <a:lnTo>
                    <a:pt x="53" y="73"/>
                  </a:lnTo>
                  <a:lnTo>
                    <a:pt x="57" y="69"/>
                  </a:lnTo>
                  <a:lnTo>
                    <a:pt x="318" y="69"/>
                  </a:lnTo>
                  <a:lnTo>
                    <a:pt x="322" y="71"/>
                  </a:lnTo>
                  <a:lnTo>
                    <a:pt x="324" y="73"/>
                  </a:lnTo>
                  <a:lnTo>
                    <a:pt x="324" y="75"/>
                  </a:lnTo>
                  <a:lnTo>
                    <a:pt x="334" y="108"/>
                  </a:lnTo>
                  <a:lnTo>
                    <a:pt x="353" y="184"/>
                  </a:lnTo>
                  <a:lnTo>
                    <a:pt x="353" y="188"/>
                  </a:lnTo>
                  <a:lnTo>
                    <a:pt x="351" y="190"/>
                  </a:lnTo>
                  <a:lnTo>
                    <a:pt x="347" y="192"/>
                  </a:lnTo>
                  <a:lnTo>
                    <a:pt x="32" y="192"/>
                  </a:lnTo>
                  <a:lnTo>
                    <a:pt x="23" y="286"/>
                  </a:lnTo>
                  <a:lnTo>
                    <a:pt x="23" y="300"/>
                  </a:lnTo>
                  <a:lnTo>
                    <a:pt x="69" y="300"/>
                  </a:lnTo>
                  <a:lnTo>
                    <a:pt x="69" y="286"/>
                  </a:lnTo>
                  <a:lnTo>
                    <a:pt x="309" y="286"/>
                  </a:lnTo>
                  <a:lnTo>
                    <a:pt x="309" y="300"/>
                  </a:lnTo>
                  <a:lnTo>
                    <a:pt x="355" y="300"/>
                  </a:lnTo>
                  <a:lnTo>
                    <a:pt x="355" y="286"/>
                  </a:lnTo>
                  <a:lnTo>
                    <a:pt x="380" y="286"/>
                  </a:lnTo>
                  <a:lnTo>
                    <a:pt x="380" y="190"/>
                  </a:lnTo>
                  <a:lnTo>
                    <a:pt x="345" y="62"/>
                  </a:lnTo>
                  <a:lnTo>
                    <a:pt x="343" y="56"/>
                  </a:lnTo>
                  <a:lnTo>
                    <a:pt x="339" y="50"/>
                  </a:lnTo>
                  <a:lnTo>
                    <a:pt x="335" y="48"/>
                  </a:lnTo>
                  <a:lnTo>
                    <a:pt x="332" y="46"/>
                  </a:lnTo>
                  <a:lnTo>
                    <a:pt x="324" y="44"/>
                  </a:lnTo>
                  <a:lnTo>
                    <a:pt x="293" y="44"/>
                  </a:lnTo>
                  <a:lnTo>
                    <a:pt x="293" y="0"/>
                  </a:lnTo>
                  <a:lnTo>
                    <a:pt x="255" y="0"/>
                  </a:lnTo>
                  <a:lnTo>
                    <a:pt x="255" y="44"/>
                  </a:lnTo>
                  <a:lnTo>
                    <a:pt x="126" y="44"/>
                  </a:lnTo>
                  <a:lnTo>
                    <a:pt x="126" y="0"/>
                  </a:lnTo>
                  <a:lnTo>
                    <a:pt x="84" y="0"/>
                  </a:lnTo>
                  <a:lnTo>
                    <a:pt x="84" y="44"/>
                  </a:lnTo>
                  <a:lnTo>
                    <a:pt x="51" y="44"/>
                  </a:lnTo>
                  <a:lnTo>
                    <a:pt x="44" y="46"/>
                  </a:lnTo>
                  <a:lnTo>
                    <a:pt x="34" y="56"/>
                  </a:lnTo>
                  <a:lnTo>
                    <a:pt x="32" y="60"/>
                  </a:lnTo>
                  <a:lnTo>
                    <a:pt x="0" y="194"/>
                  </a:lnTo>
                  <a:lnTo>
                    <a:pt x="0" y="286"/>
                  </a:lnTo>
                  <a:lnTo>
                    <a:pt x="23" y="286"/>
                  </a:lnTo>
                  <a:lnTo>
                    <a:pt x="32" y="192"/>
                  </a:lnTo>
                  <a:close/>
                </a:path>
              </a:pathLst>
            </a:custGeom>
            <a:solidFill>
              <a:srgbClr val="B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20633" name="Line 473"/>
          <p:cNvSpPr>
            <a:spLocks noChangeShapeType="1"/>
          </p:cNvSpPr>
          <p:nvPr/>
        </p:nvSpPr>
        <p:spPr bwMode="auto">
          <a:xfrm flipV="1">
            <a:off x="5756275" y="3432175"/>
            <a:ext cx="0" cy="254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grpSp>
        <p:nvGrpSpPr>
          <p:cNvPr id="220635" name="Group 475"/>
          <p:cNvGrpSpPr>
            <a:grpSpLocks noChangeAspect="1"/>
          </p:cNvGrpSpPr>
          <p:nvPr/>
        </p:nvGrpSpPr>
        <p:grpSpPr bwMode="auto">
          <a:xfrm>
            <a:off x="8509001" y="4986339"/>
            <a:ext cx="1960563" cy="1431925"/>
            <a:chOff x="4063" y="2856"/>
            <a:chExt cx="1401" cy="1023"/>
          </a:xfrm>
        </p:grpSpPr>
        <p:sp>
          <p:nvSpPr>
            <p:cNvPr id="220634" name="AutoShape 474"/>
            <p:cNvSpPr>
              <a:spLocks noChangeAspect="1" noChangeArrowheads="1" noTextEdit="1"/>
            </p:cNvSpPr>
            <p:nvPr/>
          </p:nvSpPr>
          <p:spPr bwMode="auto">
            <a:xfrm>
              <a:off x="4063" y="2856"/>
              <a:ext cx="1401" cy="10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grpSp>
          <p:nvGrpSpPr>
            <p:cNvPr id="220836" name="Group 676"/>
            <p:cNvGrpSpPr>
              <a:grpSpLocks/>
            </p:cNvGrpSpPr>
            <p:nvPr/>
          </p:nvGrpSpPr>
          <p:grpSpPr bwMode="auto">
            <a:xfrm>
              <a:off x="4063" y="2856"/>
              <a:ext cx="1401" cy="1023"/>
              <a:chOff x="4063" y="2856"/>
              <a:chExt cx="1401" cy="1023"/>
            </a:xfrm>
          </p:grpSpPr>
          <p:sp>
            <p:nvSpPr>
              <p:cNvPr id="220636" name="Freeform 476"/>
              <p:cNvSpPr>
                <a:spLocks/>
              </p:cNvSpPr>
              <p:nvPr/>
            </p:nvSpPr>
            <p:spPr bwMode="auto">
              <a:xfrm>
                <a:off x="5180" y="2879"/>
                <a:ext cx="222" cy="255"/>
              </a:xfrm>
              <a:custGeom>
                <a:avLst/>
                <a:gdLst>
                  <a:gd name="T0" fmla="*/ 1588 w 2660"/>
                  <a:gd name="T1" fmla="*/ 0 h 3054"/>
                  <a:gd name="T2" fmla="*/ 1456 w 2660"/>
                  <a:gd name="T3" fmla="*/ 98 h 3054"/>
                  <a:gd name="T4" fmla="*/ 1268 w 2660"/>
                  <a:gd name="T5" fmla="*/ 253 h 3054"/>
                  <a:gd name="T6" fmla="*/ 1079 w 2660"/>
                  <a:gd name="T7" fmla="*/ 414 h 3054"/>
                  <a:gd name="T8" fmla="*/ 949 w 2660"/>
                  <a:gd name="T9" fmla="*/ 521 h 3054"/>
                  <a:gd name="T10" fmla="*/ 879 w 2660"/>
                  <a:gd name="T11" fmla="*/ 582 h 3054"/>
                  <a:gd name="T12" fmla="*/ 856 w 2660"/>
                  <a:gd name="T13" fmla="*/ 628 h 3054"/>
                  <a:gd name="T14" fmla="*/ 843 w 2660"/>
                  <a:gd name="T15" fmla="*/ 677 h 3054"/>
                  <a:gd name="T16" fmla="*/ 820 w 2660"/>
                  <a:gd name="T17" fmla="*/ 763 h 3054"/>
                  <a:gd name="T18" fmla="*/ 738 w 2660"/>
                  <a:gd name="T19" fmla="*/ 827 h 3054"/>
                  <a:gd name="T20" fmla="*/ 589 w 2660"/>
                  <a:gd name="T21" fmla="*/ 879 h 3054"/>
                  <a:gd name="T22" fmla="*/ 432 w 2660"/>
                  <a:gd name="T23" fmla="*/ 918 h 3054"/>
                  <a:gd name="T24" fmla="*/ 333 w 2660"/>
                  <a:gd name="T25" fmla="*/ 957 h 3054"/>
                  <a:gd name="T26" fmla="*/ 286 w 2660"/>
                  <a:gd name="T27" fmla="*/ 1028 h 3054"/>
                  <a:gd name="T28" fmla="*/ 292 w 2660"/>
                  <a:gd name="T29" fmla="*/ 1107 h 3054"/>
                  <a:gd name="T30" fmla="*/ 349 w 2660"/>
                  <a:gd name="T31" fmla="*/ 1176 h 3054"/>
                  <a:gd name="T32" fmla="*/ 401 w 2660"/>
                  <a:gd name="T33" fmla="*/ 1256 h 3054"/>
                  <a:gd name="T34" fmla="*/ 333 w 2660"/>
                  <a:gd name="T35" fmla="*/ 1302 h 3054"/>
                  <a:gd name="T36" fmla="*/ 271 w 2660"/>
                  <a:gd name="T37" fmla="*/ 1348 h 3054"/>
                  <a:gd name="T38" fmla="*/ 238 w 2660"/>
                  <a:gd name="T39" fmla="*/ 1403 h 3054"/>
                  <a:gd name="T40" fmla="*/ 257 w 2660"/>
                  <a:gd name="T41" fmla="*/ 1495 h 3054"/>
                  <a:gd name="T42" fmla="*/ 219 w 2660"/>
                  <a:gd name="T43" fmla="*/ 1493 h 3054"/>
                  <a:gd name="T44" fmla="*/ 185 w 2660"/>
                  <a:gd name="T45" fmla="*/ 1513 h 3054"/>
                  <a:gd name="T46" fmla="*/ 168 w 2660"/>
                  <a:gd name="T47" fmla="*/ 1544 h 3054"/>
                  <a:gd name="T48" fmla="*/ 178 w 2660"/>
                  <a:gd name="T49" fmla="*/ 1598 h 3054"/>
                  <a:gd name="T50" fmla="*/ 198 w 2660"/>
                  <a:gd name="T51" fmla="*/ 1665 h 3054"/>
                  <a:gd name="T52" fmla="*/ 196 w 2660"/>
                  <a:gd name="T53" fmla="*/ 1742 h 3054"/>
                  <a:gd name="T54" fmla="*/ 171 w 2660"/>
                  <a:gd name="T55" fmla="*/ 1797 h 3054"/>
                  <a:gd name="T56" fmla="*/ 95 w 2660"/>
                  <a:gd name="T57" fmla="*/ 1827 h 3054"/>
                  <a:gd name="T58" fmla="*/ 36 w 2660"/>
                  <a:gd name="T59" fmla="*/ 1899 h 3054"/>
                  <a:gd name="T60" fmla="*/ 6 w 2660"/>
                  <a:gd name="T61" fmla="*/ 1959 h 3054"/>
                  <a:gd name="T62" fmla="*/ 0 w 2660"/>
                  <a:gd name="T63" fmla="*/ 2043 h 3054"/>
                  <a:gd name="T64" fmla="*/ 51 w 2660"/>
                  <a:gd name="T65" fmla="*/ 2165 h 3054"/>
                  <a:gd name="T66" fmla="*/ 365 w 2660"/>
                  <a:gd name="T67" fmla="*/ 2511 h 3054"/>
                  <a:gd name="T68" fmla="*/ 428 w 2660"/>
                  <a:gd name="T69" fmla="*/ 2598 h 3054"/>
                  <a:gd name="T70" fmla="*/ 446 w 2660"/>
                  <a:gd name="T71" fmla="*/ 2692 h 3054"/>
                  <a:gd name="T72" fmla="*/ 445 w 2660"/>
                  <a:gd name="T73" fmla="*/ 2774 h 3054"/>
                  <a:gd name="T74" fmla="*/ 423 w 2660"/>
                  <a:gd name="T75" fmla="*/ 2861 h 3054"/>
                  <a:gd name="T76" fmla="*/ 401 w 2660"/>
                  <a:gd name="T77" fmla="*/ 2961 h 3054"/>
                  <a:gd name="T78" fmla="*/ 368 w 2660"/>
                  <a:gd name="T79" fmla="*/ 3054 h 3054"/>
                  <a:gd name="T80" fmla="*/ 1898 w 2660"/>
                  <a:gd name="T81" fmla="*/ 3033 h 3054"/>
                  <a:gd name="T82" fmla="*/ 2660 w 2660"/>
                  <a:gd name="T83" fmla="*/ 1523 h 3054"/>
                  <a:gd name="T84" fmla="*/ 1588 w 2660"/>
                  <a:gd name="T85" fmla="*/ 0 h 30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660" h="3054">
                    <a:moveTo>
                      <a:pt x="1588" y="0"/>
                    </a:moveTo>
                    <a:lnTo>
                      <a:pt x="1456" y="98"/>
                    </a:lnTo>
                    <a:lnTo>
                      <a:pt x="1268" y="253"/>
                    </a:lnTo>
                    <a:lnTo>
                      <a:pt x="1079" y="414"/>
                    </a:lnTo>
                    <a:lnTo>
                      <a:pt x="949" y="521"/>
                    </a:lnTo>
                    <a:lnTo>
                      <a:pt x="879" y="582"/>
                    </a:lnTo>
                    <a:lnTo>
                      <a:pt x="856" y="628"/>
                    </a:lnTo>
                    <a:lnTo>
                      <a:pt x="843" y="677"/>
                    </a:lnTo>
                    <a:lnTo>
                      <a:pt x="820" y="763"/>
                    </a:lnTo>
                    <a:lnTo>
                      <a:pt x="738" y="827"/>
                    </a:lnTo>
                    <a:lnTo>
                      <a:pt x="589" y="879"/>
                    </a:lnTo>
                    <a:lnTo>
                      <a:pt x="432" y="918"/>
                    </a:lnTo>
                    <a:lnTo>
                      <a:pt x="333" y="957"/>
                    </a:lnTo>
                    <a:lnTo>
                      <a:pt x="286" y="1028"/>
                    </a:lnTo>
                    <a:lnTo>
                      <a:pt x="292" y="1107"/>
                    </a:lnTo>
                    <a:lnTo>
                      <a:pt x="349" y="1176"/>
                    </a:lnTo>
                    <a:lnTo>
                      <a:pt x="401" y="1256"/>
                    </a:lnTo>
                    <a:lnTo>
                      <a:pt x="333" y="1302"/>
                    </a:lnTo>
                    <a:lnTo>
                      <a:pt x="271" y="1348"/>
                    </a:lnTo>
                    <a:lnTo>
                      <a:pt x="238" y="1403"/>
                    </a:lnTo>
                    <a:lnTo>
                      <a:pt x="257" y="1495"/>
                    </a:lnTo>
                    <a:lnTo>
                      <a:pt x="219" y="1493"/>
                    </a:lnTo>
                    <a:lnTo>
                      <a:pt x="185" y="1513"/>
                    </a:lnTo>
                    <a:lnTo>
                      <a:pt x="168" y="1544"/>
                    </a:lnTo>
                    <a:lnTo>
                      <a:pt x="178" y="1598"/>
                    </a:lnTo>
                    <a:lnTo>
                      <a:pt x="198" y="1665"/>
                    </a:lnTo>
                    <a:lnTo>
                      <a:pt x="196" y="1742"/>
                    </a:lnTo>
                    <a:lnTo>
                      <a:pt x="171" y="1797"/>
                    </a:lnTo>
                    <a:lnTo>
                      <a:pt x="95" y="1827"/>
                    </a:lnTo>
                    <a:lnTo>
                      <a:pt x="36" y="1899"/>
                    </a:lnTo>
                    <a:lnTo>
                      <a:pt x="6" y="1959"/>
                    </a:lnTo>
                    <a:lnTo>
                      <a:pt x="0" y="2043"/>
                    </a:lnTo>
                    <a:lnTo>
                      <a:pt x="51" y="2165"/>
                    </a:lnTo>
                    <a:lnTo>
                      <a:pt x="365" y="2511"/>
                    </a:lnTo>
                    <a:lnTo>
                      <a:pt x="428" y="2598"/>
                    </a:lnTo>
                    <a:lnTo>
                      <a:pt x="446" y="2692"/>
                    </a:lnTo>
                    <a:lnTo>
                      <a:pt x="445" y="2774"/>
                    </a:lnTo>
                    <a:lnTo>
                      <a:pt x="423" y="2861"/>
                    </a:lnTo>
                    <a:lnTo>
                      <a:pt x="401" y="2961"/>
                    </a:lnTo>
                    <a:lnTo>
                      <a:pt x="368" y="3054"/>
                    </a:lnTo>
                    <a:lnTo>
                      <a:pt x="1898" y="3033"/>
                    </a:lnTo>
                    <a:lnTo>
                      <a:pt x="2660" y="1523"/>
                    </a:lnTo>
                    <a:lnTo>
                      <a:pt x="1588" y="0"/>
                    </a:lnTo>
                    <a:close/>
                  </a:path>
                </a:pathLst>
              </a:custGeom>
              <a:solidFill>
                <a:srgbClr val="F1B8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37" name="Freeform 477"/>
              <p:cNvSpPr>
                <a:spLocks/>
              </p:cNvSpPr>
              <p:nvPr/>
            </p:nvSpPr>
            <p:spPr bwMode="auto">
              <a:xfrm>
                <a:off x="5180" y="2879"/>
                <a:ext cx="222" cy="255"/>
              </a:xfrm>
              <a:custGeom>
                <a:avLst/>
                <a:gdLst>
                  <a:gd name="T0" fmla="*/ 1588 w 2660"/>
                  <a:gd name="T1" fmla="*/ 0 h 3054"/>
                  <a:gd name="T2" fmla="*/ 1456 w 2660"/>
                  <a:gd name="T3" fmla="*/ 98 h 3054"/>
                  <a:gd name="T4" fmla="*/ 1268 w 2660"/>
                  <a:gd name="T5" fmla="*/ 253 h 3054"/>
                  <a:gd name="T6" fmla="*/ 1079 w 2660"/>
                  <a:gd name="T7" fmla="*/ 414 h 3054"/>
                  <a:gd name="T8" fmla="*/ 949 w 2660"/>
                  <a:gd name="T9" fmla="*/ 521 h 3054"/>
                  <a:gd name="T10" fmla="*/ 879 w 2660"/>
                  <a:gd name="T11" fmla="*/ 582 h 3054"/>
                  <a:gd name="T12" fmla="*/ 856 w 2660"/>
                  <a:gd name="T13" fmla="*/ 628 h 3054"/>
                  <a:gd name="T14" fmla="*/ 843 w 2660"/>
                  <a:gd name="T15" fmla="*/ 677 h 3054"/>
                  <a:gd name="T16" fmla="*/ 820 w 2660"/>
                  <a:gd name="T17" fmla="*/ 763 h 3054"/>
                  <a:gd name="T18" fmla="*/ 738 w 2660"/>
                  <a:gd name="T19" fmla="*/ 827 h 3054"/>
                  <a:gd name="T20" fmla="*/ 589 w 2660"/>
                  <a:gd name="T21" fmla="*/ 879 h 3054"/>
                  <a:gd name="T22" fmla="*/ 432 w 2660"/>
                  <a:gd name="T23" fmla="*/ 918 h 3054"/>
                  <a:gd name="T24" fmla="*/ 333 w 2660"/>
                  <a:gd name="T25" fmla="*/ 957 h 3054"/>
                  <a:gd name="T26" fmla="*/ 286 w 2660"/>
                  <a:gd name="T27" fmla="*/ 1028 h 3054"/>
                  <a:gd name="T28" fmla="*/ 292 w 2660"/>
                  <a:gd name="T29" fmla="*/ 1107 h 3054"/>
                  <a:gd name="T30" fmla="*/ 349 w 2660"/>
                  <a:gd name="T31" fmla="*/ 1176 h 3054"/>
                  <a:gd name="T32" fmla="*/ 401 w 2660"/>
                  <a:gd name="T33" fmla="*/ 1256 h 3054"/>
                  <a:gd name="T34" fmla="*/ 333 w 2660"/>
                  <a:gd name="T35" fmla="*/ 1302 h 3054"/>
                  <a:gd name="T36" fmla="*/ 271 w 2660"/>
                  <a:gd name="T37" fmla="*/ 1348 h 3054"/>
                  <a:gd name="T38" fmla="*/ 238 w 2660"/>
                  <a:gd name="T39" fmla="*/ 1403 h 3054"/>
                  <a:gd name="T40" fmla="*/ 257 w 2660"/>
                  <a:gd name="T41" fmla="*/ 1495 h 3054"/>
                  <a:gd name="T42" fmla="*/ 219 w 2660"/>
                  <a:gd name="T43" fmla="*/ 1493 h 3054"/>
                  <a:gd name="T44" fmla="*/ 185 w 2660"/>
                  <a:gd name="T45" fmla="*/ 1513 h 3054"/>
                  <a:gd name="T46" fmla="*/ 168 w 2660"/>
                  <a:gd name="T47" fmla="*/ 1544 h 3054"/>
                  <a:gd name="T48" fmla="*/ 178 w 2660"/>
                  <a:gd name="T49" fmla="*/ 1598 h 3054"/>
                  <a:gd name="T50" fmla="*/ 198 w 2660"/>
                  <a:gd name="T51" fmla="*/ 1665 h 3054"/>
                  <a:gd name="T52" fmla="*/ 196 w 2660"/>
                  <a:gd name="T53" fmla="*/ 1742 h 3054"/>
                  <a:gd name="T54" fmla="*/ 171 w 2660"/>
                  <a:gd name="T55" fmla="*/ 1797 h 3054"/>
                  <a:gd name="T56" fmla="*/ 95 w 2660"/>
                  <a:gd name="T57" fmla="*/ 1827 h 3054"/>
                  <a:gd name="T58" fmla="*/ 36 w 2660"/>
                  <a:gd name="T59" fmla="*/ 1899 h 3054"/>
                  <a:gd name="T60" fmla="*/ 6 w 2660"/>
                  <a:gd name="T61" fmla="*/ 1959 h 3054"/>
                  <a:gd name="T62" fmla="*/ 0 w 2660"/>
                  <a:gd name="T63" fmla="*/ 2043 h 3054"/>
                  <a:gd name="T64" fmla="*/ 51 w 2660"/>
                  <a:gd name="T65" fmla="*/ 2165 h 3054"/>
                  <a:gd name="T66" fmla="*/ 365 w 2660"/>
                  <a:gd name="T67" fmla="*/ 2511 h 3054"/>
                  <a:gd name="T68" fmla="*/ 428 w 2660"/>
                  <a:gd name="T69" fmla="*/ 2598 h 3054"/>
                  <a:gd name="T70" fmla="*/ 446 w 2660"/>
                  <a:gd name="T71" fmla="*/ 2692 h 3054"/>
                  <a:gd name="T72" fmla="*/ 445 w 2660"/>
                  <a:gd name="T73" fmla="*/ 2774 h 3054"/>
                  <a:gd name="T74" fmla="*/ 423 w 2660"/>
                  <a:gd name="T75" fmla="*/ 2861 h 3054"/>
                  <a:gd name="T76" fmla="*/ 401 w 2660"/>
                  <a:gd name="T77" fmla="*/ 2961 h 3054"/>
                  <a:gd name="T78" fmla="*/ 368 w 2660"/>
                  <a:gd name="T79" fmla="*/ 3054 h 3054"/>
                  <a:gd name="T80" fmla="*/ 1898 w 2660"/>
                  <a:gd name="T81" fmla="*/ 3033 h 3054"/>
                  <a:gd name="T82" fmla="*/ 2660 w 2660"/>
                  <a:gd name="T83" fmla="*/ 1523 h 3054"/>
                  <a:gd name="T84" fmla="*/ 1588 w 2660"/>
                  <a:gd name="T85" fmla="*/ 0 h 30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660" h="3054">
                    <a:moveTo>
                      <a:pt x="1588" y="0"/>
                    </a:moveTo>
                    <a:lnTo>
                      <a:pt x="1456" y="98"/>
                    </a:lnTo>
                    <a:lnTo>
                      <a:pt x="1268" y="253"/>
                    </a:lnTo>
                    <a:lnTo>
                      <a:pt x="1079" y="414"/>
                    </a:lnTo>
                    <a:lnTo>
                      <a:pt x="949" y="521"/>
                    </a:lnTo>
                    <a:lnTo>
                      <a:pt x="879" y="582"/>
                    </a:lnTo>
                    <a:lnTo>
                      <a:pt x="856" y="628"/>
                    </a:lnTo>
                    <a:lnTo>
                      <a:pt x="843" y="677"/>
                    </a:lnTo>
                    <a:lnTo>
                      <a:pt x="820" y="763"/>
                    </a:lnTo>
                    <a:lnTo>
                      <a:pt x="738" y="827"/>
                    </a:lnTo>
                    <a:lnTo>
                      <a:pt x="589" y="879"/>
                    </a:lnTo>
                    <a:lnTo>
                      <a:pt x="432" y="918"/>
                    </a:lnTo>
                    <a:lnTo>
                      <a:pt x="333" y="957"/>
                    </a:lnTo>
                    <a:lnTo>
                      <a:pt x="286" y="1028"/>
                    </a:lnTo>
                    <a:lnTo>
                      <a:pt x="292" y="1107"/>
                    </a:lnTo>
                    <a:lnTo>
                      <a:pt x="349" y="1176"/>
                    </a:lnTo>
                    <a:lnTo>
                      <a:pt x="401" y="1256"/>
                    </a:lnTo>
                    <a:lnTo>
                      <a:pt x="333" y="1302"/>
                    </a:lnTo>
                    <a:lnTo>
                      <a:pt x="271" y="1348"/>
                    </a:lnTo>
                    <a:lnTo>
                      <a:pt x="238" y="1403"/>
                    </a:lnTo>
                    <a:lnTo>
                      <a:pt x="257" y="1495"/>
                    </a:lnTo>
                    <a:lnTo>
                      <a:pt x="219" y="1493"/>
                    </a:lnTo>
                    <a:lnTo>
                      <a:pt x="185" y="1513"/>
                    </a:lnTo>
                    <a:lnTo>
                      <a:pt x="168" y="1544"/>
                    </a:lnTo>
                    <a:lnTo>
                      <a:pt x="178" y="1598"/>
                    </a:lnTo>
                    <a:lnTo>
                      <a:pt x="198" y="1665"/>
                    </a:lnTo>
                    <a:lnTo>
                      <a:pt x="196" y="1742"/>
                    </a:lnTo>
                    <a:lnTo>
                      <a:pt x="171" y="1797"/>
                    </a:lnTo>
                    <a:lnTo>
                      <a:pt x="95" y="1827"/>
                    </a:lnTo>
                    <a:lnTo>
                      <a:pt x="36" y="1899"/>
                    </a:lnTo>
                    <a:lnTo>
                      <a:pt x="6" y="1959"/>
                    </a:lnTo>
                    <a:lnTo>
                      <a:pt x="0" y="2043"/>
                    </a:lnTo>
                    <a:lnTo>
                      <a:pt x="51" y="2165"/>
                    </a:lnTo>
                    <a:lnTo>
                      <a:pt x="365" y="2511"/>
                    </a:lnTo>
                    <a:lnTo>
                      <a:pt x="428" y="2598"/>
                    </a:lnTo>
                    <a:lnTo>
                      <a:pt x="446" y="2692"/>
                    </a:lnTo>
                    <a:lnTo>
                      <a:pt x="445" y="2774"/>
                    </a:lnTo>
                    <a:lnTo>
                      <a:pt x="423" y="2861"/>
                    </a:lnTo>
                    <a:lnTo>
                      <a:pt x="401" y="2961"/>
                    </a:lnTo>
                    <a:lnTo>
                      <a:pt x="368" y="3054"/>
                    </a:lnTo>
                    <a:lnTo>
                      <a:pt x="1898" y="3033"/>
                    </a:lnTo>
                    <a:lnTo>
                      <a:pt x="2660" y="1523"/>
                    </a:lnTo>
                    <a:lnTo>
                      <a:pt x="1588" y="0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38" name="Freeform 478"/>
              <p:cNvSpPr>
                <a:spLocks/>
              </p:cNvSpPr>
              <p:nvPr/>
            </p:nvSpPr>
            <p:spPr bwMode="auto">
              <a:xfrm>
                <a:off x="5278" y="2856"/>
                <a:ext cx="175" cy="167"/>
              </a:xfrm>
              <a:custGeom>
                <a:avLst/>
                <a:gdLst>
                  <a:gd name="T0" fmla="*/ 477 w 2107"/>
                  <a:gd name="T1" fmla="*/ 2 h 1996"/>
                  <a:gd name="T2" fmla="*/ 397 w 2107"/>
                  <a:gd name="T3" fmla="*/ 29 h 1996"/>
                  <a:gd name="T4" fmla="*/ 315 w 2107"/>
                  <a:gd name="T5" fmla="*/ 67 h 1996"/>
                  <a:gd name="T6" fmla="*/ 226 w 2107"/>
                  <a:gd name="T7" fmla="*/ 125 h 1996"/>
                  <a:gd name="T8" fmla="*/ 161 w 2107"/>
                  <a:gd name="T9" fmla="*/ 193 h 1996"/>
                  <a:gd name="T10" fmla="*/ 78 w 2107"/>
                  <a:gd name="T11" fmla="*/ 270 h 1996"/>
                  <a:gd name="T12" fmla="*/ 19 w 2107"/>
                  <a:gd name="T13" fmla="*/ 339 h 1996"/>
                  <a:gd name="T14" fmla="*/ 0 w 2107"/>
                  <a:gd name="T15" fmla="*/ 412 h 1996"/>
                  <a:gd name="T16" fmla="*/ 24 w 2107"/>
                  <a:gd name="T17" fmla="*/ 494 h 1996"/>
                  <a:gd name="T18" fmla="*/ 95 w 2107"/>
                  <a:gd name="T19" fmla="*/ 529 h 1996"/>
                  <a:gd name="T20" fmla="*/ 192 w 2107"/>
                  <a:gd name="T21" fmla="*/ 449 h 1996"/>
                  <a:gd name="T22" fmla="*/ 278 w 2107"/>
                  <a:gd name="T23" fmla="*/ 377 h 1996"/>
                  <a:gd name="T24" fmla="*/ 369 w 2107"/>
                  <a:gd name="T25" fmla="*/ 386 h 1996"/>
                  <a:gd name="T26" fmla="*/ 442 w 2107"/>
                  <a:gd name="T27" fmla="*/ 414 h 1996"/>
                  <a:gd name="T28" fmla="*/ 509 w 2107"/>
                  <a:gd name="T29" fmla="*/ 458 h 1996"/>
                  <a:gd name="T30" fmla="*/ 559 w 2107"/>
                  <a:gd name="T31" fmla="*/ 522 h 1996"/>
                  <a:gd name="T32" fmla="*/ 602 w 2107"/>
                  <a:gd name="T33" fmla="*/ 599 h 1996"/>
                  <a:gd name="T34" fmla="*/ 673 w 2107"/>
                  <a:gd name="T35" fmla="*/ 665 h 1996"/>
                  <a:gd name="T36" fmla="*/ 633 w 2107"/>
                  <a:gd name="T37" fmla="*/ 790 h 1996"/>
                  <a:gd name="T38" fmla="*/ 623 w 2107"/>
                  <a:gd name="T39" fmla="*/ 886 h 1996"/>
                  <a:gd name="T40" fmla="*/ 636 w 2107"/>
                  <a:gd name="T41" fmla="*/ 983 h 1996"/>
                  <a:gd name="T42" fmla="*/ 606 w 2107"/>
                  <a:gd name="T43" fmla="*/ 1060 h 1996"/>
                  <a:gd name="T44" fmla="*/ 561 w 2107"/>
                  <a:gd name="T45" fmla="*/ 1123 h 1996"/>
                  <a:gd name="T46" fmla="*/ 509 w 2107"/>
                  <a:gd name="T47" fmla="*/ 1181 h 1996"/>
                  <a:gd name="T48" fmla="*/ 455 w 2107"/>
                  <a:gd name="T49" fmla="*/ 1233 h 1996"/>
                  <a:gd name="T50" fmla="*/ 399 w 2107"/>
                  <a:gd name="T51" fmla="*/ 1284 h 1996"/>
                  <a:gd name="T52" fmla="*/ 350 w 2107"/>
                  <a:gd name="T53" fmla="*/ 1338 h 1996"/>
                  <a:gd name="T54" fmla="*/ 307 w 2107"/>
                  <a:gd name="T55" fmla="*/ 1409 h 1996"/>
                  <a:gd name="T56" fmla="*/ 262 w 2107"/>
                  <a:gd name="T57" fmla="*/ 1527 h 1996"/>
                  <a:gd name="T58" fmla="*/ 226 w 2107"/>
                  <a:gd name="T59" fmla="*/ 1643 h 1996"/>
                  <a:gd name="T60" fmla="*/ 205 w 2107"/>
                  <a:gd name="T61" fmla="*/ 1701 h 1996"/>
                  <a:gd name="T62" fmla="*/ 143 w 2107"/>
                  <a:gd name="T63" fmla="*/ 1813 h 1996"/>
                  <a:gd name="T64" fmla="*/ 95 w 2107"/>
                  <a:gd name="T65" fmla="*/ 1868 h 1996"/>
                  <a:gd name="T66" fmla="*/ 185 w 2107"/>
                  <a:gd name="T67" fmla="*/ 1962 h 1996"/>
                  <a:gd name="T68" fmla="*/ 273 w 2107"/>
                  <a:gd name="T69" fmla="*/ 1890 h 1996"/>
                  <a:gd name="T70" fmla="*/ 358 w 2107"/>
                  <a:gd name="T71" fmla="*/ 1860 h 1996"/>
                  <a:gd name="T72" fmla="*/ 414 w 2107"/>
                  <a:gd name="T73" fmla="*/ 1868 h 1996"/>
                  <a:gd name="T74" fmla="*/ 480 w 2107"/>
                  <a:gd name="T75" fmla="*/ 1874 h 1996"/>
                  <a:gd name="T76" fmla="*/ 529 w 2107"/>
                  <a:gd name="T77" fmla="*/ 1893 h 1996"/>
                  <a:gd name="T78" fmla="*/ 566 w 2107"/>
                  <a:gd name="T79" fmla="*/ 1924 h 1996"/>
                  <a:gd name="T80" fmla="*/ 594 w 2107"/>
                  <a:gd name="T81" fmla="*/ 1961 h 1996"/>
                  <a:gd name="T82" fmla="*/ 610 w 2107"/>
                  <a:gd name="T83" fmla="*/ 1996 h 1996"/>
                  <a:gd name="T84" fmla="*/ 1500 w 2107"/>
                  <a:gd name="T85" fmla="*/ 1845 h 1996"/>
                  <a:gd name="T86" fmla="*/ 2107 w 2107"/>
                  <a:gd name="T87" fmla="*/ 1055 h 1996"/>
                  <a:gd name="T88" fmla="*/ 2060 w 2107"/>
                  <a:gd name="T89" fmla="*/ 964 h 1996"/>
                  <a:gd name="T90" fmla="*/ 2008 w 2107"/>
                  <a:gd name="T91" fmla="*/ 875 h 1996"/>
                  <a:gd name="T92" fmla="*/ 1959 w 2107"/>
                  <a:gd name="T93" fmla="*/ 787 h 1996"/>
                  <a:gd name="T94" fmla="*/ 1850 w 2107"/>
                  <a:gd name="T95" fmla="*/ 647 h 1996"/>
                  <a:gd name="T96" fmla="*/ 1761 w 2107"/>
                  <a:gd name="T97" fmla="*/ 551 h 1996"/>
                  <a:gd name="T98" fmla="*/ 1640 w 2107"/>
                  <a:gd name="T99" fmla="*/ 488 h 1996"/>
                  <a:gd name="T100" fmla="*/ 1508 w 2107"/>
                  <a:gd name="T101" fmla="*/ 422 h 1996"/>
                  <a:gd name="T102" fmla="*/ 1404 w 2107"/>
                  <a:gd name="T103" fmla="*/ 371 h 1996"/>
                  <a:gd name="T104" fmla="*/ 1297 w 2107"/>
                  <a:gd name="T105" fmla="*/ 292 h 1996"/>
                  <a:gd name="T106" fmla="*/ 1148 w 2107"/>
                  <a:gd name="T107" fmla="*/ 207 h 1996"/>
                  <a:gd name="T108" fmla="*/ 1010 w 2107"/>
                  <a:gd name="T109" fmla="*/ 107 h 1996"/>
                  <a:gd name="T110" fmla="*/ 877 w 2107"/>
                  <a:gd name="T111" fmla="*/ 62 h 1996"/>
                  <a:gd name="T112" fmla="*/ 755 w 2107"/>
                  <a:gd name="T113" fmla="*/ 21 h 1996"/>
                  <a:gd name="T114" fmla="*/ 661 w 2107"/>
                  <a:gd name="T115" fmla="*/ 6 h 1996"/>
                  <a:gd name="T116" fmla="*/ 568 w 2107"/>
                  <a:gd name="T117" fmla="*/ 0 h 1996"/>
                  <a:gd name="T118" fmla="*/ 477 w 2107"/>
                  <a:gd name="T119" fmla="*/ 2 h 19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07" h="1996">
                    <a:moveTo>
                      <a:pt x="477" y="2"/>
                    </a:moveTo>
                    <a:lnTo>
                      <a:pt x="397" y="29"/>
                    </a:lnTo>
                    <a:lnTo>
                      <a:pt x="315" y="67"/>
                    </a:lnTo>
                    <a:lnTo>
                      <a:pt x="226" y="125"/>
                    </a:lnTo>
                    <a:lnTo>
                      <a:pt x="161" y="193"/>
                    </a:lnTo>
                    <a:lnTo>
                      <a:pt x="78" y="270"/>
                    </a:lnTo>
                    <a:lnTo>
                      <a:pt x="19" y="339"/>
                    </a:lnTo>
                    <a:lnTo>
                      <a:pt x="0" y="412"/>
                    </a:lnTo>
                    <a:lnTo>
                      <a:pt x="24" y="494"/>
                    </a:lnTo>
                    <a:lnTo>
                      <a:pt x="95" y="529"/>
                    </a:lnTo>
                    <a:lnTo>
                      <a:pt x="192" y="449"/>
                    </a:lnTo>
                    <a:lnTo>
                      <a:pt x="278" y="377"/>
                    </a:lnTo>
                    <a:lnTo>
                      <a:pt x="369" y="386"/>
                    </a:lnTo>
                    <a:lnTo>
                      <a:pt x="442" y="414"/>
                    </a:lnTo>
                    <a:lnTo>
                      <a:pt x="509" y="458"/>
                    </a:lnTo>
                    <a:lnTo>
                      <a:pt x="559" y="522"/>
                    </a:lnTo>
                    <a:lnTo>
                      <a:pt x="602" y="599"/>
                    </a:lnTo>
                    <a:lnTo>
                      <a:pt x="673" y="665"/>
                    </a:lnTo>
                    <a:lnTo>
                      <a:pt x="633" y="790"/>
                    </a:lnTo>
                    <a:lnTo>
                      <a:pt x="623" y="886"/>
                    </a:lnTo>
                    <a:lnTo>
                      <a:pt x="636" y="983"/>
                    </a:lnTo>
                    <a:lnTo>
                      <a:pt x="606" y="1060"/>
                    </a:lnTo>
                    <a:lnTo>
                      <a:pt x="561" y="1123"/>
                    </a:lnTo>
                    <a:lnTo>
                      <a:pt x="509" y="1181"/>
                    </a:lnTo>
                    <a:lnTo>
                      <a:pt x="455" y="1233"/>
                    </a:lnTo>
                    <a:lnTo>
                      <a:pt x="399" y="1284"/>
                    </a:lnTo>
                    <a:lnTo>
                      <a:pt x="350" y="1338"/>
                    </a:lnTo>
                    <a:lnTo>
                      <a:pt x="307" y="1409"/>
                    </a:lnTo>
                    <a:lnTo>
                      <a:pt x="262" y="1527"/>
                    </a:lnTo>
                    <a:lnTo>
                      <a:pt x="226" y="1643"/>
                    </a:lnTo>
                    <a:lnTo>
                      <a:pt x="205" y="1701"/>
                    </a:lnTo>
                    <a:lnTo>
                      <a:pt x="143" y="1813"/>
                    </a:lnTo>
                    <a:lnTo>
                      <a:pt x="95" y="1868"/>
                    </a:lnTo>
                    <a:lnTo>
                      <a:pt x="185" y="1962"/>
                    </a:lnTo>
                    <a:lnTo>
                      <a:pt x="273" y="1890"/>
                    </a:lnTo>
                    <a:lnTo>
                      <a:pt x="358" y="1860"/>
                    </a:lnTo>
                    <a:lnTo>
                      <a:pt x="414" y="1868"/>
                    </a:lnTo>
                    <a:lnTo>
                      <a:pt x="480" y="1874"/>
                    </a:lnTo>
                    <a:lnTo>
                      <a:pt x="529" y="1893"/>
                    </a:lnTo>
                    <a:lnTo>
                      <a:pt x="566" y="1924"/>
                    </a:lnTo>
                    <a:lnTo>
                      <a:pt x="594" y="1961"/>
                    </a:lnTo>
                    <a:lnTo>
                      <a:pt x="610" y="1996"/>
                    </a:lnTo>
                    <a:lnTo>
                      <a:pt x="1500" y="1845"/>
                    </a:lnTo>
                    <a:lnTo>
                      <a:pt x="2107" y="1055"/>
                    </a:lnTo>
                    <a:lnTo>
                      <a:pt x="2060" y="964"/>
                    </a:lnTo>
                    <a:lnTo>
                      <a:pt x="2008" y="875"/>
                    </a:lnTo>
                    <a:lnTo>
                      <a:pt x="1959" y="787"/>
                    </a:lnTo>
                    <a:lnTo>
                      <a:pt x="1850" y="647"/>
                    </a:lnTo>
                    <a:lnTo>
                      <a:pt x="1761" y="551"/>
                    </a:lnTo>
                    <a:lnTo>
                      <a:pt x="1640" y="488"/>
                    </a:lnTo>
                    <a:lnTo>
                      <a:pt x="1508" y="422"/>
                    </a:lnTo>
                    <a:lnTo>
                      <a:pt x="1404" y="371"/>
                    </a:lnTo>
                    <a:lnTo>
                      <a:pt x="1297" y="292"/>
                    </a:lnTo>
                    <a:lnTo>
                      <a:pt x="1148" y="207"/>
                    </a:lnTo>
                    <a:lnTo>
                      <a:pt x="1010" y="107"/>
                    </a:lnTo>
                    <a:lnTo>
                      <a:pt x="877" y="62"/>
                    </a:lnTo>
                    <a:lnTo>
                      <a:pt x="755" y="21"/>
                    </a:lnTo>
                    <a:lnTo>
                      <a:pt x="661" y="6"/>
                    </a:lnTo>
                    <a:lnTo>
                      <a:pt x="568" y="0"/>
                    </a:lnTo>
                    <a:lnTo>
                      <a:pt x="477" y="2"/>
                    </a:lnTo>
                    <a:close/>
                  </a:path>
                </a:pathLst>
              </a:custGeom>
              <a:solidFill>
                <a:srgbClr val="ABAD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39" name="Freeform 479"/>
              <p:cNvSpPr>
                <a:spLocks/>
              </p:cNvSpPr>
              <p:nvPr/>
            </p:nvSpPr>
            <p:spPr bwMode="auto">
              <a:xfrm>
                <a:off x="5278" y="2856"/>
                <a:ext cx="175" cy="167"/>
              </a:xfrm>
              <a:custGeom>
                <a:avLst/>
                <a:gdLst>
                  <a:gd name="T0" fmla="*/ 477 w 2107"/>
                  <a:gd name="T1" fmla="*/ 2 h 1996"/>
                  <a:gd name="T2" fmla="*/ 397 w 2107"/>
                  <a:gd name="T3" fmla="*/ 29 h 1996"/>
                  <a:gd name="T4" fmla="*/ 315 w 2107"/>
                  <a:gd name="T5" fmla="*/ 67 h 1996"/>
                  <a:gd name="T6" fmla="*/ 226 w 2107"/>
                  <a:gd name="T7" fmla="*/ 125 h 1996"/>
                  <a:gd name="T8" fmla="*/ 161 w 2107"/>
                  <a:gd name="T9" fmla="*/ 193 h 1996"/>
                  <a:gd name="T10" fmla="*/ 78 w 2107"/>
                  <a:gd name="T11" fmla="*/ 270 h 1996"/>
                  <a:gd name="T12" fmla="*/ 19 w 2107"/>
                  <a:gd name="T13" fmla="*/ 339 h 1996"/>
                  <a:gd name="T14" fmla="*/ 0 w 2107"/>
                  <a:gd name="T15" fmla="*/ 412 h 1996"/>
                  <a:gd name="T16" fmla="*/ 24 w 2107"/>
                  <a:gd name="T17" fmla="*/ 494 h 1996"/>
                  <a:gd name="T18" fmla="*/ 95 w 2107"/>
                  <a:gd name="T19" fmla="*/ 529 h 1996"/>
                  <a:gd name="T20" fmla="*/ 192 w 2107"/>
                  <a:gd name="T21" fmla="*/ 449 h 1996"/>
                  <a:gd name="T22" fmla="*/ 278 w 2107"/>
                  <a:gd name="T23" fmla="*/ 377 h 1996"/>
                  <a:gd name="T24" fmla="*/ 369 w 2107"/>
                  <a:gd name="T25" fmla="*/ 386 h 1996"/>
                  <a:gd name="T26" fmla="*/ 442 w 2107"/>
                  <a:gd name="T27" fmla="*/ 414 h 1996"/>
                  <a:gd name="T28" fmla="*/ 509 w 2107"/>
                  <a:gd name="T29" fmla="*/ 458 h 1996"/>
                  <a:gd name="T30" fmla="*/ 559 w 2107"/>
                  <a:gd name="T31" fmla="*/ 522 h 1996"/>
                  <a:gd name="T32" fmla="*/ 602 w 2107"/>
                  <a:gd name="T33" fmla="*/ 599 h 1996"/>
                  <a:gd name="T34" fmla="*/ 673 w 2107"/>
                  <a:gd name="T35" fmla="*/ 665 h 1996"/>
                  <a:gd name="T36" fmla="*/ 633 w 2107"/>
                  <a:gd name="T37" fmla="*/ 790 h 1996"/>
                  <a:gd name="T38" fmla="*/ 623 w 2107"/>
                  <a:gd name="T39" fmla="*/ 886 h 1996"/>
                  <a:gd name="T40" fmla="*/ 636 w 2107"/>
                  <a:gd name="T41" fmla="*/ 983 h 1996"/>
                  <a:gd name="T42" fmla="*/ 606 w 2107"/>
                  <a:gd name="T43" fmla="*/ 1060 h 1996"/>
                  <a:gd name="T44" fmla="*/ 561 w 2107"/>
                  <a:gd name="T45" fmla="*/ 1123 h 1996"/>
                  <a:gd name="T46" fmla="*/ 509 w 2107"/>
                  <a:gd name="T47" fmla="*/ 1181 h 1996"/>
                  <a:gd name="T48" fmla="*/ 455 w 2107"/>
                  <a:gd name="T49" fmla="*/ 1233 h 1996"/>
                  <a:gd name="T50" fmla="*/ 399 w 2107"/>
                  <a:gd name="T51" fmla="*/ 1284 h 1996"/>
                  <a:gd name="T52" fmla="*/ 350 w 2107"/>
                  <a:gd name="T53" fmla="*/ 1338 h 1996"/>
                  <a:gd name="T54" fmla="*/ 307 w 2107"/>
                  <a:gd name="T55" fmla="*/ 1409 h 1996"/>
                  <a:gd name="T56" fmla="*/ 262 w 2107"/>
                  <a:gd name="T57" fmla="*/ 1527 h 1996"/>
                  <a:gd name="T58" fmla="*/ 226 w 2107"/>
                  <a:gd name="T59" fmla="*/ 1643 h 1996"/>
                  <a:gd name="T60" fmla="*/ 205 w 2107"/>
                  <a:gd name="T61" fmla="*/ 1701 h 1996"/>
                  <a:gd name="T62" fmla="*/ 143 w 2107"/>
                  <a:gd name="T63" fmla="*/ 1813 h 1996"/>
                  <a:gd name="T64" fmla="*/ 95 w 2107"/>
                  <a:gd name="T65" fmla="*/ 1868 h 1996"/>
                  <a:gd name="T66" fmla="*/ 185 w 2107"/>
                  <a:gd name="T67" fmla="*/ 1962 h 1996"/>
                  <a:gd name="T68" fmla="*/ 273 w 2107"/>
                  <a:gd name="T69" fmla="*/ 1890 h 1996"/>
                  <a:gd name="T70" fmla="*/ 358 w 2107"/>
                  <a:gd name="T71" fmla="*/ 1860 h 1996"/>
                  <a:gd name="T72" fmla="*/ 414 w 2107"/>
                  <a:gd name="T73" fmla="*/ 1868 h 1996"/>
                  <a:gd name="T74" fmla="*/ 480 w 2107"/>
                  <a:gd name="T75" fmla="*/ 1874 h 1996"/>
                  <a:gd name="T76" fmla="*/ 529 w 2107"/>
                  <a:gd name="T77" fmla="*/ 1893 h 1996"/>
                  <a:gd name="T78" fmla="*/ 566 w 2107"/>
                  <a:gd name="T79" fmla="*/ 1924 h 1996"/>
                  <a:gd name="T80" fmla="*/ 594 w 2107"/>
                  <a:gd name="T81" fmla="*/ 1961 h 1996"/>
                  <a:gd name="T82" fmla="*/ 610 w 2107"/>
                  <a:gd name="T83" fmla="*/ 1996 h 1996"/>
                  <a:gd name="T84" fmla="*/ 1500 w 2107"/>
                  <a:gd name="T85" fmla="*/ 1845 h 1996"/>
                  <a:gd name="T86" fmla="*/ 2107 w 2107"/>
                  <a:gd name="T87" fmla="*/ 1055 h 1996"/>
                  <a:gd name="T88" fmla="*/ 2060 w 2107"/>
                  <a:gd name="T89" fmla="*/ 964 h 1996"/>
                  <a:gd name="T90" fmla="*/ 2008 w 2107"/>
                  <a:gd name="T91" fmla="*/ 875 h 1996"/>
                  <a:gd name="T92" fmla="*/ 1959 w 2107"/>
                  <a:gd name="T93" fmla="*/ 787 h 1996"/>
                  <a:gd name="T94" fmla="*/ 1850 w 2107"/>
                  <a:gd name="T95" fmla="*/ 647 h 1996"/>
                  <a:gd name="T96" fmla="*/ 1761 w 2107"/>
                  <a:gd name="T97" fmla="*/ 551 h 1996"/>
                  <a:gd name="T98" fmla="*/ 1640 w 2107"/>
                  <a:gd name="T99" fmla="*/ 488 h 1996"/>
                  <a:gd name="T100" fmla="*/ 1508 w 2107"/>
                  <a:gd name="T101" fmla="*/ 422 h 1996"/>
                  <a:gd name="T102" fmla="*/ 1404 w 2107"/>
                  <a:gd name="T103" fmla="*/ 371 h 1996"/>
                  <a:gd name="T104" fmla="*/ 1297 w 2107"/>
                  <a:gd name="T105" fmla="*/ 292 h 1996"/>
                  <a:gd name="T106" fmla="*/ 1148 w 2107"/>
                  <a:gd name="T107" fmla="*/ 207 h 1996"/>
                  <a:gd name="T108" fmla="*/ 1010 w 2107"/>
                  <a:gd name="T109" fmla="*/ 107 h 1996"/>
                  <a:gd name="T110" fmla="*/ 877 w 2107"/>
                  <a:gd name="T111" fmla="*/ 62 h 1996"/>
                  <a:gd name="T112" fmla="*/ 755 w 2107"/>
                  <a:gd name="T113" fmla="*/ 21 h 1996"/>
                  <a:gd name="T114" fmla="*/ 661 w 2107"/>
                  <a:gd name="T115" fmla="*/ 6 h 1996"/>
                  <a:gd name="T116" fmla="*/ 568 w 2107"/>
                  <a:gd name="T117" fmla="*/ 0 h 1996"/>
                  <a:gd name="T118" fmla="*/ 477 w 2107"/>
                  <a:gd name="T119" fmla="*/ 2 h 19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07" h="1996">
                    <a:moveTo>
                      <a:pt x="477" y="2"/>
                    </a:moveTo>
                    <a:lnTo>
                      <a:pt x="397" y="29"/>
                    </a:lnTo>
                    <a:lnTo>
                      <a:pt x="315" y="67"/>
                    </a:lnTo>
                    <a:lnTo>
                      <a:pt x="226" y="125"/>
                    </a:lnTo>
                    <a:lnTo>
                      <a:pt x="161" y="193"/>
                    </a:lnTo>
                    <a:lnTo>
                      <a:pt x="78" y="270"/>
                    </a:lnTo>
                    <a:lnTo>
                      <a:pt x="19" y="339"/>
                    </a:lnTo>
                    <a:lnTo>
                      <a:pt x="0" y="412"/>
                    </a:lnTo>
                    <a:lnTo>
                      <a:pt x="24" y="494"/>
                    </a:lnTo>
                    <a:lnTo>
                      <a:pt x="95" y="529"/>
                    </a:lnTo>
                    <a:lnTo>
                      <a:pt x="192" y="449"/>
                    </a:lnTo>
                    <a:lnTo>
                      <a:pt x="278" y="377"/>
                    </a:lnTo>
                    <a:lnTo>
                      <a:pt x="369" y="386"/>
                    </a:lnTo>
                    <a:lnTo>
                      <a:pt x="442" y="414"/>
                    </a:lnTo>
                    <a:lnTo>
                      <a:pt x="509" y="458"/>
                    </a:lnTo>
                    <a:lnTo>
                      <a:pt x="559" y="522"/>
                    </a:lnTo>
                    <a:lnTo>
                      <a:pt x="602" y="599"/>
                    </a:lnTo>
                    <a:lnTo>
                      <a:pt x="673" y="665"/>
                    </a:lnTo>
                    <a:lnTo>
                      <a:pt x="633" y="790"/>
                    </a:lnTo>
                    <a:lnTo>
                      <a:pt x="623" y="886"/>
                    </a:lnTo>
                    <a:lnTo>
                      <a:pt x="636" y="983"/>
                    </a:lnTo>
                    <a:lnTo>
                      <a:pt x="606" y="1060"/>
                    </a:lnTo>
                    <a:lnTo>
                      <a:pt x="561" y="1123"/>
                    </a:lnTo>
                    <a:lnTo>
                      <a:pt x="509" y="1181"/>
                    </a:lnTo>
                    <a:lnTo>
                      <a:pt x="455" y="1233"/>
                    </a:lnTo>
                    <a:lnTo>
                      <a:pt x="399" y="1284"/>
                    </a:lnTo>
                    <a:lnTo>
                      <a:pt x="350" y="1338"/>
                    </a:lnTo>
                    <a:lnTo>
                      <a:pt x="307" y="1409"/>
                    </a:lnTo>
                    <a:lnTo>
                      <a:pt x="262" y="1527"/>
                    </a:lnTo>
                    <a:lnTo>
                      <a:pt x="226" y="1643"/>
                    </a:lnTo>
                    <a:lnTo>
                      <a:pt x="205" y="1701"/>
                    </a:lnTo>
                    <a:lnTo>
                      <a:pt x="143" y="1813"/>
                    </a:lnTo>
                    <a:lnTo>
                      <a:pt x="95" y="1868"/>
                    </a:lnTo>
                    <a:lnTo>
                      <a:pt x="185" y="1962"/>
                    </a:lnTo>
                    <a:lnTo>
                      <a:pt x="273" y="1890"/>
                    </a:lnTo>
                    <a:lnTo>
                      <a:pt x="358" y="1860"/>
                    </a:lnTo>
                    <a:lnTo>
                      <a:pt x="414" y="1868"/>
                    </a:lnTo>
                    <a:lnTo>
                      <a:pt x="480" y="1874"/>
                    </a:lnTo>
                    <a:lnTo>
                      <a:pt x="529" y="1893"/>
                    </a:lnTo>
                    <a:lnTo>
                      <a:pt x="566" y="1924"/>
                    </a:lnTo>
                    <a:lnTo>
                      <a:pt x="594" y="1961"/>
                    </a:lnTo>
                    <a:lnTo>
                      <a:pt x="610" y="1996"/>
                    </a:lnTo>
                    <a:lnTo>
                      <a:pt x="1500" y="1845"/>
                    </a:lnTo>
                    <a:lnTo>
                      <a:pt x="2107" y="1055"/>
                    </a:lnTo>
                    <a:lnTo>
                      <a:pt x="2060" y="964"/>
                    </a:lnTo>
                    <a:lnTo>
                      <a:pt x="2008" y="875"/>
                    </a:lnTo>
                    <a:lnTo>
                      <a:pt x="1959" y="787"/>
                    </a:lnTo>
                    <a:lnTo>
                      <a:pt x="1850" y="647"/>
                    </a:lnTo>
                    <a:lnTo>
                      <a:pt x="1761" y="551"/>
                    </a:lnTo>
                    <a:lnTo>
                      <a:pt x="1640" y="488"/>
                    </a:lnTo>
                    <a:lnTo>
                      <a:pt x="1508" y="422"/>
                    </a:lnTo>
                    <a:lnTo>
                      <a:pt x="1404" y="371"/>
                    </a:lnTo>
                    <a:lnTo>
                      <a:pt x="1297" y="292"/>
                    </a:lnTo>
                    <a:lnTo>
                      <a:pt x="1148" y="207"/>
                    </a:lnTo>
                    <a:lnTo>
                      <a:pt x="1010" y="107"/>
                    </a:lnTo>
                    <a:lnTo>
                      <a:pt x="877" y="62"/>
                    </a:lnTo>
                    <a:lnTo>
                      <a:pt x="755" y="21"/>
                    </a:lnTo>
                    <a:lnTo>
                      <a:pt x="661" y="6"/>
                    </a:lnTo>
                    <a:lnTo>
                      <a:pt x="568" y="0"/>
                    </a:lnTo>
                    <a:lnTo>
                      <a:pt x="477" y="2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40" name="Freeform 480"/>
              <p:cNvSpPr>
                <a:spLocks/>
              </p:cNvSpPr>
              <p:nvPr/>
            </p:nvSpPr>
            <p:spPr bwMode="auto">
              <a:xfrm>
                <a:off x="5252" y="2923"/>
                <a:ext cx="30" cy="31"/>
              </a:xfrm>
              <a:custGeom>
                <a:avLst/>
                <a:gdLst>
                  <a:gd name="T0" fmla="*/ 110 w 360"/>
                  <a:gd name="T1" fmla="*/ 0 h 382"/>
                  <a:gd name="T2" fmla="*/ 46 w 360"/>
                  <a:gd name="T3" fmla="*/ 10 h 382"/>
                  <a:gd name="T4" fmla="*/ 0 w 360"/>
                  <a:gd name="T5" fmla="*/ 84 h 382"/>
                  <a:gd name="T6" fmla="*/ 98 w 360"/>
                  <a:gd name="T7" fmla="*/ 134 h 382"/>
                  <a:gd name="T8" fmla="*/ 199 w 360"/>
                  <a:gd name="T9" fmla="*/ 202 h 382"/>
                  <a:gd name="T10" fmla="*/ 274 w 360"/>
                  <a:gd name="T11" fmla="*/ 287 h 382"/>
                  <a:gd name="T12" fmla="*/ 313 w 360"/>
                  <a:gd name="T13" fmla="*/ 364 h 382"/>
                  <a:gd name="T14" fmla="*/ 360 w 360"/>
                  <a:gd name="T15" fmla="*/ 382 h 382"/>
                  <a:gd name="T16" fmla="*/ 351 w 360"/>
                  <a:gd name="T17" fmla="*/ 276 h 382"/>
                  <a:gd name="T18" fmla="*/ 314 w 360"/>
                  <a:gd name="T19" fmla="*/ 181 h 382"/>
                  <a:gd name="T20" fmla="*/ 254 w 360"/>
                  <a:gd name="T21" fmla="*/ 94 h 382"/>
                  <a:gd name="T22" fmla="*/ 170 w 360"/>
                  <a:gd name="T23" fmla="*/ 40 h 382"/>
                  <a:gd name="T24" fmla="*/ 110 w 360"/>
                  <a:gd name="T25" fmla="*/ 0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0" h="382">
                    <a:moveTo>
                      <a:pt x="110" y="0"/>
                    </a:moveTo>
                    <a:lnTo>
                      <a:pt x="46" y="10"/>
                    </a:lnTo>
                    <a:lnTo>
                      <a:pt x="0" y="84"/>
                    </a:lnTo>
                    <a:lnTo>
                      <a:pt x="98" y="134"/>
                    </a:lnTo>
                    <a:lnTo>
                      <a:pt x="199" y="202"/>
                    </a:lnTo>
                    <a:lnTo>
                      <a:pt x="274" y="287"/>
                    </a:lnTo>
                    <a:lnTo>
                      <a:pt x="313" y="364"/>
                    </a:lnTo>
                    <a:lnTo>
                      <a:pt x="360" y="382"/>
                    </a:lnTo>
                    <a:lnTo>
                      <a:pt x="351" y="276"/>
                    </a:lnTo>
                    <a:lnTo>
                      <a:pt x="314" y="181"/>
                    </a:lnTo>
                    <a:lnTo>
                      <a:pt x="254" y="94"/>
                    </a:lnTo>
                    <a:lnTo>
                      <a:pt x="170" y="40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rgbClr val="ABAD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41" name="Freeform 481"/>
              <p:cNvSpPr>
                <a:spLocks/>
              </p:cNvSpPr>
              <p:nvPr/>
            </p:nvSpPr>
            <p:spPr bwMode="auto">
              <a:xfrm>
                <a:off x="5252" y="2923"/>
                <a:ext cx="30" cy="31"/>
              </a:xfrm>
              <a:custGeom>
                <a:avLst/>
                <a:gdLst>
                  <a:gd name="T0" fmla="*/ 110 w 360"/>
                  <a:gd name="T1" fmla="*/ 0 h 382"/>
                  <a:gd name="T2" fmla="*/ 46 w 360"/>
                  <a:gd name="T3" fmla="*/ 10 h 382"/>
                  <a:gd name="T4" fmla="*/ 0 w 360"/>
                  <a:gd name="T5" fmla="*/ 84 h 382"/>
                  <a:gd name="T6" fmla="*/ 98 w 360"/>
                  <a:gd name="T7" fmla="*/ 134 h 382"/>
                  <a:gd name="T8" fmla="*/ 199 w 360"/>
                  <a:gd name="T9" fmla="*/ 202 h 382"/>
                  <a:gd name="T10" fmla="*/ 274 w 360"/>
                  <a:gd name="T11" fmla="*/ 287 h 382"/>
                  <a:gd name="T12" fmla="*/ 313 w 360"/>
                  <a:gd name="T13" fmla="*/ 364 h 382"/>
                  <a:gd name="T14" fmla="*/ 360 w 360"/>
                  <a:gd name="T15" fmla="*/ 382 h 382"/>
                  <a:gd name="T16" fmla="*/ 351 w 360"/>
                  <a:gd name="T17" fmla="*/ 276 h 382"/>
                  <a:gd name="T18" fmla="*/ 314 w 360"/>
                  <a:gd name="T19" fmla="*/ 181 h 382"/>
                  <a:gd name="T20" fmla="*/ 254 w 360"/>
                  <a:gd name="T21" fmla="*/ 94 h 382"/>
                  <a:gd name="T22" fmla="*/ 170 w 360"/>
                  <a:gd name="T23" fmla="*/ 40 h 382"/>
                  <a:gd name="T24" fmla="*/ 110 w 360"/>
                  <a:gd name="T25" fmla="*/ 0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0" h="382">
                    <a:moveTo>
                      <a:pt x="110" y="0"/>
                    </a:moveTo>
                    <a:lnTo>
                      <a:pt x="46" y="10"/>
                    </a:lnTo>
                    <a:lnTo>
                      <a:pt x="0" y="84"/>
                    </a:lnTo>
                    <a:lnTo>
                      <a:pt x="98" y="134"/>
                    </a:lnTo>
                    <a:lnTo>
                      <a:pt x="199" y="202"/>
                    </a:lnTo>
                    <a:lnTo>
                      <a:pt x="274" y="287"/>
                    </a:lnTo>
                    <a:lnTo>
                      <a:pt x="313" y="364"/>
                    </a:lnTo>
                    <a:lnTo>
                      <a:pt x="360" y="382"/>
                    </a:lnTo>
                    <a:lnTo>
                      <a:pt x="351" y="276"/>
                    </a:lnTo>
                    <a:lnTo>
                      <a:pt x="314" y="181"/>
                    </a:lnTo>
                    <a:lnTo>
                      <a:pt x="254" y="94"/>
                    </a:lnTo>
                    <a:lnTo>
                      <a:pt x="170" y="40"/>
                    </a:lnTo>
                    <a:lnTo>
                      <a:pt x="110" y="0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42" name="Freeform 482"/>
              <p:cNvSpPr>
                <a:spLocks/>
              </p:cNvSpPr>
              <p:nvPr/>
            </p:nvSpPr>
            <p:spPr bwMode="auto">
              <a:xfrm>
                <a:off x="5251" y="2928"/>
                <a:ext cx="25" cy="19"/>
              </a:xfrm>
              <a:custGeom>
                <a:avLst/>
                <a:gdLst>
                  <a:gd name="T0" fmla="*/ 123 w 293"/>
                  <a:gd name="T1" fmla="*/ 162 h 237"/>
                  <a:gd name="T2" fmla="*/ 175 w 293"/>
                  <a:gd name="T3" fmla="*/ 174 h 237"/>
                  <a:gd name="T4" fmla="*/ 231 w 293"/>
                  <a:gd name="T5" fmla="*/ 198 h 237"/>
                  <a:gd name="T6" fmla="*/ 293 w 293"/>
                  <a:gd name="T7" fmla="*/ 237 h 237"/>
                  <a:gd name="T8" fmla="*/ 202 w 293"/>
                  <a:gd name="T9" fmla="*/ 89 h 237"/>
                  <a:gd name="T10" fmla="*/ 23 w 293"/>
                  <a:gd name="T11" fmla="*/ 0 h 237"/>
                  <a:gd name="T12" fmla="*/ 0 w 293"/>
                  <a:gd name="T13" fmla="*/ 46 h 237"/>
                  <a:gd name="T14" fmla="*/ 6 w 293"/>
                  <a:gd name="T15" fmla="*/ 81 h 237"/>
                  <a:gd name="T16" fmla="*/ 13 w 293"/>
                  <a:gd name="T17" fmla="*/ 125 h 237"/>
                  <a:gd name="T18" fmla="*/ 58 w 293"/>
                  <a:gd name="T19" fmla="*/ 140 h 237"/>
                  <a:gd name="T20" fmla="*/ 123 w 293"/>
                  <a:gd name="T21" fmla="*/ 162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93" h="237">
                    <a:moveTo>
                      <a:pt x="123" y="162"/>
                    </a:moveTo>
                    <a:lnTo>
                      <a:pt x="175" y="174"/>
                    </a:lnTo>
                    <a:lnTo>
                      <a:pt x="231" y="198"/>
                    </a:lnTo>
                    <a:lnTo>
                      <a:pt x="293" y="237"/>
                    </a:lnTo>
                    <a:lnTo>
                      <a:pt x="202" y="89"/>
                    </a:lnTo>
                    <a:lnTo>
                      <a:pt x="23" y="0"/>
                    </a:lnTo>
                    <a:lnTo>
                      <a:pt x="0" y="46"/>
                    </a:lnTo>
                    <a:lnTo>
                      <a:pt x="6" y="81"/>
                    </a:lnTo>
                    <a:lnTo>
                      <a:pt x="13" y="125"/>
                    </a:lnTo>
                    <a:lnTo>
                      <a:pt x="58" y="140"/>
                    </a:lnTo>
                    <a:lnTo>
                      <a:pt x="123" y="162"/>
                    </a:lnTo>
                    <a:close/>
                  </a:path>
                </a:pathLst>
              </a:custGeom>
              <a:solidFill>
                <a:srgbClr val="C396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43" name="Freeform 483"/>
              <p:cNvSpPr>
                <a:spLocks/>
              </p:cNvSpPr>
              <p:nvPr/>
            </p:nvSpPr>
            <p:spPr bwMode="auto">
              <a:xfrm>
                <a:off x="5204" y="2971"/>
                <a:ext cx="27" cy="17"/>
              </a:xfrm>
              <a:custGeom>
                <a:avLst/>
                <a:gdLst>
                  <a:gd name="T0" fmla="*/ 316 w 316"/>
                  <a:gd name="T1" fmla="*/ 62 h 200"/>
                  <a:gd name="T2" fmla="*/ 219 w 316"/>
                  <a:gd name="T3" fmla="*/ 95 h 200"/>
                  <a:gd name="T4" fmla="*/ 148 w 316"/>
                  <a:gd name="T5" fmla="*/ 82 h 200"/>
                  <a:gd name="T6" fmla="*/ 94 w 316"/>
                  <a:gd name="T7" fmla="*/ 55 h 200"/>
                  <a:gd name="T8" fmla="*/ 41 w 316"/>
                  <a:gd name="T9" fmla="*/ 19 h 200"/>
                  <a:gd name="T10" fmla="*/ 0 w 316"/>
                  <a:gd name="T11" fmla="*/ 0 h 200"/>
                  <a:gd name="T12" fmla="*/ 44 w 316"/>
                  <a:gd name="T13" fmla="*/ 78 h 200"/>
                  <a:gd name="T14" fmla="*/ 94 w 316"/>
                  <a:gd name="T15" fmla="*/ 135 h 200"/>
                  <a:gd name="T16" fmla="*/ 41 w 316"/>
                  <a:gd name="T17" fmla="*/ 195 h 200"/>
                  <a:gd name="T18" fmla="*/ 100 w 316"/>
                  <a:gd name="T19" fmla="*/ 200 h 200"/>
                  <a:gd name="T20" fmla="*/ 197 w 316"/>
                  <a:gd name="T21" fmla="*/ 172 h 200"/>
                  <a:gd name="T22" fmla="*/ 274 w 316"/>
                  <a:gd name="T23" fmla="*/ 130 h 200"/>
                  <a:gd name="T24" fmla="*/ 316 w 316"/>
                  <a:gd name="T25" fmla="*/ 62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16" h="200">
                    <a:moveTo>
                      <a:pt x="316" y="62"/>
                    </a:moveTo>
                    <a:lnTo>
                      <a:pt x="219" y="95"/>
                    </a:lnTo>
                    <a:lnTo>
                      <a:pt x="148" y="82"/>
                    </a:lnTo>
                    <a:lnTo>
                      <a:pt x="94" y="55"/>
                    </a:lnTo>
                    <a:lnTo>
                      <a:pt x="41" y="19"/>
                    </a:lnTo>
                    <a:lnTo>
                      <a:pt x="0" y="0"/>
                    </a:lnTo>
                    <a:lnTo>
                      <a:pt x="44" y="78"/>
                    </a:lnTo>
                    <a:lnTo>
                      <a:pt x="94" y="135"/>
                    </a:lnTo>
                    <a:lnTo>
                      <a:pt x="41" y="195"/>
                    </a:lnTo>
                    <a:lnTo>
                      <a:pt x="100" y="200"/>
                    </a:lnTo>
                    <a:lnTo>
                      <a:pt x="197" y="172"/>
                    </a:lnTo>
                    <a:lnTo>
                      <a:pt x="274" y="130"/>
                    </a:lnTo>
                    <a:lnTo>
                      <a:pt x="316" y="62"/>
                    </a:lnTo>
                    <a:close/>
                  </a:path>
                </a:pathLst>
              </a:custGeom>
              <a:solidFill>
                <a:srgbClr val="C396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44" name="Freeform 484"/>
              <p:cNvSpPr>
                <a:spLocks/>
              </p:cNvSpPr>
              <p:nvPr/>
            </p:nvSpPr>
            <p:spPr bwMode="auto">
              <a:xfrm>
                <a:off x="5200" y="2996"/>
                <a:ext cx="13" cy="17"/>
              </a:xfrm>
              <a:custGeom>
                <a:avLst/>
                <a:gdLst>
                  <a:gd name="T0" fmla="*/ 2 w 163"/>
                  <a:gd name="T1" fmla="*/ 0 h 200"/>
                  <a:gd name="T2" fmla="*/ 0 w 163"/>
                  <a:gd name="T3" fmla="*/ 46 h 200"/>
                  <a:gd name="T4" fmla="*/ 16 w 163"/>
                  <a:gd name="T5" fmla="*/ 88 h 200"/>
                  <a:gd name="T6" fmla="*/ 65 w 163"/>
                  <a:gd name="T7" fmla="*/ 121 h 200"/>
                  <a:gd name="T8" fmla="*/ 112 w 163"/>
                  <a:gd name="T9" fmla="*/ 151 h 200"/>
                  <a:gd name="T10" fmla="*/ 163 w 163"/>
                  <a:gd name="T11" fmla="*/ 200 h 200"/>
                  <a:gd name="T12" fmla="*/ 120 w 163"/>
                  <a:gd name="T13" fmla="*/ 115 h 200"/>
                  <a:gd name="T14" fmla="*/ 81 w 163"/>
                  <a:gd name="T15" fmla="*/ 62 h 200"/>
                  <a:gd name="T16" fmla="*/ 42 w 163"/>
                  <a:gd name="T17" fmla="*/ 39 h 200"/>
                  <a:gd name="T18" fmla="*/ 2 w 163"/>
                  <a:gd name="T19" fmla="*/ 0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3" h="200">
                    <a:moveTo>
                      <a:pt x="2" y="0"/>
                    </a:moveTo>
                    <a:lnTo>
                      <a:pt x="0" y="46"/>
                    </a:lnTo>
                    <a:lnTo>
                      <a:pt x="16" y="88"/>
                    </a:lnTo>
                    <a:lnTo>
                      <a:pt x="65" y="121"/>
                    </a:lnTo>
                    <a:lnTo>
                      <a:pt x="112" y="151"/>
                    </a:lnTo>
                    <a:lnTo>
                      <a:pt x="163" y="200"/>
                    </a:lnTo>
                    <a:lnTo>
                      <a:pt x="120" y="115"/>
                    </a:lnTo>
                    <a:lnTo>
                      <a:pt x="81" y="62"/>
                    </a:lnTo>
                    <a:lnTo>
                      <a:pt x="42" y="39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C396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45" name="Freeform 485"/>
              <p:cNvSpPr>
                <a:spLocks/>
              </p:cNvSpPr>
              <p:nvPr/>
            </p:nvSpPr>
            <p:spPr bwMode="auto">
              <a:xfrm>
                <a:off x="5194" y="3008"/>
                <a:ext cx="12" cy="8"/>
              </a:xfrm>
              <a:custGeom>
                <a:avLst/>
                <a:gdLst>
                  <a:gd name="T0" fmla="*/ 0 w 142"/>
                  <a:gd name="T1" fmla="*/ 0 h 94"/>
                  <a:gd name="T2" fmla="*/ 6 w 142"/>
                  <a:gd name="T3" fmla="*/ 47 h 94"/>
                  <a:gd name="T4" fmla="*/ 19 w 142"/>
                  <a:gd name="T5" fmla="*/ 81 h 94"/>
                  <a:gd name="T6" fmla="*/ 54 w 142"/>
                  <a:gd name="T7" fmla="*/ 94 h 94"/>
                  <a:gd name="T8" fmla="*/ 83 w 142"/>
                  <a:gd name="T9" fmla="*/ 94 h 94"/>
                  <a:gd name="T10" fmla="*/ 142 w 142"/>
                  <a:gd name="T11" fmla="*/ 67 h 94"/>
                  <a:gd name="T12" fmla="*/ 83 w 142"/>
                  <a:gd name="T13" fmla="*/ 59 h 94"/>
                  <a:gd name="T14" fmla="*/ 46 w 142"/>
                  <a:gd name="T15" fmla="*/ 47 h 94"/>
                  <a:gd name="T16" fmla="*/ 18 w 142"/>
                  <a:gd name="T17" fmla="*/ 27 h 94"/>
                  <a:gd name="T18" fmla="*/ 0 w 142"/>
                  <a:gd name="T19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" h="94">
                    <a:moveTo>
                      <a:pt x="0" y="0"/>
                    </a:moveTo>
                    <a:lnTo>
                      <a:pt x="6" y="47"/>
                    </a:lnTo>
                    <a:lnTo>
                      <a:pt x="19" y="81"/>
                    </a:lnTo>
                    <a:lnTo>
                      <a:pt x="54" y="94"/>
                    </a:lnTo>
                    <a:lnTo>
                      <a:pt x="83" y="94"/>
                    </a:lnTo>
                    <a:lnTo>
                      <a:pt x="142" y="67"/>
                    </a:lnTo>
                    <a:lnTo>
                      <a:pt x="83" y="59"/>
                    </a:lnTo>
                    <a:lnTo>
                      <a:pt x="46" y="47"/>
                    </a:lnTo>
                    <a:lnTo>
                      <a:pt x="18" y="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396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46" name="Freeform 486"/>
              <p:cNvSpPr>
                <a:spLocks/>
              </p:cNvSpPr>
              <p:nvPr/>
            </p:nvSpPr>
            <p:spPr bwMode="auto">
              <a:xfrm>
                <a:off x="5181" y="3051"/>
                <a:ext cx="81" cy="45"/>
              </a:xfrm>
              <a:custGeom>
                <a:avLst/>
                <a:gdLst>
                  <a:gd name="T0" fmla="*/ 529 w 982"/>
                  <a:gd name="T1" fmla="*/ 442 h 532"/>
                  <a:gd name="T2" fmla="*/ 576 w 982"/>
                  <a:gd name="T3" fmla="*/ 393 h 532"/>
                  <a:gd name="T4" fmla="*/ 655 w 982"/>
                  <a:gd name="T5" fmla="*/ 359 h 532"/>
                  <a:gd name="T6" fmla="*/ 734 w 982"/>
                  <a:gd name="T7" fmla="*/ 332 h 532"/>
                  <a:gd name="T8" fmla="*/ 801 w 982"/>
                  <a:gd name="T9" fmla="*/ 317 h 532"/>
                  <a:gd name="T10" fmla="*/ 888 w 982"/>
                  <a:gd name="T11" fmla="*/ 294 h 532"/>
                  <a:gd name="T12" fmla="*/ 982 w 982"/>
                  <a:gd name="T13" fmla="*/ 233 h 532"/>
                  <a:gd name="T14" fmla="*/ 918 w 982"/>
                  <a:gd name="T15" fmla="*/ 247 h 532"/>
                  <a:gd name="T16" fmla="*/ 833 w 982"/>
                  <a:gd name="T17" fmla="*/ 254 h 532"/>
                  <a:gd name="T18" fmla="*/ 718 w 982"/>
                  <a:gd name="T19" fmla="*/ 261 h 532"/>
                  <a:gd name="T20" fmla="*/ 620 w 982"/>
                  <a:gd name="T21" fmla="*/ 267 h 532"/>
                  <a:gd name="T22" fmla="*/ 519 w 982"/>
                  <a:gd name="T23" fmla="*/ 273 h 532"/>
                  <a:gd name="T24" fmla="*/ 426 w 982"/>
                  <a:gd name="T25" fmla="*/ 261 h 532"/>
                  <a:gd name="T26" fmla="*/ 342 w 982"/>
                  <a:gd name="T27" fmla="*/ 240 h 532"/>
                  <a:gd name="T28" fmla="*/ 262 w 982"/>
                  <a:gd name="T29" fmla="*/ 211 h 532"/>
                  <a:gd name="T30" fmla="*/ 192 w 982"/>
                  <a:gd name="T31" fmla="*/ 164 h 532"/>
                  <a:gd name="T32" fmla="*/ 128 w 982"/>
                  <a:gd name="T33" fmla="*/ 124 h 532"/>
                  <a:gd name="T34" fmla="*/ 77 w 982"/>
                  <a:gd name="T35" fmla="*/ 80 h 532"/>
                  <a:gd name="T36" fmla="*/ 42 w 982"/>
                  <a:gd name="T37" fmla="*/ 44 h 532"/>
                  <a:gd name="T38" fmla="*/ 0 w 982"/>
                  <a:gd name="T39" fmla="*/ 0 h 532"/>
                  <a:gd name="T40" fmla="*/ 8 w 982"/>
                  <a:gd name="T41" fmla="*/ 61 h 532"/>
                  <a:gd name="T42" fmla="*/ 42 w 982"/>
                  <a:gd name="T43" fmla="*/ 154 h 532"/>
                  <a:gd name="T44" fmla="*/ 121 w 982"/>
                  <a:gd name="T45" fmla="*/ 236 h 532"/>
                  <a:gd name="T46" fmla="*/ 251 w 982"/>
                  <a:gd name="T47" fmla="*/ 339 h 532"/>
                  <a:gd name="T48" fmla="*/ 359 w 982"/>
                  <a:gd name="T49" fmla="*/ 445 h 532"/>
                  <a:gd name="T50" fmla="*/ 422 w 982"/>
                  <a:gd name="T51" fmla="*/ 532 h 532"/>
                  <a:gd name="T52" fmla="*/ 480 w 982"/>
                  <a:gd name="T53" fmla="*/ 493 h 532"/>
                  <a:gd name="T54" fmla="*/ 529 w 982"/>
                  <a:gd name="T55" fmla="*/ 442 h 5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982" h="532">
                    <a:moveTo>
                      <a:pt x="529" y="442"/>
                    </a:moveTo>
                    <a:lnTo>
                      <a:pt x="576" y="393"/>
                    </a:lnTo>
                    <a:lnTo>
                      <a:pt x="655" y="359"/>
                    </a:lnTo>
                    <a:lnTo>
                      <a:pt x="734" y="332"/>
                    </a:lnTo>
                    <a:lnTo>
                      <a:pt x="801" y="317"/>
                    </a:lnTo>
                    <a:lnTo>
                      <a:pt x="888" y="294"/>
                    </a:lnTo>
                    <a:lnTo>
                      <a:pt x="982" y="233"/>
                    </a:lnTo>
                    <a:lnTo>
                      <a:pt x="918" y="247"/>
                    </a:lnTo>
                    <a:lnTo>
                      <a:pt x="833" y="254"/>
                    </a:lnTo>
                    <a:lnTo>
                      <a:pt x="718" y="261"/>
                    </a:lnTo>
                    <a:lnTo>
                      <a:pt x="620" y="267"/>
                    </a:lnTo>
                    <a:lnTo>
                      <a:pt x="519" y="273"/>
                    </a:lnTo>
                    <a:lnTo>
                      <a:pt x="426" y="261"/>
                    </a:lnTo>
                    <a:lnTo>
                      <a:pt x="342" y="240"/>
                    </a:lnTo>
                    <a:lnTo>
                      <a:pt x="262" y="211"/>
                    </a:lnTo>
                    <a:lnTo>
                      <a:pt x="192" y="164"/>
                    </a:lnTo>
                    <a:lnTo>
                      <a:pt x="128" y="124"/>
                    </a:lnTo>
                    <a:lnTo>
                      <a:pt x="77" y="80"/>
                    </a:lnTo>
                    <a:lnTo>
                      <a:pt x="42" y="44"/>
                    </a:lnTo>
                    <a:lnTo>
                      <a:pt x="0" y="0"/>
                    </a:lnTo>
                    <a:lnTo>
                      <a:pt x="8" y="61"/>
                    </a:lnTo>
                    <a:lnTo>
                      <a:pt x="42" y="154"/>
                    </a:lnTo>
                    <a:lnTo>
                      <a:pt x="121" y="236"/>
                    </a:lnTo>
                    <a:lnTo>
                      <a:pt x="251" y="339"/>
                    </a:lnTo>
                    <a:lnTo>
                      <a:pt x="359" y="445"/>
                    </a:lnTo>
                    <a:lnTo>
                      <a:pt x="422" y="532"/>
                    </a:lnTo>
                    <a:lnTo>
                      <a:pt x="480" y="493"/>
                    </a:lnTo>
                    <a:lnTo>
                      <a:pt x="529" y="442"/>
                    </a:lnTo>
                    <a:close/>
                  </a:path>
                </a:pathLst>
              </a:custGeom>
              <a:solidFill>
                <a:srgbClr val="C396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47" name="Freeform 487"/>
              <p:cNvSpPr>
                <a:spLocks/>
              </p:cNvSpPr>
              <p:nvPr/>
            </p:nvSpPr>
            <p:spPr bwMode="auto">
              <a:xfrm>
                <a:off x="5286" y="3019"/>
                <a:ext cx="35" cy="29"/>
              </a:xfrm>
              <a:custGeom>
                <a:avLst/>
                <a:gdLst>
                  <a:gd name="T0" fmla="*/ 115 w 423"/>
                  <a:gd name="T1" fmla="*/ 330 h 349"/>
                  <a:gd name="T2" fmla="*/ 195 w 423"/>
                  <a:gd name="T3" fmla="*/ 282 h 349"/>
                  <a:gd name="T4" fmla="*/ 248 w 423"/>
                  <a:gd name="T5" fmla="*/ 261 h 349"/>
                  <a:gd name="T6" fmla="*/ 297 w 423"/>
                  <a:gd name="T7" fmla="*/ 238 h 349"/>
                  <a:gd name="T8" fmla="*/ 344 w 423"/>
                  <a:gd name="T9" fmla="*/ 204 h 349"/>
                  <a:gd name="T10" fmla="*/ 368 w 423"/>
                  <a:gd name="T11" fmla="*/ 170 h 349"/>
                  <a:gd name="T12" fmla="*/ 380 w 423"/>
                  <a:gd name="T13" fmla="*/ 123 h 349"/>
                  <a:gd name="T14" fmla="*/ 364 w 423"/>
                  <a:gd name="T15" fmla="*/ 75 h 349"/>
                  <a:gd name="T16" fmla="*/ 397 w 423"/>
                  <a:gd name="T17" fmla="*/ 32 h 349"/>
                  <a:gd name="T18" fmla="*/ 423 w 423"/>
                  <a:gd name="T19" fmla="*/ 8 h 349"/>
                  <a:gd name="T20" fmla="*/ 392 w 423"/>
                  <a:gd name="T21" fmla="*/ 0 h 349"/>
                  <a:gd name="T22" fmla="*/ 351 w 423"/>
                  <a:gd name="T23" fmla="*/ 0 h 349"/>
                  <a:gd name="T24" fmla="*/ 313 w 423"/>
                  <a:gd name="T25" fmla="*/ 17 h 349"/>
                  <a:gd name="T26" fmla="*/ 278 w 423"/>
                  <a:gd name="T27" fmla="*/ 28 h 349"/>
                  <a:gd name="T28" fmla="*/ 239 w 423"/>
                  <a:gd name="T29" fmla="*/ 44 h 349"/>
                  <a:gd name="T30" fmla="*/ 206 w 423"/>
                  <a:gd name="T31" fmla="*/ 153 h 349"/>
                  <a:gd name="T32" fmla="*/ 144 w 423"/>
                  <a:gd name="T33" fmla="*/ 166 h 349"/>
                  <a:gd name="T34" fmla="*/ 100 w 423"/>
                  <a:gd name="T35" fmla="*/ 238 h 349"/>
                  <a:gd name="T36" fmla="*/ 72 w 423"/>
                  <a:gd name="T37" fmla="*/ 276 h 349"/>
                  <a:gd name="T38" fmla="*/ 36 w 423"/>
                  <a:gd name="T39" fmla="*/ 282 h 349"/>
                  <a:gd name="T40" fmla="*/ 0 w 423"/>
                  <a:gd name="T41" fmla="*/ 296 h 349"/>
                  <a:gd name="T42" fmla="*/ 11 w 423"/>
                  <a:gd name="T43" fmla="*/ 336 h 349"/>
                  <a:gd name="T44" fmla="*/ 36 w 423"/>
                  <a:gd name="T45" fmla="*/ 349 h 349"/>
                  <a:gd name="T46" fmla="*/ 115 w 423"/>
                  <a:gd name="T47" fmla="*/ 330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423" h="349">
                    <a:moveTo>
                      <a:pt x="115" y="330"/>
                    </a:moveTo>
                    <a:lnTo>
                      <a:pt x="195" y="282"/>
                    </a:lnTo>
                    <a:lnTo>
                      <a:pt x="248" y="261"/>
                    </a:lnTo>
                    <a:lnTo>
                      <a:pt x="297" y="238"/>
                    </a:lnTo>
                    <a:lnTo>
                      <a:pt x="344" y="204"/>
                    </a:lnTo>
                    <a:lnTo>
                      <a:pt x="368" y="170"/>
                    </a:lnTo>
                    <a:lnTo>
                      <a:pt x="380" y="123"/>
                    </a:lnTo>
                    <a:lnTo>
                      <a:pt x="364" y="75"/>
                    </a:lnTo>
                    <a:lnTo>
                      <a:pt x="397" y="32"/>
                    </a:lnTo>
                    <a:lnTo>
                      <a:pt x="423" y="8"/>
                    </a:lnTo>
                    <a:lnTo>
                      <a:pt x="392" y="0"/>
                    </a:lnTo>
                    <a:lnTo>
                      <a:pt x="351" y="0"/>
                    </a:lnTo>
                    <a:lnTo>
                      <a:pt x="313" y="17"/>
                    </a:lnTo>
                    <a:lnTo>
                      <a:pt x="278" y="28"/>
                    </a:lnTo>
                    <a:lnTo>
                      <a:pt x="239" y="44"/>
                    </a:lnTo>
                    <a:lnTo>
                      <a:pt x="206" y="153"/>
                    </a:lnTo>
                    <a:lnTo>
                      <a:pt x="144" y="166"/>
                    </a:lnTo>
                    <a:lnTo>
                      <a:pt x="100" y="238"/>
                    </a:lnTo>
                    <a:lnTo>
                      <a:pt x="72" y="276"/>
                    </a:lnTo>
                    <a:lnTo>
                      <a:pt x="36" y="282"/>
                    </a:lnTo>
                    <a:lnTo>
                      <a:pt x="0" y="296"/>
                    </a:lnTo>
                    <a:lnTo>
                      <a:pt x="11" y="336"/>
                    </a:lnTo>
                    <a:lnTo>
                      <a:pt x="36" y="349"/>
                    </a:lnTo>
                    <a:lnTo>
                      <a:pt x="115" y="330"/>
                    </a:lnTo>
                    <a:close/>
                  </a:path>
                </a:pathLst>
              </a:custGeom>
              <a:solidFill>
                <a:srgbClr val="C396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48" name="Freeform 488"/>
              <p:cNvSpPr>
                <a:spLocks/>
              </p:cNvSpPr>
              <p:nvPr/>
            </p:nvSpPr>
            <p:spPr bwMode="auto">
              <a:xfrm>
                <a:off x="5278" y="3006"/>
                <a:ext cx="124" cy="126"/>
              </a:xfrm>
              <a:custGeom>
                <a:avLst/>
                <a:gdLst>
                  <a:gd name="T0" fmla="*/ 603 w 1484"/>
                  <a:gd name="T1" fmla="*/ 436 h 1510"/>
                  <a:gd name="T2" fmla="*/ 525 w 1484"/>
                  <a:gd name="T3" fmla="*/ 490 h 1510"/>
                  <a:gd name="T4" fmla="*/ 445 w 1484"/>
                  <a:gd name="T5" fmla="*/ 530 h 1510"/>
                  <a:gd name="T6" fmla="*/ 364 w 1484"/>
                  <a:gd name="T7" fmla="*/ 575 h 1510"/>
                  <a:gd name="T8" fmla="*/ 303 w 1484"/>
                  <a:gd name="T9" fmla="*/ 623 h 1510"/>
                  <a:gd name="T10" fmla="*/ 232 w 1484"/>
                  <a:gd name="T11" fmla="*/ 659 h 1510"/>
                  <a:gd name="T12" fmla="*/ 131 w 1484"/>
                  <a:gd name="T13" fmla="*/ 669 h 1510"/>
                  <a:gd name="T14" fmla="*/ 56 w 1484"/>
                  <a:gd name="T15" fmla="*/ 630 h 1510"/>
                  <a:gd name="T16" fmla="*/ 0 w 1484"/>
                  <a:gd name="T17" fmla="*/ 677 h 1510"/>
                  <a:gd name="T18" fmla="*/ 19 w 1484"/>
                  <a:gd name="T19" fmla="*/ 760 h 1510"/>
                  <a:gd name="T20" fmla="*/ 98 w 1484"/>
                  <a:gd name="T21" fmla="*/ 880 h 1510"/>
                  <a:gd name="T22" fmla="*/ 157 w 1484"/>
                  <a:gd name="T23" fmla="*/ 964 h 1510"/>
                  <a:gd name="T24" fmla="*/ 149 w 1484"/>
                  <a:gd name="T25" fmla="*/ 1102 h 1510"/>
                  <a:gd name="T26" fmla="*/ 121 w 1484"/>
                  <a:gd name="T27" fmla="*/ 1214 h 1510"/>
                  <a:gd name="T28" fmla="*/ 98 w 1484"/>
                  <a:gd name="T29" fmla="*/ 1299 h 1510"/>
                  <a:gd name="T30" fmla="*/ 36 w 1484"/>
                  <a:gd name="T31" fmla="*/ 1430 h 1510"/>
                  <a:gd name="T32" fmla="*/ 722 w 1484"/>
                  <a:gd name="T33" fmla="*/ 1510 h 1510"/>
                  <a:gd name="T34" fmla="*/ 1484 w 1484"/>
                  <a:gd name="T35" fmla="*/ 0 h 1510"/>
                  <a:gd name="T36" fmla="*/ 603 w 1484"/>
                  <a:gd name="T37" fmla="*/ 436 h 1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84" h="1510">
                    <a:moveTo>
                      <a:pt x="603" y="436"/>
                    </a:moveTo>
                    <a:lnTo>
                      <a:pt x="525" y="490"/>
                    </a:lnTo>
                    <a:lnTo>
                      <a:pt x="445" y="530"/>
                    </a:lnTo>
                    <a:lnTo>
                      <a:pt x="364" y="575"/>
                    </a:lnTo>
                    <a:lnTo>
                      <a:pt x="303" y="623"/>
                    </a:lnTo>
                    <a:lnTo>
                      <a:pt x="232" y="659"/>
                    </a:lnTo>
                    <a:lnTo>
                      <a:pt x="131" y="669"/>
                    </a:lnTo>
                    <a:lnTo>
                      <a:pt x="56" y="630"/>
                    </a:lnTo>
                    <a:lnTo>
                      <a:pt x="0" y="677"/>
                    </a:lnTo>
                    <a:lnTo>
                      <a:pt x="19" y="760"/>
                    </a:lnTo>
                    <a:lnTo>
                      <a:pt x="98" y="880"/>
                    </a:lnTo>
                    <a:lnTo>
                      <a:pt x="157" y="964"/>
                    </a:lnTo>
                    <a:lnTo>
                      <a:pt x="149" y="1102"/>
                    </a:lnTo>
                    <a:lnTo>
                      <a:pt x="121" y="1214"/>
                    </a:lnTo>
                    <a:lnTo>
                      <a:pt x="98" y="1299"/>
                    </a:lnTo>
                    <a:lnTo>
                      <a:pt x="36" y="1430"/>
                    </a:lnTo>
                    <a:lnTo>
                      <a:pt x="722" y="1510"/>
                    </a:lnTo>
                    <a:lnTo>
                      <a:pt x="1484" y="0"/>
                    </a:lnTo>
                    <a:lnTo>
                      <a:pt x="603" y="436"/>
                    </a:lnTo>
                    <a:close/>
                  </a:path>
                </a:pathLst>
              </a:custGeom>
              <a:solidFill>
                <a:srgbClr val="C396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49" name="Freeform 489"/>
              <p:cNvSpPr>
                <a:spLocks/>
              </p:cNvSpPr>
              <p:nvPr/>
            </p:nvSpPr>
            <p:spPr bwMode="auto">
              <a:xfrm>
                <a:off x="5212" y="2970"/>
                <a:ext cx="23" cy="13"/>
              </a:xfrm>
              <a:custGeom>
                <a:avLst/>
                <a:gdLst>
                  <a:gd name="T0" fmla="*/ 275 w 275"/>
                  <a:gd name="T1" fmla="*/ 0 h 161"/>
                  <a:gd name="T2" fmla="*/ 226 w 275"/>
                  <a:gd name="T3" fmla="*/ 56 h 161"/>
                  <a:gd name="T4" fmla="*/ 219 w 275"/>
                  <a:gd name="T5" fmla="*/ 86 h 161"/>
                  <a:gd name="T6" fmla="*/ 175 w 275"/>
                  <a:gd name="T7" fmla="*/ 127 h 161"/>
                  <a:gd name="T8" fmla="*/ 128 w 275"/>
                  <a:gd name="T9" fmla="*/ 150 h 161"/>
                  <a:gd name="T10" fmla="*/ 72 w 275"/>
                  <a:gd name="T11" fmla="*/ 161 h 161"/>
                  <a:gd name="T12" fmla="*/ 33 w 275"/>
                  <a:gd name="T13" fmla="*/ 159 h 161"/>
                  <a:gd name="T14" fmla="*/ 0 w 275"/>
                  <a:gd name="T15" fmla="*/ 154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5" h="161">
                    <a:moveTo>
                      <a:pt x="275" y="0"/>
                    </a:moveTo>
                    <a:lnTo>
                      <a:pt x="226" y="56"/>
                    </a:lnTo>
                    <a:lnTo>
                      <a:pt x="219" y="86"/>
                    </a:lnTo>
                    <a:lnTo>
                      <a:pt x="175" y="127"/>
                    </a:lnTo>
                    <a:lnTo>
                      <a:pt x="128" y="150"/>
                    </a:lnTo>
                    <a:lnTo>
                      <a:pt x="72" y="161"/>
                    </a:lnTo>
                    <a:lnTo>
                      <a:pt x="33" y="159"/>
                    </a:lnTo>
                    <a:lnTo>
                      <a:pt x="0" y="154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50" name="Freeform 490"/>
              <p:cNvSpPr>
                <a:spLocks/>
              </p:cNvSpPr>
              <p:nvPr/>
            </p:nvSpPr>
            <p:spPr bwMode="auto">
              <a:xfrm>
                <a:off x="5210" y="2978"/>
                <a:ext cx="7" cy="5"/>
              </a:xfrm>
              <a:custGeom>
                <a:avLst/>
                <a:gdLst>
                  <a:gd name="T0" fmla="*/ 82 w 82"/>
                  <a:gd name="T1" fmla="*/ 56 h 56"/>
                  <a:gd name="T2" fmla="*/ 30 w 82"/>
                  <a:gd name="T3" fmla="*/ 16 h 56"/>
                  <a:gd name="T4" fmla="*/ 0 w 82"/>
                  <a:gd name="T5" fmla="*/ 0 h 56"/>
                  <a:gd name="T6" fmla="*/ 45 w 82"/>
                  <a:gd name="T7" fmla="*/ 51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2" h="56">
                    <a:moveTo>
                      <a:pt x="82" y="56"/>
                    </a:moveTo>
                    <a:lnTo>
                      <a:pt x="30" y="16"/>
                    </a:lnTo>
                    <a:lnTo>
                      <a:pt x="0" y="0"/>
                    </a:lnTo>
                    <a:lnTo>
                      <a:pt x="45" y="51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51" name="Freeform 491"/>
              <p:cNvSpPr>
                <a:spLocks/>
              </p:cNvSpPr>
              <p:nvPr/>
            </p:nvSpPr>
            <p:spPr bwMode="auto">
              <a:xfrm>
                <a:off x="5213" y="2980"/>
                <a:ext cx="15" cy="50"/>
              </a:xfrm>
              <a:custGeom>
                <a:avLst/>
                <a:gdLst>
                  <a:gd name="T0" fmla="*/ 179 w 179"/>
                  <a:gd name="T1" fmla="*/ 0 h 595"/>
                  <a:gd name="T2" fmla="*/ 142 w 179"/>
                  <a:gd name="T3" fmla="*/ 80 h 595"/>
                  <a:gd name="T4" fmla="*/ 128 w 179"/>
                  <a:gd name="T5" fmla="*/ 150 h 595"/>
                  <a:gd name="T6" fmla="*/ 124 w 179"/>
                  <a:gd name="T7" fmla="*/ 215 h 595"/>
                  <a:gd name="T8" fmla="*/ 109 w 179"/>
                  <a:gd name="T9" fmla="*/ 276 h 595"/>
                  <a:gd name="T10" fmla="*/ 78 w 179"/>
                  <a:gd name="T11" fmla="*/ 378 h 595"/>
                  <a:gd name="T12" fmla="*/ 39 w 179"/>
                  <a:gd name="T13" fmla="*/ 465 h 595"/>
                  <a:gd name="T14" fmla="*/ 1 w 179"/>
                  <a:gd name="T15" fmla="*/ 551 h 595"/>
                  <a:gd name="T16" fmla="*/ 0 w 179"/>
                  <a:gd name="T17" fmla="*/ 595 h 5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9" h="595">
                    <a:moveTo>
                      <a:pt x="179" y="0"/>
                    </a:moveTo>
                    <a:lnTo>
                      <a:pt x="142" y="80"/>
                    </a:lnTo>
                    <a:lnTo>
                      <a:pt x="128" y="150"/>
                    </a:lnTo>
                    <a:lnTo>
                      <a:pt x="124" y="215"/>
                    </a:lnTo>
                    <a:lnTo>
                      <a:pt x="109" y="276"/>
                    </a:lnTo>
                    <a:lnTo>
                      <a:pt x="78" y="378"/>
                    </a:lnTo>
                    <a:lnTo>
                      <a:pt x="39" y="465"/>
                    </a:lnTo>
                    <a:lnTo>
                      <a:pt x="1" y="551"/>
                    </a:lnTo>
                    <a:lnTo>
                      <a:pt x="0" y="595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52" name="Freeform 492"/>
              <p:cNvSpPr>
                <a:spLocks/>
              </p:cNvSpPr>
              <p:nvPr/>
            </p:nvSpPr>
            <p:spPr bwMode="auto">
              <a:xfrm>
                <a:off x="5250" y="2942"/>
                <a:ext cx="4" cy="10"/>
              </a:xfrm>
              <a:custGeom>
                <a:avLst/>
                <a:gdLst>
                  <a:gd name="T0" fmla="*/ 43 w 51"/>
                  <a:gd name="T1" fmla="*/ 0 h 125"/>
                  <a:gd name="T2" fmla="*/ 51 w 51"/>
                  <a:gd name="T3" fmla="*/ 27 h 125"/>
                  <a:gd name="T4" fmla="*/ 31 w 51"/>
                  <a:gd name="T5" fmla="*/ 69 h 125"/>
                  <a:gd name="T6" fmla="*/ 14 w 51"/>
                  <a:gd name="T7" fmla="*/ 97 h 125"/>
                  <a:gd name="T8" fmla="*/ 0 w 51"/>
                  <a:gd name="T9" fmla="*/ 125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" h="125">
                    <a:moveTo>
                      <a:pt x="43" y="0"/>
                    </a:moveTo>
                    <a:lnTo>
                      <a:pt x="51" y="27"/>
                    </a:lnTo>
                    <a:lnTo>
                      <a:pt x="31" y="69"/>
                    </a:lnTo>
                    <a:lnTo>
                      <a:pt x="14" y="97"/>
                    </a:lnTo>
                    <a:lnTo>
                      <a:pt x="0" y="125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53" name="Freeform 493"/>
              <p:cNvSpPr>
                <a:spLocks/>
              </p:cNvSpPr>
              <p:nvPr/>
            </p:nvSpPr>
            <p:spPr bwMode="auto">
              <a:xfrm>
                <a:off x="5255" y="2946"/>
                <a:ext cx="13" cy="9"/>
              </a:xfrm>
              <a:custGeom>
                <a:avLst/>
                <a:gdLst>
                  <a:gd name="T0" fmla="*/ 0 w 159"/>
                  <a:gd name="T1" fmla="*/ 0 h 112"/>
                  <a:gd name="T2" fmla="*/ 27 w 159"/>
                  <a:gd name="T3" fmla="*/ 5 h 112"/>
                  <a:gd name="T4" fmla="*/ 62 w 159"/>
                  <a:gd name="T5" fmla="*/ 23 h 112"/>
                  <a:gd name="T6" fmla="*/ 129 w 159"/>
                  <a:gd name="T7" fmla="*/ 70 h 112"/>
                  <a:gd name="T8" fmla="*/ 159 w 159"/>
                  <a:gd name="T9" fmla="*/ 112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9" h="112">
                    <a:moveTo>
                      <a:pt x="0" y="0"/>
                    </a:moveTo>
                    <a:lnTo>
                      <a:pt x="27" y="5"/>
                    </a:lnTo>
                    <a:lnTo>
                      <a:pt x="62" y="23"/>
                    </a:lnTo>
                    <a:lnTo>
                      <a:pt x="129" y="70"/>
                    </a:lnTo>
                    <a:lnTo>
                      <a:pt x="159" y="112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54" name="Freeform 494"/>
              <p:cNvSpPr>
                <a:spLocks/>
              </p:cNvSpPr>
              <p:nvPr/>
            </p:nvSpPr>
            <p:spPr bwMode="auto">
              <a:xfrm>
                <a:off x="5248" y="2959"/>
                <a:ext cx="8" cy="4"/>
              </a:xfrm>
              <a:custGeom>
                <a:avLst/>
                <a:gdLst>
                  <a:gd name="T0" fmla="*/ 0 w 106"/>
                  <a:gd name="T1" fmla="*/ 0 h 40"/>
                  <a:gd name="T2" fmla="*/ 23 w 106"/>
                  <a:gd name="T3" fmla="*/ 22 h 40"/>
                  <a:gd name="T4" fmla="*/ 52 w 106"/>
                  <a:gd name="T5" fmla="*/ 35 h 40"/>
                  <a:gd name="T6" fmla="*/ 106 w 106"/>
                  <a:gd name="T7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6" h="40">
                    <a:moveTo>
                      <a:pt x="0" y="0"/>
                    </a:moveTo>
                    <a:lnTo>
                      <a:pt x="23" y="22"/>
                    </a:lnTo>
                    <a:lnTo>
                      <a:pt x="52" y="35"/>
                    </a:lnTo>
                    <a:lnTo>
                      <a:pt x="106" y="40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55" name="Freeform 495"/>
              <p:cNvSpPr>
                <a:spLocks/>
              </p:cNvSpPr>
              <p:nvPr/>
            </p:nvSpPr>
            <p:spPr bwMode="auto">
              <a:xfrm>
                <a:off x="5244" y="2950"/>
                <a:ext cx="20" cy="10"/>
              </a:xfrm>
              <a:custGeom>
                <a:avLst/>
                <a:gdLst>
                  <a:gd name="T0" fmla="*/ 67 w 242"/>
                  <a:gd name="T1" fmla="*/ 24 h 117"/>
                  <a:gd name="T2" fmla="*/ 0 w 242"/>
                  <a:gd name="T3" fmla="*/ 0 h 117"/>
                  <a:gd name="T4" fmla="*/ 54 w 242"/>
                  <a:gd name="T5" fmla="*/ 39 h 117"/>
                  <a:gd name="T6" fmla="*/ 80 w 242"/>
                  <a:gd name="T7" fmla="*/ 56 h 117"/>
                  <a:gd name="T8" fmla="*/ 53 w 242"/>
                  <a:gd name="T9" fmla="*/ 62 h 117"/>
                  <a:gd name="T10" fmla="*/ 92 w 242"/>
                  <a:gd name="T11" fmla="*/ 69 h 117"/>
                  <a:gd name="T12" fmla="*/ 129 w 242"/>
                  <a:gd name="T13" fmla="*/ 88 h 117"/>
                  <a:gd name="T14" fmla="*/ 185 w 242"/>
                  <a:gd name="T15" fmla="*/ 111 h 117"/>
                  <a:gd name="T16" fmla="*/ 242 w 242"/>
                  <a:gd name="T17" fmla="*/ 117 h 117"/>
                  <a:gd name="T18" fmla="*/ 191 w 242"/>
                  <a:gd name="T19" fmla="*/ 98 h 117"/>
                  <a:gd name="T20" fmla="*/ 140 w 242"/>
                  <a:gd name="T21" fmla="*/ 73 h 117"/>
                  <a:gd name="T22" fmla="*/ 95 w 242"/>
                  <a:gd name="T23" fmla="*/ 45 h 117"/>
                  <a:gd name="T24" fmla="*/ 67 w 242"/>
                  <a:gd name="T25" fmla="*/ 24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42" h="117">
                    <a:moveTo>
                      <a:pt x="67" y="24"/>
                    </a:moveTo>
                    <a:lnTo>
                      <a:pt x="0" y="0"/>
                    </a:lnTo>
                    <a:lnTo>
                      <a:pt x="54" y="39"/>
                    </a:lnTo>
                    <a:lnTo>
                      <a:pt x="80" y="56"/>
                    </a:lnTo>
                    <a:lnTo>
                      <a:pt x="53" y="62"/>
                    </a:lnTo>
                    <a:lnTo>
                      <a:pt x="92" y="69"/>
                    </a:lnTo>
                    <a:lnTo>
                      <a:pt x="129" y="88"/>
                    </a:lnTo>
                    <a:lnTo>
                      <a:pt x="185" y="111"/>
                    </a:lnTo>
                    <a:lnTo>
                      <a:pt x="242" y="117"/>
                    </a:lnTo>
                    <a:lnTo>
                      <a:pt x="191" y="98"/>
                    </a:lnTo>
                    <a:lnTo>
                      <a:pt x="140" y="73"/>
                    </a:lnTo>
                    <a:lnTo>
                      <a:pt x="95" y="45"/>
                    </a:lnTo>
                    <a:lnTo>
                      <a:pt x="67" y="24"/>
                    </a:lnTo>
                    <a:close/>
                  </a:path>
                </a:pathLst>
              </a:custGeom>
              <a:solidFill>
                <a:srgbClr val="1315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56" name="Freeform 496"/>
              <p:cNvSpPr>
                <a:spLocks/>
              </p:cNvSpPr>
              <p:nvPr/>
            </p:nvSpPr>
            <p:spPr bwMode="auto">
              <a:xfrm>
                <a:off x="5244" y="2950"/>
                <a:ext cx="20" cy="10"/>
              </a:xfrm>
              <a:custGeom>
                <a:avLst/>
                <a:gdLst>
                  <a:gd name="T0" fmla="*/ 67 w 242"/>
                  <a:gd name="T1" fmla="*/ 24 h 117"/>
                  <a:gd name="T2" fmla="*/ 0 w 242"/>
                  <a:gd name="T3" fmla="*/ 0 h 117"/>
                  <a:gd name="T4" fmla="*/ 54 w 242"/>
                  <a:gd name="T5" fmla="*/ 39 h 117"/>
                  <a:gd name="T6" fmla="*/ 80 w 242"/>
                  <a:gd name="T7" fmla="*/ 56 h 117"/>
                  <a:gd name="T8" fmla="*/ 53 w 242"/>
                  <a:gd name="T9" fmla="*/ 62 h 117"/>
                  <a:gd name="T10" fmla="*/ 92 w 242"/>
                  <a:gd name="T11" fmla="*/ 69 h 117"/>
                  <a:gd name="T12" fmla="*/ 129 w 242"/>
                  <a:gd name="T13" fmla="*/ 88 h 117"/>
                  <a:gd name="T14" fmla="*/ 185 w 242"/>
                  <a:gd name="T15" fmla="*/ 111 h 117"/>
                  <a:gd name="T16" fmla="*/ 242 w 242"/>
                  <a:gd name="T17" fmla="*/ 117 h 117"/>
                  <a:gd name="T18" fmla="*/ 191 w 242"/>
                  <a:gd name="T19" fmla="*/ 98 h 117"/>
                  <a:gd name="T20" fmla="*/ 140 w 242"/>
                  <a:gd name="T21" fmla="*/ 73 h 117"/>
                  <a:gd name="T22" fmla="*/ 95 w 242"/>
                  <a:gd name="T23" fmla="*/ 45 h 117"/>
                  <a:gd name="T24" fmla="*/ 67 w 242"/>
                  <a:gd name="T25" fmla="*/ 24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42" h="117">
                    <a:moveTo>
                      <a:pt x="67" y="24"/>
                    </a:moveTo>
                    <a:lnTo>
                      <a:pt x="0" y="0"/>
                    </a:lnTo>
                    <a:lnTo>
                      <a:pt x="54" y="39"/>
                    </a:lnTo>
                    <a:lnTo>
                      <a:pt x="80" y="56"/>
                    </a:lnTo>
                    <a:lnTo>
                      <a:pt x="53" y="62"/>
                    </a:lnTo>
                    <a:lnTo>
                      <a:pt x="92" y="69"/>
                    </a:lnTo>
                    <a:lnTo>
                      <a:pt x="129" y="88"/>
                    </a:lnTo>
                    <a:lnTo>
                      <a:pt x="185" y="111"/>
                    </a:lnTo>
                    <a:lnTo>
                      <a:pt x="242" y="117"/>
                    </a:lnTo>
                    <a:lnTo>
                      <a:pt x="191" y="98"/>
                    </a:lnTo>
                    <a:lnTo>
                      <a:pt x="140" y="73"/>
                    </a:lnTo>
                    <a:lnTo>
                      <a:pt x="95" y="45"/>
                    </a:lnTo>
                    <a:lnTo>
                      <a:pt x="67" y="24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57" name="Line 497"/>
              <p:cNvSpPr>
                <a:spLocks noChangeShapeType="1"/>
              </p:cNvSpPr>
              <p:nvPr/>
            </p:nvSpPr>
            <p:spPr bwMode="auto">
              <a:xfrm>
                <a:off x="5268" y="2962"/>
                <a:ext cx="3" cy="2"/>
              </a:xfrm>
              <a:prstGeom prst="line">
                <a:avLst/>
              </a:prstGeom>
              <a:noFill/>
              <a:ln w="1588">
                <a:solidFill>
                  <a:srgbClr val="13151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58" name="Line 498"/>
              <p:cNvSpPr>
                <a:spLocks noChangeShapeType="1"/>
              </p:cNvSpPr>
              <p:nvPr/>
            </p:nvSpPr>
            <p:spPr bwMode="auto">
              <a:xfrm>
                <a:off x="5265" y="296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13151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59" name="Freeform 499"/>
              <p:cNvSpPr>
                <a:spLocks/>
              </p:cNvSpPr>
              <p:nvPr/>
            </p:nvSpPr>
            <p:spPr bwMode="auto">
              <a:xfrm>
                <a:off x="5240" y="2956"/>
                <a:ext cx="7" cy="8"/>
              </a:xfrm>
              <a:custGeom>
                <a:avLst/>
                <a:gdLst>
                  <a:gd name="T0" fmla="*/ 89 w 89"/>
                  <a:gd name="T1" fmla="*/ 0 h 90"/>
                  <a:gd name="T2" fmla="*/ 85 w 89"/>
                  <a:gd name="T3" fmla="*/ 21 h 90"/>
                  <a:gd name="T4" fmla="*/ 26 w 89"/>
                  <a:gd name="T5" fmla="*/ 59 h 90"/>
                  <a:gd name="T6" fmla="*/ 0 w 89"/>
                  <a:gd name="T7" fmla="*/ 9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9" h="90">
                    <a:moveTo>
                      <a:pt x="89" y="0"/>
                    </a:moveTo>
                    <a:lnTo>
                      <a:pt x="85" y="21"/>
                    </a:lnTo>
                    <a:lnTo>
                      <a:pt x="26" y="59"/>
                    </a:lnTo>
                    <a:lnTo>
                      <a:pt x="0" y="90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60" name="Freeform 500"/>
              <p:cNvSpPr>
                <a:spLocks/>
              </p:cNvSpPr>
              <p:nvPr/>
            </p:nvSpPr>
            <p:spPr bwMode="auto">
              <a:xfrm>
                <a:off x="5279" y="3051"/>
                <a:ext cx="4" cy="8"/>
              </a:xfrm>
              <a:custGeom>
                <a:avLst/>
                <a:gdLst>
                  <a:gd name="T0" fmla="*/ 0 w 50"/>
                  <a:gd name="T1" fmla="*/ 0 h 97"/>
                  <a:gd name="T2" fmla="*/ 4 w 50"/>
                  <a:gd name="T3" fmla="*/ 48 h 97"/>
                  <a:gd name="T4" fmla="*/ 50 w 50"/>
                  <a:gd name="T5" fmla="*/ 97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0" h="97">
                    <a:moveTo>
                      <a:pt x="0" y="0"/>
                    </a:moveTo>
                    <a:lnTo>
                      <a:pt x="4" y="48"/>
                    </a:lnTo>
                    <a:lnTo>
                      <a:pt x="50" y="97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61" name="Freeform 501"/>
              <p:cNvSpPr>
                <a:spLocks/>
              </p:cNvSpPr>
              <p:nvPr/>
            </p:nvSpPr>
            <p:spPr bwMode="auto">
              <a:xfrm>
                <a:off x="5297" y="3019"/>
                <a:ext cx="28" cy="29"/>
              </a:xfrm>
              <a:custGeom>
                <a:avLst/>
                <a:gdLst>
                  <a:gd name="T0" fmla="*/ 0 w 330"/>
                  <a:gd name="T1" fmla="*/ 349 h 349"/>
                  <a:gd name="T2" fmla="*/ 152 w 330"/>
                  <a:gd name="T3" fmla="*/ 314 h 349"/>
                  <a:gd name="T4" fmla="*/ 238 w 330"/>
                  <a:gd name="T5" fmla="*/ 272 h 349"/>
                  <a:gd name="T6" fmla="*/ 285 w 330"/>
                  <a:gd name="T7" fmla="*/ 229 h 349"/>
                  <a:gd name="T8" fmla="*/ 319 w 330"/>
                  <a:gd name="T9" fmla="*/ 175 h 349"/>
                  <a:gd name="T10" fmla="*/ 326 w 330"/>
                  <a:gd name="T11" fmla="*/ 137 h 349"/>
                  <a:gd name="T12" fmla="*/ 330 w 330"/>
                  <a:gd name="T13" fmla="*/ 85 h 349"/>
                  <a:gd name="T14" fmla="*/ 319 w 330"/>
                  <a:gd name="T15" fmla="*/ 39 h 349"/>
                  <a:gd name="T16" fmla="*/ 297 w 330"/>
                  <a:gd name="T17" fmla="*/ 9 h 349"/>
                  <a:gd name="T18" fmla="*/ 257 w 330"/>
                  <a:gd name="T19" fmla="*/ 0 h 349"/>
                  <a:gd name="T20" fmla="*/ 213 w 330"/>
                  <a:gd name="T21" fmla="*/ 2 h 349"/>
                  <a:gd name="T22" fmla="*/ 175 w 330"/>
                  <a:gd name="T23" fmla="*/ 17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30" h="349">
                    <a:moveTo>
                      <a:pt x="0" y="349"/>
                    </a:moveTo>
                    <a:lnTo>
                      <a:pt x="152" y="314"/>
                    </a:lnTo>
                    <a:lnTo>
                      <a:pt x="238" y="272"/>
                    </a:lnTo>
                    <a:lnTo>
                      <a:pt x="285" y="229"/>
                    </a:lnTo>
                    <a:lnTo>
                      <a:pt x="319" y="175"/>
                    </a:lnTo>
                    <a:lnTo>
                      <a:pt x="326" y="137"/>
                    </a:lnTo>
                    <a:lnTo>
                      <a:pt x="330" y="85"/>
                    </a:lnTo>
                    <a:lnTo>
                      <a:pt x="319" y="39"/>
                    </a:lnTo>
                    <a:lnTo>
                      <a:pt x="297" y="9"/>
                    </a:lnTo>
                    <a:lnTo>
                      <a:pt x="257" y="0"/>
                    </a:lnTo>
                    <a:lnTo>
                      <a:pt x="213" y="2"/>
                    </a:lnTo>
                    <a:lnTo>
                      <a:pt x="175" y="17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62" name="Freeform 502"/>
              <p:cNvSpPr>
                <a:spLocks/>
              </p:cNvSpPr>
              <p:nvPr/>
            </p:nvSpPr>
            <p:spPr bwMode="auto">
              <a:xfrm>
                <a:off x="5289" y="3042"/>
                <a:ext cx="13" cy="6"/>
              </a:xfrm>
              <a:custGeom>
                <a:avLst/>
                <a:gdLst>
                  <a:gd name="T0" fmla="*/ 0 w 158"/>
                  <a:gd name="T1" fmla="*/ 67 h 67"/>
                  <a:gd name="T2" fmla="*/ 107 w 158"/>
                  <a:gd name="T3" fmla="*/ 67 h 67"/>
                  <a:gd name="T4" fmla="*/ 158 w 158"/>
                  <a:gd name="T5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8" h="67">
                    <a:moveTo>
                      <a:pt x="0" y="67"/>
                    </a:moveTo>
                    <a:lnTo>
                      <a:pt x="107" y="67"/>
                    </a:lnTo>
                    <a:lnTo>
                      <a:pt x="158" y="0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63" name="Freeform 503"/>
              <p:cNvSpPr>
                <a:spLocks/>
              </p:cNvSpPr>
              <p:nvPr/>
            </p:nvSpPr>
            <p:spPr bwMode="auto">
              <a:xfrm>
                <a:off x="5289" y="3042"/>
                <a:ext cx="13" cy="6"/>
              </a:xfrm>
              <a:custGeom>
                <a:avLst/>
                <a:gdLst>
                  <a:gd name="T0" fmla="*/ 0 w 158"/>
                  <a:gd name="T1" fmla="*/ 67 h 67"/>
                  <a:gd name="T2" fmla="*/ 107 w 158"/>
                  <a:gd name="T3" fmla="*/ 67 h 67"/>
                  <a:gd name="T4" fmla="*/ 158 w 158"/>
                  <a:gd name="T5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8" h="67">
                    <a:moveTo>
                      <a:pt x="0" y="67"/>
                    </a:moveTo>
                    <a:lnTo>
                      <a:pt x="107" y="67"/>
                    </a:lnTo>
                    <a:lnTo>
                      <a:pt x="158" y="0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64" name="Line 504"/>
              <p:cNvSpPr>
                <a:spLocks noChangeShapeType="1"/>
              </p:cNvSpPr>
              <p:nvPr/>
            </p:nvSpPr>
            <p:spPr bwMode="auto">
              <a:xfrm flipH="1" flipV="1">
                <a:off x="5312" y="3020"/>
                <a:ext cx="4" cy="6"/>
              </a:xfrm>
              <a:prstGeom prst="line">
                <a:avLst/>
              </a:prstGeom>
              <a:noFill/>
              <a:ln w="1588">
                <a:solidFill>
                  <a:srgbClr val="13151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65" name="Freeform 505"/>
              <p:cNvSpPr>
                <a:spLocks/>
              </p:cNvSpPr>
              <p:nvPr/>
            </p:nvSpPr>
            <p:spPr bwMode="auto">
              <a:xfrm>
                <a:off x="5299" y="3028"/>
                <a:ext cx="8" cy="11"/>
              </a:xfrm>
              <a:custGeom>
                <a:avLst/>
                <a:gdLst>
                  <a:gd name="T0" fmla="*/ 97 w 97"/>
                  <a:gd name="T1" fmla="*/ 0 h 128"/>
                  <a:gd name="T2" fmla="*/ 94 w 97"/>
                  <a:gd name="T3" fmla="*/ 47 h 128"/>
                  <a:gd name="T4" fmla="*/ 97 w 97"/>
                  <a:gd name="T5" fmla="*/ 94 h 128"/>
                  <a:gd name="T6" fmla="*/ 52 w 97"/>
                  <a:gd name="T7" fmla="*/ 119 h 128"/>
                  <a:gd name="T8" fmla="*/ 0 w 97"/>
                  <a:gd name="T9" fmla="*/ 12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7" h="128">
                    <a:moveTo>
                      <a:pt x="97" y="0"/>
                    </a:moveTo>
                    <a:lnTo>
                      <a:pt x="94" y="47"/>
                    </a:lnTo>
                    <a:lnTo>
                      <a:pt x="97" y="94"/>
                    </a:lnTo>
                    <a:lnTo>
                      <a:pt x="52" y="119"/>
                    </a:lnTo>
                    <a:lnTo>
                      <a:pt x="0" y="128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66" name="Freeform 506"/>
              <p:cNvSpPr>
                <a:spLocks/>
              </p:cNvSpPr>
              <p:nvPr/>
            </p:nvSpPr>
            <p:spPr bwMode="auto">
              <a:xfrm>
                <a:off x="5295" y="3012"/>
                <a:ext cx="17" cy="8"/>
              </a:xfrm>
              <a:custGeom>
                <a:avLst/>
                <a:gdLst>
                  <a:gd name="T0" fmla="*/ 204 w 204"/>
                  <a:gd name="T1" fmla="*/ 0 h 94"/>
                  <a:gd name="T2" fmla="*/ 140 w 204"/>
                  <a:gd name="T3" fmla="*/ 25 h 94"/>
                  <a:gd name="T4" fmla="*/ 38 w 204"/>
                  <a:gd name="T5" fmla="*/ 94 h 94"/>
                  <a:gd name="T6" fmla="*/ 0 w 204"/>
                  <a:gd name="T7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4" h="94">
                    <a:moveTo>
                      <a:pt x="204" y="0"/>
                    </a:moveTo>
                    <a:lnTo>
                      <a:pt x="140" y="25"/>
                    </a:lnTo>
                    <a:lnTo>
                      <a:pt x="38" y="94"/>
                    </a:lnTo>
                    <a:lnTo>
                      <a:pt x="0" y="94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67" name="Freeform 507"/>
              <p:cNvSpPr>
                <a:spLocks/>
              </p:cNvSpPr>
              <p:nvPr/>
            </p:nvSpPr>
            <p:spPr bwMode="auto">
              <a:xfrm>
                <a:off x="5315" y="2929"/>
                <a:ext cx="141" cy="164"/>
              </a:xfrm>
              <a:custGeom>
                <a:avLst/>
                <a:gdLst>
                  <a:gd name="T0" fmla="*/ 542 w 1703"/>
                  <a:gd name="T1" fmla="*/ 903 h 1970"/>
                  <a:gd name="T2" fmla="*/ 456 w 1703"/>
                  <a:gd name="T3" fmla="*/ 972 h 1970"/>
                  <a:gd name="T4" fmla="*/ 370 w 1703"/>
                  <a:gd name="T5" fmla="*/ 1006 h 1970"/>
                  <a:gd name="T6" fmla="*/ 283 w 1703"/>
                  <a:gd name="T7" fmla="*/ 1019 h 1970"/>
                  <a:gd name="T8" fmla="*/ 192 w 1703"/>
                  <a:gd name="T9" fmla="*/ 1025 h 1970"/>
                  <a:gd name="T10" fmla="*/ 88 w 1703"/>
                  <a:gd name="T11" fmla="*/ 1018 h 1970"/>
                  <a:gd name="T12" fmla="*/ 125 w 1703"/>
                  <a:gd name="T13" fmla="*/ 1049 h 1970"/>
                  <a:gd name="T14" fmla="*/ 153 w 1703"/>
                  <a:gd name="T15" fmla="*/ 1086 h 1970"/>
                  <a:gd name="T16" fmla="*/ 169 w 1703"/>
                  <a:gd name="T17" fmla="*/ 1121 h 1970"/>
                  <a:gd name="T18" fmla="*/ 182 w 1703"/>
                  <a:gd name="T19" fmla="*/ 1180 h 1970"/>
                  <a:gd name="T20" fmla="*/ 181 w 1703"/>
                  <a:gd name="T21" fmla="*/ 1235 h 1970"/>
                  <a:gd name="T22" fmla="*/ 165 w 1703"/>
                  <a:gd name="T23" fmla="*/ 1282 h 1970"/>
                  <a:gd name="T24" fmla="*/ 142 w 1703"/>
                  <a:gd name="T25" fmla="*/ 1324 h 1970"/>
                  <a:gd name="T26" fmla="*/ 111 w 1703"/>
                  <a:gd name="T27" fmla="*/ 1364 h 1970"/>
                  <a:gd name="T28" fmla="*/ 75 w 1703"/>
                  <a:gd name="T29" fmla="*/ 1401 h 1970"/>
                  <a:gd name="T30" fmla="*/ 39 w 1703"/>
                  <a:gd name="T31" fmla="*/ 1428 h 1970"/>
                  <a:gd name="T32" fmla="*/ 0 w 1703"/>
                  <a:gd name="T33" fmla="*/ 1456 h 1970"/>
                  <a:gd name="T34" fmla="*/ 29 w 1703"/>
                  <a:gd name="T35" fmla="*/ 1528 h 1970"/>
                  <a:gd name="T36" fmla="*/ 61 w 1703"/>
                  <a:gd name="T37" fmla="*/ 1603 h 1970"/>
                  <a:gd name="T38" fmla="*/ 79 w 1703"/>
                  <a:gd name="T39" fmla="*/ 1725 h 1970"/>
                  <a:gd name="T40" fmla="*/ 88 w 1703"/>
                  <a:gd name="T41" fmla="*/ 1772 h 1970"/>
                  <a:gd name="T42" fmla="*/ 111 w 1703"/>
                  <a:gd name="T43" fmla="*/ 1844 h 1970"/>
                  <a:gd name="T44" fmla="*/ 146 w 1703"/>
                  <a:gd name="T45" fmla="*/ 1909 h 1970"/>
                  <a:gd name="T46" fmla="*/ 206 w 1703"/>
                  <a:gd name="T47" fmla="*/ 1970 h 1970"/>
                  <a:gd name="T48" fmla="*/ 821 w 1703"/>
                  <a:gd name="T49" fmla="*/ 1575 h 1970"/>
                  <a:gd name="T50" fmla="*/ 1518 w 1703"/>
                  <a:gd name="T51" fmla="*/ 1134 h 1970"/>
                  <a:gd name="T52" fmla="*/ 1577 w 1703"/>
                  <a:gd name="T53" fmla="*/ 1012 h 1970"/>
                  <a:gd name="T54" fmla="*/ 1624 w 1703"/>
                  <a:gd name="T55" fmla="*/ 888 h 1970"/>
                  <a:gd name="T56" fmla="*/ 1660 w 1703"/>
                  <a:gd name="T57" fmla="*/ 765 h 1970"/>
                  <a:gd name="T58" fmla="*/ 1675 w 1703"/>
                  <a:gd name="T59" fmla="*/ 670 h 1970"/>
                  <a:gd name="T60" fmla="*/ 1703 w 1703"/>
                  <a:gd name="T61" fmla="*/ 524 h 1970"/>
                  <a:gd name="T62" fmla="*/ 1695 w 1703"/>
                  <a:gd name="T63" fmla="*/ 396 h 1970"/>
                  <a:gd name="T64" fmla="*/ 1684 w 1703"/>
                  <a:gd name="T65" fmla="*/ 263 h 1970"/>
                  <a:gd name="T66" fmla="*/ 1666 w 1703"/>
                  <a:gd name="T67" fmla="*/ 180 h 1970"/>
                  <a:gd name="T68" fmla="*/ 1619 w 1703"/>
                  <a:gd name="T69" fmla="*/ 89 h 1970"/>
                  <a:gd name="T70" fmla="*/ 1567 w 1703"/>
                  <a:gd name="T71" fmla="*/ 0 h 1970"/>
                  <a:gd name="T72" fmla="*/ 1543 w 1703"/>
                  <a:gd name="T73" fmla="*/ 89 h 1970"/>
                  <a:gd name="T74" fmla="*/ 1496 w 1703"/>
                  <a:gd name="T75" fmla="*/ 118 h 1970"/>
                  <a:gd name="T76" fmla="*/ 1420 w 1703"/>
                  <a:gd name="T77" fmla="*/ 157 h 1970"/>
                  <a:gd name="T78" fmla="*/ 1315 w 1703"/>
                  <a:gd name="T79" fmla="*/ 250 h 1970"/>
                  <a:gd name="T80" fmla="*/ 1260 w 1703"/>
                  <a:gd name="T81" fmla="*/ 320 h 1970"/>
                  <a:gd name="T82" fmla="*/ 1220 w 1703"/>
                  <a:gd name="T83" fmla="*/ 386 h 1970"/>
                  <a:gd name="T84" fmla="*/ 1181 w 1703"/>
                  <a:gd name="T85" fmla="*/ 450 h 1970"/>
                  <a:gd name="T86" fmla="*/ 1128 w 1703"/>
                  <a:gd name="T87" fmla="*/ 519 h 1970"/>
                  <a:gd name="T88" fmla="*/ 1051 w 1703"/>
                  <a:gd name="T89" fmla="*/ 595 h 1970"/>
                  <a:gd name="T90" fmla="*/ 937 w 1703"/>
                  <a:gd name="T91" fmla="*/ 684 h 1970"/>
                  <a:gd name="T92" fmla="*/ 859 w 1703"/>
                  <a:gd name="T93" fmla="*/ 729 h 1970"/>
                  <a:gd name="T94" fmla="*/ 769 w 1703"/>
                  <a:gd name="T95" fmla="*/ 782 h 1970"/>
                  <a:gd name="T96" fmla="*/ 666 w 1703"/>
                  <a:gd name="T97" fmla="*/ 840 h 1970"/>
                  <a:gd name="T98" fmla="*/ 542 w 1703"/>
                  <a:gd name="T99" fmla="*/ 903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703" h="1970">
                    <a:moveTo>
                      <a:pt x="542" y="903"/>
                    </a:moveTo>
                    <a:lnTo>
                      <a:pt x="456" y="972"/>
                    </a:lnTo>
                    <a:lnTo>
                      <a:pt x="370" y="1006"/>
                    </a:lnTo>
                    <a:lnTo>
                      <a:pt x="283" y="1019"/>
                    </a:lnTo>
                    <a:lnTo>
                      <a:pt x="192" y="1025"/>
                    </a:lnTo>
                    <a:lnTo>
                      <a:pt x="88" y="1018"/>
                    </a:lnTo>
                    <a:lnTo>
                      <a:pt x="125" y="1049"/>
                    </a:lnTo>
                    <a:lnTo>
                      <a:pt x="153" y="1086"/>
                    </a:lnTo>
                    <a:lnTo>
                      <a:pt x="169" y="1121"/>
                    </a:lnTo>
                    <a:lnTo>
                      <a:pt x="182" y="1180"/>
                    </a:lnTo>
                    <a:lnTo>
                      <a:pt x="181" y="1235"/>
                    </a:lnTo>
                    <a:lnTo>
                      <a:pt x="165" y="1282"/>
                    </a:lnTo>
                    <a:lnTo>
                      <a:pt x="142" y="1324"/>
                    </a:lnTo>
                    <a:lnTo>
                      <a:pt x="111" y="1364"/>
                    </a:lnTo>
                    <a:lnTo>
                      <a:pt x="75" y="1401"/>
                    </a:lnTo>
                    <a:lnTo>
                      <a:pt x="39" y="1428"/>
                    </a:lnTo>
                    <a:lnTo>
                      <a:pt x="0" y="1456"/>
                    </a:lnTo>
                    <a:lnTo>
                      <a:pt x="29" y="1528"/>
                    </a:lnTo>
                    <a:lnTo>
                      <a:pt x="61" y="1603"/>
                    </a:lnTo>
                    <a:lnTo>
                      <a:pt x="79" y="1725"/>
                    </a:lnTo>
                    <a:lnTo>
                      <a:pt x="88" y="1772"/>
                    </a:lnTo>
                    <a:lnTo>
                      <a:pt x="111" y="1844"/>
                    </a:lnTo>
                    <a:lnTo>
                      <a:pt x="146" y="1909"/>
                    </a:lnTo>
                    <a:lnTo>
                      <a:pt x="206" y="1970"/>
                    </a:lnTo>
                    <a:lnTo>
                      <a:pt x="821" y="1575"/>
                    </a:lnTo>
                    <a:lnTo>
                      <a:pt x="1518" y="1134"/>
                    </a:lnTo>
                    <a:lnTo>
                      <a:pt x="1577" y="1012"/>
                    </a:lnTo>
                    <a:lnTo>
                      <a:pt x="1624" y="888"/>
                    </a:lnTo>
                    <a:lnTo>
                      <a:pt x="1660" y="765"/>
                    </a:lnTo>
                    <a:lnTo>
                      <a:pt x="1675" y="670"/>
                    </a:lnTo>
                    <a:lnTo>
                      <a:pt x="1703" y="524"/>
                    </a:lnTo>
                    <a:lnTo>
                      <a:pt x="1695" y="396"/>
                    </a:lnTo>
                    <a:lnTo>
                      <a:pt x="1684" y="263"/>
                    </a:lnTo>
                    <a:lnTo>
                      <a:pt x="1666" y="180"/>
                    </a:lnTo>
                    <a:lnTo>
                      <a:pt x="1619" y="89"/>
                    </a:lnTo>
                    <a:lnTo>
                      <a:pt x="1567" y="0"/>
                    </a:lnTo>
                    <a:lnTo>
                      <a:pt x="1543" y="89"/>
                    </a:lnTo>
                    <a:lnTo>
                      <a:pt x="1496" y="118"/>
                    </a:lnTo>
                    <a:lnTo>
                      <a:pt x="1420" y="157"/>
                    </a:lnTo>
                    <a:lnTo>
                      <a:pt x="1315" y="250"/>
                    </a:lnTo>
                    <a:lnTo>
                      <a:pt x="1260" y="320"/>
                    </a:lnTo>
                    <a:lnTo>
                      <a:pt x="1220" y="386"/>
                    </a:lnTo>
                    <a:lnTo>
                      <a:pt x="1181" y="450"/>
                    </a:lnTo>
                    <a:lnTo>
                      <a:pt x="1128" y="519"/>
                    </a:lnTo>
                    <a:lnTo>
                      <a:pt x="1051" y="595"/>
                    </a:lnTo>
                    <a:lnTo>
                      <a:pt x="937" y="684"/>
                    </a:lnTo>
                    <a:lnTo>
                      <a:pt x="859" y="729"/>
                    </a:lnTo>
                    <a:lnTo>
                      <a:pt x="769" y="782"/>
                    </a:lnTo>
                    <a:lnTo>
                      <a:pt x="666" y="840"/>
                    </a:lnTo>
                    <a:lnTo>
                      <a:pt x="542" y="903"/>
                    </a:lnTo>
                    <a:close/>
                  </a:path>
                </a:pathLst>
              </a:custGeom>
              <a:solidFill>
                <a:srgbClr val="1315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68" name="Freeform 508"/>
              <p:cNvSpPr>
                <a:spLocks/>
              </p:cNvSpPr>
              <p:nvPr/>
            </p:nvSpPr>
            <p:spPr bwMode="auto">
              <a:xfrm>
                <a:off x="5315" y="2929"/>
                <a:ext cx="141" cy="164"/>
              </a:xfrm>
              <a:custGeom>
                <a:avLst/>
                <a:gdLst>
                  <a:gd name="T0" fmla="*/ 542 w 1703"/>
                  <a:gd name="T1" fmla="*/ 903 h 1970"/>
                  <a:gd name="T2" fmla="*/ 456 w 1703"/>
                  <a:gd name="T3" fmla="*/ 972 h 1970"/>
                  <a:gd name="T4" fmla="*/ 370 w 1703"/>
                  <a:gd name="T5" fmla="*/ 1006 h 1970"/>
                  <a:gd name="T6" fmla="*/ 283 w 1703"/>
                  <a:gd name="T7" fmla="*/ 1019 h 1970"/>
                  <a:gd name="T8" fmla="*/ 192 w 1703"/>
                  <a:gd name="T9" fmla="*/ 1025 h 1970"/>
                  <a:gd name="T10" fmla="*/ 88 w 1703"/>
                  <a:gd name="T11" fmla="*/ 1018 h 1970"/>
                  <a:gd name="T12" fmla="*/ 125 w 1703"/>
                  <a:gd name="T13" fmla="*/ 1049 h 1970"/>
                  <a:gd name="T14" fmla="*/ 153 w 1703"/>
                  <a:gd name="T15" fmla="*/ 1086 h 1970"/>
                  <a:gd name="T16" fmla="*/ 169 w 1703"/>
                  <a:gd name="T17" fmla="*/ 1121 h 1970"/>
                  <a:gd name="T18" fmla="*/ 182 w 1703"/>
                  <a:gd name="T19" fmla="*/ 1180 h 1970"/>
                  <a:gd name="T20" fmla="*/ 181 w 1703"/>
                  <a:gd name="T21" fmla="*/ 1235 h 1970"/>
                  <a:gd name="T22" fmla="*/ 165 w 1703"/>
                  <a:gd name="T23" fmla="*/ 1282 h 1970"/>
                  <a:gd name="T24" fmla="*/ 142 w 1703"/>
                  <a:gd name="T25" fmla="*/ 1324 h 1970"/>
                  <a:gd name="T26" fmla="*/ 111 w 1703"/>
                  <a:gd name="T27" fmla="*/ 1364 h 1970"/>
                  <a:gd name="T28" fmla="*/ 75 w 1703"/>
                  <a:gd name="T29" fmla="*/ 1401 h 1970"/>
                  <a:gd name="T30" fmla="*/ 39 w 1703"/>
                  <a:gd name="T31" fmla="*/ 1428 h 1970"/>
                  <a:gd name="T32" fmla="*/ 0 w 1703"/>
                  <a:gd name="T33" fmla="*/ 1456 h 1970"/>
                  <a:gd name="T34" fmla="*/ 29 w 1703"/>
                  <a:gd name="T35" fmla="*/ 1528 h 1970"/>
                  <a:gd name="T36" fmla="*/ 61 w 1703"/>
                  <a:gd name="T37" fmla="*/ 1603 h 1970"/>
                  <a:gd name="T38" fmla="*/ 79 w 1703"/>
                  <a:gd name="T39" fmla="*/ 1725 h 1970"/>
                  <a:gd name="T40" fmla="*/ 88 w 1703"/>
                  <a:gd name="T41" fmla="*/ 1772 h 1970"/>
                  <a:gd name="T42" fmla="*/ 111 w 1703"/>
                  <a:gd name="T43" fmla="*/ 1844 h 1970"/>
                  <a:gd name="T44" fmla="*/ 146 w 1703"/>
                  <a:gd name="T45" fmla="*/ 1909 h 1970"/>
                  <a:gd name="T46" fmla="*/ 206 w 1703"/>
                  <a:gd name="T47" fmla="*/ 1970 h 1970"/>
                  <a:gd name="T48" fmla="*/ 821 w 1703"/>
                  <a:gd name="T49" fmla="*/ 1575 h 1970"/>
                  <a:gd name="T50" fmla="*/ 1518 w 1703"/>
                  <a:gd name="T51" fmla="*/ 1134 h 1970"/>
                  <a:gd name="T52" fmla="*/ 1577 w 1703"/>
                  <a:gd name="T53" fmla="*/ 1012 h 1970"/>
                  <a:gd name="T54" fmla="*/ 1624 w 1703"/>
                  <a:gd name="T55" fmla="*/ 888 h 1970"/>
                  <a:gd name="T56" fmla="*/ 1660 w 1703"/>
                  <a:gd name="T57" fmla="*/ 765 h 1970"/>
                  <a:gd name="T58" fmla="*/ 1675 w 1703"/>
                  <a:gd name="T59" fmla="*/ 670 h 1970"/>
                  <a:gd name="T60" fmla="*/ 1703 w 1703"/>
                  <a:gd name="T61" fmla="*/ 524 h 1970"/>
                  <a:gd name="T62" fmla="*/ 1695 w 1703"/>
                  <a:gd name="T63" fmla="*/ 396 h 1970"/>
                  <a:gd name="T64" fmla="*/ 1684 w 1703"/>
                  <a:gd name="T65" fmla="*/ 263 h 1970"/>
                  <a:gd name="T66" fmla="*/ 1666 w 1703"/>
                  <a:gd name="T67" fmla="*/ 180 h 1970"/>
                  <a:gd name="T68" fmla="*/ 1619 w 1703"/>
                  <a:gd name="T69" fmla="*/ 89 h 1970"/>
                  <a:gd name="T70" fmla="*/ 1567 w 1703"/>
                  <a:gd name="T71" fmla="*/ 0 h 1970"/>
                  <a:gd name="T72" fmla="*/ 1543 w 1703"/>
                  <a:gd name="T73" fmla="*/ 89 h 1970"/>
                  <a:gd name="T74" fmla="*/ 1496 w 1703"/>
                  <a:gd name="T75" fmla="*/ 118 h 1970"/>
                  <a:gd name="T76" fmla="*/ 1420 w 1703"/>
                  <a:gd name="T77" fmla="*/ 157 h 1970"/>
                  <a:gd name="T78" fmla="*/ 1315 w 1703"/>
                  <a:gd name="T79" fmla="*/ 250 h 1970"/>
                  <a:gd name="T80" fmla="*/ 1260 w 1703"/>
                  <a:gd name="T81" fmla="*/ 320 h 1970"/>
                  <a:gd name="T82" fmla="*/ 1220 w 1703"/>
                  <a:gd name="T83" fmla="*/ 386 h 1970"/>
                  <a:gd name="T84" fmla="*/ 1181 w 1703"/>
                  <a:gd name="T85" fmla="*/ 450 h 1970"/>
                  <a:gd name="T86" fmla="*/ 1128 w 1703"/>
                  <a:gd name="T87" fmla="*/ 519 h 1970"/>
                  <a:gd name="T88" fmla="*/ 1051 w 1703"/>
                  <a:gd name="T89" fmla="*/ 595 h 1970"/>
                  <a:gd name="T90" fmla="*/ 937 w 1703"/>
                  <a:gd name="T91" fmla="*/ 684 h 1970"/>
                  <a:gd name="T92" fmla="*/ 859 w 1703"/>
                  <a:gd name="T93" fmla="*/ 729 h 1970"/>
                  <a:gd name="T94" fmla="*/ 769 w 1703"/>
                  <a:gd name="T95" fmla="*/ 782 h 1970"/>
                  <a:gd name="T96" fmla="*/ 666 w 1703"/>
                  <a:gd name="T97" fmla="*/ 840 h 1970"/>
                  <a:gd name="T98" fmla="*/ 542 w 1703"/>
                  <a:gd name="T99" fmla="*/ 903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703" h="1970">
                    <a:moveTo>
                      <a:pt x="542" y="903"/>
                    </a:moveTo>
                    <a:lnTo>
                      <a:pt x="456" y="972"/>
                    </a:lnTo>
                    <a:lnTo>
                      <a:pt x="370" y="1006"/>
                    </a:lnTo>
                    <a:lnTo>
                      <a:pt x="283" y="1019"/>
                    </a:lnTo>
                    <a:lnTo>
                      <a:pt x="192" y="1025"/>
                    </a:lnTo>
                    <a:lnTo>
                      <a:pt x="88" y="1018"/>
                    </a:lnTo>
                    <a:lnTo>
                      <a:pt x="125" y="1049"/>
                    </a:lnTo>
                    <a:lnTo>
                      <a:pt x="153" y="1086"/>
                    </a:lnTo>
                    <a:lnTo>
                      <a:pt x="169" y="1121"/>
                    </a:lnTo>
                    <a:lnTo>
                      <a:pt x="182" y="1180"/>
                    </a:lnTo>
                    <a:lnTo>
                      <a:pt x="181" y="1235"/>
                    </a:lnTo>
                    <a:lnTo>
                      <a:pt x="165" y="1282"/>
                    </a:lnTo>
                    <a:lnTo>
                      <a:pt x="142" y="1324"/>
                    </a:lnTo>
                    <a:lnTo>
                      <a:pt x="111" y="1364"/>
                    </a:lnTo>
                    <a:lnTo>
                      <a:pt x="75" y="1401"/>
                    </a:lnTo>
                    <a:lnTo>
                      <a:pt x="39" y="1428"/>
                    </a:lnTo>
                    <a:lnTo>
                      <a:pt x="0" y="1456"/>
                    </a:lnTo>
                    <a:lnTo>
                      <a:pt x="29" y="1528"/>
                    </a:lnTo>
                    <a:lnTo>
                      <a:pt x="61" y="1603"/>
                    </a:lnTo>
                    <a:lnTo>
                      <a:pt x="79" y="1725"/>
                    </a:lnTo>
                    <a:lnTo>
                      <a:pt x="88" y="1772"/>
                    </a:lnTo>
                    <a:lnTo>
                      <a:pt x="111" y="1844"/>
                    </a:lnTo>
                    <a:lnTo>
                      <a:pt x="146" y="1909"/>
                    </a:lnTo>
                    <a:lnTo>
                      <a:pt x="206" y="1970"/>
                    </a:lnTo>
                    <a:lnTo>
                      <a:pt x="821" y="1575"/>
                    </a:lnTo>
                    <a:lnTo>
                      <a:pt x="1518" y="1134"/>
                    </a:lnTo>
                    <a:lnTo>
                      <a:pt x="1577" y="1012"/>
                    </a:lnTo>
                    <a:lnTo>
                      <a:pt x="1624" y="888"/>
                    </a:lnTo>
                    <a:lnTo>
                      <a:pt x="1660" y="765"/>
                    </a:lnTo>
                    <a:lnTo>
                      <a:pt x="1675" y="670"/>
                    </a:lnTo>
                    <a:lnTo>
                      <a:pt x="1703" y="524"/>
                    </a:lnTo>
                    <a:lnTo>
                      <a:pt x="1695" y="396"/>
                    </a:lnTo>
                    <a:lnTo>
                      <a:pt x="1684" y="263"/>
                    </a:lnTo>
                    <a:lnTo>
                      <a:pt x="1666" y="180"/>
                    </a:lnTo>
                    <a:lnTo>
                      <a:pt x="1619" y="89"/>
                    </a:lnTo>
                    <a:lnTo>
                      <a:pt x="1567" y="0"/>
                    </a:lnTo>
                    <a:lnTo>
                      <a:pt x="1543" y="89"/>
                    </a:lnTo>
                    <a:lnTo>
                      <a:pt x="1496" y="118"/>
                    </a:lnTo>
                    <a:lnTo>
                      <a:pt x="1420" y="157"/>
                    </a:lnTo>
                    <a:lnTo>
                      <a:pt x="1315" y="250"/>
                    </a:lnTo>
                    <a:lnTo>
                      <a:pt x="1260" y="320"/>
                    </a:lnTo>
                    <a:lnTo>
                      <a:pt x="1220" y="386"/>
                    </a:lnTo>
                    <a:lnTo>
                      <a:pt x="1181" y="450"/>
                    </a:lnTo>
                    <a:lnTo>
                      <a:pt x="1128" y="519"/>
                    </a:lnTo>
                    <a:lnTo>
                      <a:pt x="1051" y="595"/>
                    </a:lnTo>
                    <a:lnTo>
                      <a:pt x="937" y="684"/>
                    </a:lnTo>
                    <a:lnTo>
                      <a:pt x="859" y="729"/>
                    </a:lnTo>
                    <a:lnTo>
                      <a:pt x="769" y="782"/>
                    </a:lnTo>
                    <a:lnTo>
                      <a:pt x="666" y="840"/>
                    </a:lnTo>
                    <a:lnTo>
                      <a:pt x="542" y="903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69" name="Freeform 509"/>
              <p:cNvSpPr>
                <a:spLocks/>
              </p:cNvSpPr>
              <p:nvPr/>
            </p:nvSpPr>
            <p:spPr bwMode="auto">
              <a:xfrm>
                <a:off x="5334" y="2912"/>
                <a:ext cx="80" cy="44"/>
              </a:xfrm>
              <a:custGeom>
                <a:avLst/>
                <a:gdLst>
                  <a:gd name="T0" fmla="*/ 0 w 960"/>
                  <a:gd name="T1" fmla="*/ 8 h 524"/>
                  <a:gd name="T2" fmla="*/ 66 w 960"/>
                  <a:gd name="T3" fmla="*/ 0 h 524"/>
                  <a:gd name="T4" fmla="*/ 197 w 960"/>
                  <a:gd name="T5" fmla="*/ 29 h 524"/>
                  <a:gd name="T6" fmla="*/ 461 w 960"/>
                  <a:gd name="T7" fmla="*/ 196 h 524"/>
                  <a:gd name="T8" fmla="*/ 667 w 960"/>
                  <a:gd name="T9" fmla="*/ 339 h 524"/>
                  <a:gd name="T10" fmla="*/ 912 w 960"/>
                  <a:gd name="T11" fmla="*/ 470 h 524"/>
                  <a:gd name="T12" fmla="*/ 960 w 960"/>
                  <a:gd name="T13" fmla="*/ 524 h 5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60" h="524">
                    <a:moveTo>
                      <a:pt x="0" y="8"/>
                    </a:moveTo>
                    <a:lnTo>
                      <a:pt x="66" y="0"/>
                    </a:lnTo>
                    <a:lnTo>
                      <a:pt x="197" y="29"/>
                    </a:lnTo>
                    <a:lnTo>
                      <a:pt x="461" y="196"/>
                    </a:lnTo>
                    <a:lnTo>
                      <a:pt x="667" y="339"/>
                    </a:lnTo>
                    <a:lnTo>
                      <a:pt x="912" y="470"/>
                    </a:lnTo>
                    <a:lnTo>
                      <a:pt x="960" y="524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70" name="Freeform 510"/>
              <p:cNvSpPr>
                <a:spLocks/>
              </p:cNvSpPr>
              <p:nvPr/>
            </p:nvSpPr>
            <p:spPr bwMode="auto">
              <a:xfrm>
                <a:off x="5389" y="2883"/>
                <a:ext cx="15" cy="47"/>
              </a:xfrm>
              <a:custGeom>
                <a:avLst/>
                <a:gdLst>
                  <a:gd name="T0" fmla="*/ 0 w 181"/>
                  <a:gd name="T1" fmla="*/ 0 h 572"/>
                  <a:gd name="T2" fmla="*/ 58 w 181"/>
                  <a:gd name="T3" fmla="*/ 96 h 572"/>
                  <a:gd name="T4" fmla="*/ 58 w 181"/>
                  <a:gd name="T5" fmla="*/ 171 h 572"/>
                  <a:gd name="T6" fmla="*/ 60 w 181"/>
                  <a:gd name="T7" fmla="*/ 279 h 572"/>
                  <a:gd name="T8" fmla="*/ 91 w 181"/>
                  <a:gd name="T9" fmla="*/ 379 h 572"/>
                  <a:gd name="T10" fmla="*/ 134 w 181"/>
                  <a:gd name="T11" fmla="*/ 479 h 572"/>
                  <a:gd name="T12" fmla="*/ 181 w 181"/>
                  <a:gd name="T13" fmla="*/ 572 h 5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1" h="572">
                    <a:moveTo>
                      <a:pt x="0" y="0"/>
                    </a:moveTo>
                    <a:lnTo>
                      <a:pt x="58" y="96"/>
                    </a:lnTo>
                    <a:lnTo>
                      <a:pt x="58" y="171"/>
                    </a:lnTo>
                    <a:lnTo>
                      <a:pt x="60" y="279"/>
                    </a:lnTo>
                    <a:lnTo>
                      <a:pt x="91" y="379"/>
                    </a:lnTo>
                    <a:lnTo>
                      <a:pt x="134" y="479"/>
                    </a:lnTo>
                    <a:lnTo>
                      <a:pt x="181" y="572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71" name="Freeform 511"/>
              <p:cNvSpPr>
                <a:spLocks/>
              </p:cNvSpPr>
              <p:nvPr/>
            </p:nvSpPr>
            <p:spPr bwMode="auto">
              <a:xfrm>
                <a:off x="5336" y="2862"/>
                <a:ext cx="24" cy="30"/>
              </a:xfrm>
              <a:custGeom>
                <a:avLst/>
                <a:gdLst>
                  <a:gd name="T0" fmla="*/ 0 w 287"/>
                  <a:gd name="T1" fmla="*/ 0 h 360"/>
                  <a:gd name="T2" fmla="*/ 81 w 287"/>
                  <a:gd name="T3" fmla="*/ 22 h 360"/>
                  <a:gd name="T4" fmla="*/ 160 w 287"/>
                  <a:gd name="T5" fmla="*/ 85 h 360"/>
                  <a:gd name="T6" fmla="*/ 211 w 287"/>
                  <a:gd name="T7" fmla="*/ 164 h 360"/>
                  <a:gd name="T8" fmla="*/ 248 w 287"/>
                  <a:gd name="T9" fmla="*/ 261 h 360"/>
                  <a:gd name="T10" fmla="*/ 287 w 287"/>
                  <a:gd name="T11" fmla="*/ 360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87" h="360">
                    <a:moveTo>
                      <a:pt x="0" y="0"/>
                    </a:moveTo>
                    <a:lnTo>
                      <a:pt x="81" y="22"/>
                    </a:lnTo>
                    <a:lnTo>
                      <a:pt x="160" y="85"/>
                    </a:lnTo>
                    <a:lnTo>
                      <a:pt x="211" y="164"/>
                    </a:lnTo>
                    <a:lnTo>
                      <a:pt x="248" y="261"/>
                    </a:lnTo>
                    <a:lnTo>
                      <a:pt x="287" y="360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72" name="Freeform 512"/>
              <p:cNvSpPr>
                <a:spLocks/>
              </p:cNvSpPr>
              <p:nvPr/>
            </p:nvSpPr>
            <p:spPr bwMode="auto">
              <a:xfrm>
                <a:off x="5292" y="2876"/>
                <a:ext cx="34" cy="15"/>
              </a:xfrm>
              <a:custGeom>
                <a:avLst/>
                <a:gdLst>
                  <a:gd name="T0" fmla="*/ 0 w 399"/>
                  <a:gd name="T1" fmla="*/ 166 h 179"/>
                  <a:gd name="T2" fmla="*/ 102 w 399"/>
                  <a:gd name="T3" fmla="*/ 77 h 179"/>
                  <a:gd name="T4" fmla="*/ 211 w 399"/>
                  <a:gd name="T5" fmla="*/ 0 h 179"/>
                  <a:gd name="T6" fmla="*/ 337 w 399"/>
                  <a:gd name="T7" fmla="*/ 46 h 179"/>
                  <a:gd name="T8" fmla="*/ 399 w 399"/>
                  <a:gd name="T9" fmla="*/ 179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9" h="179">
                    <a:moveTo>
                      <a:pt x="0" y="166"/>
                    </a:moveTo>
                    <a:lnTo>
                      <a:pt x="102" y="77"/>
                    </a:lnTo>
                    <a:lnTo>
                      <a:pt x="211" y="0"/>
                    </a:lnTo>
                    <a:lnTo>
                      <a:pt x="337" y="46"/>
                    </a:lnTo>
                    <a:lnTo>
                      <a:pt x="399" y="179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73" name="Freeform 513"/>
              <p:cNvSpPr>
                <a:spLocks/>
              </p:cNvSpPr>
              <p:nvPr/>
            </p:nvSpPr>
            <p:spPr bwMode="auto">
              <a:xfrm>
                <a:off x="5363" y="2925"/>
                <a:ext cx="1" cy="34"/>
              </a:xfrm>
              <a:custGeom>
                <a:avLst/>
                <a:gdLst>
                  <a:gd name="T0" fmla="*/ 0 w 21"/>
                  <a:gd name="T1" fmla="*/ 0 h 410"/>
                  <a:gd name="T2" fmla="*/ 21 w 21"/>
                  <a:gd name="T3" fmla="*/ 167 h 410"/>
                  <a:gd name="T4" fmla="*/ 21 w 21"/>
                  <a:gd name="T5" fmla="*/ 410 h 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" h="410">
                    <a:moveTo>
                      <a:pt x="0" y="0"/>
                    </a:moveTo>
                    <a:lnTo>
                      <a:pt x="21" y="167"/>
                    </a:lnTo>
                    <a:lnTo>
                      <a:pt x="21" y="410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74" name="Freeform 514"/>
              <p:cNvSpPr>
                <a:spLocks/>
              </p:cNvSpPr>
              <p:nvPr/>
            </p:nvSpPr>
            <p:spPr bwMode="auto">
              <a:xfrm>
                <a:off x="5331" y="2939"/>
                <a:ext cx="16" cy="33"/>
              </a:xfrm>
              <a:custGeom>
                <a:avLst/>
                <a:gdLst>
                  <a:gd name="T0" fmla="*/ 0 w 199"/>
                  <a:gd name="T1" fmla="*/ 0 h 401"/>
                  <a:gd name="T2" fmla="*/ 11 w 199"/>
                  <a:gd name="T3" fmla="*/ 132 h 401"/>
                  <a:gd name="T4" fmla="*/ 66 w 199"/>
                  <a:gd name="T5" fmla="*/ 252 h 401"/>
                  <a:gd name="T6" fmla="*/ 199 w 199"/>
                  <a:gd name="T7" fmla="*/ 401 h 4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9" h="401">
                    <a:moveTo>
                      <a:pt x="0" y="0"/>
                    </a:moveTo>
                    <a:lnTo>
                      <a:pt x="11" y="132"/>
                    </a:lnTo>
                    <a:lnTo>
                      <a:pt x="66" y="252"/>
                    </a:lnTo>
                    <a:lnTo>
                      <a:pt x="199" y="401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75" name="Freeform 515"/>
              <p:cNvSpPr>
                <a:spLocks/>
              </p:cNvSpPr>
              <p:nvPr/>
            </p:nvSpPr>
            <p:spPr bwMode="auto">
              <a:xfrm>
                <a:off x="5312" y="2966"/>
                <a:ext cx="5" cy="29"/>
              </a:xfrm>
              <a:custGeom>
                <a:avLst/>
                <a:gdLst>
                  <a:gd name="T0" fmla="*/ 65 w 65"/>
                  <a:gd name="T1" fmla="*/ 0 h 351"/>
                  <a:gd name="T2" fmla="*/ 15 w 65"/>
                  <a:gd name="T3" fmla="*/ 96 h 351"/>
                  <a:gd name="T4" fmla="*/ 0 w 65"/>
                  <a:gd name="T5" fmla="*/ 207 h 351"/>
                  <a:gd name="T6" fmla="*/ 34 w 65"/>
                  <a:gd name="T7" fmla="*/ 351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5" h="351">
                    <a:moveTo>
                      <a:pt x="65" y="0"/>
                    </a:moveTo>
                    <a:lnTo>
                      <a:pt x="15" y="96"/>
                    </a:lnTo>
                    <a:lnTo>
                      <a:pt x="0" y="207"/>
                    </a:lnTo>
                    <a:lnTo>
                      <a:pt x="34" y="351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76" name="Freeform 516"/>
              <p:cNvSpPr>
                <a:spLocks/>
              </p:cNvSpPr>
              <p:nvPr/>
            </p:nvSpPr>
            <p:spPr bwMode="auto">
              <a:xfrm>
                <a:off x="5425" y="2974"/>
                <a:ext cx="7" cy="30"/>
              </a:xfrm>
              <a:custGeom>
                <a:avLst/>
                <a:gdLst>
                  <a:gd name="T0" fmla="*/ 0 w 84"/>
                  <a:gd name="T1" fmla="*/ 0 h 355"/>
                  <a:gd name="T2" fmla="*/ 84 w 84"/>
                  <a:gd name="T3" fmla="*/ 162 h 355"/>
                  <a:gd name="T4" fmla="*/ 84 w 84"/>
                  <a:gd name="T5" fmla="*/ 355 h 3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4" h="355">
                    <a:moveTo>
                      <a:pt x="0" y="0"/>
                    </a:moveTo>
                    <a:lnTo>
                      <a:pt x="84" y="162"/>
                    </a:lnTo>
                    <a:lnTo>
                      <a:pt x="84" y="355"/>
                    </a:lnTo>
                  </a:path>
                </a:pathLst>
              </a:custGeom>
              <a:noFill/>
              <a:ln w="1588">
                <a:solidFill>
                  <a:srgbClr val="ABADB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77" name="Freeform 517"/>
              <p:cNvSpPr>
                <a:spLocks/>
              </p:cNvSpPr>
              <p:nvPr/>
            </p:nvSpPr>
            <p:spPr bwMode="auto">
              <a:xfrm>
                <a:off x="5371" y="3005"/>
                <a:ext cx="4" cy="28"/>
              </a:xfrm>
              <a:custGeom>
                <a:avLst/>
                <a:gdLst>
                  <a:gd name="T0" fmla="*/ 45 w 45"/>
                  <a:gd name="T1" fmla="*/ 0 h 338"/>
                  <a:gd name="T2" fmla="*/ 32 w 45"/>
                  <a:gd name="T3" fmla="*/ 77 h 338"/>
                  <a:gd name="T4" fmla="*/ 15 w 45"/>
                  <a:gd name="T5" fmla="*/ 159 h 338"/>
                  <a:gd name="T6" fmla="*/ 0 w 45"/>
                  <a:gd name="T7" fmla="*/ 338 h 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5" h="338">
                    <a:moveTo>
                      <a:pt x="45" y="0"/>
                    </a:moveTo>
                    <a:lnTo>
                      <a:pt x="32" y="77"/>
                    </a:lnTo>
                    <a:lnTo>
                      <a:pt x="15" y="159"/>
                    </a:lnTo>
                    <a:lnTo>
                      <a:pt x="0" y="338"/>
                    </a:lnTo>
                  </a:path>
                </a:pathLst>
              </a:custGeom>
              <a:noFill/>
              <a:ln w="1588">
                <a:solidFill>
                  <a:srgbClr val="ABADB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78" name="Freeform 518"/>
              <p:cNvSpPr>
                <a:spLocks/>
              </p:cNvSpPr>
              <p:nvPr/>
            </p:nvSpPr>
            <p:spPr bwMode="auto">
              <a:xfrm>
                <a:off x="5123" y="3119"/>
                <a:ext cx="175" cy="121"/>
              </a:xfrm>
              <a:custGeom>
                <a:avLst/>
                <a:gdLst>
                  <a:gd name="T0" fmla="*/ 893 w 2105"/>
                  <a:gd name="T1" fmla="*/ 266 h 1456"/>
                  <a:gd name="T2" fmla="*/ 713 w 2105"/>
                  <a:gd name="T3" fmla="*/ 318 h 1456"/>
                  <a:gd name="T4" fmla="*/ 565 w 2105"/>
                  <a:gd name="T5" fmla="*/ 394 h 1456"/>
                  <a:gd name="T6" fmla="*/ 438 w 2105"/>
                  <a:gd name="T7" fmla="*/ 487 h 1456"/>
                  <a:gd name="T8" fmla="*/ 335 w 2105"/>
                  <a:gd name="T9" fmla="*/ 600 h 1456"/>
                  <a:gd name="T10" fmla="*/ 243 w 2105"/>
                  <a:gd name="T11" fmla="*/ 721 h 1456"/>
                  <a:gd name="T12" fmla="*/ 162 w 2105"/>
                  <a:gd name="T13" fmla="*/ 854 h 1456"/>
                  <a:gd name="T14" fmla="*/ 81 w 2105"/>
                  <a:gd name="T15" fmla="*/ 994 h 1456"/>
                  <a:gd name="T16" fmla="*/ 0 w 2105"/>
                  <a:gd name="T17" fmla="*/ 1131 h 1456"/>
                  <a:gd name="T18" fmla="*/ 92 w 2105"/>
                  <a:gd name="T19" fmla="*/ 1456 h 1456"/>
                  <a:gd name="T20" fmla="*/ 1858 w 2105"/>
                  <a:gd name="T21" fmla="*/ 633 h 1456"/>
                  <a:gd name="T22" fmla="*/ 2105 w 2105"/>
                  <a:gd name="T23" fmla="*/ 0 h 1456"/>
                  <a:gd name="T24" fmla="*/ 1913 w 2105"/>
                  <a:gd name="T25" fmla="*/ 26 h 1456"/>
                  <a:gd name="T26" fmla="*/ 1718 w 2105"/>
                  <a:gd name="T27" fmla="*/ 29 h 1456"/>
                  <a:gd name="T28" fmla="*/ 1522 w 2105"/>
                  <a:gd name="T29" fmla="*/ 29 h 1456"/>
                  <a:gd name="T30" fmla="*/ 1340 w 2105"/>
                  <a:gd name="T31" fmla="*/ 29 h 1456"/>
                  <a:gd name="T32" fmla="*/ 1169 w 2105"/>
                  <a:gd name="T33" fmla="*/ 43 h 1456"/>
                  <a:gd name="T34" fmla="*/ 1020 w 2105"/>
                  <a:gd name="T35" fmla="*/ 83 h 1456"/>
                  <a:gd name="T36" fmla="*/ 929 w 2105"/>
                  <a:gd name="T37" fmla="*/ 175 h 1456"/>
                  <a:gd name="T38" fmla="*/ 893 w 2105"/>
                  <a:gd name="T39" fmla="*/ 266 h 1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105" h="1456">
                    <a:moveTo>
                      <a:pt x="893" y="266"/>
                    </a:moveTo>
                    <a:lnTo>
                      <a:pt x="713" y="318"/>
                    </a:lnTo>
                    <a:lnTo>
                      <a:pt x="565" y="394"/>
                    </a:lnTo>
                    <a:lnTo>
                      <a:pt x="438" y="487"/>
                    </a:lnTo>
                    <a:lnTo>
                      <a:pt x="335" y="600"/>
                    </a:lnTo>
                    <a:lnTo>
                      <a:pt x="243" y="721"/>
                    </a:lnTo>
                    <a:lnTo>
                      <a:pt x="162" y="854"/>
                    </a:lnTo>
                    <a:lnTo>
                      <a:pt x="81" y="994"/>
                    </a:lnTo>
                    <a:lnTo>
                      <a:pt x="0" y="1131"/>
                    </a:lnTo>
                    <a:lnTo>
                      <a:pt x="92" y="1456"/>
                    </a:lnTo>
                    <a:lnTo>
                      <a:pt x="1858" y="633"/>
                    </a:lnTo>
                    <a:lnTo>
                      <a:pt x="2105" y="0"/>
                    </a:lnTo>
                    <a:lnTo>
                      <a:pt x="1913" y="26"/>
                    </a:lnTo>
                    <a:lnTo>
                      <a:pt x="1718" y="29"/>
                    </a:lnTo>
                    <a:lnTo>
                      <a:pt x="1522" y="29"/>
                    </a:lnTo>
                    <a:lnTo>
                      <a:pt x="1340" y="29"/>
                    </a:lnTo>
                    <a:lnTo>
                      <a:pt x="1169" y="43"/>
                    </a:lnTo>
                    <a:lnTo>
                      <a:pt x="1020" y="83"/>
                    </a:lnTo>
                    <a:lnTo>
                      <a:pt x="929" y="175"/>
                    </a:lnTo>
                    <a:lnTo>
                      <a:pt x="893" y="26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79" name="Freeform 519"/>
              <p:cNvSpPr>
                <a:spLocks/>
              </p:cNvSpPr>
              <p:nvPr/>
            </p:nvSpPr>
            <p:spPr bwMode="auto">
              <a:xfrm>
                <a:off x="5123" y="3119"/>
                <a:ext cx="175" cy="121"/>
              </a:xfrm>
              <a:custGeom>
                <a:avLst/>
                <a:gdLst>
                  <a:gd name="T0" fmla="*/ 893 w 2105"/>
                  <a:gd name="T1" fmla="*/ 266 h 1456"/>
                  <a:gd name="T2" fmla="*/ 713 w 2105"/>
                  <a:gd name="T3" fmla="*/ 318 h 1456"/>
                  <a:gd name="T4" fmla="*/ 565 w 2105"/>
                  <a:gd name="T5" fmla="*/ 394 h 1456"/>
                  <a:gd name="T6" fmla="*/ 438 w 2105"/>
                  <a:gd name="T7" fmla="*/ 487 h 1456"/>
                  <a:gd name="T8" fmla="*/ 335 w 2105"/>
                  <a:gd name="T9" fmla="*/ 600 h 1456"/>
                  <a:gd name="T10" fmla="*/ 243 w 2105"/>
                  <a:gd name="T11" fmla="*/ 721 h 1456"/>
                  <a:gd name="T12" fmla="*/ 162 w 2105"/>
                  <a:gd name="T13" fmla="*/ 854 h 1456"/>
                  <a:gd name="T14" fmla="*/ 81 w 2105"/>
                  <a:gd name="T15" fmla="*/ 994 h 1456"/>
                  <a:gd name="T16" fmla="*/ 0 w 2105"/>
                  <a:gd name="T17" fmla="*/ 1131 h 1456"/>
                  <a:gd name="T18" fmla="*/ 92 w 2105"/>
                  <a:gd name="T19" fmla="*/ 1456 h 1456"/>
                  <a:gd name="T20" fmla="*/ 1858 w 2105"/>
                  <a:gd name="T21" fmla="*/ 633 h 1456"/>
                  <a:gd name="T22" fmla="*/ 2105 w 2105"/>
                  <a:gd name="T23" fmla="*/ 0 h 1456"/>
                  <a:gd name="T24" fmla="*/ 1913 w 2105"/>
                  <a:gd name="T25" fmla="*/ 26 h 1456"/>
                  <a:gd name="T26" fmla="*/ 1718 w 2105"/>
                  <a:gd name="T27" fmla="*/ 29 h 1456"/>
                  <a:gd name="T28" fmla="*/ 1522 w 2105"/>
                  <a:gd name="T29" fmla="*/ 29 h 1456"/>
                  <a:gd name="T30" fmla="*/ 1340 w 2105"/>
                  <a:gd name="T31" fmla="*/ 29 h 1456"/>
                  <a:gd name="T32" fmla="*/ 1169 w 2105"/>
                  <a:gd name="T33" fmla="*/ 43 h 1456"/>
                  <a:gd name="T34" fmla="*/ 1020 w 2105"/>
                  <a:gd name="T35" fmla="*/ 83 h 1456"/>
                  <a:gd name="T36" fmla="*/ 929 w 2105"/>
                  <a:gd name="T37" fmla="*/ 175 h 1456"/>
                  <a:gd name="T38" fmla="*/ 893 w 2105"/>
                  <a:gd name="T39" fmla="*/ 266 h 1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105" h="1456">
                    <a:moveTo>
                      <a:pt x="893" y="266"/>
                    </a:moveTo>
                    <a:lnTo>
                      <a:pt x="713" y="318"/>
                    </a:lnTo>
                    <a:lnTo>
                      <a:pt x="565" y="394"/>
                    </a:lnTo>
                    <a:lnTo>
                      <a:pt x="438" y="487"/>
                    </a:lnTo>
                    <a:lnTo>
                      <a:pt x="335" y="600"/>
                    </a:lnTo>
                    <a:lnTo>
                      <a:pt x="243" y="721"/>
                    </a:lnTo>
                    <a:lnTo>
                      <a:pt x="162" y="854"/>
                    </a:lnTo>
                    <a:lnTo>
                      <a:pt x="81" y="994"/>
                    </a:lnTo>
                    <a:lnTo>
                      <a:pt x="0" y="1131"/>
                    </a:lnTo>
                    <a:lnTo>
                      <a:pt x="92" y="1456"/>
                    </a:lnTo>
                    <a:lnTo>
                      <a:pt x="1858" y="633"/>
                    </a:lnTo>
                    <a:lnTo>
                      <a:pt x="2105" y="0"/>
                    </a:lnTo>
                    <a:lnTo>
                      <a:pt x="1913" y="26"/>
                    </a:lnTo>
                    <a:lnTo>
                      <a:pt x="1718" y="29"/>
                    </a:lnTo>
                    <a:lnTo>
                      <a:pt x="1522" y="29"/>
                    </a:lnTo>
                    <a:lnTo>
                      <a:pt x="1340" y="29"/>
                    </a:lnTo>
                    <a:lnTo>
                      <a:pt x="1169" y="43"/>
                    </a:lnTo>
                    <a:lnTo>
                      <a:pt x="1020" y="83"/>
                    </a:lnTo>
                    <a:lnTo>
                      <a:pt x="929" y="175"/>
                    </a:lnTo>
                    <a:lnTo>
                      <a:pt x="893" y="266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80" name="Freeform 520"/>
              <p:cNvSpPr>
                <a:spLocks/>
              </p:cNvSpPr>
              <p:nvPr/>
            </p:nvSpPr>
            <p:spPr bwMode="auto">
              <a:xfrm>
                <a:off x="4922" y="3107"/>
                <a:ext cx="435" cy="464"/>
              </a:xfrm>
              <a:custGeom>
                <a:avLst/>
                <a:gdLst>
                  <a:gd name="T0" fmla="*/ 1936 w 5222"/>
                  <a:gd name="T1" fmla="*/ 3940 h 5565"/>
                  <a:gd name="T2" fmla="*/ 0 w 5222"/>
                  <a:gd name="T3" fmla="*/ 5565 h 5565"/>
                  <a:gd name="T4" fmla="*/ 2696 w 5222"/>
                  <a:gd name="T5" fmla="*/ 5399 h 5565"/>
                  <a:gd name="T6" fmla="*/ 3400 w 5222"/>
                  <a:gd name="T7" fmla="*/ 4805 h 5565"/>
                  <a:gd name="T8" fmla="*/ 4521 w 5222"/>
                  <a:gd name="T9" fmla="*/ 2460 h 5565"/>
                  <a:gd name="T10" fmla="*/ 5222 w 5222"/>
                  <a:gd name="T11" fmla="*/ 1986 h 5565"/>
                  <a:gd name="T12" fmla="*/ 4870 w 5222"/>
                  <a:gd name="T13" fmla="*/ 0 h 5565"/>
                  <a:gd name="T14" fmla="*/ 4704 w 5222"/>
                  <a:gd name="T15" fmla="*/ 92 h 5565"/>
                  <a:gd name="T16" fmla="*/ 4518 w 5222"/>
                  <a:gd name="T17" fmla="*/ 142 h 5565"/>
                  <a:gd name="T18" fmla="*/ 4326 w 5222"/>
                  <a:gd name="T19" fmla="*/ 168 h 5565"/>
                  <a:gd name="T20" fmla="*/ 4309 w 5222"/>
                  <a:gd name="T21" fmla="*/ 216 h 5565"/>
                  <a:gd name="T22" fmla="*/ 4274 w 5222"/>
                  <a:gd name="T23" fmla="*/ 380 h 5565"/>
                  <a:gd name="T24" fmla="*/ 4167 w 5222"/>
                  <a:gd name="T25" fmla="*/ 493 h 5565"/>
                  <a:gd name="T26" fmla="*/ 4094 w 5222"/>
                  <a:gd name="T27" fmla="*/ 608 h 5565"/>
                  <a:gd name="T28" fmla="*/ 4001 w 5222"/>
                  <a:gd name="T29" fmla="*/ 643 h 5565"/>
                  <a:gd name="T30" fmla="*/ 3831 w 5222"/>
                  <a:gd name="T31" fmla="*/ 737 h 5565"/>
                  <a:gd name="T32" fmla="*/ 1936 w 5222"/>
                  <a:gd name="T33" fmla="*/ 3940 h 55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222" h="5565">
                    <a:moveTo>
                      <a:pt x="1936" y="3940"/>
                    </a:moveTo>
                    <a:lnTo>
                      <a:pt x="0" y="5565"/>
                    </a:lnTo>
                    <a:lnTo>
                      <a:pt x="2696" y="5399"/>
                    </a:lnTo>
                    <a:lnTo>
                      <a:pt x="3400" y="4805"/>
                    </a:lnTo>
                    <a:lnTo>
                      <a:pt x="4521" y="2460"/>
                    </a:lnTo>
                    <a:lnTo>
                      <a:pt x="5222" y="1986"/>
                    </a:lnTo>
                    <a:lnTo>
                      <a:pt x="4870" y="0"/>
                    </a:lnTo>
                    <a:lnTo>
                      <a:pt x="4704" y="92"/>
                    </a:lnTo>
                    <a:lnTo>
                      <a:pt x="4518" y="142"/>
                    </a:lnTo>
                    <a:lnTo>
                      <a:pt x="4326" y="168"/>
                    </a:lnTo>
                    <a:lnTo>
                      <a:pt x="4309" y="216"/>
                    </a:lnTo>
                    <a:lnTo>
                      <a:pt x="4274" y="380"/>
                    </a:lnTo>
                    <a:lnTo>
                      <a:pt x="4167" y="493"/>
                    </a:lnTo>
                    <a:lnTo>
                      <a:pt x="4094" y="608"/>
                    </a:lnTo>
                    <a:lnTo>
                      <a:pt x="4001" y="643"/>
                    </a:lnTo>
                    <a:lnTo>
                      <a:pt x="3831" y="737"/>
                    </a:lnTo>
                    <a:lnTo>
                      <a:pt x="1936" y="3940"/>
                    </a:lnTo>
                    <a:close/>
                  </a:path>
                </a:pathLst>
              </a:custGeom>
              <a:solidFill>
                <a:srgbClr val="ABAD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81" name="Freeform 521"/>
              <p:cNvSpPr>
                <a:spLocks/>
              </p:cNvSpPr>
              <p:nvPr/>
            </p:nvSpPr>
            <p:spPr bwMode="auto">
              <a:xfrm>
                <a:off x="4922" y="3107"/>
                <a:ext cx="435" cy="464"/>
              </a:xfrm>
              <a:custGeom>
                <a:avLst/>
                <a:gdLst>
                  <a:gd name="T0" fmla="*/ 1936 w 5222"/>
                  <a:gd name="T1" fmla="*/ 3940 h 5565"/>
                  <a:gd name="T2" fmla="*/ 0 w 5222"/>
                  <a:gd name="T3" fmla="*/ 5565 h 5565"/>
                  <a:gd name="T4" fmla="*/ 2696 w 5222"/>
                  <a:gd name="T5" fmla="*/ 5399 h 5565"/>
                  <a:gd name="T6" fmla="*/ 3400 w 5222"/>
                  <a:gd name="T7" fmla="*/ 4805 h 5565"/>
                  <a:gd name="T8" fmla="*/ 4521 w 5222"/>
                  <a:gd name="T9" fmla="*/ 2460 h 5565"/>
                  <a:gd name="T10" fmla="*/ 5222 w 5222"/>
                  <a:gd name="T11" fmla="*/ 1986 h 5565"/>
                  <a:gd name="T12" fmla="*/ 4870 w 5222"/>
                  <a:gd name="T13" fmla="*/ 0 h 5565"/>
                  <a:gd name="T14" fmla="*/ 4704 w 5222"/>
                  <a:gd name="T15" fmla="*/ 92 h 5565"/>
                  <a:gd name="T16" fmla="*/ 4518 w 5222"/>
                  <a:gd name="T17" fmla="*/ 142 h 5565"/>
                  <a:gd name="T18" fmla="*/ 4326 w 5222"/>
                  <a:gd name="T19" fmla="*/ 168 h 5565"/>
                  <a:gd name="T20" fmla="*/ 4309 w 5222"/>
                  <a:gd name="T21" fmla="*/ 216 h 5565"/>
                  <a:gd name="T22" fmla="*/ 4274 w 5222"/>
                  <a:gd name="T23" fmla="*/ 380 h 5565"/>
                  <a:gd name="T24" fmla="*/ 4167 w 5222"/>
                  <a:gd name="T25" fmla="*/ 493 h 5565"/>
                  <a:gd name="T26" fmla="*/ 4094 w 5222"/>
                  <a:gd name="T27" fmla="*/ 608 h 5565"/>
                  <a:gd name="T28" fmla="*/ 4001 w 5222"/>
                  <a:gd name="T29" fmla="*/ 643 h 5565"/>
                  <a:gd name="T30" fmla="*/ 3831 w 5222"/>
                  <a:gd name="T31" fmla="*/ 737 h 5565"/>
                  <a:gd name="T32" fmla="*/ 1936 w 5222"/>
                  <a:gd name="T33" fmla="*/ 3940 h 55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222" h="5565">
                    <a:moveTo>
                      <a:pt x="1936" y="3940"/>
                    </a:moveTo>
                    <a:lnTo>
                      <a:pt x="0" y="5565"/>
                    </a:lnTo>
                    <a:lnTo>
                      <a:pt x="2696" y="5399"/>
                    </a:lnTo>
                    <a:lnTo>
                      <a:pt x="3400" y="4805"/>
                    </a:lnTo>
                    <a:lnTo>
                      <a:pt x="4521" y="2460"/>
                    </a:lnTo>
                    <a:lnTo>
                      <a:pt x="5222" y="1986"/>
                    </a:lnTo>
                    <a:lnTo>
                      <a:pt x="4870" y="0"/>
                    </a:lnTo>
                    <a:lnTo>
                      <a:pt x="4704" y="92"/>
                    </a:lnTo>
                    <a:lnTo>
                      <a:pt x="4518" y="142"/>
                    </a:lnTo>
                    <a:lnTo>
                      <a:pt x="4326" y="168"/>
                    </a:lnTo>
                    <a:lnTo>
                      <a:pt x="4309" y="216"/>
                    </a:lnTo>
                    <a:lnTo>
                      <a:pt x="4274" y="380"/>
                    </a:lnTo>
                    <a:lnTo>
                      <a:pt x="4167" y="493"/>
                    </a:lnTo>
                    <a:lnTo>
                      <a:pt x="4094" y="608"/>
                    </a:lnTo>
                    <a:lnTo>
                      <a:pt x="4001" y="643"/>
                    </a:lnTo>
                    <a:lnTo>
                      <a:pt x="3831" y="737"/>
                    </a:lnTo>
                    <a:lnTo>
                      <a:pt x="1936" y="3940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82" name="Freeform 522"/>
              <p:cNvSpPr>
                <a:spLocks/>
              </p:cNvSpPr>
              <p:nvPr/>
            </p:nvSpPr>
            <p:spPr bwMode="auto">
              <a:xfrm>
                <a:off x="4507" y="3773"/>
                <a:ext cx="238" cy="106"/>
              </a:xfrm>
              <a:custGeom>
                <a:avLst/>
                <a:gdLst>
                  <a:gd name="T0" fmla="*/ 0 w 2851"/>
                  <a:gd name="T1" fmla="*/ 1269 h 1269"/>
                  <a:gd name="T2" fmla="*/ 988 w 2851"/>
                  <a:gd name="T3" fmla="*/ 1269 h 1269"/>
                  <a:gd name="T4" fmla="*/ 1130 w 2851"/>
                  <a:gd name="T5" fmla="*/ 1160 h 1269"/>
                  <a:gd name="T6" fmla="*/ 1416 w 2851"/>
                  <a:gd name="T7" fmla="*/ 1005 h 1269"/>
                  <a:gd name="T8" fmla="*/ 1756 w 2851"/>
                  <a:gd name="T9" fmla="*/ 751 h 1269"/>
                  <a:gd name="T10" fmla="*/ 1996 w 2851"/>
                  <a:gd name="T11" fmla="*/ 569 h 1269"/>
                  <a:gd name="T12" fmla="*/ 2496 w 2851"/>
                  <a:gd name="T13" fmla="*/ 259 h 1269"/>
                  <a:gd name="T14" fmla="*/ 2851 w 2851"/>
                  <a:gd name="T15" fmla="*/ 0 h 1269"/>
                  <a:gd name="T16" fmla="*/ 1830 w 2851"/>
                  <a:gd name="T17" fmla="*/ 211 h 1269"/>
                  <a:gd name="T18" fmla="*/ 0 w 2851"/>
                  <a:gd name="T19" fmla="*/ 1265 h 1269"/>
                  <a:gd name="T20" fmla="*/ 0 w 2851"/>
                  <a:gd name="T21" fmla="*/ 1269 h 1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51" h="1269">
                    <a:moveTo>
                      <a:pt x="0" y="1269"/>
                    </a:moveTo>
                    <a:lnTo>
                      <a:pt x="988" y="1269"/>
                    </a:lnTo>
                    <a:lnTo>
                      <a:pt x="1130" y="1160"/>
                    </a:lnTo>
                    <a:lnTo>
                      <a:pt x="1416" y="1005"/>
                    </a:lnTo>
                    <a:lnTo>
                      <a:pt x="1756" y="751"/>
                    </a:lnTo>
                    <a:lnTo>
                      <a:pt x="1996" y="569"/>
                    </a:lnTo>
                    <a:lnTo>
                      <a:pt x="2496" y="259"/>
                    </a:lnTo>
                    <a:lnTo>
                      <a:pt x="2851" y="0"/>
                    </a:lnTo>
                    <a:lnTo>
                      <a:pt x="1830" y="211"/>
                    </a:lnTo>
                    <a:lnTo>
                      <a:pt x="0" y="1265"/>
                    </a:lnTo>
                    <a:lnTo>
                      <a:pt x="0" y="1269"/>
                    </a:lnTo>
                    <a:close/>
                  </a:path>
                </a:pathLst>
              </a:custGeom>
              <a:solidFill>
                <a:srgbClr val="1315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83" name="Freeform 523"/>
              <p:cNvSpPr>
                <a:spLocks/>
              </p:cNvSpPr>
              <p:nvPr/>
            </p:nvSpPr>
            <p:spPr bwMode="auto">
              <a:xfrm>
                <a:off x="4507" y="3773"/>
                <a:ext cx="238" cy="106"/>
              </a:xfrm>
              <a:custGeom>
                <a:avLst/>
                <a:gdLst>
                  <a:gd name="T0" fmla="*/ 0 w 2851"/>
                  <a:gd name="T1" fmla="*/ 1269 h 1269"/>
                  <a:gd name="T2" fmla="*/ 988 w 2851"/>
                  <a:gd name="T3" fmla="*/ 1269 h 1269"/>
                  <a:gd name="T4" fmla="*/ 1130 w 2851"/>
                  <a:gd name="T5" fmla="*/ 1160 h 1269"/>
                  <a:gd name="T6" fmla="*/ 1416 w 2851"/>
                  <a:gd name="T7" fmla="*/ 1005 h 1269"/>
                  <a:gd name="T8" fmla="*/ 1756 w 2851"/>
                  <a:gd name="T9" fmla="*/ 751 h 1269"/>
                  <a:gd name="T10" fmla="*/ 1996 w 2851"/>
                  <a:gd name="T11" fmla="*/ 569 h 1269"/>
                  <a:gd name="T12" fmla="*/ 2496 w 2851"/>
                  <a:gd name="T13" fmla="*/ 259 h 1269"/>
                  <a:gd name="T14" fmla="*/ 2851 w 2851"/>
                  <a:gd name="T15" fmla="*/ 0 h 1269"/>
                  <a:gd name="T16" fmla="*/ 1830 w 2851"/>
                  <a:gd name="T17" fmla="*/ 211 h 1269"/>
                  <a:gd name="T18" fmla="*/ 0 w 2851"/>
                  <a:gd name="T19" fmla="*/ 1265 h 1269"/>
                  <a:gd name="T20" fmla="*/ 0 w 2851"/>
                  <a:gd name="T21" fmla="*/ 1269 h 1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51" h="1269">
                    <a:moveTo>
                      <a:pt x="0" y="1269"/>
                    </a:moveTo>
                    <a:lnTo>
                      <a:pt x="988" y="1269"/>
                    </a:lnTo>
                    <a:lnTo>
                      <a:pt x="1130" y="1160"/>
                    </a:lnTo>
                    <a:lnTo>
                      <a:pt x="1416" y="1005"/>
                    </a:lnTo>
                    <a:lnTo>
                      <a:pt x="1756" y="751"/>
                    </a:lnTo>
                    <a:lnTo>
                      <a:pt x="1996" y="569"/>
                    </a:lnTo>
                    <a:lnTo>
                      <a:pt x="2496" y="259"/>
                    </a:lnTo>
                    <a:lnTo>
                      <a:pt x="2851" y="0"/>
                    </a:lnTo>
                    <a:lnTo>
                      <a:pt x="1830" y="211"/>
                    </a:lnTo>
                    <a:lnTo>
                      <a:pt x="0" y="1265"/>
                    </a:lnTo>
                    <a:lnTo>
                      <a:pt x="0" y="1269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84" name="Freeform 524"/>
              <p:cNvSpPr>
                <a:spLocks/>
              </p:cNvSpPr>
              <p:nvPr/>
            </p:nvSpPr>
            <p:spPr bwMode="auto">
              <a:xfrm>
                <a:off x="4286" y="3522"/>
                <a:ext cx="827" cy="357"/>
              </a:xfrm>
              <a:custGeom>
                <a:avLst/>
                <a:gdLst>
                  <a:gd name="T0" fmla="*/ 4216 w 9917"/>
                  <a:gd name="T1" fmla="*/ 1327 h 4282"/>
                  <a:gd name="T2" fmla="*/ 4076 w 9917"/>
                  <a:gd name="T3" fmla="*/ 1387 h 4282"/>
                  <a:gd name="T4" fmla="*/ 3941 w 9917"/>
                  <a:gd name="T5" fmla="*/ 1456 h 4282"/>
                  <a:gd name="T6" fmla="*/ 3809 w 9917"/>
                  <a:gd name="T7" fmla="*/ 1525 h 4282"/>
                  <a:gd name="T8" fmla="*/ 3674 w 9917"/>
                  <a:gd name="T9" fmla="*/ 1607 h 4282"/>
                  <a:gd name="T10" fmla="*/ 3444 w 9917"/>
                  <a:gd name="T11" fmla="*/ 1759 h 4282"/>
                  <a:gd name="T12" fmla="*/ 3128 w 9917"/>
                  <a:gd name="T13" fmla="*/ 2017 h 4282"/>
                  <a:gd name="T14" fmla="*/ 2878 w 9917"/>
                  <a:gd name="T15" fmla="*/ 2226 h 4282"/>
                  <a:gd name="T16" fmla="*/ 2496 w 9917"/>
                  <a:gd name="T17" fmla="*/ 2493 h 4282"/>
                  <a:gd name="T18" fmla="*/ 2123 w 9917"/>
                  <a:gd name="T19" fmla="*/ 2753 h 4282"/>
                  <a:gd name="T20" fmla="*/ 1761 w 9917"/>
                  <a:gd name="T21" fmla="*/ 3013 h 4282"/>
                  <a:gd name="T22" fmla="*/ 1404 w 9917"/>
                  <a:gd name="T23" fmla="*/ 3270 h 4282"/>
                  <a:gd name="T24" fmla="*/ 1053 w 9917"/>
                  <a:gd name="T25" fmla="*/ 3478 h 4282"/>
                  <a:gd name="T26" fmla="*/ 705 w 9917"/>
                  <a:gd name="T27" fmla="*/ 3778 h 4282"/>
                  <a:gd name="T28" fmla="*/ 354 w 9917"/>
                  <a:gd name="T29" fmla="*/ 4029 h 4282"/>
                  <a:gd name="T30" fmla="*/ 0 w 9917"/>
                  <a:gd name="T31" fmla="*/ 4282 h 4282"/>
                  <a:gd name="T32" fmla="*/ 3013 w 9917"/>
                  <a:gd name="T33" fmla="*/ 4282 h 4282"/>
                  <a:gd name="T34" fmla="*/ 3155 w 9917"/>
                  <a:gd name="T35" fmla="*/ 4173 h 4282"/>
                  <a:gd name="T36" fmla="*/ 3442 w 9917"/>
                  <a:gd name="T37" fmla="*/ 4018 h 4282"/>
                  <a:gd name="T38" fmla="*/ 3836 w 9917"/>
                  <a:gd name="T39" fmla="*/ 3778 h 4282"/>
                  <a:gd name="T40" fmla="*/ 4066 w 9917"/>
                  <a:gd name="T41" fmla="*/ 3638 h 4282"/>
                  <a:gd name="T42" fmla="*/ 4230 w 9917"/>
                  <a:gd name="T43" fmla="*/ 3535 h 4282"/>
                  <a:gd name="T44" fmla="*/ 4429 w 9917"/>
                  <a:gd name="T45" fmla="*/ 3438 h 4282"/>
                  <a:gd name="T46" fmla="*/ 4731 w 9917"/>
                  <a:gd name="T47" fmla="*/ 3325 h 4282"/>
                  <a:gd name="T48" fmla="*/ 5047 w 9917"/>
                  <a:gd name="T49" fmla="*/ 3222 h 4282"/>
                  <a:gd name="T50" fmla="*/ 5217 w 9917"/>
                  <a:gd name="T51" fmla="*/ 3155 h 4282"/>
                  <a:gd name="T52" fmla="*/ 5447 w 9917"/>
                  <a:gd name="T53" fmla="*/ 3063 h 4282"/>
                  <a:gd name="T54" fmla="*/ 5683 w 9917"/>
                  <a:gd name="T55" fmla="*/ 2974 h 4282"/>
                  <a:gd name="T56" fmla="*/ 5852 w 9917"/>
                  <a:gd name="T57" fmla="*/ 2910 h 4282"/>
                  <a:gd name="T58" fmla="*/ 6956 w 9917"/>
                  <a:gd name="T59" fmla="*/ 2570 h 4282"/>
                  <a:gd name="T60" fmla="*/ 7608 w 9917"/>
                  <a:gd name="T61" fmla="*/ 1976 h 4282"/>
                  <a:gd name="T62" fmla="*/ 9917 w 9917"/>
                  <a:gd name="T63" fmla="*/ 200 h 4282"/>
                  <a:gd name="T64" fmla="*/ 9722 w 9917"/>
                  <a:gd name="T65" fmla="*/ 156 h 4282"/>
                  <a:gd name="T66" fmla="*/ 9542 w 9917"/>
                  <a:gd name="T67" fmla="*/ 95 h 4282"/>
                  <a:gd name="T68" fmla="*/ 9368 w 9917"/>
                  <a:gd name="T69" fmla="*/ 27 h 4282"/>
                  <a:gd name="T70" fmla="*/ 7401 w 9917"/>
                  <a:gd name="T71" fmla="*/ 0 h 4282"/>
                  <a:gd name="T72" fmla="*/ 6225 w 9917"/>
                  <a:gd name="T73" fmla="*/ 442 h 4282"/>
                  <a:gd name="T74" fmla="*/ 5834 w 9917"/>
                  <a:gd name="T75" fmla="*/ 634 h 4282"/>
                  <a:gd name="T76" fmla="*/ 5497 w 9917"/>
                  <a:gd name="T77" fmla="*/ 791 h 4282"/>
                  <a:gd name="T78" fmla="*/ 5166 w 9917"/>
                  <a:gd name="T79" fmla="*/ 959 h 4282"/>
                  <a:gd name="T80" fmla="*/ 4877 w 9917"/>
                  <a:gd name="T81" fmla="*/ 1078 h 4282"/>
                  <a:gd name="T82" fmla="*/ 4731 w 9917"/>
                  <a:gd name="T83" fmla="*/ 1141 h 4282"/>
                  <a:gd name="T84" fmla="*/ 4553 w 9917"/>
                  <a:gd name="T85" fmla="*/ 1227 h 4282"/>
                  <a:gd name="T86" fmla="*/ 4369 w 9917"/>
                  <a:gd name="T87" fmla="*/ 1303 h 4282"/>
                  <a:gd name="T88" fmla="*/ 4216 w 9917"/>
                  <a:gd name="T89" fmla="*/ 1327 h 4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9917" h="4282">
                    <a:moveTo>
                      <a:pt x="4216" y="1327"/>
                    </a:moveTo>
                    <a:lnTo>
                      <a:pt x="4076" y="1387"/>
                    </a:lnTo>
                    <a:lnTo>
                      <a:pt x="3941" y="1456"/>
                    </a:lnTo>
                    <a:lnTo>
                      <a:pt x="3809" y="1525"/>
                    </a:lnTo>
                    <a:lnTo>
                      <a:pt x="3674" y="1607"/>
                    </a:lnTo>
                    <a:lnTo>
                      <a:pt x="3444" y="1759"/>
                    </a:lnTo>
                    <a:lnTo>
                      <a:pt x="3128" y="2017"/>
                    </a:lnTo>
                    <a:lnTo>
                      <a:pt x="2878" y="2226"/>
                    </a:lnTo>
                    <a:lnTo>
                      <a:pt x="2496" y="2493"/>
                    </a:lnTo>
                    <a:lnTo>
                      <a:pt x="2123" y="2753"/>
                    </a:lnTo>
                    <a:lnTo>
                      <a:pt x="1761" y="3013"/>
                    </a:lnTo>
                    <a:lnTo>
                      <a:pt x="1404" y="3270"/>
                    </a:lnTo>
                    <a:lnTo>
                      <a:pt x="1053" y="3478"/>
                    </a:lnTo>
                    <a:lnTo>
                      <a:pt x="705" y="3778"/>
                    </a:lnTo>
                    <a:lnTo>
                      <a:pt x="354" y="4029"/>
                    </a:lnTo>
                    <a:lnTo>
                      <a:pt x="0" y="4282"/>
                    </a:lnTo>
                    <a:lnTo>
                      <a:pt x="3013" y="4282"/>
                    </a:lnTo>
                    <a:lnTo>
                      <a:pt x="3155" y="4173"/>
                    </a:lnTo>
                    <a:lnTo>
                      <a:pt x="3442" y="4018"/>
                    </a:lnTo>
                    <a:lnTo>
                      <a:pt x="3836" y="3778"/>
                    </a:lnTo>
                    <a:lnTo>
                      <a:pt x="4066" y="3638"/>
                    </a:lnTo>
                    <a:lnTo>
                      <a:pt x="4230" y="3535"/>
                    </a:lnTo>
                    <a:lnTo>
                      <a:pt x="4429" y="3438"/>
                    </a:lnTo>
                    <a:lnTo>
                      <a:pt x="4731" y="3325"/>
                    </a:lnTo>
                    <a:lnTo>
                      <a:pt x="5047" y="3222"/>
                    </a:lnTo>
                    <a:lnTo>
                      <a:pt x="5217" y="3155"/>
                    </a:lnTo>
                    <a:lnTo>
                      <a:pt x="5447" y="3063"/>
                    </a:lnTo>
                    <a:lnTo>
                      <a:pt x="5683" y="2974"/>
                    </a:lnTo>
                    <a:lnTo>
                      <a:pt x="5852" y="2910"/>
                    </a:lnTo>
                    <a:lnTo>
                      <a:pt x="6956" y="2570"/>
                    </a:lnTo>
                    <a:lnTo>
                      <a:pt x="7608" y="1976"/>
                    </a:lnTo>
                    <a:lnTo>
                      <a:pt x="9917" y="200"/>
                    </a:lnTo>
                    <a:lnTo>
                      <a:pt x="9722" y="156"/>
                    </a:lnTo>
                    <a:lnTo>
                      <a:pt x="9542" y="95"/>
                    </a:lnTo>
                    <a:lnTo>
                      <a:pt x="9368" y="27"/>
                    </a:lnTo>
                    <a:lnTo>
                      <a:pt x="7401" y="0"/>
                    </a:lnTo>
                    <a:lnTo>
                      <a:pt x="6225" y="442"/>
                    </a:lnTo>
                    <a:lnTo>
                      <a:pt x="5834" y="634"/>
                    </a:lnTo>
                    <a:lnTo>
                      <a:pt x="5497" y="791"/>
                    </a:lnTo>
                    <a:lnTo>
                      <a:pt x="5166" y="959"/>
                    </a:lnTo>
                    <a:lnTo>
                      <a:pt x="4877" y="1078"/>
                    </a:lnTo>
                    <a:lnTo>
                      <a:pt x="4731" y="1141"/>
                    </a:lnTo>
                    <a:lnTo>
                      <a:pt x="4553" y="1227"/>
                    </a:lnTo>
                    <a:lnTo>
                      <a:pt x="4369" y="1303"/>
                    </a:lnTo>
                    <a:lnTo>
                      <a:pt x="4216" y="1327"/>
                    </a:lnTo>
                    <a:close/>
                  </a:path>
                </a:pathLst>
              </a:custGeom>
              <a:solidFill>
                <a:srgbClr val="29186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85" name="Freeform 525"/>
              <p:cNvSpPr>
                <a:spLocks/>
              </p:cNvSpPr>
              <p:nvPr/>
            </p:nvSpPr>
            <p:spPr bwMode="auto">
              <a:xfrm>
                <a:off x="4286" y="3522"/>
                <a:ext cx="827" cy="357"/>
              </a:xfrm>
              <a:custGeom>
                <a:avLst/>
                <a:gdLst>
                  <a:gd name="T0" fmla="*/ 4216 w 9917"/>
                  <a:gd name="T1" fmla="*/ 1327 h 4282"/>
                  <a:gd name="T2" fmla="*/ 4076 w 9917"/>
                  <a:gd name="T3" fmla="*/ 1387 h 4282"/>
                  <a:gd name="T4" fmla="*/ 3941 w 9917"/>
                  <a:gd name="T5" fmla="*/ 1456 h 4282"/>
                  <a:gd name="T6" fmla="*/ 3809 w 9917"/>
                  <a:gd name="T7" fmla="*/ 1525 h 4282"/>
                  <a:gd name="T8" fmla="*/ 3674 w 9917"/>
                  <a:gd name="T9" fmla="*/ 1607 h 4282"/>
                  <a:gd name="T10" fmla="*/ 3444 w 9917"/>
                  <a:gd name="T11" fmla="*/ 1759 h 4282"/>
                  <a:gd name="T12" fmla="*/ 3128 w 9917"/>
                  <a:gd name="T13" fmla="*/ 2017 h 4282"/>
                  <a:gd name="T14" fmla="*/ 2878 w 9917"/>
                  <a:gd name="T15" fmla="*/ 2226 h 4282"/>
                  <a:gd name="T16" fmla="*/ 2496 w 9917"/>
                  <a:gd name="T17" fmla="*/ 2493 h 4282"/>
                  <a:gd name="T18" fmla="*/ 2123 w 9917"/>
                  <a:gd name="T19" fmla="*/ 2753 h 4282"/>
                  <a:gd name="T20" fmla="*/ 1761 w 9917"/>
                  <a:gd name="T21" fmla="*/ 3013 h 4282"/>
                  <a:gd name="T22" fmla="*/ 1404 w 9917"/>
                  <a:gd name="T23" fmla="*/ 3270 h 4282"/>
                  <a:gd name="T24" fmla="*/ 1053 w 9917"/>
                  <a:gd name="T25" fmla="*/ 3478 h 4282"/>
                  <a:gd name="T26" fmla="*/ 705 w 9917"/>
                  <a:gd name="T27" fmla="*/ 3778 h 4282"/>
                  <a:gd name="T28" fmla="*/ 354 w 9917"/>
                  <a:gd name="T29" fmla="*/ 4029 h 4282"/>
                  <a:gd name="T30" fmla="*/ 0 w 9917"/>
                  <a:gd name="T31" fmla="*/ 4282 h 4282"/>
                  <a:gd name="T32" fmla="*/ 3013 w 9917"/>
                  <a:gd name="T33" fmla="*/ 4282 h 4282"/>
                  <a:gd name="T34" fmla="*/ 3155 w 9917"/>
                  <a:gd name="T35" fmla="*/ 4173 h 4282"/>
                  <a:gd name="T36" fmla="*/ 3442 w 9917"/>
                  <a:gd name="T37" fmla="*/ 4018 h 4282"/>
                  <a:gd name="T38" fmla="*/ 3836 w 9917"/>
                  <a:gd name="T39" fmla="*/ 3778 h 4282"/>
                  <a:gd name="T40" fmla="*/ 4066 w 9917"/>
                  <a:gd name="T41" fmla="*/ 3638 h 4282"/>
                  <a:gd name="T42" fmla="*/ 4230 w 9917"/>
                  <a:gd name="T43" fmla="*/ 3535 h 4282"/>
                  <a:gd name="T44" fmla="*/ 4429 w 9917"/>
                  <a:gd name="T45" fmla="*/ 3438 h 4282"/>
                  <a:gd name="T46" fmla="*/ 4731 w 9917"/>
                  <a:gd name="T47" fmla="*/ 3325 h 4282"/>
                  <a:gd name="T48" fmla="*/ 5047 w 9917"/>
                  <a:gd name="T49" fmla="*/ 3222 h 4282"/>
                  <a:gd name="T50" fmla="*/ 5217 w 9917"/>
                  <a:gd name="T51" fmla="*/ 3155 h 4282"/>
                  <a:gd name="T52" fmla="*/ 5447 w 9917"/>
                  <a:gd name="T53" fmla="*/ 3063 h 4282"/>
                  <a:gd name="T54" fmla="*/ 5683 w 9917"/>
                  <a:gd name="T55" fmla="*/ 2974 h 4282"/>
                  <a:gd name="T56" fmla="*/ 5852 w 9917"/>
                  <a:gd name="T57" fmla="*/ 2910 h 4282"/>
                  <a:gd name="T58" fmla="*/ 6956 w 9917"/>
                  <a:gd name="T59" fmla="*/ 2570 h 4282"/>
                  <a:gd name="T60" fmla="*/ 7608 w 9917"/>
                  <a:gd name="T61" fmla="*/ 1976 h 4282"/>
                  <a:gd name="T62" fmla="*/ 9917 w 9917"/>
                  <a:gd name="T63" fmla="*/ 200 h 4282"/>
                  <a:gd name="T64" fmla="*/ 9722 w 9917"/>
                  <a:gd name="T65" fmla="*/ 156 h 4282"/>
                  <a:gd name="T66" fmla="*/ 9542 w 9917"/>
                  <a:gd name="T67" fmla="*/ 95 h 4282"/>
                  <a:gd name="T68" fmla="*/ 9368 w 9917"/>
                  <a:gd name="T69" fmla="*/ 27 h 4282"/>
                  <a:gd name="T70" fmla="*/ 7401 w 9917"/>
                  <a:gd name="T71" fmla="*/ 0 h 4282"/>
                  <a:gd name="T72" fmla="*/ 6225 w 9917"/>
                  <a:gd name="T73" fmla="*/ 442 h 4282"/>
                  <a:gd name="T74" fmla="*/ 5834 w 9917"/>
                  <a:gd name="T75" fmla="*/ 634 h 4282"/>
                  <a:gd name="T76" fmla="*/ 5497 w 9917"/>
                  <a:gd name="T77" fmla="*/ 791 h 4282"/>
                  <a:gd name="T78" fmla="*/ 5166 w 9917"/>
                  <a:gd name="T79" fmla="*/ 959 h 4282"/>
                  <a:gd name="T80" fmla="*/ 4877 w 9917"/>
                  <a:gd name="T81" fmla="*/ 1078 h 4282"/>
                  <a:gd name="T82" fmla="*/ 4731 w 9917"/>
                  <a:gd name="T83" fmla="*/ 1141 h 4282"/>
                  <a:gd name="T84" fmla="*/ 4553 w 9917"/>
                  <a:gd name="T85" fmla="*/ 1227 h 4282"/>
                  <a:gd name="T86" fmla="*/ 4369 w 9917"/>
                  <a:gd name="T87" fmla="*/ 1303 h 4282"/>
                  <a:gd name="T88" fmla="*/ 4216 w 9917"/>
                  <a:gd name="T89" fmla="*/ 1327 h 4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9917" h="4282">
                    <a:moveTo>
                      <a:pt x="4216" y="1327"/>
                    </a:moveTo>
                    <a:lnTo>
                      <a:pt x="4076" y="1387"/>
                    </a:lnTo>
                    <a:lnTo>
                      <a:pt x="3941" y="1456"/>
                    </a:lnTo>
                    <a:lnTo>
                      <a:pt x="3809" y="1525"/>
                    </a:lnTo>
                    <a:lnTo>
                      <a:pt x="3674" y="1607"/>
                    </a:lnTo>
                    <a:lnTo>
                      <a:pt x="3444" y="1759"/>
                    </a:lnTo>
                    <a:lnTo>
                      <a:pt x="3128" y="2017"/>
                    </a:lnTo>
                    <a:lnTo>
                      <a:pt x="2878" y="2226"/>
                    </a:lnTo>
                    <a:lnTo>
                      <a:pt x="2496" y="2493"/>
                    </a:lnTo>
                    <a:lnTo>
                      <a:pt x="2123" y="2753"/>
                    </a:lnTo>
                    <a:lnTo>
                      <a:pt x="1761" y="3013"/>
                    </a:lnTo>
                    <a:lnTo>
                      <a:pt x="1404" y="3270"/>
                    </a:lnTo>
                    <a:lnTo>
                      <a:pt x="1053" y="3478"/>
                    </a:lnTo>
                    <a:lnTo>
                      <a:pt x="705" y="3778"/>
                    </a:lnTo>
                    <a:lnTo>
                      <a:pt x="354" y="4029"/>
                    </a:lnTo>
                    <a:lnTo>
                      <a:pt x="0" y="4282"/>
                    </a:lnTo>
                    <a:lnTo>
                      <a:pt x="3013" y="4282"/>
                    </a:lnTo>
                    <a:lnTo>
                      <a:pt x="3155" y="4173"/>
                    </a:lnTo>
                    <a:lnTo>
                      <a:pt x="3442" y="4018"/>
                    </a:lnTo>
                    <a:lnTo>
                      <a:pt x="3836" y="3778"/>
                    </a:lnTo>
                    <a:lnTo>
                      <a:pt x="4066" y="3638"/>
                    </a:lnTo>
                    <a:lnTo>
                      <a:pt x="4230" y="3535"/>
                    </a:lnTo>
                    <a:lnTo>
                      <a:pt x="4429" y="3438"/>
                    </a:lnTo>
                    <a:lnTo>
                      <a:pt x="4731" y="3325"/>
                    </a:lnTo>
                    <a:lnTo>
                      <a:pt x="5047" y="3222"/>
                    </a:lnTo>
                    <a:lnTo>
                      <a:pt x="5217" y="3155"/>
                    </a:lnTo>
                    <a:lnTo>
                      <a:pt x="5447" y="3063"/>
                    </a:lnTo>
                    <a:lnTo>
                      <a:pt x="5683" y="2974"/>
                    </a:lnTo>
                    <a:lnTo>
                      <a:pt x="5852" y="2910"/>
                    </a:lnTo>
                    <a:lnTo>
                      <a:pt x="6956" y="2570"/>
                    </a:lnTo>
                    <a:lnTo>
                      <a:pt x="7608" y="1976"/>
                    </a:lnTo>
                    <a:lnTo>
                      <a:pt x="9917" y="200"/>
                    </a:lnTo>
                    <a:lnTo>
                      <a:pt x="9722" y="156"/>
                    </a:lnTo>
                    <a:lnTo>
                      <a:pt x="9542" y="95"/>
                    </a:lnTo>
                    <a:lnTo>
                      <a:pt x="9368" y="27"/>
                    </a:lnTo>
                    <a:lnTo>
                      <a:pt x="7401" y="0"/>
                    </a:lnTo>
                    <a:lnTo>
                      <a:pt x="6225" y="442"/>
                    </a:lnTo>
                    <a:lnTo>
                      <a:pt x="5834" y="634"/>
                    </a:lnTo>
                    <a:lnTo>
                      <a:pt x="5497" y="791"/>
                    </a:lnTo>
                    <a:lnTo>
                      <a:pt x="5166" y="959"/>
                    </a:lnTo>
                    <a:lnTo>
                      <a:pt x="4877" y="1078"/>
                    </a:lnTo>
                    <a:lnTo>
                      <a:pt x="4731" y="1141"/>
                    </a:lnTo>
                    <a:lnTo>
                      <a:pt x="4553" y="1227"/>
                    </a:lnTo>
                    <a:lnTo>
                      <a:pt x="4369" y="1303"/>
                    </a:lnTo>
                    <a:lnTo>
                      <a:pt x="4216" y="1327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86" name="Freeform 526"/>
              <p:cNvSpPr>
                <a:spLocks/>
              </p:cNvSpPr>
              <p:nvPr/>
            </p:nvSpPr>
            <p:spPr bwMode="auto">
              <a:xfrm>
                <a:off x="4727" y="3600"/>
                <a:ext cx="77" cy="72"/>
              </a:xfrm>
              <a:custGeom>
                <a:avLst/>
                <a:gdLst>
                  <a:gd name="T0" fmla="*/ 933 w 933"/>
                  <a:gd name="T1" fmla="*/ 0 h 871"/>
                  <a:gd name="T2" fmla="*/ 737 w 933"/>
                  <a:gd name="T3" fmla="*/ 87 h 871"/>
                  <a:gd name="T4" fmla="*/ 337 w 933"/>
                  <a:gd name="T5" fmla="*/ 400 h 871"/>
                  <a:gd name="T6" fmla="*/ 35 w 933"/>
                  <a:gd name="T7" fmla="*/ 828 h 871"/>
                  <a:gd name="T8" fmla="*/ 0 w 933"/>
                  <a:gd name="T9" fmla="*/ 871 h 8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33" h="871">
                    <a:moveTo>
                      <a:pt x="933" y="0"/>
                    </a:moveTo>
                    <a:lnTo>
                      <a:pt x="737" y="87"/>
                    </a:lnTo>
                    <a:lnTo>
                      <a:pt x="337" y="400"/>
                    </a:lnTo>
                    <a:lnTo>
                      <a:pt x="35" y="828"/>
                    </a:lnTo>
                    <a:lnTo>
                      <a:pt x="0" y="871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87" name="Freeform 527"/>
              <p:cNvSpPr>
                <a:spLocks/>
              </p:cNvSpPr>
              <p:nvPr/>
            </p:nvSpPr>
            <p:spPr bwMode="auto">
              <a:xfrm>
                <a:off x="4690" y="3729"/>
                <a:ext cx="66" cy="49"/>
              </a:xfrm>
              <a:custGeom>
                <a:avLst/>
                <a:gdLst>
                  <a:gd name="T0" fmla="*/ 780 w 780"/>
                  <a:gd name="T1" fmla="*/ 0 h 594"/>
                  <a:gd name="T2" fmla="*/ 763 w 780"/>
                  <a:gd name="T3" fmla="*/ 12 h 594"/>
                  <a:gd name="T4" fmla="*/ 707 w 780"/>
                  <a:gd name="T5" fmla="*/ 45 h 594"/>
                  <a:gd name="T6" fmla="*/ 673 w 780"/>
                  <a:gd name="T7" fmla="*/ 68 h 594"/>
                  <a:gd name="T8" fmla="*/ 639 w 780"/>
                  <a:gd name="T9" fmla="*/ 90 h 594"/>
                  <a:gd name="T10" fmla="*/ 601 w 780"/>
                  <a:gd name="T11" fmla="*/ 117 h 594"/>
                  <a:gd name="T12" fmla="*/ 570 w 780"/>
                  <a:gd name="T13" fmla="*/ 141 h 594"/>
                  <a:gd name="T14" fmla="*/ 536 w 780"/>
                  <a:gd name="T15" fmla="*/ 167 h 594"/>
                  <a:gd name="T16" fmla="*/ 501 w 780"/>
                  <a:gd name="T17" fmla="*/ 195 h 594"/>
                  <a:gd name="T18" fmla="*/ 468 w 780"/>
                  <a:gd name="T19" fmla="*/ 221 h 594"/>
                  <a:gd name="T20" fmla="*/ 436 w 780"/>
                  <a:gd name="T21" fmla="*/ 249 h 594"/>
                  <a:gd name="T22" fmla="*/ 404 w 780"/>
                  <a:gd name="T23" fmla="*/ 274 h 594"/>
                  <a:gd name="T24" fmla="*/ 373 w 780"/>
                  <a:gd name="T25" fmla="*/ 299 h 594"/>
                  <a:gd name="T26" fmla="*/ 344 w 780"/>
                  <a:gd name="T27" fmla="*/ 327 h 594"/>
                  <a:gd name="T28" fmla="*/ 313 w 780"/>
                  <a:gd name="T29" fmla="*/ 352 h 594"/>
                  <a:gd name="T30" fmla="*/ 282 w 780"/>
                  <a:gd name="T31" fmla="*/ 382 h 594"/>
                  <a:gd name="T32" fmla="*/ 255 w 780"/>
                  <a:gd name="T33" fmla="*/ 403 h 594"/>
                  <a:gd name="T34" fmla="*/ 221 w 780"/>
                  <a:gd name="T35" fmla="*/ 428 h 594"/>
                  <a:gd name="T36" fmla="*/ 188 w 780"/>
                  <a:gd name="T37" fmla="*/ 450 h 594"/>
                  <a:gd name="T38" fmla="*/ 156 w 780"/>
                  <a:gd name="T39" fmla="*/ 476 h 594"/>
                  <a:gd name="T40" fmla="*/ 118 w 780"/>
                  <a:gd name="T41" fmla="*/ 497 h 594"/>
                  <a:gd name="T42" fmla="*/ 85 w 780"/>
                  <a:gd name="T43" fmla="*/ 521 h 594"/>
                  <a:gd name="T44" fmla="*/ 52 w 780"/>
                  <a:gd name="T45" fmla="*/ 546 h 594"/>
                  <a:gd name="T46" fmla="*/ 24 w 780"/>
                  <a:gd name="T47" fmla="*/ 570 h 594"/>
                  <a:gd name="T48" fmla="*/ 0 w 780"/>
                  <a:gd name="T49" fmla="*/ 594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780" h="594">
                    <a:moveTo>
                      <a:pt x="780" y="0"/>
                    </a:moveTo>
                    <a:lnTo>
                      <a:pt x="763" y="12"/>
                    </a:lnTo>
                    <a:lnTo>
                      <a:pt x="707" y="45"/>
                    </a:lnTo>
                    <a:lnTo>
                      <a:pt x="673" y="68"/>
                    </a:lnTo>
                    <a:lnTo>
                      <a:pt x="639" y="90"/>
                    </a:lnTo>
                    <a:lnTo>
                      <a:pt x="601" y="117"/>
                    </a:lnTo>
                    <a:lnTo>
                      <a:pt x="570" y="141"/>
                    </a:lnTo>
                    <a:lnTo>
                      <a:pt x="536" y="167"/>
                    </a:lnTo>
                    <a:lnTo>
                      <a:pt x="501" y="195"/>
                    </a:lnTo>
                    <a:lnTo>
                      <a:pt x="468" y="221"/>
                    </a:lnTo>
                    <a:lnTo>
                      <a:pt x="436" y="249"/>
                    </a:lnTo>
                    <a:lnTo>
                      <a:pt x="404" y="274"/>
                    </a:lnTo>
                    <a:lnTo>
                      <a:pt x="373" y="299"/>
                    </a:lnTo>
                    <a:lnTo>
                      <a:pt x="344" y="327"/>
                    </a:lnTo>
                    <a:lnTo>
                      <a:pt x="313" y="352"/>
                    </a:lnTo>
                    <a:lnTo>
                      <a:pt x="282" y="382"/>
                    </a:lnTo>
                    <a:lnTo>
                      <a:pt x="255" y="403"/>
                    </a:lnTo>
                    <a:lnTo>
                      <a:pt x="221" y="428"/>
                    </a:lnTo>
                    <a:lnTo>
                      <a:pt x="188" y="450"/>
                    </a:lnTo>
                    <a:lnTo>
                      <a:pt x="156" y="476"/>
                    </a:lnTo>
                    <a:lnTo>
                      <a:pt x="118" y="497"/>
                    </a:lnTo>
                    <a:lnTo>
                      <a:pt x="85" y="521"/>
                    </a:lnTo>
                    <a:lnTo>
                      <a:pt x="52" y="546"/>
                    </a:lnTo>
                    <a:lnTo>
                      <a:pt x="24" y="570"/>
                    </a:lnTo>
                    <a:lnTo>
                      <a:pt x="0" y="594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88" name="Freeform 528"/>
              <p:cNvSpPr>
                <a:spLocks/>
              </p:cNvSpPr>
              <p:nvPr/>
            </p:nvSpPr>
            <p:spPr bwMode="auto">
              <a:xfrm>
                <a:off x="4494" y="3702"/>
                <a:ext cx="60" cy="43"/>
              </a:xfrm>
              <a:custGeom>
                <a:avLst/>
                <a:gdLst>
                  <a:gd name="T0" fmla="*/ 719 w 719"/>
                  <a:gd name="T1" fmla="*/ 0 h 510"/>
                  <a:gd name="T2" fmla="*/ 558 w 719"/>
                  <a:gd name="T3" fmla="*/ 151 h 510"/>
                  <a:gd name="T4" fmla="*/ 380 w 719"/>
                  <a:gd name="T5" fmla="*/ 284 h 510"/>
                  <a:gd name="T6" fmla="*/ 195 w 719"/>
                  <a:gd name="T7" fmla="*/ 394 h 510"/>
                  <a:gd name="T8" fmla="*/ 0 w 719"/>
                  <a:gd name="T9" fmla="*/ 510 h 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9" h="510">
                    <a:moveTo>
                      <a:pt x="719" y="0"/>
                    </a:moveTo>
                    <a:lnTo>
                      <a:pt x="558" y="151"/>
                    </a:lnTo>
                    <a:lnTo>
                      <a:pt x="380" y="284"/>
                    </a:lnTo>
                    <a:lnTo>
                      <a:pt x="195" y="394"/>
                    </a:lnTo>
                    <a:lnTo>
                      <a:pt x="0" y="510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89" name="Freeform 529"/>
              <p:cNvSpPr>
                <a:spLocks/>
              </p:cNvSpPr>
              <p:nvPr/>
            </p:nvSpPr>
            <p:spPr bwMode="auto">
              <a:xfrm>
                <a:off x="4427" y="3759"/>
                <a:ext cx="168" cy="97"/>
              </a:xfrm>
              <a:custGeom>
                <a:avLst/>
                <a:gdLst>
                  <a:gd name="T0" fmla="*/ 2013 w 2013"/>
                  <a:gd name="T1" fmla="*/ 0 h 1164"/>
                  <a:gd name="T2" fmla="*/ 1867 w 2013"/>
                  <a:gd name="T3" fmla="*/ 233 h 1164"/>
                  <a:gd name="T4" fmla="*/ 1740 w 2013"/>
                  <a:gd name="T5" fmla="*/ 466 h 1164"/>
                  <a:gd name="T6" fmla="*/ 1376 w 2013"/>
                  <a:gd name="T7" fmla="*/ 686 h 1164"/>
                  <a:gd name="T8" fmla="*/ 1090 w 2013"/>
                  <a:gd name="T9" fmla="*/ 778 h 1164"/>
                  <a:gd name="T10" fmla="*/ 786 w 2013"/>
                  <a:gd name="T11" fmla="*/ 849 h 1164"/>
                  <a:gd name="T12" fmla="*/ 484 w 2013"/>
                  <a:gd name="T13" fmla="*/ 921 h 1164"/>
                  <a:gd name="T14" fmla="*/ 192 w 2013"/>
                  <a:gd name="T15" fmla="*/ 1013 h 1164"/>
                  <a:gd name="T16" fmla="*/ 0 w 2013"/>
                  <a:gd name="T17" fmla="*/ 1164 h 1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13" h="1164">
                    <a:moveTo>
                      <a:pt x="2013" y="0"/>
                    </a:moveTo>
                    <a:lnTo>
                      <a:pt x="1867" y="233"/>
                    </a:lnTo>
                    <a:lnTo>
                      <a:pt x="1740" y="466"/>
                    </a:lnTo>
                    <a:lnTo>
                      <a:pt x="1376" y="686"/>
                    </a:lnTo>
                    <a:lnTo>
                      <a:pt x="1090" y="778"/>
                    </a:lnTo>
                    <a:lnTo>
                      <a:pt x="786" y="849"/>
                    </a:lnTo>
                    <a:lnTo>
                      <a:pt x="484" y="921"/>
                    </a:lnTo>
                    <a:lnTo>
                      <a:pt x="192" y="1013"/>
                    </a:lnTo>
                    <a:lnTo>
                      <a:pt x="0" y="1164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90" name="Freeform 530"/>
              <p:cNvSpPr>
                <a:spLocks/>
              </p:cNvSpPr>
              <p:nvPr/>
            </p:nvSpPr>
            <p:spPr bwMode="auto">
              <a:xfrm>
                <a:off x="4508" y="3826"/>
                <a:ext cx="52" cy="26"/>
              </a:xfrm>
              <a:custGeom>
                <a:avLst/>
                <a:gdLst>
                  <a:gd name="T0" fmla="*/ 624 w 624"/>
                  <a:gd name="T1" fmla="*/ 0 h 318"/>
                  <a:gd name="T2" fmla="*/ 304 w 624"/>
                  <a:gd name="T3" fmla="*/ 132 h 318"/>
                  <a:gd name="T4" fmla="*/ 0 w 624"/>
                  <a:gd name="T5" fmla="*/ 318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24" h="318">
                    <a:moveTo>
                      <a:pt x="624" y="0"/>
                    </a:moveTo>
                    <a:lnTo>
                      <a:pt x="304" y="132"/>
                    </a:lnTo>
                    <a:lnTo>
                      <a:pt x="0" y="318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91" name="Freeform 531"/>
              <p:cNvSpPr>
                <a:spLocks/>
              </p:cNvSpPr>
              <p:nvPr/>
            </p:nvSpPr>
            <p:spPr bwMode="auto">
              <a:xfrm>
                <a:off x="4064" y="3463"/>
                <a:ext cx="837" cy="168"/>
              </a:xfrm>
              <a:custGeom>
                <a:avLst/>
                <a:gdLst>
                  <a:gd name="T0" fmla="*/ 5808 w 10047"/>
                  <a:gd name="T1" fmla="*/ 1095 h 2010"/>
                  <a:gd name="T2" fmla="*/ 0 w 10047"/>
                  <a:gd name="T3" fmla="*/ 1095 h 2010"/>
                  <a:gd name="T4" fmla="*/ 0 w 10047"/>
                  <a:gd name="T5" fmla="*/ 2010 h 2010"/>
                  <a:gd name="T6" fmla="*/ 5808 w 10047"/>
                  <a:gd name="T7" fmla="*/ 2010 h 2010"/>
                  <a:gd name="T8" fmla="*/ 6233 w 10047"/>
                  <a:gd name="T9" fmla="*/ 2010 h 2010"/>
                  <a:gd name="T10" fmla="*/ 10047 w 10047"/>
                  <a:gd name="T11" fmla="*/ 323 h 2010"/>
                  <a:gd name="T12" fmla="*/ 10047 w 10047"/>
                  <a:gd name="T13" fmla="*/ 0 h 2010"/>
                  <a:gd name="T14" fmla="*/ 5808 w 10047"/>
                  <a:gd name="T15" fmla="*/ 1095 h 20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047" h="2010">
                    <a:moveTo>
                      <a:pt x="5808" y="1095"/>
                    </a:moveTo>
                    <a:lnTo>
                      <a:pt x="0" y="1095"/>
                    </a:lnTo>
                    <a:lnTo>
                      <a:pt x="0" y="2010"/>
                    </a:lnTo>
                    <a:lnTo>
                      <a:pt x="5808" y="2010"/>
                    </a:lnTo>
                    <a:lnTo>
                      <a:pt x="6233" y="2010"/>
                    </a:lnTo>
                    <a:lnTo>
                      <a:pt x="10047" y="323"/>
                    </a:lnTo>
                    <a:lnTo>
                      <a:pt x="10047" y="0"/>
                    </a:lnTo>
                    <a:lnTo>
                      <a:pt x="5808" y="1095"/>
                    </a:lnTo>
                    <a:close/>
                  </a:path>
                </a:pathLst>
              </a:custGeom>
              <a:solidFill>
                <a:srgbClr val="6027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92" name="Freeform 532"/>
              <p:cNvSpPr>
                <a:spLocks/>
              </p:cNvSpPr>
              <p:nvPr/>
            </p:nvSpPr>
            <p:spPr bwMode="auto">
              <a:xfrm>
                <a:off x="4064" y="3463"/>
                <a:ext cx="837" cy="168"/>
              </a:xfrm>
              <a:custGeom>
                <a:avLst/>
                <a:gdLst>
                  <a:gd name="T0" fmla="*/ 5808 w 10047"/>
                  <a:gd name="T1" fmla="*/ 1095 h 2010"/>
                  <a:gd name="T2" fmla="*/ 0 w 10047"/>
                  <a:gd name="T3" fmla="*/ 1095 h 2010"/>
                  <a:gd name="T4" fmla="*/ 0 w 10047"/>
                  <a:gd name="T5" fmla="*/ 2010 h 2010"/>
                  <a:gd name="T6" fmla="*/ 5808 w 10047"/>
                  <a:gd name="T7" fmla="*/ 2010 h 2010"/>
                  <a:gd name="T8" fmla="*/ 6233 w 10047"/>
                  <a:gd name="T9" fmla="*/ 2010 h 2010"/>
                  <a:gd name="T10" fmla="*/ 10047 w 10047"/>
                  <a:gd name="T11" fmla="*/ 323 h 2010"/>
                  <a:gd name="T12" fmla="*/ 10047 w 10047"/>
                  <a:gd name="T13" fmla="*/ 0 h 2010"/>
                  <a:gd name="T14" fmla="*/ 5808 w 10047"/>
                  <a:gd name="T15" fmla="*/ 1095 h 20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047" h="2010">
                    <a:moveTo>
                      <a:pt x="5808" y="1095"/>
                    </a:moveTo>
                    <a:lnTo>
                      <a:pt x="0" y="1095"/>
                    </a:lnTo>
                    <a:lnTo>
                      <a:pt x="0" y="2010"/>
                    </a:lnTo>
                    <a:lnTo>
                      <a:pt x="5808" y="2010"/>
                    </a:lnTo>
                    <a:lnTo>
                      <a:pt x="6233" y="2010"/>
                    </a:lnTo>
                    <a:lnTo>
                      <a:pt x="10047" y="323"/>
                    </a:lnTo>
                    <a:lnTo>
                      <a:pt x="10047" y="0"/>
                    </a:lnTo>
                    <a:lnTo>
                      <a:pt x="5808" y="1095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93" name="Freeform 533"/>
              <p:cNvSpPr>
                <a:spLocks/>
              </p:cNvSpPr>
              <p:nvPr/>
            </p:nvSpPr>
            <p:spPr bwMode="auto">
              <a:xfrm>
                <a:off x="4063" y="3431"/>
                <a:ext cx="888" cy="125"/>
              </a:xfrm>
              <a:custGeom>
                <a:avLst/>
                <a:gdLst>
                  <a:gd name="T0" fmla="*/ 10659 w 10659"/>
                  <a:gd name="T1" fmla="*/ 1 h 1492"/>
                  <a:gd name="T2" fmla="*/ 0 w 10659"/>
                  <a:gd name="T3" fmla="*/ 1 h 1492"/>
                  <a:gd name="T4" fmla="*/ 0 w 10659"/>
                  <a:gd name="T5" fmla="*/ 1492 h 1492"/>
                  <a:gd name="T6" fmla="*/ 7815 w 10659"/>
                  <a:gd name="T7" fmla="*/ 1492 h 1492"/>
                  <a:gd name="T8" fmla="*/ 7989 w 10659"/>
                  <a:gd name="T9" fmla="*/ 1116 h 1492"/>
                  <a:gd name="T10" fmla="*/ 10659 w 10659"/>
                  <a:gd name="T11" fmla="*/ 0 h 1492"/>
                  <a:gd name="T12" fmla="*/ 10659 w 10659"/>
                  <a:gd name="T13" fmla="*/ 1 h 14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659" h="1492">
                    <a:moveTo>
                      <a:pt x="10659" y="1"/>
                    </a:moveTo>
                    <a:lnTo>
                      <a:pt x="0" y="1"/>
                    </a:lnTo>
                    <a:lnTo>
                      <a:pt x="0" y="1492"/>
                    </a:lnTo>
                    <a:lnTo>
                      <a:pt x="7815" y="1492"/>
                    </a:lnTo>
                    <a:lnTo>
                      <a:pt x="7989" y="1116"/>
                    </a:lnTo>
                    <a:lnTo>
                      <a:pt x="10659" y="0"/>
                    </a:lnTo>
                    <a:lnTo>
                      <a:pt x="10659" y="1"/>
                    </a:lnTo>
                    <a:close/>
                  </a:path>
                </a:pathLst>
              </a:custGeom>
              <a:solidFill>
                <a:srgbClr val="E574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94" name="Freeform 534"/>
              <p:cNvSpPr>
                <a:spLocks/>
              </p:cNvSpPr>
              <p:nvPr/>
            </p:nvSpPr>
            <p:spPr bwMode="auto">
              <a:xfrm>
                <a:off x="4063" y="3431"/>
                <a:ext cx="888" cy="125"/>
              </a:xfrm>
              <a:custGeom>
                <a:avLst/>
                <a:gdLst>
                  <a:gd name="T0" fmla="*/ 10659 w 10659"/>
                  <a:gd name="T1" fmla="*/ 1 h 1492"/>
                  <a:gd name="T2" fmla="*/ 0 w 10659"/>
                  <a:gd name="T3" fmla="*/ 1 h 1492"/>
                  <a:gd name="T4" fmla="*/ 0 w 10659"/>
                  <a:gd name="T5" fmla="*/ 1492 h 1492"/>
                  <a:gd name="T6" fmla="*/ 7815 w 10659"/>
                  <a:gd name="T7" fmla="*/ 1492 h 1492"/>
                  <a:gd name="T8" fmla="*/ 7989 w 10659"/>
                  <a:gd name="T9" fmla="*/ 1116 h 1492"/>
                  <a:gd name="T10" fmla="*/ 10659 w 10659"/>
                  <a:gd name="T11" fmla="*/ 0 h 1492"/>
                  <a:gd name="T12" fmla="*/ 10659 w 10659"/>
                  <a:gd name="T13" fmla="*/ 1 h 14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659" h="1492">
                    <a:moveTo>
                      <a:pt x="10659" y="1"/>
                    </a:moveTo>
                    <a:lnTo>
                      <a:pt x="0" y="1"/>
                    </a:lnTo>
                    <a:lnTo>
                      <a:pt x="0" y="1492"/>
                    </a:lnTo>
                    <a:lnTo>
                      <a:pt x="7815" y="1492"/>
                    </a:lnTo>
                    <a:lnTo>
                      <a:pt x="7989" y="1116"/>
                    </a:lnTo>
                    <a:lnTo>
                      <a:pt x="10659" y="0"/>
                    </a:lnTo>
                    <a:lnTo>
                      <a:pt x="10659" y="1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95" name="Freeform 535"/>
              <p:cNvSpPr>
                <a:spLocks/>
              </p:cNvSpPr>
              <p:nvPr/>
            </p:nvSpPr>
            <p:spPr bwMode="auto">
              <a:xfrm>
                <a:off x="4414" y="3431"/>
                <a:ext cx="503" cy="78"/>
              </a:xfrm>
              <a:custGeom>
                <a:avLst/>
                <a:gdLst>
                  <a:gd name="T0" fmla="*/ 5609 w 6037"/>
                  <a:gd name="T1" fmla="*/ 24 h 930"/>
                  <a:gd name="T2" fmla="*/ 2343 w 6037"/>
                  <a:gd name="T3" fmla="*/ 0 h 930"/>
                  <a:gd name="T4" fmla="*/ 0 w 6037"/>
                  <a:gd name="T5" fmla="*/ 786 h 930"/>
                  <a:gd name="T6" fmla="*/ 1443 w 6037"/>
                  <a:gd name="T7" fmla="*/ 786 h 930"/>
                  <a:gd name="T8" fmla="*/ 1830 w 6037"/>
                  <a:gd name="T9" fmla="*/ 647 h 930"/>
                  <a:gd name="T10" fmla="*/ 3343 w 6037"/>
                  <a:gd name="T11" fmla="*/ 930 h 930"/>
                  <a:gd name="T12" fmla="*/ 3791 w 6037"/>
                  <a:gd name="T13" fmla="*/ 894 h 930"/>
                  <a:gd name="T14" fmla="*/ 6037 w 6037"/>
                  <a:gd name="T15" fmla="*/ 24 h 930"/>
                  <a:gd name="T16" fmla="*/ 5609 w 6037"/>
                  <a:gd name="T17" fmla="*/ 24 h 9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37" h="930">
                    <a:moveTo>
                      <a:pt x="5609" y="24"/>
                    </a:moveTo>
                    <a:lnTo>
                      <a:pt x="2343" y="0"/>
                    </a:lnTo>
                    <a:lnTo>
                      <a:pt x="0" y="786"/>
                    </a:lnTo>
                    <a:lnTo>
                      <a:pt x="1443" y="786"/>
                    </a:lnTo>
                    <a:lnTo>
                      <a:pt x="1830" y="647"/>
                    </a:lnTo>
                    <a:lnTo>
                      <a:pt x="3343" y="930"/>
                    </a:lnTo>
                    <a:lnTo>
                      <a:pt x="3791" y="894"/>
                    </a:lnTo>
                    <a:lnTo>
                      <a:pt x="6037" y="24"/>
                    </a:lnTo>
                    <a:lnTo>
                      <a:pt x="5609" y="24"/>
                    </a:lnTo>
                    <a:close/>
                  </a:path>
                </a:pathLst>
              </a:custGeom>
              <a:solidFill>
                <a:srgbClr val="9829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96" name="Freeform 536"/>
              <p:cNvSpPr>
                <a:spLocks/>
              </p:cNvSpPr>
              <p:nvPr/>
            </p:nvSpPr>
            <p:spPr bwMode="auto">
              <a:xfrm>
                <a:off x="4414" y="3431"/>
                <a:ext cx="503" cy="78"/>
              </a:xfrm>
              <a:custGeom>
                <a:avLst/>
                <a:gdLst>
                  <a:gd name="T0" fmla="*/ 5609 w 6037"/>
                  <a:gd name="T1" fmla="*/ 24 h 930"/>
                  <a:gd name="T2" fmla="*/ 2343 w 6037"/>
                  <a:gd name="T3" fmla="*/ 0 h 930"/>
                  <a:gd name="T4" fmla="*/ 0 w 6037"/>
                  <a:gd name="T5" fmla="*/ 786 h 930"/>
                  <a:gd name="T6" fmla="*/ 1443 w 6037"/>
                  <a:gd name="T7" fmla="*/ 786 h 930"/>
                  <a:gd name="T8" fmla="*/ 1830 w 6037"/>
                  <a:gd name="T9" fmla="*/ 647 h 930"/>
                  <a:gd name="T10" fmla="*/ 3343 w 6037"/>
                  <a:gd name="T11" fmla="*/ 930 h 930"/>
                  <a:gd name="T12" fmla="*/ 3791 w 6037"/>
                  <a:gd name="T13" fmla="*/ 894 h 930"/>
                  <a:gd name="T14" fmla="*/ 6037 w 6037"/>
                  <a:gd name="T15" fmla="*/ 24 h 930"/>
                  <a:gd name="T16" fmla="*/ 5609 w 6037"/>
                  <a:gd name="T17" fmla="*/ 24 h 9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37" h="930">
                    <a:moveTo>
                      <a:pt x="5609" y="24"/>
                    </a:moveTo>
                    <a:lnTo>
                      <a:pt x="2343" y="0"/>
                    </a:lnTo>
                    <a:lnTo>
                      <a:pt x="0" y="786"/>
                    </a:lnTo>
                    <a:lnTo>
                      <a:pt x="1443" y="786"/>
                    </a:lnTo>
                    <a:lnTo>
                      <a:pt x="1830" y="647"/>
                    </a:lnTo>
                    <a:lnTo>
                      <a:pt x="3343" y="930"/>
                    </a:lnTo>
                    <a:lnTo>
                      <a:pt x="3791" y="894"/>
                    </a:lnTo>
                    <a:lnTo>
                      <a:pt x="6037" y="24"/>
                    </a:lnTo>
                    <a:lnTo>
                      <a:pt x="5609" y="24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97" name="Freeform 537"/>
              <p:cNvSpPr>
                <a:spLocks/>
              </p:cNvSpPr>
              <p:nvPr/>
            </p:nvSpPr>
            <p:spPr bwMode="auto">
              <a:xfrm>
                <a:off x="4715" y="3433"/>
                <a:ext cx="236" cy="123"/>
              </a:xfrm>
              <a:custGeom>
                <a:avLst/>
                <a:gdLst>
                  <a:gd name="T0" fmla="*/ 2836 w 2836"/>
                  <a:gd name="T1" fmla="*/ 0 h 1479"/>
                  <a:gd name="T2" fmla="*/ 0 w 2836"/>
                  <a:gd name="T3" fmla="*/ 1099 h 1479"/>
                  <a:gd name="T4" fmla="*/ 0 w 2836"/>
                  <a:gd name="T5" fmla="*/ 1479 h 1479"/>
                  <a:gd name="T6" fmla="*/ 2836 w 2836"/>
                  <a:gd name="T7" fmla="*/ 285 h 1479"/>
                  <a:gd name="T8" fmla="*/ 2836 w 2836"/>
                  <a:gd name="T9" fmla="*/ 0 h 14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36" h="1479">
                    <a:moveTo>
                      <a:pt x="2836" y="0"/>
                    </a:moveTo>
                    <a:lnTo>
                      <a:pt x="0" y="1099"/>
                    </a:lnTo>
                    <a:lnTo>
                      <a:pt x="0" y="1479"/>
                    </a:lnTo>
                    <a:lnTo>
                      <a:pt x="2836" y="285"/>
                    </a:lnTo>
                    <a:lnTo>
                      <a:pt x="2836" y="0"/>
                    </a:lnTo>
                    <a:close/>
                  </a:path>
                </a:pathLst>
              </a:custGeom>
              <a:solidFill>
                <a:srgbClr val="9829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98" name="Freeform 538"/>
              <p:cNvSpPr>
                <a:spLocks/>
              </p:cNvSpPr>
              <p:nvPr/>
            </p:nvSpPr>
            <p:spPr bwMode="auto">
              <a:xfrm>
                <a:off x="4715" y="3433"/>
                <a:ext cx="236" cy="123"/>
              </a:xfrm>
              <a:custGeom>
                <a:avLst/>
                <a:gdLst>
                  <a:gd name="T0" fmla="*/ 2836 w 2836"/>
                  <a:gd name="T1" fmla="*/ 0 h 1479"/>
                  <a:gd name="T2" fmla="*/ 0 w 2836"/>
                  <a:gd name="T3" fmla="*/ 1099 h 1479"/>
                  <a:gd name="T4" fmla="*/ 0 w 2836"/>
                  <a:gd name="T5" fmla="*/ 1479 h 1479"/>
                  <a:gd name="T6" fmla="*/ 2836 w 2836"/>
                  <a:gd name="T7" fmla="*/ 285 h 1479"/>
                  <a:gd name="T8" fmla="*/ 2836 w 2836"/>
                  <a:gd name="T9" fmla="*/ 0 h 14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36" h="1479">
                    <a:moveTo>
                      <a:pt x="2836" y="0"/>
                    </a:moveTo>
                    <a:lnTo>
                      <a:pt x="0" y="1099"/>
                    </a:lnTo>
                    <a:lnTo>
                      <a:pt x="0" y="1479"/>
                    </a:lnTo>
                    <a:lnTo>
                      <a:pt x="2836" y="285"/>
                    </a:lnTo>
                    <a:lnTo>
                      <a:pt x="2836" y="0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699" name="Line 539"/>
              <p:cNvSpPr>
                <a:spLocks noChangeShapeType="1"/>
              </p:cNvSpPr>
              <p:nvPr/>
            </p:nvSpPr>
            <p:spPr bwMode="auto">
              <a:xfrm>
                <a:off x="4064" y="3524"/>
                <a:ext cx="650" cy="1"/>
              </a:xfrm>
              <a:prstGeom prst="line">
                <a:avLst/>
              </a:prstGeom>
              <a:noFill/>
              <a:ln w="1588">
                <a:solidFill>
                  <a:srgbClr val="13151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00" name="Rectangle 540"/>
              <p:cNvSpPr>
                <a:spLocks noChangeArrowheads="1"/>
              </p:cNvSpPr>
              <p:nvPr/>
            </p:nvSpPr>
            <p:spPr bwMode="auto">
              <a:xfrm>
                <a:off x="5053" y="3757"/>
                <a:ext cx="54" cy="122"/>
              </a:xfrm>
              <a:prstGeom prst="rect">
                <a:avLst/>
              </a:prstGeom>
              <a:solidFill>
                <a:srgbClr val="8186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01" name="Freeform 541"/>
              <p:cNvSpPr>
                <a:spLocks/>
              </p:cNvSpPr>
              <p:nvPr/>
            </p:nvSpPr>
            <p:spPr bwMode="auto">
              <a:xfrm>
                <a:off x="5053" y="3757"/>
                <a:ext cx="54" cy="122"/>
              </a:xfrm>
              <a:custGeom>
                <a:avLst/>
                <a:gdLst>
                  <a:gd name="T0" fmla="*/ 647 w 647"/>
                  <a:gd name="T1" fmla="*/ 0 h 1459"/>
                  <a:gd name="T2" fmla="*/ 647 w 647"/>
                  <a:gd name="T3" fmla="*/ 0 h 1459"/>
                  <a:gd name="T4" fmla="*/ 647 w 647"/>
                  <a:gd name="T5" fmla="*/ 1459 h 1459"/>
                  <a:gd name="T6" fmla="*/ 0 w 647"/>
                  <a:gd name="T7" fmla="*/ 1459 h 1459"/>
                  <a:gd name="T8" fmla="*/ 0 w 647"/>
                  <a:gd name="T9" fmla="*/ 0 h 1459"/>
                  <a:gd name="T10" fmla="*/ 647 w 647"/>
                  <a:gd name="T11" fmla="*/ 0 h 14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7" h="1459">
                    <a:moveTo>
                      <a:pt x="647" y="0"/>
                    </a:moveTo>
                    <a:lnTo>
                      <a:pt x="647" y="0"/>
                    </a:lnTo>
                    <a:lnTo>
                      <a:pt x="647" y="1459"/>
                    </a:lnTo>
                    <a:lnTo>
                      <a:pt x="0" y="1459"/>
                    </a:lnTo>
                    <a:lnTo>
                      <a:pt x="0" y="0"/>
                    </a:lnTo>
                    <a:lnTo>
                      <a:pt x="647" y="0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02" name="Rectangle 542"/>
              <p:cNvSpPr>
                <a:spLocks noChangeArrowheads="1"/>
              </p:cNvSpPr>
              <p:nvPr/>
            </p:nvSpPr>
            <p:spPr bwMode="auto">
              <a:xfrm>
                <a:off x="5059" y="3750"/>
                <a:ext cx="15" cy="12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03" name="Rectangle 543"/>
              <p:cNvSpPr>
                <a:spLocks noChangeArrowheads="1"/>
              </p:cNvSpPr>
              <p:nvPr/>
            </p:nvSpPr>
            <p:spPr bwMode="auto">
              <a:xfrm>
                <a:off x="5059" y="3750"/>
                <a:ext cx="15" cy="129"/>
              </a:xfrm>
              <a:prstGeom prst="rect">
                <a:avLst/>
              </a:prstGeom>
              <a:noFill/>
              <a:ln w="1588">
                <a:solidFill>
                  <a:srgbClr val="13151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04" name="Freeform 544"/>
              <p:cNvSpPr>
                <a:spLocks/>
              </p:cNvSpPr>
              <p:nvPr/>
            </p:nvSpPr>
            <p:spPr bwMode="auto">
              <a:xfrm>
                <a:off x="4801" y="3245"/>
                <a:ext cx="626" cy="527"/>
              </a:xfrm>
              <a:custGeom>
                <a:avLst/>
                <a:gdLst>
                  <a:gd name="T0" fmla="*/ 5865 w 7513"/>
                  <a:gd name="T1" fmla="*/ 671 h 6322"/>
                  <a:gd name="T2" fmla="*/ 4327 w 7513"/>
                  <a:gd name="T3" fmla="*/ 3518 h 6322"/>
                  <a:gd name="T4" fmla="*/ 0 w 7513"/>
                  <a:gd name="T5" fmla="*/ 4082 h 6322"/>
                  <a:gd name="T6" fmla="*/ 47 w 7513"/>
                  <a:gd name="T7" fmla="*/ 4369 h 6322"/>
                  <a:gd name="T8" fmla="*/ 121 w 7513"/>
                  <a:gd name="T9" fmla="*/ 4649 h 6322"/>
                  <a:gd name="T10" fmla="*/ 223 w 7513"/>
                  <a:gd name="T11" fmla="*/ 4925 h 6322"/>
                  <a:gd name="T12" fmla="*/ 341 w 7513"/>
                  <a:gd name="T13" fmla="*/ 5186 h 6322"/>
                  <a:gd name="T14" fmla="*/ 477 w 7513"/>
                  <a:gd name="T15" fmla="*/ 5438 h 6322"/>
                  <a:gd name="T16" fmla="*/ 616 w 7513"/>
                  <a:gd name="T17" fmla="*/ 5673 h 6322"/>
                  <a:gd name="T18" fmla="*/ 762 w 7513"/>
                  <a:gd name="T19" fmla="*/ 5883 h 6322"/>
                  <a:gd name="T20" fmla="*/ 904 w 7513"/>
                  <a:gd name="T21" fmla="*/ 6070 h 6322"/>
                  <a:gd name="T22" fmla="*/ 983 w 7513"/>
                  <a:gd name="T23" fmla="*/ 6170 h 6322"/>
                  <a:gd name="T24" fmla="*/ 1101 w 7513"/>
                  <a:gd name="T25" fmla="*/ 6242 h 6322"/>
                  <a:gd name="T26" fmla="*/ 1247 w 7513"/>
                  <a:gd name="T27" fmla="*/ 6286 h 6322"/>
                  <a:gd name="T28" fmla="*/ 1424 w 7513"/>
                  <a:gd name="T29" fmla="*/ 6312 h 6322"/>
                  <a:gd name="T30" fmla="*/ 1861 w 7513"/>
                  <a:gd name="T31" fmla="*/ 6322 h 6322"/>
                  <a:gd name="T32" fmla="*/ 2390 w 7513"/>
                  <a:gd name="T33" fmla="*/ 6317 h 6322"/>
                  <a:gd name="T34" fmla="*/ 2918 w 7513"/>
                  <a:gd name="T35" fmla="*/ 6317 h 6322"/>
                  <a:gd name="T36" fmla="*/ 3366 w 7513"/>
                  <a:gd name="T37" fmla="*/ 6319 h 6322"/>
                  <a:gd name="T38" fmla="*/ 3759 w 7513"/>
                  <a:gd name="T39" fmla="*/ 6315 h 6322"/>
                  <a:gd name="T40" fmla="*/ 4118 w 7513"/>
                  <a:gd name="T41" fmla="*/ 6305 h 6322"/>
                  <a:gd name="T42" fmla="*/ 4295 w 7513"/>
                  <a:gd name="T43" fmla="*/ 6294 h 6322"/>
                  <a:gd name="T44" fmla="*/ 4460 w 7513"/>
                  <a:gd name="T45" fmla="*/ 6270 h 6322"/>
                  <a:gd name="T46" fmla="*/ 4617 w 7513"/>
                  <a:gd name="T47" fmla="*/ 6222 h 6322"/>
                  <a:gd name="T48" fmla="*/ 4767 w 7513"/>
                  <a:gd name="T49" fmla="*/ 6160 h 6322"/>
                  <a:gd name="T50" fmla="*/ 4912 w 7513"/>
                  <a:gd name="T51" fmla="*/ 6089 h 6322"/>
                  <a:gd name="T52" fmla="*/ 5046 w 7513"/>
                  <a:gd name="T53" fmla="*/ 6003 h 6322"/>
                  <a:gd name="T54" fmla="*/ 5216 w 7513"/>
                  <a:gd name="T55" fmla="*/ 5856 h 6322"/>
                  <a:gd name="T56" fmla="*/ 5509 w 7513"/>
                  <a:gd name="T57" fmla="*/ 5552 h 6322"/>
                  <a:gd name="T58" fmla="*/ 5691 w 7513"/>
                  <a:gd name="T59" fmla="*/ 5341 h 6322"/>
                  <a:gd name="T60" fmla="*/ 5917 w 7513"/>
                  <a:gd name="T61" fmla="*/ 5066 h 6322"/>
                  <a:gd name="T62" fmla="*/ 6067 w 7513"/>
                  <a:gd name="T63" fmla="*/ 4828 h 6322"/>
                  <a:gd name="T64" fmla="*/ 6118 w 7513"/>
                  <a:gd name="T65" fmla="*/ 4736 h 6322"/>
                  <a:gd name="T66" fmla="*/ 6194 w 7513"/>
                  <a:gd name="T67" fmla="*/ 4554 h 6322"/>
                  <a:gd name="T68" fmla="*/ 6285 w 7513"/>
                  <a:gd name="T69" fmla="*/ 4297 h 6322"/>
                  <a:gd name="T70" fmla="*/ 6391 w 7513"/>
                  <a:gd name="T71" fmla="*/ 3978 h 6322"/>
                  <a:gd name="T72" fmla="*/ 6646 w 7513"/>
                  <a:gd name="T73" fmla="*/ 3200 h 6322"/>
                  <a:gd name="T74" fmla="*/ 6918 w 7513"/>
                  <a:gd name="T75" fmla="*/ 2340 h 6322"/>
                  <a:gd name="T76" fmla="*/ 7181 w 7513"/>
                  <a:gd name="T77" fmla="*/ 1488 h 6322"/>
                  <a:gd name="T78" fmla="*/ 7298 w 7513"/>
                  <a:gd name="T79" fmla="*/ 1098 h 6322"/>
                  <a:gd name="T80" fmla="*/ 7397 w 7513"/>
                  <a:gd name="T81" fmla="*/ 746 h 6322"/>
                  <a:gd name="T82" fmla="*/ 7469 w 7513"/>
                  <a:gd name="T83" fmla="*/ 448 h 6322"/>
                  <a:gd name="T84" fmla="*/ 7508 w 7513"/>
                  <a:gd name="T85" fmla="*/ 215 h 6322"/>
                  <a:gd name="T86" fmla="*/ 7513 w 7513"/>
                  <a:gd name="T87" fmla="*/ 61 h 6322"/>
                  <a:gd name="T88" fmla="*/ 7475 w 7513"/>
                  <a:gd name="T89" fmla="*/ 0 h 6322"/>
                  <a:gd name="T90" fmla="*/ 5865 w 7513"/>
                  <a:gd name="T91" fmla="*/ 671 h 6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513" h="6322">
                    <a:moveTo>
                      <a:pt x="5865" y="671"/>
                    </a:moveTo>
                    <a:lnTo>
                      <a:pt x="4327" y="3518"/>
                    </a:lnTo>
                    <a:lnTo>
                      <a:pt x="0" y="4082"/>
                    </a:lnTo>
                    <a:lnTo>
                      <a:pt x="47" y="4369"/>
                    </a:lnTo>
                    <a:lnTo>
                      <a:pt x="121" y="4649"/>
                    </a:lnTo>
                    <a:lnTo>
                      <a:pt x="223" y="4925"/>
                    </a:lnTo>
                    <a:lnTo>
                      <a:pt x="341" y="5186"/>
                    </a:lnTo>
                    <a:lnTo>
                      <a:pt x="477" y="5438"/>
                    </a:lnTo>
                    <a:lnTo>
                      <a:pt x="616" y="5673"/>
                    </a:lnTo>
                    <a:lnTo>
                      <a:pt x="762" y="5883"/>
                    </a:lnTo>
                    <a:lnTo>
                      <a:pt x="904" y="6070"/>
                    </a:lnTo>
                    <a:lnTo>
                      <a:pt x="983" y="6170"/>
                    </a:lnTo>
                    <a:lnTo>
                      <a:pt x="1101" y="6242"/>
                    </a:lnTo>
                    <a:lnTo>
                      <a:pt x="1247" y="6286"/>
                    </a:lnTo>
                    <a:lnTo>
                      <a:pt x="1424" y="6312"/>
                    </a:lnTo>
                    <a:lnTo>
                      <a:pt x="1861" y="6322"/>
                    </a:lnTo>
                    <a:lnTo>
                      <a:pt x="2390" y="6317"/>
                    </a:lnTo>
                    <a:lnTo>
                      <a:pt x="2918" y="6317"/>
                    </a:lnTo>
                    <a:lnTo>
                      <a:pt x="3366" y="6319"/>
                    </a:lnTo>
                    <a:lnTo>
                      <a:pt x="3759" y="6315"/>
                    </a:lnTo>
                    <a:lnTo>
                      <a:pt x="4118" y="6305"/>
                    </a:lnTo>
                    <a:lnTo>
                      <a:pt x="4295" y="6294"/>
                    </a:lnTo>
                    <a:lnTo>
                      <a:pt x="4460" y="6270"/>
                    </a:lnTo>
                    <a:lnTo>
                      <a:pt x="4617" y="6222"/>
                    </a:lnTo>
                    <a:lnTo>
                      <a:pt x="4767" y="6160"/>
                    </a:lnTo>
                    <a:lnTo>
                      <a:pt x="4912" y="6089"/>
                    </a:lnTo>
                    <a:lnTo>
                      <a:pt x="5046" y="6003"/>
                    </a:lnTo>
                    <a:lnTo>
                      <a:pt x="5216" y="5856"/>
                    </a:lnTo>
                    <a:lnTo>
                      <a:pt x="5509" y="5552"/>
                    </a:lnTo>
                    <a:lnTo>
                      <a:pt x="5691" y="5341"/>
                    </a:lnTo>
                    <a:lnTo>
                      <a:pt x="5917" y="5066"/>
                    </a:lnTo>
                    <a:lnTo>
                      <a:pt x="6067" y="4828"/>
                    </a:lnTo>
                    <a:lnTo>
                      <a:pt x="6118" y="4736"/>
                    </a:lnTo>
                    <a:lnTo>
                      <a:pt x="6194" y="4554"/>
                    </a:lnTo>
                    <a:lnTo>
                      <a:pt x="6285" y="4297"/>
                    </a:lnTo>
                    <a:lnTo>
                      <a:pt x="6391" y="3978"/>
                    </a:lnTo>
                    <a:lnTo>
                      <a:pt x="6646" y="3200"/>
                    </a:lnTo>
                    <a:lnTo>
                      <a:pt x="6918" y="2340"/>
                    </a:lnTo>
                    <a:lnTo>
                      <a:pt x="7181" y="1488"/>
                    </a:lnTo>
                    <a:lnTo>
                      <a:pt x="7298" y="1098"/>
                    </a:lnTo>
                    <a:lnTo>
                      <a:pt x="7397" y="746"/>
                    </a:lnTo>
                    <a:lnTo>
                      <a:pt x="7469" y="448"/>
                    </a:lnTo>
                    <a:lnTo>
                      <a:pt x="7508" y="215"/>
                    </a:lnTo>
                    <a:lnTo>
                      <a:pt x="7513" y="61"/>
                    </a:lnTo>
                    <a:lnTo>
                      <a:pt x="7475" y="0"/>
                    </a:lnTo>
                    <a:lnTo>
                      <a:pt x="5865" y="671"/>
                    </a:lnTo>
                    <a:close/>
                  </a:path>
                </a:pathLst>
              </a:custGeom>
              <a:solidFill>
                <a:srgbClr val="1315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05" name="Freeform 545"/>
              <p:cNvSpPr>
                <a:spLocks/>
              </p:cNvSpPr>
              <p:nvPr/>
            </p:nvSpPr>
            <p:spPr bwMode="auto">
              <a:xfrm>
                <a:off x="4801" y="3245"/>
                <a:ext cx="626" cy="527"/>
              </a:xfrm>
              <a:custGeom>
                <a:avLst/>
                <a:gdLst>
                  <a:gd name="T0" fmla="*/ 5865 w 7513"/>
                  <a:gd name="T1" fmla="*/ 671 h 6322"/>
                  <a:gd name="T2" fmla="*/ 4327 w 7513"/>
                  <a:gd name="T3" fmla="*/ 3518 h 6322"/>
                  <a:gd name="T4" fmla="*/ 0 w 7513"/>
                  <a:gd name="T5" fmla="*/ 4082 h 6322"/>
                  <a:gd name="T6" fmla="*/ 47 w 7513"/>
                  <a:gd name="T7" fmla="*/ 4369 h 6322"/>
                  <a:gd name="T8" fmla="*/ 121 w 7513"/>
                  <a:gd name="T9" fmla="*/ 4649 h 6322"/>
                  <a:gd name="T10" fmla="*/ 223 w 7513"/>
                  <a:gd name="T11" fmla="*/ 4925 h 6322"/>
                  <a:gd name="T12" fmla="*/ 341 w 7513"/>
                  <a:gd name="T13" fmla="*/ 5186 h 6322"/>
                  <a:gd name="T14" fmla="*/ 477 w 7513"/>
                  <a:gd name="T15" fmla="*/ 5438 h 6322"/>
                  <a:gd name="T16" fmla="*/ 616 w 7513"/>
                  <a:gd name="T17" fmla="*/ 5673 h 6322"/>
                  <a:gd name="T18" fmla="*/ 762 w 7513"/>
                  <a:gd name="T19" fmla="*/ 5883 h 6322"/>
                  <a:gd name="T20" fmla="*/ 904 w 7513"/>
                  <a:gd name="T21" fmla="*/ 6070 h 6322"/>
                  <a:gd name="T22" fmla="*/ 983 w 7513"/>
                  <a:gd name="T23" fmla="*/ 6170 h 6322"/>
                  <a:gd name="T24" fmla="*/ 1101 w 7513"/>
                  <a:gd name="T25" fmla="*/ 6242 h 6322"/>
                  <a:gd name="T26" fmla="*/ 1247 w 7513"/>
                  <a:gd name="T27" fmla="*/ 6286 h 6322"/>
                  <a:gd name="T28" fmla="*/ 1424 w 7513"/>
                  <a:gd name="T29" fmla="*/ 6312 h 6322"/>
                  <a:gd name="T30" fmla="*/ 1861 w 7513"/>
                  <a:gd name="T31" fmla="*/ 6322 h 6322"/>
                  <a:gd name="T32" fmla="*/ 2390 w 7513"/>
                  <a:gd name="T33" fmla="*/ 6317 h 6322"/>
                  <a:gd name="T34" fmla="*/ 2918 w 7513"/>
                  <a:gd name="T35" fmla="*/ 6317 h 6322"/>
                  <a:gd name="T36" fmla="*/ 3366 w 7513"/>
                  <a:gd name="T37" fmla="*/ 6319 h 6322"/>
                  <a:gd name="T38" fmla="*/ 3759 w 7513"/>
                  <a:gd name="T39" fmla="*/ 6315 h 6322"/>
                  <a:gd name="T40" fmla="*/ 4118 w 7513"/>
                  <a:gd name="T41" fmla="*/ 6305 h 6322"/>
                  <a:gd name="T42" fmla="*/ 4295 w 7513"/>
                  <a:gd name="T43" fmla="*/ 6294 h 6322"/>
                  <a:gd name="T44" fmla="*/ 4460 w 7513"/>
                  <a:gd name="T45" fmla="*/ 6270 h 6322"/>
                  <a:gd name="T46" fmla="*/ 4617 w 7513"/>
                  <a:gd name="T47" fmla="*/ 6222 h 6322"/>
                  <a:gd name="T48" fmla="*/ 4767 w 7513"/>
                  <a:gd name="T49" fmla="*/ 6160 h 6322"/>
                  <a:gd name="T50" fmla="*/ 4912 w 7513"/>
                  <a:gd name="T51" fmla="*/ 6089 h 6322"/>
                  <a:gd name="T52" fmla="*/ 5046 w 7513"/>
                  <a:gd name="T53" fmla="*/ 6003 h 6322"/>
                  <a:gd name="T54" fmla="*/ 5216 w 7513"/>
                  <a:gd name="T55" fmla="*/ 5856 h 6322"/>
                  <a:gd name="T56" fmla="*/ 5509 w 7513"/>
                  <a:gd name="T57" fmla="*/ 5552 h 6322"/>
                  <a:gd name="T58" fmla="*/ 5691 w 7513"/>
                  <a:gd name="T59" fmla="*/ 5341 h 6322"/>
                  <a:gd name="T60" fmla="*/ 5917 w 7513"/>
                  <a:gd name="T61" fmla="*/ 5066 h 6322"/>
                  <a:gd name="T62" fmla="*/ 6067 w 7513"/>
                  <a:gd name="T63" fmla="*/ 4828 h 6322"/>
                  <a:gd name="T64" fmla="*/ 6118 w 7513"/>
                  <a:gd name="T65" fmla="*/ 4736 h 6322"/>
                  <a:gd name="T66" fmla="*/ 6194 w 7513"/>
                  <a:gd name="T67" fmla="*/ 4554 h 6322"/>
                  <a:gd name="T68" fmla="*/ 6285 w 7513"/>
                  <a:gd name="T69" fmla="*/ 4297 h 6322"/>
                  <a:gd name="T70" fmla="*/ 6391 w 7513"/>
                  <a:gd name="T71" fmla="*/ 3978 h 6322"/>
                  <a:gd name="T72" fmla="*/ 6646 w 7513"/>
                  <a:gd name="T73" fmla="*/ 3200 h 6322"/>
                  <a:gd name="T74" fmla="*/ 6918 w 7513"/>
                  <a:gd name="T75" fmla="*/ 2340 h 6322"/>
                  <a:gd name="T76" fmla="*/ 7181 w 7513"/>
                  <a:gd name="T77" fmla="*/ 1488 h 6322"/>
                  <a:gd name="T78" fmla="*/ 7298 w 7513"/>
                  <a:gd name="T79" fmla="*/ 1098 h 6322"/>
                  <a:gd name="T80" fmla="*/ 7397 w 7513"/>
                  <a:gd name="T81" fmla="*/ 746 h 6322"/>
                  <a:gd name="T82" fmla="*/ 7469 w 7513"/>
                  <a:gd name="T83" fmla="*/ 448 h 6322"/>
                  <a:gd name="T84" fmla="*/ 7508 w 7513"/>
                  <a:gd name="T85" fmla="*/ 215 h 6322"/>
                  <a:gd name="T86" fmla="*/ 7513 w 7513"/>
                  <a:gd name="T87" fmla="*/ 61 h 6322"/>
                  <a:gd name="T88" fmla="*/ 7475 w 7513"/>
                  <a:gd name="T89" fmla="*/ 0 h 6322"/>
                  <a:gd name="T90" fmla="*/ 5865 w 7513"/>
                  <a:gd name="T91" fmla="*/ 671 h 6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513" h="6322">
                    <a:moveTo>
                      <a:pt x="5865" y="671"/>
                    </a:moveTo>
                    <a:lnTo>
                      <a:pt x="4327" y="3518"/>
                    </a:lnTo>
                    <a:lnTo>
                      <a:pt x="0" y="4082"/>
                    </a:lnTo>
                    <a:lnTo>
                      <a:pt x="47" y="4369"/>
                    </a:lnTo>
                    <a:lnTo>
                      <a:pt x="121" y="4649"/>
                    </a:lnTo>
                    <a:lnTo>
                      <a:pt x="223" y="4925"/>
                    </a:lnTo>
                    <a:lnTo>
                      <a:pt x="341" y="5186"/>
                    </a:lnTo>
                    <a:lnTo>
                      <a:pt x="477" y="5438"/>
                    </a:lnTo>
                    <a:lnTo>
                      <a:pt x="616" y="5673"/>
                    </a:lnTo>
                    <a:lnTo>
                      <a:pt x="762" y="5883"/>
                    </a:lnTo>
                    <a:lnTo>
                      <a:pt x="904" y="6070"/>
                    </a:lnTo>
                    <a:lnTo>
                      <a:pt x="983" y="6170"/>
                    </a:lnTo>
                    <a:lnTo>
                      <a:pt x="1101" y="6242"/>
                    </a:lnTo>
                    <a:lnTo>
                      <a:pt x="1247" y="6286"/>
                    </a:lnTo>
                    <a:lnTo>
                      <a:pt x="1424" y="6312"/>
                    </a:lnTo>
                    <a:lnTo>
                      <a:pt x="1861" y="6322"/>
                    </a:lnTo>
                    <a:lnTo>
                      <a:pt x="2390" y="6317"/>
                    </a:lnTo>
                    <a:lnTo>
                      <a:pt x="2918" y="6317"/>
                    </a:lnTo>
                    <a:lnTo>
                      <a:pt x="3366" y="6319"/>
                    </a:lnTo>
                    <a:lnTo>
                      <a:pt x="3759" y="6315"/>
                    </a:lnTo>
                    <a:lnTo>
                      <a:pt x="4118" y="6305"/>
                    </a:lnTo>
                    <a:lnTo>
                      <a:pt x="4295" y="6294"/>
                    </a:lnTo>
                    <a:lnTo>
                      <a:pt x="4460" y="6270"/>
                    </a:lnTo>
                    <a:lnTo>
                      <a:pt x="4617" y="6222"/>
                    </a:lnTo>
                    <a:lnTo>
                      <a:pt x="4767" y="6160"/>
                    </a:lnTo>
                    <a:lnTo>
                      <a:pt x="4912" y="6089"/>
                    </a:lnTo>
                    <a:lnTo>
                      <a:pt x="5046" y="6003"/>
                    </a:lnTo>
                    <a:lnTo>
                      <a:pt x="5216" y="5856"/>
                    </a:lnTo>
                    <a:lnTo>
                      <a:pt x="5509" y="5552"/>
                    </a:lnTo>
                    <a:lnTo>
                      <a:pt x="5691" y="5341"/>
                    </a:lnTo>
                    <a:lnTo>
                      <a:pt x="5917" y="5066"/>
                    </a:lnTo>
                    <a:lnTo>
                      <a:pt x="6067" y="4828"/>
                    </a:lnTo>
                    <a:lnTo>
                      <a:pt x="6118" y="4736"/>
                    </a:lnTo>
                    <a:lnTo>
                      <a:pt x="6194" y="4554"/>
                    </a:lnTo>
                    <a:lnTo>
                      <a:pt x="6285" y="4297"/>
                    </a:lnTo>
                    <a:lnTo>
                      <a:pt x="6391" y="3978"/>
                    </a:lnTo>
                    <a:lnTo>
                      <a:pt x="6646" y="3200"/>
                    </a:lnTo>
                    <a:lnTo>
                      <a:pt x="6918" y="2340"/>
                    </a:lnTo>
                    <a:lnTo>
                      <a:pt x="7181" y="1488"/>
                    </a:lnTo>
                    <a:lnTo>
                      <a:pt x="7298" y="1098"/>
                    </a:lnTo>
                    <a:lnTo>
                      <a:pt x="7397" y="746"/>
                    </a:lnTo>
                    <a:lnTo>
                      <a:pt x="7469" y="448"/>
                    </a:lnTo>
                    <a:lnTo>
                      <a:pt x="7508" y="215"/>
                    </a:lnTo>
                    <a:lnTo>
                      <a:pt x="7513" y="61"/>
                    </a:lnTo>
                    <a:lnTo>
                      <a:pt x="7475" y="0"/>
                    </a:lnTo>
                    <a:lnTo>
                      <a:pt x="5865" y="671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06" name="Freeform 546"/>
              <p:cNvSpPr>
                <a:spLocks/>
              </p:cNvSpPr>
              <p:nvPr/>
            </p:nvSpPr>
            <p:spPr bwMode="auto">
              <a:xfrm>
                <a:off x="5043" y="3640"/>
                <a:ext cx="138" cy="116"/>
              </a:xfrm>
              <a:custGeom>
                <a:avLst/>
                <a:gdLst>
                  <a:gd name="T0" fmla="*/ 1657 w 1657"/>
                  <a:gd name="T1" fmla="*/ 0 h 1387"/>
                  <a:gd name="T2" fmla="*/ 1565 w 1657"/>
                  <a:gd name="T3" fmla="*/ 48 h 1387"/>
                  <a:gd name="T4" fmla="*/ 1400 w 1657"/>
                  <a:gd name="T5" fmla="*/ 98 h 1387"/>
                  <a:gd name="T6" fmla="*/ 1226 w 1657"/>
                  <a:gd name="T7" fmla="*/ 139 h 1387"/>
                  <a:gd name="T8" fmla="*/ 892 w 1657"/>
                  <a:gd name="T9" fmla="*/ 207 h 1387"/>
                  <a:gd name="T10" fmla="*/ 760 w 1657"/>
                  <a:gd name="T11" fmla="*/ 248 h 1387"/>
                  <a:gd name="T12" fmla="*/ 637 w 1657"/>
                  <a:gd name="T13" fmla="*/ 305 h 1387"/>
                  <a:gd name="T14" fmla="*/ 553 w 1657"/>
                  <a:gd name="T15" fmla="*/ 365 h 1387"/>
                  <a:gd name="T16" fmla="*/ 457 w 1657"/>
                  <a:gd name="T17" fmla="*/ 439 h 1387"/>
                  <a:gd name="T18" fmla="*/ 394 w 1657"/>
                  <a:gd name="T19" fmla="*/ 507 h 1387"/>
                  <a:gd name="T20" fmla="*/ 344 w 1657"/>
                  <a:gd name="T21" fmla="*/ 594 h 1387"/>
                  <a:gd name="T22" fmla="*/ 304 w 1657"/>
                  <a:gd name="T23" fmla="*/ 679 h 1387"/>
                  <a:gd name="T24" fmla="*/ 241 w 1657"/>
                  <a:gd name="T25" fmla="*/ 924 h 1387"/>
                  <a:gd name="T26" fmla="*/ 219 w 1657"/>
                  <a:gd name="T27" fmla="*/ 1019 h 1387"/>
                  <a:gd name="T28" fmla="*/ 151 w 1657"/>
                  <a:gd name="T29" fmla="*/ 1134 h 1387"/>
                  <a:gd name="T30" fmla="*/ 0 w 1657"/>
                  <a:gd name="T31" fmla="*/ 1387 h 1387"/>
                  <a:gd name="T32" fmla="*/ 416 w 1657"/>
                  <a:gd name="T33" fmla="*/ 1386 h 1387"/>
                  <a:gd name="T34" fmla="*/ 834 w 1657"/>
                  <a:gd name="T35" fmla="*/ 1363 h 1387"/>
                  <a:gd name="T36" fmla="*/ 1133 w 1657"/>
                  <a:gd name="T37" fmla="*/ 1319 h 1387"/>
                  <a:gd name="T38" fmla="*/ 1386 w 1657"/>
                  <a:gd name="T39" fmla="*/ 1269 h 1387"/>
                  <a:gd name="T40" fmla="*/ 1452 w 1657"/>
                  <a:gd name="T41" fmla="*/ 1233 h 1387"/>
                  <a:gd name="T42" fmla="*/ 1493 w 1657"/>
                  <a:gd name="T43" fmla="*/ 1190 h 1387"/>
                  <a:gd name="T44" fmla="*/ 1523 w 1657"/>
                  <a:gd name="T45" fmla="*/ 1128 h 1387"/>
                  <a:gd name="T46" fmla="*/ 1556 w 1657"/>
                  <a:gd name="T47" fmla="*/ 968 h 1387"/>
                  <a:gd name="T48" fmla="*/ 1566 w 1657"/>
                  <a:gd name="T49" fmla="*/ 652 h 1387"/>
                  <a:gd name="T50" fmla="*/ 1595 w 1657"/>
                  <a:gd name="T51" fmla="*/ 372 h 1387"/>
                  <a:gd name="T52" fmla="*/ 1657 w 1657"/>
                  <a:gd name="T53" fmla="*/ 0 h 1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657" h="1387">
                    <a:moveTo>
                      <a:pt x="1657" y="0"/>
                    </a:moveTo>
                    <a:lnTo>
                      <a:pt x="1565" y="48"/>
                    </a:lnTo>
                    <a:lnTo>
                      <a:pt x="1400" y="98"/>
                    </a:lnTo>
                    <a:lnTo>
                      <a:pt x="1226" y="139"/>
                    </a:lnTo>
                    <a:lnTo>
                      <a:pt x="892" y="207"/>
                    </a:lnTo>
                    <a:lnTo>
                      <a:pt x="760" y="248"/>
                    </a:lnTo>
                    <a:lnTo>
                      <a:pt x="637" y="305"/>
                    </a:lnTo>
                    <a:lnTo>
                      <a:pt x="553" y="365"/>
                    </a:lnTo>
                    <a:lnTo>
                      <a:pt x="457" y="439"/>
                    </a:lnTo>
                    <a:lnTo>
                      <a:pt x="394" y="507"/>
                    </a:lnTo>
                    <a:lnTo>
                      <a:pt x="344" y="594"/>
                    </a:lnTo>
                    <a:lnTo>
                      <a:pt x="304" y="679"/>
                    </a:lnTo>
                    <a:lnTo>
                      <a:pt x="241" y="924"/>
                    </a:lnTo>
                    <a:lnTo>
                      <a:pt x="219" y="1019"/>
                    </a:lnTo>
                    <a:lnTo>
                      <a:pt x="151" y="1134"/>
                    </a:lnTo>
                    <a:lnTo>
                      <a:pt x="0" y="1387"/>
                    </a:lnTo>
                    <a:lnTo>
                      <a:pt x="416" y="1386"/>
                    </a:lnTo>
                    <a:lnTo>
                      <a:pt x="834" y="1363"/>
                    </a:lnTo>
                    <a:lnTo>
                      <a:pt x="1133" y="1319"/>
                    </a:lnTo>
                    <a:lnTo>
                      <a:pt x="1386" y="1269"/>
                    </a:lnTo>
                    <a:lnTo>
                      <a:pt x="1452" y="1233"/>
                    </a:lnTo>
                    <a:lnTo>
                      <a:pt x="1493" y="1190"/>
                    </a:lnTo>
                    <a:lnTo>
                      <a:pt x="1523" y="1128"/>
                    </a:lnTo>
                    <a:lnTo>
                      <a:pt x="1556" y="968"/>
                    </a:lnTo>
                    <a:lnTo>
                      <a:pt x="1566" y="652"/>
                    </a:lnTo>
                    <a:lnTo>
                      <a:pt x="1595" y="372"/>
                    </a:lnTo>
                    <a:lnTo>
                      <a:pt x="1657" y="0"/>
                    </a:lnTo>
                    <a:close/>
                  </a:path>
                </a:pathLst>
              </a:custGeom>
              <a:solidFill>
                <a:srgbClr val="5A60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07" name="Freeform 547"/>
              <p:cNvSpPr>
                <a:spLocks/>
              </p:cNvSpPr>
              <p:nvPr/>
            </p:nvSpPr>
            <p:spPr bwMode="auto">
              <a:xfrm>
                <a:off x="5043" y="3640"/>
                <a:ext cx="138" cy="116"/>
              </a:xfrm>
              <a:custGeom>
                <a:avLst/>
                <a:gdLst>
                  <a:gd name="T0" fmla="*/ 1657 w 1657"/>
                  <a:gd name="T1" fmla="*/ 0 h 1387"/>
                  <a:gd name="T2" fmla="*/ 1565 w 1657"/>
                  <a:gd name="T3" fmla="*/ 48 h 1387"/>
                  <a:gd name="T4" fmla="*/ 1400 w 1657"/>
                  <a:gd name="T5" fmla="*/ 98 h 1387"/>
                  <a:gd name="T6" fmla="*/ 1226 w 1657"/>
                  <a:gd name="T7" fmla="*/ 139 h 1387"/>
                  <a:gd name="T8" fmla="*/ 892 w 1657"/>
                  <a:gd name="T9" fmla="*/ 207 h 1387"/>
                  <a:gd name="T10" fmla="*/ 760 w 1657"/>
                  <a:gd name="T11" fmla="*/ 248 h 1387"/>
                  <a:gd name="T12" fmla="*/ 637 w 1657"/>
                  <a:gd name="T13" fmla="*/ 305 h 1387"/>
                  <a:gd name="T14" fmla="*/ 553 w 1657"/>
                  <a:gd name="T15" fmla="*/ 365 h 1387"/>
                  <a:gd name="T16" fmla="*/ 457 w 1657"/>
                  <a:gd name="T17" fmla="*/ 439 h 1387"/>
                  <a:gd name="T18" fmla="*/ 394 w 1657"/>
                  <a:gd name="T19" fmla="*/ 507 h 1387"/>
                  <a:gd name="T20" fmla="*/ 344 w 1657"/>
                  <a:gd name="T21" fmla="*/ 594 h 1387"/>
                  <a:gd name="T22" fmla="*/ 304 w 1657"/>
                  <a:gd name="T23" fmla="*/ 679 h 1387"/>
                  <a:gd name="T24" fmla="*/ 241 w 1657"/>
                  <a:gd name="T25" fmla="*/ 924 h 1387"/>
                  <a:gd name="T26" fmla="*/ 219 w 1657"/>
                  <a:gd name="T27" fmla="*/ 1019 h 1387"/>
                  <a:gd name="T28" fmla="*/ 151 w 1657"/>
                  <a:gd name="T29" fmla="*/ 1134 h 1387"/>
                  <a:gd name="T30" fmla="*/ 0 w 1657"/>
                  <a:gd name="T31" fmla="*/ 1387 h 1387"/>
                  <a:gd name="T32" fmla="*/ 416 w 1657"/>
                  <a:gd name="T33" fmla="*/ 1386 h 1387"/>
                  <a:gd name="T34" fmla="*/ 834 w 1657"/>
                  <a:gd name="T35" fmla="*/ 1363 h 1387"/>
                  <a:gd name="T36" fmla="*/ 1133 w 1657"/>
                  <a:gd name="T37" fmla="*/ 1319 h 1387"/>
                  <a:gd name="T38" fmla="*/ 1386 w 1657"/>
                  <a:gd name="T39" fmla="*/ 1269 h 1387"/>
                  <a:gd name="T40" fmla="*/ 1452 w 1657"/>
                  <a:gd name="T41" fmla="*/ 1233 h 1387"/>
                  <a:gd name="T42" fmla="*/ 1493 w 1657"/>
                  <a:gd name="T43" fmla="*/ 1190 h 1387"/>
                  <a:gd name="T44" fmla="*/ 1523 w 1657"/>
                  <a:gd name="T45" fmla="*/ 1128 h 1387"/>
                  <a:gd name="T46" fmla="*/ 1556 w 1657"/>
                  <a:gd name="T47" fmla="*/ 968 h 1387"/>
                  <a:gd name="T48" fmla="*/ 1566 w 1657"/>
                  <a:gd name="T49" fmla="*/ 652 h 1387"/>
                  <a:gd name="T50" fmla="*/ 1595 w 1657"/>
                  <a:gd name="T51" fmla="*/ 372 h 1387"/>
                  <a:gd name="T52" fmla="*/ 1657 w 1657"/>
                  <a:gd name="T53" fmla="*/ 0 h 1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657" h="1387">
                    <a:moveTo>
                      <a:pt x="1657" y="0"/>
                    </a:moveTo>
                    <a:lnTo>
                      <a:pt x="1565" y="48"/>
                    </a:lnTo>
                    <a:lnTo>
                      <a:pt x="1400" y="98"/>
                    </a:lnTo>
                    <a:lnTo>
                      <a:pt x="1226" y="139"/>
                    </a:lnTo>
                    <a:lnTo>
                      <a:pt x="892" y="207"/>
                    </a:lnTo>
                    <a:lnTo>
                      <a:pt x="760" y="248"/>
                    </a:lnTo>
                    <a:lnTo>
                      <a:pt x="637" y="305"/>
                    </a:lnTo>
                    <a:lnTo>
                      <a:pt x="553" y="365"/>
                    </a:lnTo>
                    <a:lnTo>
                      <a:pt x="457" y="439"/>
                    </a:lnTo>
                    <a:lnTo>
                      <a:pt x="394" y="507"/>
                    </a:lnTo>
                    <a:lnTo>
                      <a:pt x="344" y="594"/>
                    </a:lnTo>
                    <a:lnTo>
                      <a:pt x="304" y="679"/>
                    </a:lnTo>
                    <a:lnTo>
                      <a:pt x="241" y="924"/>
                    </a:lnTo>
                    <a:lnTo>
                      <a:pt x="219" y="1019"/>
                    </a:lnTo>
                    <a:lnTo>
                      <a:pt x="151" y="1134"/>
                    </a:lnTo>
                    <a:lnTo>
                      <a:pt x="0" y="1387"/>
                    </a:lnTo>
                    <a:lnTo>
                      <a:pt x="416" y="1386"/>
                    </a:lnTo>
                    <a:lnTo>
                      <a:pt x="834" y="1363"/>
                    </a:lnTo>
                    <a:lnTo>
                      <a:pt x="1133" y="1319"/>
                    </a:lnTo>
                    <a:lnTo>
                      <a:pt x="1386" y="1269"/>
                    </a:lnTo>
                    <a:lnTo>
                      <a:pt x="1452" y="1233"/>
                    </a:lnTo>
                    <a:lnTo>
                      <a:pt x="1493" y="1190"/>
                    </a:lnTo>
                    <a:lnTo>
                      <a:pt x="1523" y="1128"/>
                    </a:lnTo>
                    <a:lnTo>
                      <a:pt x="1556" y="968"/>
                    </a:lnTo>
                    <a:lnTo>
                      <a:pt x="1566" y="652"/>
                    </a:lnTo>
                    <a:lnTo>
                      <a:pt x="1595" y="372"/>
                    </a:lnTo>
                    <a:lnTo>
                      <a:pt x="1657" y="0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08" name="Freeform 548"/>
              <p:cNvSpPr>
                <a:spLocks/>
              </p:cNvSpPr>
              <p:nvPr/>
            </p:nvSpPr>
            <p:spPr bwMode="auto">
              <a:xfrm>
                <a:off x="5176" y="3539"/>
                <a:ext cx="32" cy="224"/>
              </a:xfrm>
              <a:custGeom>
                <a:avLst/>
                <a:gdLst>
                  <a:gd name="T0" fmla="*/ 388 w 388"/>
                  <a:gd name="T1" fmla="*/ 0 h 2682"/>
                  <a:gd name="T2" fmla="*/ 359 w 388"/>
                  <a:gd name="T3" fmla="*/ 140 h 2682"/>
                  <a:gd name="T4" fmla="*/ 284 w 388"/>
                  <a:gd name="T5" fmla="*/ 493 h 2682"/>
                  <a:gd name="T6" fmla="*/ 192 w 388"/>
                  <a:gd name="T7" fmla="*/ 911 h 2682"/>
                  <a:gd name="T8" fmla="*/ 107 w 388"/>
                  <a:gd name="T9" fmla="*/ 1289 h 2682"/>
                  <a:gd name="T10" fmla="*/ 51 w 388"/>
                  <a:gd name="T11" fmla="*/ 1646 h 2682"/>
                  <a:gd name="T12" fmla="*/ 11 w 388"/>
                  <a:gd name="T13" fmla="*/ 1950 h 2682"/>
                  <a:gd name="T14" fmla="*/ 1 w 388"/>
                  <a:gd name="T15" fmla="*/ 2180 h 2682"/>
                  <a:gd name="T16" fmla="*/ 0 w 388"/>
                  <a:gd name="T17" fmla="*/ 2345 h 2682"/>
                  <a:gd name="T18" fmla="*/ 17 w 388"/>
                  <a:gd name="T19" fmla="*/ 2481 h 2682"/>
                  <a:gd name="T20" fmla="*/ 47 w 388"/>
                  <a:gd name="T21" fmla="*/ 2585 h 2682"/>
                  <a:gd name="T22" fmla="*/ 97 w 388"/>
                  <a:gd name="T23" fmla="*/ 2655 h 2682"/>
                  <a:gd name="T24" fmla="*/ 167 w 388"/>
                  <a:gd name="T25" fmla="*/ 2682 h 26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88" h="2682">
                    <a:moveTo>
                      <a:pt x="388" y="0"/>
                    </a:moveTo>
                    <a:lnTo>
                      <a:pt x="359" y="140"/>
                    </a:lnTo>
                    <a:lnTo>
                      <a:pt x="284" y="493"/>
                    </a:lnTo>
                    <a:lnTo>
                      <a:pt x="192" y="911"/>
                    </a:lnTo>
                    <a:lnTo>
                      <a:pt x="107" y="1289"/>
                    </a:lnTo>
                    <a:lnTo>
                      <a:pt x="51" y="1646"/>
                    </a:lnTo>
                    <a:lnTo>
                      <a:pt x="11" y="1950"/>
                    </a:lnTo>
                    <a:lnTo>
                      <a:pt x="1" y="2180"/>
                    </a:lnTo>
                    <a:lnTo>
                      <a:pt x="0" y="2345"/>
                    </a:lnTo>
                    <a:lnTo>
                      <a:pt x="17" y="2481"/>
                    </a:lnTo>
                    <a:lnTo>
                      <a:pt x="47" y="2585"/>
                    </a:lnTo>
                    <a:lnTo>
                      <a:pt x="97" y="2655"/>
                    </a:lnTo>
                    <a:lnTo>
                      <a:pt x="167" y="2682"/>
                    </a:lnTo>
                  </a:path>
                </a:pathLst>
              </a:custGeom>
              <a:noFill/>
              <a:ln w="1588">
                <a:solidFill>
                  <a:srgbClr val="ABADB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09" name="Freeform 549"/>
              <p:cNvSpPr>
                <a:spLocks/>
              </p:cNvSpPr>
              <p:nvPr/>
            </p:nvSpPr>
            <p:spPr bwMode="auto">
              <a:xfrm>
                <a:off x="4119" y="3307"/>
                <a:ext cx="544" cy="40"/>
              </a:xfrm>
              <a:custGeom>
                <a:avLst/>
                <a:gdLst>
                  <a:gd name="T0" fmla="*/ 6527 w 6527"/>
                  <a:gd name="T1" fmla="*/ 0 h 484"/>
                  <a:gd name="T2" fmla="*/ 2952 w 6527"/>
                  <a:gd name="T3" fmla="*/ 94 h 484"/>
                  <a:gd name="T4" fmla="*/ 0 w 6527"/>
                  <a:gd name="T5" fmla="*/ 484 h 484"/>
                  <a:gd name="T6" fmla="*/ 3529 w 6527"/>
                  <a:gd name="T7" fmla="*/ 484 h 484"/>
                  <a:gd name="T8" fmla="*/ 6527 w 6527"/>
                  <a:gd name="T9" fmla="*/ 0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27" h="484">
                    <a:moveTo>
                      <a:pt x="6527" y="0"/>
                    </a:moveTo>
                    <a:lnTo>
                      <a:pt x="2952" y="94"/>
                    </a:lnTo>
                    <a:lnTo>
                      <a:pt x="0" y="484"/>
                    </a:lnTo>
                    <a:lnTo>
                      <a:pt x="3529" y="484"/>
                    </a:lnTo>
                    <a:lnTo>
                      <a:pt x="652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10" name="Freeform 550"/>
              <p:cNvSpPr>
                <a:spLocks/>
              </p:cNvSpPr>
              <p:nvPr/>
            </p:nvSpPr>
            <p:spPr bwMode="auto">
              <a:xfrm>
                <a:off x="4119" y="3307"/>
                <a:ext cx="544" cy="40"/>
              </a:xfrm>
              <a:custGeom>
                <a:avLst/>
                <a:gdLst>
                  <a:gd name="T0" fmla="*/ 6527 w 6527"/>
                  <a:gd name="T1" fmla="*/ 0 h 484"/>
                  <a:gd name="T2" fmla="*/ 2952 w 6527"/>
                  <a:gd name="T3" fmla="*/ 94 h 484"/>
                  <a:gd name="T4" fmla="*/ 0 w 6527"/>
                  <a:gd name="T5" fmla="*/ 484 h 484"/>
                  <a:gd name="T6" fmla="*/ 3529 w 6527"/>
                  <a:gd name="T7" fmla="*/ 484 h 484"/>
                  <a:gd name="T8" fmla="*/ 6527 w 6527"/>
                  <a:gd name="T9" fmla="*/ 0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27" h="484">
                    <a:moveTo>
                      <a:pt x="6527" y="0"/>
                    </a:moveTo>
                    <a:lnTo>
                      <a:pt x="2952" y="94"/>
                    </a:lnTo>
                    <a:lnTo>
                      <a:pt x="0" y="484"/>
                    </a:lnTo>
                    <a:lnTo>
                      <a:pt x="3529" y="484"/>
                    </a:lnTo>
                    <a:lnTo>
                      <a:pt x="6527" y="0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11" name="Freeform 551"/>
              <p:cNvSpPr>
                <a:spLocks/>
              </p:cNvSpPr>
              <p:nvPr/>
            </p:nvSpPr>
            <p:spPr bwMode="auto">
              <a:xfrm>
                <a:off x="4119" y="3347"/>
                <a:ext cx="297" cy="152"/>
              </a:xfrm>
              <a:custGeom>
                <a:avLst/>
                <a:gdLst>
                  <a:gd name="T0" fmla="*/ 3558 w 3558"/>
                  <a:gd name="T1" fmla="*/ 1816 h 1816"/>
                  <a:gd name="T2" fmla="*/ 3558 w 3558"/>
                  <a:gd name="T3" fmla="*/ 0 h 1816"/>
                  <a:gd name="T4" fmla="*/ 0 w 3558"/>
                  <a:gd name="T5" fmla="*/ 0 h 1816"/>
                  <a:gd name="T6" fmla="*/ 0 w 3558"/>
                  <a:gd name="T7" fmla="*/ 1583 h 1816"/>
                  <a:gd name="T8" fmla="*/ 3558 w 3558"/>
                  <a:gd name="T9" fmla="*/ 1816 h 18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8" h="1816">
                    <a:moveTo>
                      <a:pt x="3558" y="1816"/>
                    </a:moveTo>
                    <a:lnTo>
                      <a:pt x="3558" y="0"/>
                    </a:lnTo>
                    <a:lnTo>
                      <a:pt x="0" y="0"/>
                    </a:lnTo>
                    <a:lnTo>
                      <a:pt x="0" y="1583"/>
                    </a:lnTo>
                    <a:lnTo>
                      <a:pt x="3558" y="1816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12" name="Freeform 552"/>
              <p:cNvSpPr>
                <a:spLocks/>
              </p:cNvSpPr>
              <p:nvPr/>
            </p:nvSpPr>
            <p:spPr bwMode="auto">
              <a:xfrm>
                <a:off x="4119" y="3347"/>
                <a:ext cx="297" cy="152"/>
              </a:xfrm>
              <a:custGeom>
                <a:avLst/>
                <a:gdLst>
                  <a:gd name="T0" fmla="*/ 3558 w 3558"/>
                  <a:gd name="T1" fmla="*/ 1816 h 1816"/>
                  <a:gd name="T2" fmla="*/ 3558 w 3558"/>
                  <a:gd name="T3" fmla="*/ 0 h 1816"/>
                  <a:gd name="T4" fmla="*/ 0 w 3558"/>
                  <a:gd name="T5" fmla="*/ 0 h 1816"/>
                  <a:gd name="T6" fmla="*/ 0 w 3558"/>
                  <a:gd name="T7" fmla="*/ 1583 h 1816"/>
                  <a:gd name="T8" fmla="*/ 3558 w 3558"/>
                  <a:gd name="T9" fmla="*/ 1816 h 18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8" h="1816">
                    <a:moveTo>
                      <a:pt x="3558" y="1816"/>
                    </a:moveTo>
                    <a:lnTo>
                      <a:pt x="3558" y="0"/>
                    </a:lnTo>
                    <a:lnTo>
                      <a:pt x="0" y="0"/>
                    </a:lnTo>
                    <a:lnTo>
                      <a:pt x="0" y="1583"/>
                    </a:lnTo>
                    <a:lnTo>
                      <a:pt x="3558" y="1816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13" name="Freeform 553"/>
              <p:cNvSpPr>
                <a:spLocks/>
              </p:cNvSpPr>
              <p:nvPr/>
            </p:nvSpPr>
            <p:spPr bwMode="auto">
              <a:xfrm>
                <a:off x="4365" y="3307"/>
                <a:ext cx="298" cy="28"/>
              </a:xfrm>
              <a:custGeom>
                <a:avLst/>
                <a:gdLst>
                  <a:gd name="T0" fmla="*/ 3575 w 3575"/>
                  <a:gd name="T1" fmla="*/ 0 h 340"/>
                  <a:gd name="T2" fmla="*/ 0 w 3575"/>
                  <a:gd name="T3" fmla="*/ 94 h 340"/>
                  <a:gd name="T4" fmla="*/ 632 w 3575"/>
                  <a:gd name="T5" fmla="*/ 340 h 340"/>
                  <a:gd name="T6" fmla="*/ 1027 w 3575"/>
                  <a:gd name="T7" fmla="*/ 340 h 340"/>
                  <a:gd name="T8" fmla="*/ 1452 w 3575"/>
                  <a:gd name="T9" fmla="*/ 327 h 340"/>
                  <a:gd name="T10" fmla="*/ 1967 w 3575"/>
                  <a:gd name="T11" fmla="*/ 282 h 340"/>
                  <a:gd name="T12" fmla="*/ 3575 w 3575"/>
                  <a:gd name="T13" fmla="*/ 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75" h="340">
                    <a:moveTo>
                      <a:pt x="3575" y="0"/>
                    </a:moveTo>
                    <a:lnTo>
                      <a:pt x="0" y="94"/>
                    </a:lnTo>
                    <a:lnTo>
                      <a:pt x="632" y="340"/>
                    </a:lnTo>
                    <a:lnTo>
                      <a:pt x="1027" y="340"/>
                    </a:lnTo>
                    <a:lnTo>
                      <a:pt x="1452" y="327"/>
                    </a:lnTo>
                    <a:lnTo>
                      <a:pt x="1967" y="282"/>
                    </a:lnTo>
                    <a:lnTo>
                      <a:pt x="3575" y="0"/>
                    </a:lnTo>
                    <a:close/>
                  </a:path>
                </a:pathLst>
              </a:custGeom>
              <a:solidFill>
                <a:srgbClr val="8186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14" name="Freeform 554"/>
              <p:cNvSpPr>
                <a:spLocks/>
              </p:cNvSpPr>
              <p:nvPr/>
            </p:nvSpPr>
            <p:spPr bwMode="auto">
              <a:xfrm>
                <a:off x="4365" y="3307"/>
                <a:ext cx="298" cy="28"/>
              </a:xfrm>
              <a:custGeom>
                <a:avLst/>
                <a:gdLst>
                  <a:gd name="T0" fmla="*/ 3575 w 3575"/>
                  <a:gd name="T1" fmla="*/ 0 h 340"/>
                  <a:gd name="T2" fmla="*/ 0 w 3575"/>
                  <a:gd name="T3" fmla="*/ 94 h 340"/>
                  <a:gd name="T4" fmla="*/ 632 w 3575"/>
                  <a:gd name="T5" fmla="*/ 340 h 340"/>
                  <a:gd name="T6" fmla="*/ 1027 w 3575"/>
                  <a:gd name="T7" fmla="*/ 340 h 340"/>
                  <a:gd name="T8" fmla="*/ 1452 w 3575"/>
                  <a:gd name="T9" fmla="*/ 327 h 340"/>
                  <a:gd name="T10" fmla="*/ 1967 w 3575"/>
                  <a:gd name="T11" fmla="*/ 282 h 340"/>
                  <a:gd name="T12" fmla="*/ 3575 w 3575"/>
                  <a:gd name="T13" fmla="*/ 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75" h="340">
                    <a:moveTo>
                      <a:pt x="3575" y="0"/>
                    </a:moveTo>
                    <a:lnTo>
                      <a:pt x="0" y="94"/>
                    </a:lnTo>
                    <a:lnTo>
                      <a:pt x="632" y="340"/>
                    </a:lnTo>
                    <a:lnTo>
                      <a:pt x="1027" y="340"/>
                    </a:lnTo>
                    <a:lnTo>
                      <a:pt x="1452" y="327"/>
                    </a:lnTo>
                    <a:lnTo>
                      <a:pt x="1967" y="282"/>
                    </a:lnTo>
                    <a:lnTo>
                      <a:pt x="3575" y="0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15" name="Freeform 555"/>
              <p:cNvSpPr>
                <a:spLocks/>
              </p:cNvSpPr>
              <p:nvPr/>
            </p:nvSpPr>
            <p:spPr bwMode="auto">
              <a:xfrm>
                <a:off x="4416" y="3307"/>
                <a:ext cx="247" cy="192"/>
              </a:xfrm>
              <a:custGeom>
                <a:avLst/>
                <a:gdLst>
                  <a:gd name="T0" fmla="*/ 0 w 2969"/>
                  <a:gd name="T1" fmla="*/ 2300 h 2300"/>
                  <a:gd name="T2" fmla="*/ 0 w 2969"/>
                  <a:gd name="T3" fmla="*/ 484 h 2300"/>
                  <a:gd name="T4" fmla="*/ 2969 w 2969"/>
                  <a:gd name="T5" fmla="*/ 0 h 2300"/>
                  <a:gd name="T6" fmla="*/ 2969 w 2969"/>
                  <a:gd name="T7" fmla="*/ 1488 h 2300"/>
                  <a:gd name="T8" fmla="*/ 0 w 2969"/>
                  <a:gd name="T9" fmla="*/ 2300 h 2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69" h="2300">
                    <a:moveTo>
                      <a:pt x="0" y="2300"/>
                    </a:moveTo>
                    <a:lnTo>
                      <a:pt x="0" y="484"/>
                    </a:lnTo>
                    <a:lnTo>
                      <a:pt x="2969" y="0"/>
                    </a:lnTo>
                    <a:lnTo>
                      <a:pt x="2969" y="1488"/>
                    </a:lnTo>
                    <a:lnTo>
                      <a:pt x="0" y="2300"/>
                    </a:lnTo>
                    <a:close/>
                  </a:path>
                </a:pathLst>
              </a:custGeom>
              <a:solidFill>
                <a:srgbClr val="ABAD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16" name="Freeform 556"/>
              <p:cNvSpPr>
                <a:spLocks/>
              </p:cNvSpPr>
              <p:nvPr/>
            </p:nvSpPr>
            <p:spPr bwMode="auto">
              <a:xfrm>
                <a:off x="4416" y="3307"/>
                <a:ext cx="247" cy="192"/>
              </a:xfrm>
              <a:custGeom>
                <a:avLst/>
                <a:gdLst>
                  <a:gd name="T0" fmla="*/ 0 w 2969"/>
                  <a:gd name="T1" fmla="*/ 2300 h 2300"/>
                  <a:gd name="T2" fmla="*/ 0 w 2969"/>
                  <a:gd name="T3" fmla="*/ 484 h 2300"/>
                  <a:gd name="T4" fmla="*/ 2969 w 2969"/>
                  <a:gd name="T5" fmla="*/ 0 h 2300"/>
                  <a:gd name="T6" fmla="*/ 2969 w 2969"/>
                  <a:gd name="T7" fmla="*/ 1488 h 2300"/>
                  <a:gd name="T8" fmla="*/ 0 w 2969"/>
                  <a:gd name="T9" fmla="*/ 2300 h 2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69" h="2300">
                    <a:moveTo>
                      <a:pt x="0" y="2300"/>
                    </a:moveTo>
                    <a:lnTo>
                      <a:pt x="0" y="484"/>
                    </a:lnTo>
                    <a:lnTo>
                      <a:pt x="2969" y="0"/>
                    </a:lnTo>
                    <a:lnTo>
                      <a:pt x="2969" y="1488"/>
                    </a:lnTo>
                    <a:lnTo>
                      <a:pt x="0" y="2300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17" name="Freeform 557"/>
              <p:cNvSpPr>
                <a:spLocks/>
              </p:cNvSpPr>
              <p:nvPr/>
            </p:nvSpPr>
            <p:spPr bwMode="auto">
              <a:xfrm>
                <a:off x="4447" y="3355"/>
                <a:ext cx="15" cy="30"/>
              </a:xfrm>
              <a:custGeom>
                <a:avLst/>
                <a:gdLst>
                  <a:gd name="T0" fmla="*/ 0 w 188"/>
                  <a:gd name="T1" fmla="*/ 27 h 359"/>
                  <a:gd name="T2" fmla="*/ 188 w 188"/>
                  <a:gd name="T3" fmla="*/ 0 h 359"/>
                  <a:gd name="T4" fmla="*/ 188 w 188"/>
                  <a:gd name="T5" fmla="*/ 312 h 359"/>
                  <a:gd name="T6" fmla="*/ 0 w 188"/>
                  <a:gd name="T7" fmla="*/ 359 h 359"/>
                  <a:gd name="T8" fmla="*/ 0 w 188"/>
                  <a:gd name="T9" fmla="*/ 27 h 3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8" h="359">
                    <a:moveTo>
                      <a:pt x="0" y="27"/>
                    </a:moveTo>
                    <a:lnTo>
                      <a:pt x="188" y="0"/>
                    </a:lnTo>
                    <a:lnTo>
                      <a:pt x="188" y="312"/>
                    </a:lnTo>
                    <a:lnTo>
                      <a:pt x="0" y="359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9829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18" name="Freeform 558"/>
              <p:cNvSpPr>
                <a:spLocks/>
              </p:cNvSpPr>
              <p:nvPr/>
            </p:nvSpPr>
            <p:spPr bwMode="auto">
              <a:xfrm>
                <a:off x="4447" y="3355"/>
                <a:ext cx="15" cy="30"/>
              </a:xfrm>
              <a:custGeom>
                <a:avLst/>
                <a:gdLst>
                  <a:gd name="T0" fmla="*/ 0 w 188"/>
                  <a:gd name="T1" fmla="*/ 27 h 359"/>
                  <a:gd name="T2" fmla="*/ 188 w 188"/>
                  <a:gd name="T3" fmla="*/ 0 h 359"/>
                  <a:gd name="T4" fmla="*/ 188 w 188"/>
                  <a:gd name="T5" fmla="*/ 312 h 359"/>
                  <a:gd name="T6" fmla="*/ 0 w 188"/>
                  <a:gd name="T7" fmla="*/ 359 h 359"/>
                  <a:gd name="T8" fmla="*/ 0 w 188"/>
                  <a:gd name="T9" fmla="*/ 27 h 3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8" h="359">
                    <a:moveTo>
                      <a:pt x="0" y="27"/>
                    </a:moveTo>
                    <a:lnTo>
                      <a:pt x="188" y="0"/>
                    </a:lnTo>
                    <a:lnTo>
                      <a:pt x="188" y="312"/>
                    </a:lnTo>
                    <a:lnTo>
                      <a:pt x="0" y="359"/>
                    </a:lnTo>
                    <a:lnTo>
                      <a:pt x="0" y="27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19" name="Freeform 559"/>
              <p:cNvSpPr>
                <a:spLocks/>
              </p:cNvSpPr>
              <p:nvPr/>
            </p:nvSpPr>
            <p:spPr bwMode="auto">
              <a:xfrm>
                <a:off x="4445" y="3385"/>
                <a:ext cx="103" cy="75"/>
              </a:xfrm>
              <a:custGeom>
                <a:avLst/>
                <a:gdLst>
                  <a:gd name="T0" fmla="*/ 0 w 1238"/>
                  <a:gd name="T1" fmla="*/ 264 h 904"/>
                  <a:gd name="T2" fmla="*/ 0 w 1238"/>
                  <a:gd name="T3" fmla="*/ 904 h 904"/>
                  <a:gd name="T4" fmla="*/ 1238 w 1238"/>
                  <a:gd name="T5" fmla="*/ 584 h 904"/>
                  <a:gd name="T6" fmla="*/ 1238 w 1238"/>
                  <a:gd name="T7" fmla="*/ 0 h 904"/>
                  <a:gd name="T8" fmla="*/ 0 w 1238"/>
                  <a:gd name="T9" fmla="*/ 264 h 9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8" h="904">
                    <a:moveTo>
                      <a:pt x="0" y="264"/>
                    </a:moveTo>
                    <a:lnTo>
                      <a:pt x="0" y="904"/>
                    </a:lnTo>
                    <a:lnTo>
                      <a:pt x="1238" y="584"/>
                    </a:lnTo>
                    <a:lnTo>
                      <a:pt x="1238" y="0"/>
                    </a:lnTo>
                    <a:lnTo>
                      <a:pt x="0" y="264"/>
                    </a:lnTo>
                    <a:close/>
                  </a:path>
                </a:pathLst>
              </a:custGeom>
              <a:solidFill>
                <a:srgbClr val="1315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20" name="Freeform 560"/>
              <p:cNvSpPr>
                <a:spLocks/>
              </p:cNvSpPr>
              <p:nvPr/>
            </p:nvSpPr>
            <p:spPr bwMode="auto">
              <a:xfrm>
                <a:off x="4445" y="3385"/>
                <a:ext cx="103" cy="75"/>
              </a:xfrm>
              <a:custGeom>
                <a:avLst/>
                <a:gdLst>
                  <a:gd name="T0" fmla="*/ 0 w 1238"/>
                  <a:gd name="T1" fmla="*/ 264 h 904"/>
                  <a:gd name="T2" fmla="*/ 0 w 1238"/>
                  <a:gd name="T3" fmla="*/ 904 h 904"/>
                  <a:gd name="T4" fmla="*/ 1238 w 1238"/>
                  <a:gd name="T5" fmla="*/ 584 h 904"/>
                  <a:gd name="T6" fmla="*/ 1238 w 1238"/>
                  <a:gd name="T7" fmla="*/ 0 h 904"/>
                  <a:gd name="T8" fmla="*/ 0 w 1238"/>
                  <a:gd name="T9" fmla="*/ 264 h 9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8" h="904">
                    <a:moveTo>
                      <a:pt x="0" y="264"/>
                    </a:moveTo>
                    <a:lnTo>
                      <a:pt x="0" y="904"/>
                    </a:lnTo>
                    <a:lnTo>
                      <a:pt x="1238" y="584"/>
                    </a:lnTo>
                    <a:lnTo>
                      <a:pt x="1238" y="0"/>
                    </a:lnTo>
                    <a:lnTo>
                      <a:pt x="0" y="264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21" name="Freeform 561"/>
              <p:cNvSpPr>
                <a:spLocks/>
              </p:cNvSpPr>
              <p:nvPr/>
            </p:nvSpPr>
            <p:spPr bwMode="auto">
              <a:xfrm>
                <a:off x="4391" y="3068"/>
                <a:ext cx="207" cy="23"/>
              </a:xfrm>
              <a:custGeom>
                <a:avLst/>
                <a:gdLst>
                  <a:gd name="T0" fmla="*/ 0 w 2489"/>
                  <a:gd name="T1" fmla="*/ 6 h 280"/>
                  <a:gd name="T2" fmla="*/ 86 w 2489"/>
                  <a:gd name="T3" fmla="*/ 189 h 280"/>
                  <a:gd name="T4" fmla="*/ 2489 w 2489"/>
                  <a:gd name="T5" fmla="*/ 280 h 280"/>
                  <a:gd name="T6" fmla="*/ 2453 w 2489"/>
                  <a:gd name="T7" fmla="*/ 210 h 280"/>
                  <a:gd name="T8" fmla="*/ 2398 w 2489"/>
                  <a:gd name="T9" fmla="*/ 152 h 280"/>
                  <a:gd name="T10" fmla="*/ 2319 w 2489"/>
                  <a:gd name="T11" fmla="*/ 124 h 280"/>
                  <a:gd name="T12" fmla="*/ 36 w 2489"/>
                  <a:gd name="T13" fmla="*/ 0 h 280"/>
                  <a:gd name="T14" fmla="*/ 0 w 2489"/>
                  <a:gd name="T15" fmla="*/ 6 h 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89" h="280">
                    <a:moveTo>
                      <a:pt x="0" y="6"/>
                    </a:moveTo>
                    <a:lnTo>
                      <a:pt x="86" y="189"/>
                    </a:lnTo>
                    <a:lnTo>
                      <a:pt x="2489" y="280"/>
                    </a:lnTo>
                    <a:lnTo>
                      <a:pt x="2453" y="210"/>
                    </a:lnTo>
                    <a:lnTo>
                      <a:pt x="2398" y="152"/>
                    </a:lnTo>
                    <a:lnTo>
                      <a:pt x="2319" y="124"/>
                    </a:lnTo>
                    <a:lnTo>
                      <a:pt x="36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22" name="Freeform 562"/>
              <p:cNvSpPr>
                <a:spLocks/>
              </p:cNvSpPr>
              <p:nvPr/>
            </p:nvSpPr>
            <p:spPr bwMode="auto">
              <a:xfrm>
                <a:off x="4391" y="3068"/>
                <a:ext cx="207" cy="23"/>
              </a:xfrm>
              <a:custGeom>
                <a:avLst/>
                <a:gdLst>
                  <a:gd name="T0" fmla="*/ 0 w 2489"/>
                  <a:gd name="T1" fmla="*/ 6 h 280"/>
                  <a:gd name="T2" fmla="*/ 86 w 2489"/>
                  <a:gd name="T3" fmla="*/ 189 h 280"/>
                  <a:gd name="T4" fmla="*/ 2489 w 2489"/>
                  <a:gd name="T5" fmla="*/ 280 h 280"/>
                  <a:gd name="T6" fmla="*/ 2453 w 2489"/>
                  <a:gd name="T7" fmla="*/ 210 h 280"/>
                  <a:gd name="T8" fmla="*/ 2398 w 2489"/>
                  <a:gd name="T9" fmla="*/ 152 h 280"/>
                  <a:gd name="T10" fmla="*/ 2319 w 2489"/>
                  <a:gd name="T11" fmla="*/ 124 h 280"/>
                  <a:gd name="T12" fmla="*/ 36 w 2489"/>
                  <a:gd name="T13" fmla="*/ 0 h 280"/>
                  <a:gd name="T14" fmla="*/ 0 w 2489"/>
                  <a:gd name="T15" fmla="*/ 6 h 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89" h="280">
                    <a:moveTo>
                      <a:pt x="0" y="6"/>
                    </a:moveTo>
                    <a:lnTo>
                      <a:pt x="86" y="189"/>
                    </a:lnTo>
                    <a:lnTo>
                      <a:pt x="2489" y="280"/>
                    </a:lnTo>
                    <a:lnTo>
                      <a:pt x="2453" y="210"/>
                    </a:lnTo>
                    <a:lnTo>
                      <a:pt x="2398" y="152"/>
                    </a:lnTo>
                    <a:lnTo>
                      <a:pt x="2319" y="124"/>
                    </a:lnTo>
                    <a:lnTo>
                      <a:pt x="36" y="0"/>
                    </a:lnTo>
                    <a:lnTo>
                      <a:pt x="0" y="6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23" name="Freeform 563"/>
              <p:cNvSpPr>
                <a:spLocks/>
              </p:cNvSpPr>
              <p:nvPr/>
            </p:nvSpPr>
            <p:spPr bwMode="auto">
              <a:xfrm>
                <a:off x="4400" y="3077"/>
                <a:ext cx="232" cy="258"/>
              </a:xfrm>
              <a:custGeom>
                <a:avLst/>
                <a:gdLst>
                  <a:gd name="T0" fmla="*/ 0 w 2777"/>
                  <a:gd name="T1" fmla="*/ 0 h 3104"/>
                  <a:gd name="T2" fmla="*/ 245 w 2777"/>
                  <a:gd name="T3" fmla="*/ 3104 h 3104"/>
                  <a:gd name="T4" fmla="*/ 2450 w 2777"/>
                  <a:gd name="T5" fmla="*/ 2775 h 3104"/>
                  <a:gd name="T6" fmla="*/ 2534 w 2777"/>
                  <a:gd name="T7" fmla="*/ 2764 h 3104"/>
                  <a:gd name="T8" fmla="*/ 2605 w 2777"/>
                  <a:gd name="T9" fmla="*/ 2736 h 3104"/>
                  <a:gd name="T10" fmla="*/ 2666 w 2777"/>
                  <a:gd name="T11" fmla="*/ 2682 h 3104"/>
                  <a:gd name="T12" fmla="*/ 2718 w 2777"/>
                  <a:gd name="T13" fmla="*/ 2612 h 3104"/>
                  <a:gd name="T14" fmla="*/ 2752 w 2777"/>
                  <a:gd name="T15" fmla="*/ 2525 h 3104"/>
                  <a:gd name="T16" fmla="*/ 2773 w 2777"/>
                  <a:gd name="T17" fmla="*/ 2428 h 3104"/>
                  <a:gd name="T18" fmla="*/ 2777 w 2777"/>
                  <a:gd name="T19" fmla="*/ 2318 h 3104"/>
                  <a:gd name="T20" fmla="*/ 2765 w 2777"/>
                  <a:gd name="T21" fmla="*/ 2197 h 3104"/>
                  <a:gd name="T22" fmla="*/ 2398 w 2777"/>
                  <a:gd name="T23" fmla="*/ 243 h 3104"/>
                  <a:gd name="T24" fmla="*/ 2374 w 2777"/>
                  <a:gd name="T25" fmla="*/ 174 h 3104"/>
                  <a:gd name="T26" fmla="*/ 2338 w 2777"/>
                  <a:gd name="T27" fmla="*/ 104 h 3104"/>
                  <a:gd name="T28" fmla="*/ 0 w 2777"/>
                  <a:gd name="T29" fmla="*/ 0 h 3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777" h="3104">
                    <a:moveTo>
                      <a:pt x="0" y="0"/>
                    </a:moveTo>
                    <a:lnTo>
                      <a:pt x="245" y="3104"/>
                    </a:lnTo>
                    <a:lnTo>
                      <a:pt x="2450" y="2775"/>
                    </a:lnTo>
                    <a:lnTo>
                      <a:pt x="2534" y="2764"/>
                    </a:lnTo>
                    <a:lnTo>
                      <a:pt x="2605" y="2736"/>
                    </a:lnTo>
                    <a:lnTo>
                      <a:pt x="2666" y="2682"/>
                    </a:lnTo>
                    <a:lnTo>
                      <a:pt x="2718" y="2612"/>
                    </a:lnTo>
                    <a:lnTo>
                      <a:pt x="2752" y="2525"/>
                    </a:lnTo>
                    <a:lnTo>
                      <a:pt x="2773" y="2428"/>
                    </a:lnTo>
                    <a:lnTo>
                      <a:pt x="2777" y="2318"/>
                    </a:lnTo>
                    <a:lnTo>
                      <a:pt x="2765" y="2197"/>
                    </a:lnTo>
                    <a:lnTo>
                      <a:pt x="2398" y="243"/>
                    </a:lnTo>
                    <a:lnTo>
                      <a:pt x="2374" y="174"/>
                    </a:lnTo>
                    <a:lnTo>
                      <a:pt x="2338" y="10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BAD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24" name="Freeform 564"/>
              <p:cNvSpPr>
                <a:spLocks/>
              </p:cNvSpPr>
              <p:nvPr/>
            </p:nvSpPr>
            <p:spPr bwMode="auto">
              <a:xfrm>
                <a:off x="4400" y="3077"/>
                <a:ext cx="232" cy="258"/>
              </a:xfrm>
              <a:custGeom>
                <a:avLst/>
                <a:gdLst>
                  <a:gd name="T0" fmla="*/ 0 w 2777"/>
                  <a:gd name="T1" fmla="*/ 0 h 3104"/>
                  <a:gd name="T2" fmla="*/ 245 w 2777"/>
                  <a:gd name="T3" fmla="*/ 3104 h 3104"/>
                  <a:gd name="T4" fmla="*/ 2450 w 2777"/>
                  <a:gd name="T5" fmla="*/ 2775 h 3104"/>
                  <a:gd name="T6" fmla="*/ 2534 w 2777"/>
                  <a:gd name="T7" fmla="*/ 2764 h 3104"/>
                  <a:gd name="T8" fmla="*/ 2605 w 2777"/>
                  <a:gd name="T9" fmla="*/ 2736 h 3104"/>
                  <a:gd name="T10" fmla="*/ 2666 w 2777"/>
                  <a:gd name="T11" fmla="*/ 2682 h 3104"/>
                  <a:gd name="T12" fmla="*/ 2718 w 2777"/>
                  <a:gd name="T13" fmla="*/ 2612 h 3104"/>
                  <a:gd name="T14" fmla="*/ 2752 w 2777"/>
                  <a:gd name="T15" fmla="*/ 2525 h 3104"/>
                  <a:gd name="T16" fmla="*/ 2773 w 2777"/>
                  <a:gd name="T17" fmla="*/ 2428 h 3104"/>
                  <a:gd name="T18" fmla="*/ 2777 w 2777"/>
                  <a:gd name="T19" fmla="*/ 2318 h 3104"/>
                  <a:gd name="T20" fmla="*/ 2765 w 2777"/>
                  <a:gd name="T21" fmla="*/ 2197 h 3104"/>
                  <a:gd name="T22" fmla="*/ 2398 w 2777"/>
                  <a:gd name="T23" fmla="*/ 243 h 3104"/>
                  <a:gd name="T24" fmla="*/ 2374 w 2777"/>
                  <a:gd name="T25" fmla="*/ 174 h 3104"/>
                  <a:gd name="T26" fmla="*/ 2338 w 2777"/>
                  <a:gd name="T27" fmla="*/ 104 h 3104"/>
                  <a:gd name="T28" fmla="*/ 0 w 2777"/>
                  <a:gd name="T29" fmla="*/ 0 h 3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777" h="3104">
                    <a:moveTo>
                      <a:pt x="0" y="0"/>
                    </a:moveTo>
                    <a:lnTo>
                      <a:pt x="245" y="3104"/>
                    </a:lnTo>
                    <a:lnTo>
                      <a:pt x="2450" y="2775"/>
                    </a:lnTo>
                    <a:lnTo>
                      <a:pt x="2534" y="2764"/>
                    </a:lnTo>
                    <a:lnTo>
                      <a:pt x="2605" y="2736"/>
                    </a:lnTo>
                    <a:lnTo>
                      <a:pt x="2666" y="2682"/>
                    </a:lnTo>
                    <a:lnTo>
                      <a:pt x="2718" y="2612"/>
                    </a:lnTo>
                    <a:lnTo>
                      <a:pt x="2752" y="2525"/>
                    </a:lnTo>
                    <a:lnTo>
                      <a:pt x="2773" y="2428"/>
                    </a:lnTo>
                    <a:lnTo>
                      <a:pt x="2777" y="2318"/>
                    </a:lnTo>
                    <a:lnTo>
                      <a:pt x="2765" y="2197"/>
                    </a:lnTo>
                    <a:lnTo>
                      <a:pt x="2398" y="243"/>
                    </a:lnTo>
                    <a:lnTo>
                      <a:pt x="2374" y="174"/>
                    </a:lnTo>
                    <a:lnTo>
                      <a:pt x="2338" y="10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25" name="Freeform 565"/>
              <p:cNvSpPr>
                <a:spLocks/>
              </p:cNvSpPr>
              <p:nvPr/>
            </p:nvSpPr>
            <p:spPr bwMode="auto">
              <a:xfrm>
                <a:off x="4434" y="3095"/>
                <a:ext cx="183" cy="187"/>
              </a:xfrm>
              <a:custGeom>
                <a:avLst/>
                <a:gdLst>
                  <a:gd name="T0" fmla="*/ 1806 w 2194"/>
                  <a:gd name="T1" fmla="*/ 71 h 2241"/>
                  <a:gd name="T2" fmla="*/ 0 w 2194"/>
                  <a:gd name="T3" fmla="*/ 0 h 2241"/>
                  <a:gd name="T4" fmla="*/ 427 w 2194"/>
                  <a:gd name="T5" fmla="*/ 2241 h 2241"/>
                  <a:gd name="T6" fmla="*/ 2194 w 2194"/>
                  <a:gd name="T7" fmla="*/ 2031 h 2241"/>
                  <a:gd name="T8" fmla="*/ 1806 w 2194"/>
                  <a:gd name="T9" fmla="*/ 71 h 2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4" h="2241">
                    <a:moveTo>
                      <a:pt x="1806" y="71"/>
                    </a:moveTo>
                    <a:lnTo>
                      <a:pt x="0" y="0"/>
                    </a:lnTo>
                    <a:lnTo>
                      <a:pt x="427" y="2241"/>
                    </a:lnTo>
                    <a:lnTo>
                      <a:pt x="2194" y="2031"/>
                    </a:lnTo>
                    <a:lnTo>
                      <a:pt x="1806" y="71"/>
                    </a:lnTo>
                    <a:close/>
                  </a:path>
                </a:pathLst>
              </a:custGeom>
              <a:solidFill>
                <a:srgbClr val="2A1F7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26" name="Freeform 566"/>
              <p:cNvSpPr>
                <a:spLocks/>
              </p:cNvSpPr>
              <p:nvPr/>
            </p:nvSpPr>
            <p:spPr bwMode="auto">
              <a:xfrm>
                <a:off x="4434" y="3095"/>
                <a:ext cx="183" cy="187"/>
              </a:xfrm>
              <a:custGeom>
                <a:avLst/>
                <a:gdLst>
                  <a:gd name="T0" fmla="*/ 1806 w 2194"/>
                  <a:gd name="T1" fmla="*/ 71 h 2241"/>
                  <a:gd name="T2" fmla="*/ 0 w 2194"/>
                  <a:gd name="T3" fmla="*/ 0 h 2241"/>
                  <a:gd name="T4" fmla="*/ 427 w 2194"/>
                  <a:gd name="T5" fmla="*/ 2241 h 2241"/>
                  <a:gd name="T6" fmla="*/ 2194 w 2194"/>
                  <a:gd name="T7" fmla="*/ 2031 h 2241"/>
                  <a:gd name="T8" fmla="*/ 1806 w 2194"/>
                  <a:gd name="T9" fmla="*/ 71 h 2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4" h="2241">
                    <a:moveTo>
                      <a:pt x="1806" y="71"/>
                    </a:moveTo>
                    <a:lnTo>
                      <a:pt x="0" y="0"/>
                    </a:lnTo>
                    <a:lnTo>
                      <a:pt x="427" y="2241"/>
                    </a:lnTo>
                    <a:lnTo>
                      <a:pt x="2194" y="2031"/>
                    </a:lnTo>
                    <a:lnTo>
                      <a:pt x="1806" y="71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27" name="Freeform 567"/>
              <p:cNvSpPr>
                <a:spLocks/>
              </p:cNvSpPr>
              <p:nvPr/>
            </p:nvSpPr>
            <p:spPr bwMode="auto">
              <a:xfrm>
                <a:off x="4435" y="3103"/>
                <a:ext cx="172" cy="171"/>
              </a:xfrm>
              <a:custGeom>
                <a:avLst/>
                <a:gdLst>
                  <a:gd name="T0" fmla="*/ 1714 w 2059"/>
                  <a:gd name="T1" fmla="*/ 56 h 2060"/>
                  <a:gd name="T2" fmla="*/ 0 w 2059"/>
                  <a:gd name="T3" fmla="*/ 0 h 2060"/>
                  <a:gd name="T4" fmla="*/ 397 w 2059"/>
                  <a:gd name="T5" fmla="*/ 2060 h 2060"/>
                  <a:gd name="T6" fmla="*/ 2059 w 2059"/>
                  <a:gd name="T7" fmla="*/ 1881 h 2060"/>
                  <a:gd name="T8" fmla="*/ 1714 w 2059"/>
                  <a:gd name="T9" fmla="*/ 56 h 20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59" h="2060">
                    <a:moveTo>
                      <a:pt x="1714" y="56"/>
                    </a:moveTo>
                    <a:lnTo>
                      <a:pt x="0" y="0"/>
                    </a:lnTo>
                    <a:lnTo>
                      <a:pt x="397" y="2060"/>
                    </a:lnTo>
                    <a:lnTo>
                      <a:pt x="2059" y="1881"/>
                    </a:lnTo>
                    <a:lnTo>
                      <a:pt x="1714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28" name="Freeform 568"/>
              <p:cNvSpPr>
                <a:spLocks/>
              </p:cNvSpPr>
              <p:nvPr/>
            </p:nvSpPr>
            <p:spPr bwMode="auto">
              <a:xfrm>
                <a:off x="4435" y="3103"/>
                <a:ext cx="172" cy="171"/>
              </a:xfrm>
              <a:custGeom>
                <a:avLst/>
                <a:gdLst>
                  <a:gd name="T0" fmla="*/ 1714 w 2059"/>
                  <a:gd name="T1" fmla="*/ 56 h 2060"/>
                  <a:gd name="T2" fmla="*/ 0 w 2059"/>
                  <a:gd name="T3" fmla="*/ 0 h 2060"/>
                  <a:gd name="T4" fmla="*/ 397 w 2059"/>
                  <a:gd name="T5" fmla="*/ 2060 h 2060"/>
                  <a:gd name="T6" fmla="*/ 2059 w 2059"/>
                  <a:gd name="T7" fmla="*/ 1881 h 2060"/>
                  <a:gd name="T8" fmla="*/ 1714 w 2059"/>
                  <a:gd name="T9" fmla="*/ 56 h 20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59" h="2060">
                    <a:moveTo>
                      <a:pt x="1714" y="56"/>
                    </a:moveTo>
                    <a:lnTo>
                      <a:pt x="0" y="0"/>
                    </a:lnTo>
                    <a:lnTo>
                      <a:pt x="397" y="2060"/>
                    </a:lnTo>
                    <a:lnTo>
                      <a:pt x="2059" y="1881"/>
                    </a:lnTo>
                    <a:lnTo>
                      <a:pt x="1714" y="56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29" name="Freeform 569"/>
              <p:cNvSpPr>
                <a:spLocks/>
              </p:cNvSpPr>
              <p:nvPr/>
            </p:nvSpPr>
            <p:spPr bwMode="auto">
              <a:xfrm>
                <a:off x="4545" y="3211"/>
                <a:ext cx="23" cy="29"/>
              </a:xfrm>
              <a:custGeom>
                <a:avLst/>
                <a:gdLst>
                  <a:gd name="T0" fmla="*/ 215 w 275"/>
                  <a:gd name="T1" fmla="*/ 0 h 357"/>
                  <a:gd name="T2" fmla="*/ 0 w 275"/>
                  <a:gd name="T3" fmla="*/ 14 h 357"/>
                  <a:gd name="T4" fmla="*/ 51 w 275"/>
                  <a:gd name="T5" fmla="*/ 357 h 357"/>
                  <a:gd name="T6" fmla="*/ 275 w 275"/>
                  <a:gd name="T7" fmla="*/ 338 h 357"/>
                  <a:gd name="T8" fmla="*/ 215 w 275"/>
                  <a:gd name="T9" fmla="*/ 0 h 3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5" h="357">
                    <a:moveTo>
                      <a:pt x="215" y="0"/>
                    </a:moveTo>
                    <a:lnTo>
                      <a:pt x="0" y="14"/>
                    </a:lnTo>
                    <a:lnTo>
                      <a:pt x="51" y="357"/>
                    </a:lnTo>
                    <a:lnTo>
                      <a:pt x="275" y="338"/>
                    </a:lnTo>
                    <a:lnTo>
                      <a:pt x="215" y="0"/>
                    </a:lnTo>
                    <a:close/>
                  </a:path>
                </a:pathLst>
              </a:custGeom>
              <a:solidFill>
                <a:srgbClr val="DA27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30" name="Freeform 570"/>
              <p:cNvSpPr>
                <a:spLocks/>
              </p:cNvSpPr>
              <p:nvPr/>
            </p:nvSpPr>
            <p:spPr bwMode="auto">
              <a:xfrm>
                <a:off x="4545" y="3211"/>
                <a:ext cx="23" cy="29"/>
              </a:xfrm>
              <a:custGeom>
                <a:avLst/>
                <a:gdLst>
                  <a:gd name="T0" fmla="*/ 215 w 275"/>
                  <a:gd name="T1" fmla="*/ 0 h 357"/>
                  <a:gd name="T2" fmla="*/ 0 w 275"/>
                  <a:gd name="T3" fmla="*/ 14 h 357"/>
                  <a:gd name="T4" fmla="*/ 51 w 275"/>
                  <a:gd name="T5" fmla="*/ 357 h 357"/>
                  <a:gd name="T6" fmla="*/ 275 w 275"/>
                  <a:gd name="T7" fmla="*/ 338 h 357"/>
                  <a:gd name="T8" fmla="*/ 215 w 275"/>
                  <a:gd name="T9" fmla="*/ 0 h 3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5" h="357">
                    <a:moveTo>
                      <a:pt x="215" y="0"/>
                    </a:moveTo>
                    <a:lnTo>
                      <a:pt x="0" y="14"/>
                    </a:lnTo>
                    <a:lnTo>
                      <a:pt x="51" y="357"/>
                    </a:lnTo>
                    <a:lnTo>
                      <a:pt x="275" y="338"/>
                    </a:lnTo>
                    <a:lnTo>
                      <a:pt x="215" y="0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31" name="Freeform 571"/>
              <p:cNvSpPr>
                <a:spLocks/>
              </p:cNvSpPr>
              <p:nvPr/>
            </p:nvSpPr>
            <p:spPr bwMode="auto">
              <a:xfrm>
                <a:off x="4502" y="3180"/>
                <a:ext cx="30" cy="63"/>
              </a:xfrm>
              <a:custGeom>
                <a:avLst/>
                <a:gdLst>
                  <a:gd name="T0" fmla="*/ 216 w 360"/>
                  <a:gd name="T1" fmla="*/ 0 h 762"/>
                  <a:gd name="T2" fmla="*/ 0 w 360"/>
                  <a:gd name="T3" fmla="*/ 8 h 762"/>
                  <a:gd name="T4" fmla="*/ 134 w 360"/>
                  <a:gd name="T5" fmla="*/ 762 h 762"/>
                  <a:gd name="T6" fmla="*/ 360 w 360"/>
                  <a:gd name="T7" fmla="*/ 743 h 762"/>
                  <a:gd name="T8" fmla="*/ 216 w 360"/>
                  <a:gd name="T9" fmla="*/ 0 h 7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0" h="762">
                    <a:moveTo>
                      <a:pt x="216" y="0"/>
                    </a:moveTo>
                    <a:lnTo>
                      <a:pt x="0" y="8"/>
                    </a:lnTo>
                    <a:lnTo>
                      <a:pt x="134" y="762"/>
                    </a:lnTo>
                    <a:lnTo>
                      <a:pt x="360" y="743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009F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32" name="Freeform 572"/>
              <p:cNvSpPr>
                <a:spLocks/>
              </p:cNvSpPr>
              <p:nvPr/>
            </p:nvSpPr>
            <p:spPr bwMode="auto">
              <a:xfrm>
                <a:off x="4502" y="3180"/>
                <a:ext cx="30" cy="63"/>
              </a:xfrm>
              <a:custGeom>
                <a:avLst/>
                <a:gdLst>
                  <a:gd name="T0" fmla="*/ 216 w 360"/>
                  <a:gd name="T1" fmla="*/ 0 h 762"/>
                  <a:gd name="T2" fmla="*/ 0 w 360"/>
                  <a:gd name="T3" fmla="*/ 8 h 762"/>
                  <a:gd name="T4" fmla="*/ 134 w 360"/>
                  <a:gd name="T5" fmla="*/ 762 h 762"/>
                  <a:gd name="T6" fmla="*/ 360 w 360"/>
                  <a:gd name="T7" fmla="*/ 743 h 762"/>
                  <a:gd name="T8" fmla="*/ 216 w 360"/>
                  <a:gd name="T9" fmla="*/ 0 h 7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0" h="762">
                    <a:moveTo>
                      <a:pt x="216" y="0"/>
                    </a:moveTo>
                    <a:lnTo>
                      <a:pt x="0" y="8"/>
                    </a:lnTo>
                    <a:lnTo>
                      <a:pt x="134" y="762"/>
                    </a:lnTo>
                    <a:lnTo>
                      <a:pt x="360" y="743"/>
                    </a:lnTo>
                    <a:lnTo>
                      <a:pt x="216" y="0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33" name="Freeform 573"/>
              <p:cNvSpPr>
                <a:spLocks/>
              </p:cNvSpPr>
              <p:nvPr/>
            </p:nvSpPr>
            <p:spPr bwMode="auto">
              <a:xfrm>
                <a:off x="4473" y="3205"/>
                <a:ext cx="25" cy="41"/>
              </a:xfrm>
              <a:custGeom>
                <a:avLst/>
                <a:gdLst>
                  <a:gd name="T0" fmla="*/ 220 w 311"/>
                  <a:gd name="T1" fmla="*/ 0 h 496"/>
                  <a:gd name="T2" fmla="*/ 0 w 311"/>
                  <a:gd name="T3" fmla="*/ 11 h 496"/>
                  <a:gd name="T4" fmla="*/ 88 w 311"/>
                  <a:gd name="T5" fmla="*/ 496 h 496"/>
                  <a:gd name="T6" fmla="*/ 311 w 311"/>
                  <a:gd name="T7" fmla="*/ 474 h 496"/>
                  <a:gd name="T8" fmla="*/ 220 w 311"/>
                  <a:gd name="T9" fmla="*/ 0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1" h="496">
                    <a:moveTo>
                      <a:pt x="220" y="0"/>
                    </a:moveTo>
                    <a:lnTo>
                      <a:pt x="0" y="11"/>
                    </a:lnTo>
                    <a:lnTo>
                      <a:pt x="88" y="496"/>
                    </a:lnTo>
                    <a:lnTo>
                      <a:pt x="311" y="474"/>
                    </a:lnTo>
                    <a:lnTo>
                      <a:pt x="220" y="0"/>
                    </a:lnTo>
                    <a:close/>
                  </a:path>
                </a:pathLst>
              </a:custGeom>
              <a:solidFill>
                <a:srgbClr val="16AD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34" name="Freeform 574"/>
              <p:cNvSpPr>
                <a:spLocks/>
              </p:cNvSpPr>
              <p:nvPr/>
            </p:nvSpPr>
            <p:spPr bwMode="auto">
              <a:xfrm>
                <a:off x="4473" y="3205"/>
                <a:ext cx="25" cy="41"/>
              </a:xfrm>
              <a:custGeom>
                <a:avLst/>
                <a:gdLst>
                  <a:gd name="T0" fmla="*/ 220 w 311"/>
                  <a:gd name="T1" fmla="*/ 0 h 496"/>
                  <a:gd name="T2" fmla="*/ 0 w 311"/>
                  <a:gd name="T3" fmla="*/ 11 h 496"/>
                  <a:gd name="T4" fmla="*/ 88 w 311"/>
                  <a:gd name="T5" fmla="*/ 496 h 496"/>
                  <a:gd name="T6" fmla="*/ 311 w 311"/>
                  <a:gd name="T7" fmla="*/ 474 h 496"/>
                  <a:gd name="T8" fmla="*/ 220 w 311"/>
                  <a:gd name="T9" fmla="*/ 0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1" h="496">
                    <a:moveTo>
                      <a:pt x="220" y="0"/>
                    </a:moveTo>
                    <a:lnTo>
                      <a:pt x="0" y="11"/>
                    </a:lnTo>
                    <a:lnTo>
                      <a:pt x="88" y="496"/>
                    </a:lnTo>
                    <a:lnTo>
                      <a:pt x="311" y="474"/>
                    </a:lnTo>
                    <a:lnTo>
                      <a:pt x="220" y="0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35" name="Freeform 575"/>
              <p:cNvSpPr>
                <a:spLocks/>
              </p:cNvSpPr>
              <p:nvPr/>
            </p:nvSpPr>
            <p:spPr bwMode="auto">
              <a:xfrm>
                <a:off x="4189" y="3068"/>
                <a:ext cx="256" cy="269"/>
              </a:xfrm>
              <a:custGeom>
                <a:avLst/>
                <a:gdLst>
                  <a:gd name="T0" fmla="*/ 0 w 3076"/>
                  <a:gd name="T1" fmla="*/ 1259 h 3225"/>
                  <a:gd name="T2" fmla="*/ 0 w 3076"/>
                  <a:gd name="T3" fmla="*/ 2244 h 3225"/>
                  <a:gd name="T4" fmla="*/ 711 w 3076"/>
                  <a:gd name="T5" fmla="*/ 2382 h 3225"/>
                  <a:gd name="T6" fmla="*/ 745 w 3076"/>
                  <a:gd name="T7" fmla="*/ 3219 h 3225"/>
                  <a:gd name="T8" fmla="*/ 1942 w 3076"/>
                  <a:gd name="T9" fmla="*/ 3225 h 3225"/>
                  <a:gd name="T10" fmla="*/ 2704 w 3076"/>
                  <a:gd name="T11" fmla="*/ 3225 h 3225"/>
                  <a:gd name="T12" fmla="*/ 2789 w 3076"/>
                  <a:gd name="T13" fmla="*/ 3202 h 3225"/>
                  <a:gd name="T14" fmla="*/ 2867 w 3076"/>
                  <a:gd name="T15" fmla="*/ 3153 h 3225"/>
                  <a:gd name="T16" fmla="*/ 2934 w 3076"/>
                  <a:gd name="T17" fmla="*/ 3077 h 3225"/>
                  <a:gd name="T18" fmla="*/ 2992 w 3076"/>
                  <a:gd name="T19" fmla="*/ 2982 h 3225"/>
                  <a:gd name="T20" fmla="*/ 3036 w 3076"/>
                  <a:gd name="T21" fmla="*/ 2872 h 3225"/>
                  <a:gd name="T22" fmla="*/ 3064 w 3076"/>
                  <a:gd name="T23" fmla="*/ 2760 h 3225"/>
                  <a:gd name="T24" fmla="*/ 3076 w 3076"/>
                  <a:gd name="T25" fmla="*/ 2649 h 3225"/>
                  <a:gd name="T26" fmla="*/ 3070 w 3076"/>
                  <a:gd name="T27" fmla="*/ 2549 h 3225"/>
                  <a:gd name="T28" fmla="*/ 2643 w 3076"/>
                  <a:gd name="T29" fmla="*/ 264 h 3225"/>
                  <a:gd name="T30" fmla="*/ 2608 w 3076"/>
                  <a:gd name="T31" fmla="*/ 184 h 3225"/>
                  <a:gd name="T32" fmla="*/ 2571 w 3076"/>
                  <a:gd name="T33" fmla="*/ 101 h 3225"/>
                  <a:gd name="T34" fmla="*/ 2507 w 3076"/>
                  <a:gd name="T35" fmla="*/ 35 h 3225"/>
                  <a:gd name="T36" fmla="*/ 2413 w 3076"/>
                  <a:gd name="T37" fmla="*/ 0 h 3225"/>
                  <a:gd name="T38" fmla="*/ 636 w 3076"/>
                  <a:gd name="T39" fmla="*/ 281 h 3225"/>
                  <a:gd name="T40" fmla="*/ 653 w 3076"/>
                  <a:gd name="T41" fmla="*/ 988 h 3225"/>
                  <a:gd name="T42" fmla="*/ 0 w 3076"/>
                  <a:gd name="T43" fmla="*/ 1259 h 32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076" h="3225">
                    <a:moveTo>
                      <a:pt x="0" y="1259"/>
                    </a:moveTo>
                    <a:lnTo>
                      <a:pt x="0" y="2244"/>
                    </a:lnTo>
                    <a:lnTo>
                      <a:pt x="711" y="2382"/>
                    </a:lnTo>
                    <a:lnTo>
                      <a:pt x="745" y="3219"/>
                    </a:lnTo>
                    <a:lnTo>
                      <a:pt x="1942" y="3225"/>
                    </a:lnTo>
                    <a:lnTo>
                      <a:pt x="2704" y="3225"/>
                    </a:lnTo>
                    <a:lnTo>
                      <a:pt x="2789" y="3202"/>
                    </a:lnTo>
                    <a:lnTo>
                      <a:pt x="2867" y="3153"/>
                    </a:lnTo>
                    <a:lnTo>
                      <a:pt x="2934" y="3077"/>
                    </a:lnTo>
                    <a:lnTo>
                      <a:pt x="2992" y="2982"/>
                    </a:lnTo>
                    <a:lnTo>
                      <a:pt x="3036" y="2872"/>
                    </a:lnTo>
                    <a:lnTo>
                      <a:pt x="3064" y="2760"/>
                    </a:lnTo>
                    <a:lnTo>
                      <a:pt x="3076" y="2649"/>
                    </a:lnTo>
                    <a:lnTo>
                      <a:pt x="3070" y="2549"/>
                    </a:lnTo>
                    <a:lnTo>
                      <a:pt x="2643" y="264"/>
                    </a:lnTo>
                    <a:lnTo>
                      <a:pt x="2608" y="184"/>
                    </a:lnTo>
                    <a:lnTo>
                      <a:pt x="2571" y="101"/>
                    </a:lnTo>
                    <a:lnTo>
                      <a:pt x="2507" y="35"/>
                    </a:lnTo>
                    <a:lnTo>
                      <a:pt x="2413" y="0"/>
                    </a:lnTo>
                    <a:lnTo>
                      <a:pt x="636" y="281"/>
                    </a:lnTo>
                    <a:lnTo>
                      <a:pt x="653" y="988"/>
                    </a:lnTo>
                    <a:lnTo>
                      <a:pt x="0" y="1259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36" name="Freeform 576"/>
              <p:cNvSpPr>
                <a:spLocks/>
              </p:cNvSpPr>
              <p:nvPr/>
            </p:nvSpPr>
            <p:spPr bwMode="auto">
              <a:xfrm>
                <a:off x="4189" y="3068"/>
                <a:ext cx="256" cy="269"/>
              </a:xfrm>
              <a:custGeom>
                <a:avLst/>
                <a:gdLst>
                  <a:gd name="T0" fmla="*/ 0 w 3076"/>
                  <a:gd name="T1" fmla="*/ 1259 h 3225"/>
                  <a:gd name="T2" fmla="*/ 0 w 3076"/>
                  <a:gd name="T3" fmla="*/ 2244 h 3225"/>
                  <a:gd name="T4" fmla="*/ 711 w 3076"/>
                  <a:gd name="T5" fmla="*/ 2382 h 3225"/>
                  <a:gd name="T6" fmla="*/ 745 w 3076"/>
                  <a:gd name="T7" fmla="*/ 3219 h 3225"/>
                  <a:gd name="T8" fmla="*/ 1942 w 3076"/>
                  <a:gd name="T9" fmla="*/ 3225 h 3225"/>
                  <a:gd name="T10" fmla="*/ 2704 w 3076"/>
                  <a:gd name="T11" fmla="*/ 3225 h 3225"/>
                  <a:gd name="T12" fmla="*/ 2789 w 3076"/>
                  <a:gd name="T13" fmla="*/ 3202 h 3225"/>
                  <a:gd name="T14" fmla="*/ 2867 w 3076"/>
                  <a:gd name="T15" fmla="*/ 3153 h 3225"/>
                  <a:gd name="T16" fmla="*/ 2934 w 3076"/>
                  <a:gd name="T17" fmla="*/ 3077 h 3225"/>
                  <a:gd name="T18" fmla="*/ 2992 w 3076"/>
                  <a:gd name="T19" fmla="*/ 2982 h 3225"/>
                  <a:gd name="T20" fmla="*/ 3036 w 3076"/>
                  <a:gd name="T21" fmla="*/ 2872 h 3225"/>
                  <a:gd name="T22" fmla="*/ 3064 w 3076"/>
                  <a:gd name="T23" fmla="*/ 2760 h 3225"/>
                  <a:gd name="T24" fmla="*/ 3076 w 3076"/>
                  <a:gd name="T25" fmla="*/ 2649 h 3225"/>
                  <a:gd name="T26" fmla="*/ 3070 w 3076"/>
                  <a:gd name="T27" fmla="*/ 2549 h 3225"/>
                  <a:gd name="T28" fmla="*/ 2643 w 3076"/>
                  <a:gd name="T29" fmla="*/ 264 h 3225"/>
                  <a:gd name="T30" fmla="*/ 2608 w 3076"/>
                  <a:gd name="T31" fmla="*/ 184 h 3225"/>
                  <a:gd name="T32" fmla="*/ 2571 w 3076"/>
                  <a:gd name="T33" fmla="*/ 101 h 3225"/>
                  <a:gd name="T34" fmla="*/ 2507 w 3076"/>
                  <a:gd name="T35" fmla="*/ 35 h 3225"/>
                  <a:gd name="T36" fmla="*/ 2413 w 3076"/>
                  <a:gd name="T37" fmla="*/ 0 h 3225"/>
                  <a:gd name="T38" fmla="*/ 636 w 3076"/>
                  <a:gd name="T39" fmla="*/ 281 h 3225"/>
                  <a:gd name="T40" fmla="*/ 653 w 3076"/>
                  <a:gd name="T41" fmla="*/ 988 h 3225"/>
                  <a:gd name="T42" fmla="*/ 0 w 3076"/>
                  <a:gd name="T43" fmla="*/ 1259 h 32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076" h="3225">
                    <a:moveTo>
                      <a:pt x="0" y="1259"/>
                    </a:moveTo>
                    <a:lnTo>
                      <a:pt x="0" y="2244"/>
                    </a:lnTo>
                    <a:lnTo>
                      <a:pt x="711" y="2382"/>
                    </a:lnTo>
                    <a:lnTo>
                      <a:pt x="745" y="3219"/>
                    </a:lnTo>
                    <a:lnTo>
                      <a:pt x="1942" y="3225"/>
                    </a:lnTo>
                    <a:lnTo>
                      <a:pt x="2704" y="3225"/>
                    </a:lnTo>
                    <a:lnTo>
                      <a:pt x="2789" y="3202"/>
                    </a:lnTo>
                    <a:lnTo>
                      <a:pt x="2867" y="3153"/>
                    </a:lnTo>
                    <a:lnTo>
                      <a:pt x="2934" y="3077"/>
                    </a:lnTo>
                    <a:lnTo>
                      <a:pt x="2992" y="2982"/>
                    </a:lnTo>
                    <a:lnTo>
                      <a:pt x="3036" y="2872"/>
                    </a:lnTo>
                    <a:lnTo>
                      <a:pt x="3064" y="2760"/>
                    </a:lnTo>
                    <a:lnTo>
                      <a:pt x="3076" y="2649"/>
                    </a:lnTo>
                    <a:lnTo>
                      <a:pt x="3070" y="2549"/>
                    </a:lnTo>
                    <a:lnTo>
                      <a:pt x="2643" y="264"/>
                    </a:lnTo>
                    <a:lnTo>
                      <a:pt x="2608" y="184"/>
                    </a:lnTo>
                    <a:lnTo>
                      <a:pt x="2571" y="101"/>
                    </a:lnTo>
                    <a:lnTo>
                      <a:pt x="2507" y="35"/>
                    </a:lnTo>
                    <a:lnTo>
                      <a:pt x="2413" y="0"/>
                    </a:lnTo>
                    <a:lnTo>
                      <a:pt x="636" y="281"/>
                    </a:lnTo>
                    <a:lnTo>
                      <a:pt x="653" y="988"/>
                    </a:lnTo>
                    <a:lnTo>
                      <a:pt x="0" y="1259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37" name="Rectangle 577"/>
              <p:cNvSpPr>
                <a:spLocks noChangeArrowheads="1"/>
              </p:cNvSpPr>
              <p:nvPr/>
            </p:nvSpPr>
            <p:spPr bwMode="auto">
              <a:xfrm>
                <a:off x="4549" y="3556"/>
                <a:ext cx="26" cy="323"/>
              </a:xfrm>
              <a:prstGeom prst="rect">
                <a:avLst/>
              </a:prstGeom>
              <a:solidFill>
                <a:srgbClr val="ABAD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38" name="Rectangle 578"/>
              <p:cNvSpPr>
                <a:spLocks noChangeArrowheads="1"/>
              </p:cNvSpPr>
              <p:nvPr/>
            </p:nvSpPr>
            <p:spPr bwMode="auto">
              <a:xfrm>
                <a:off x="4549" y="3556"/>
                <a:ext cx="26" cy="323"/>
              </a:xfrm>
              <a:prstGeom prst="rect">
                <a:avLst/>
              </a:prstGeom>
              <a:noFill/>
              <a:ln w="1588">
                <a:solidFill>
                  <a:srgbClr val="13151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39" name="Rectangle 579"/>
              <p:cNvSpPr>
                <a:spLocks noChangeArrowheads="1"/>
              </p:cNvSpPr>
              <p:nvPr/>
            </p:nvSpPr>
            <p:spPr bwMode="auto">
              <a:xfrm>
                <a:off x="4571" y="3555"/>
                <a:ext cx="14" cy="324"/>
              </a:xfrm>
              <a:prstGeom prst="rect">
                <a:avLst/>
              </a:prstGeom>
              <a:solidFill>
                <a:srgbClr val="1315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40" name="Rectangle 580"/>
              <p:cNvSpPr>
                <a:spLocks noChangeArrowheads="1"/>
              </p:cNvSpPr>
              <p:nvPr/>
            </p:nvSpPr>
            <p:spPr bwMode="auto">
              <a:xfrm>
                <a:off x="4571" y="3555"/>
                <a:ext cx="14" cy="324"/>
              </a:xfrm>
              <a:prstGeom prst="rect">
                <a:avLst/>
              </a:prstGeom>
              <a:noFill/>
              <a:ln w="1588">
                <a:solidFill>
                  <a:srgbClr val="13151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41" name="Line 581"/>
              <p:cNvSpPr>
                <a:spLocks noChangeShapeType="1"/>
              </p:cNvSpPr>
              <p:nvPr/>
            </p:nvSpPr>
            <p:spPr bwMode="auto">
              <a:xfrm>
                <a:off x="4243" y="3150"/>
                <a:ext cx="6" cy="115"/>
              </a:xfrm>
              <a:prstGeom prst="line">
                <a:avLst/>
              </a:prstGeom>
              <a:noFill/>
              <a:ln w="1588">
                <a:solidFill>
                  <a:srgbClr val="13151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42" name="Freeform 582"/>
              <p:cNvSpPr>
                <a:spLocks/>
              </p:cNvSpPr>
              <p:nvPr/>
            </p:nvSpPr>
            <p:spPr bwMode="auto">
              <a:xfrm>
                <a:off x="4552" y="3388"/>
                <a:ext cx="340" cy="104"/>
              </a:xfrm>
              <a:custGeom>
                <a:avLst/>
                <a:gdLst>
                  <a:gd name="T0" fmla="*/ 1672 w 4076"/>
                  <a:gd name="T1" fmla="*/ 1252 h 1252"/>
                  <a:gd name="T2" fmla="*/ 4014 w 4076"/>
                  <a:gd name="T3" fmla="*/ 447 h 1252"/>
                  <a:gd name="T4" fmla="*/ 4076 w 4076"/>
                  <a:gd name="T5" fmla="*/ 344 h 1252"/>
                  <a:gd name="T6" fmla="*/ 2614 w 4076"/>
                  <a:gd name="T7" fmla="*/ 0 h 1252"/>
                  <a:gd name="T8" fmla="*/ 0 w 4076"/>
                  <a:gd name="T9" fmla="*/ 704 h 1252"/>
                  <a:gd name="T10" fmla="*/ 1672 w 4076"/>
                  <a:gd name="T11" fmla="*/ 1252 h 1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076" h="1252">
                    <a:moveTo>
                      <a:pt x="1672" y="1252"/>
                    </a:moveTo>
                    <a:lnTo>
                      <a:pt x="4014" y="447"/>
                    </a:lnTo>
                    <a:lnTo>
                      <a:pt x="4076" y="344"/>
                    </a:lnTo>
                    <a:lnTo>
                      <a:pt x="2614" y="0"/>
                    </a:lnTo>
                    <a:lnTo>
                      <a:pt x="0" y="704"/>
                    </a:lnTo>
                    <a:lnTo>
                      <a:pt x="1672" y="125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43" name="Freeform 583"/>
              <p:cNvSpPr>
                <a:spLocks/>
              </p:cNvSpPr>
              <p:nvPr/>
            </p:nvSpPr>
            <p:spPr bwMode="auto">
              <a:xfrm>
                <a:off x="4552" y="3388"/>
                <a:ext cx="340" cy="104"/>
              </a:xfrm>
              <a:custGeom>
                <a:avLst/>
                <a:gdLst>
                  <a:gd name="T0" fmla="*/ 1672 w 4076"/>
                  <a:gd name="T1" fmla="*/ 1252 h 1252"/>
                  <a:gd name="T2" fmla="*/ 4014 w 4076"/>
                  <a:gd name="T3" fmla="*/ 447 h 1252"/>
                  <a:gd name="T4" fmla="*/ 4076 w 4076"/>
                  <a:gd name="T5" fmla="*/ 344 h 1252"/>
                  <a:gd name="T6" fmla="*/ 2614 w 4076"/>
                  <a:gd name="T7" fmla="*/ 0 h 1252"/>
                  <a:gd name="T8" fmla="*/ 0 w 4076"/>
                  <a:gd name="T9" fmla="*/ 704 h 1252"/>
                  <a:gd name="T10" fmla="*/ 1672 w 4076"/>
                  <a:gd name="T11" fmla="*/ 1252 h 1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076" h="1252">
                    <a:moveTo>
                      <a:pt x="1672" y="1252"/>
                    </a:moveTo>
                    <a:lnTo>
                      <a:pt x="4014" y="447"/>
                    </a:lnTo>
                    <a:lnTo>
                      <a:pt x="4076" y="344"/>
                    </a:lnTo>
                    <a:lnTo>
                      <a:pt x="2614" y="0"/>
                    </a:lnTo>
                    <a:lnTo>
                      <a:pt x="0" y="704"/>
                    </a:lnTo>
                    <a:lnTo>
                      <a:pt x="1672" y="1252"/>
                    </a:lnTo>
                    <a:close/>
                  </a:path>
                </a:pathLst>
              </a:custGeom>
              <a:solidFill>
                <a:srgbClr val="EAEAEA"/>
              </a:solidFill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44" name="Freeform 584"/>
              <p:cNvSpPr>
                <a:spLocks/>
              </p:cNvSpPr>
              <p:nvPr/>
            </p:nvSpPr>
            <p:spPr bwMode="auto">
              <a:xfrm>
                <a:off x="4552" y="3446"/>
                <a:ext cx="140" cy="63"/>
              </a:xfrm>
              <a:custGeom>
                <a:avLst/>
                <a:gdLst>
                  <a:gd name="T0" fmla="*/ 0 w 1683"/>
                  <a:gd name="T1" fmla="*/ 0 h 755"/>
                  <a:gd name="T2" fmla="*/ 0 w 1683"/>
                  <a:gd name="T3" fmla="*/ 557 h 755"/>
                  <a:gd name="T4" fmla="*/ 1683 w 1683"/>
                  <a:gd name="T5" fmla="*/ 755 h 755"/>
                  <a:gd name="T6" fmla="*/ 1683 w 1683"/>
                  <a:gd name="T7" fmla="*/ 475 h 755"/>
                  <a:gd name="T8" fmla="*/ 0 w 1683"/>
                  <a:gd name="T9" fmla="*/ 0 h 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83" h="755">
                    <a:moveTo>
                      <a:pt x="0" y="0"/>
                    </a:moveTo>
                    <a:lnTo>
                      <a:pt x="0" y="557"/>
                    </a:lnTo>
                    <a:lnTo>
                      <a:pt x="1683" y="755"/>
                    </a:lnTo>
                    <a:lnTo>
                      <a:pt x="1683" y="4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45" name="Freeform 585"/>
              <p:cNvSpPr>
                <a:spLocks/>
              </p:cNvSpPr>
              <p:nvPr/>
            </p:nvSpPr>
            <p:spPr bwMode="auto">
              <a:xfrm>
                <a:off x="4552" y="3446"/>
                <a:ext cx="140" cy="63"/>
              </a:xfrm>
              <a:custGeom>
                <a:avLst/>
                <a:gdLst>
                  <a:gd name="T0" fmla="*/ 0 w 1683"/>
                  <a:gd name="T1" fmla="*/ 0 h 755"/>
                  <a:gd name="T2" fmla="*/ 0 w 1683"/>
                  <a:gd name="T3" fmla="*/ 557 h 755"/>
                  <a:gd name="T4" fmla="*/ 1683 w 1683"/>
                  <a:gd name="T5" fmla="*/ 755 h 755"/>
                  <a:gd name="T6" fmla="*/ 1683 w 1683"/>
                  <a:gd name="T7" fmla="*/ 475 h 755"/>
                  <a:gd name="T8" fmla="*/ 0 w 1683"/>
                  <a:gd name="T9" fmla="*/ 0 h 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83" h="755">
                    <a:moveTo>
                      <a:pt x="0" y="0"/>
                    </a:moveTo>
                    <a:lnTo>
                      <a:pt x="0" y="557"/>
                    </a:lnTo>
                    <a:lnTo>
                      <a:pt x="1683" y="755"/>
                    </a:lnTo>
                    <a:lnTo>
                      <a:pt x="1683" y="47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46" name="Freeform 586"/>
              <p:cNvSpPr>
                <a:spLocks/>
              </p:cNvSpPr>
              <p:nvPr/>
            </p:nvSpPr>
            <p:spPr bwMode="auto">
              <a:xfrm>
                <a:off x="4601" y="3403"/>
                <a:ext cx="244" cy="75"/>
              </a:xfrm>
              <a:custGeom>
                <a:avLst/>
                <a:gdLst>
                  <a:gd name="T0" fmla="*/ 1086 w 2922"/>
                  <a:gd name="T1" fmla="*/ 906 h 906"/>
                  <a:gd name="T2" fmla="*/ 0 w 2922"/>
                  <a:gd name="T3" fmla="*/ 608 h 906"/>
                  <a:gd name="T4" fmla="*/ 5 w 2922"/>
                  <a:gd name="T5" fmla="*/ 560 h 906"/>
                  <a:gd name="T6" fmla="*/ 1962 w 2922"/>
                  <a:gd name="T7" fmla="*/ 0 h 906"/>
                  <a:gd name="T8" fmla="*/ 2922 w 2922"/>
                  <a:gd name="T9" fmla="*/ 237 h 906"/>
                  <a:gd name="T10" fmla="*/ 2922 w 2922"/>
                  <a:gd name="T11" fmla="*/ 292 h 906"/>
                  <a:gd name="T12" fmla="*/ 1086 w 2922"/>
                  <a:gd name="T13" fmla="*/ 906 h 9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22" h="906">
                    <a:moveTo>
                      <a:pt x="1086" y="906"/>
                    </a:moveTo>
                    <a:lnTo>
                      <a:pt x="0" y="608"/>
                    </a:lnTo>
                    <a:lnTo>
                      <a:pt x="5" y="560"/>
                    </a:lnTo>
                    <a:lnTo>
                      <a:pt x="1962" y="0"/>
                    </a:lnTo>
                    <a:lnTo>
                      <a:pt x="2922" y="237"/>
                    </a:lnTo>
                    <a:lnTo>
                      <a:pt x="2922" y="292"/>
                    </a:lnTo>
                    <a:lnTo>
                      <a:pt x="1086" y="90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47" name="Freeform 587"/>
              <p:cNvSpPr>
                <a:spLocks/>
              </p:cNvSpPr>
              <p:nvPr/>
            </p:nvSpPr>
            <p:spPr bwMode="auto">
              <a:xfrm>
                <a:off x="4601" y="3403"/>
                <a:ext cx="244" cy="75"/>
              </a:xfrm>
              <a:custGeom>
                <a:avLst/>
                <a:gdLst>
                  <a:gd name="T0" fmla="*/ 1086 w 2922"/>
                  <a:gd name="T1" fmla="*/ 906 h 906"/>
                  <a:gd name="T2" fmla="*/ 0 w 2922"/>
                  <a:gd name="T3" fmla="*/ 608 h 906"/>
                  <a:gd name="T4" fmla="*/ 5 w 2922"/>
                  <a:gd name="T5" fmla="*/ 560 h 906"/>
                  <a:gd name="T6" fmla="*/ 1962 w 2922"/>
                  <a:gd name="T7" fmla="*/ 0 h 906"/>
                  <a:gd name="T8" fmla="*/ 2922 w 2922"/>
                  <a:gd name="T9" fmla="*/ 237 h 906"/>
                  <a:gd name="T10" fmla="*/ 2922 w 2922"/>
                  <a:gd name="T11" fmla="*/ 292 h 906"/>
                  <a:gd name="T12" fmla="*/ 1086 w 2922"/>
                  <a:gd name="T13" fmla="*/ 906 h 9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22" h="906">
                    <a:moveTo>
                      <a:pt x="1086" y="906"/>
                    </a:moveTo>
                    <a:lnTo>
                      <a:pt x="0" y="608"/>
                    </a:lnTo>
                    <a:lnTo>
                      <a:pt x="5" y="560"/>
                    </a:lnTo>
                    <a:lnTo>
                      <a:pt x="1962" y="0"/>
                    </a:lnTo>
                    <a:lnTo>
                      <a:pt x="2922" y="237"/>
                    </a:lnTo>
                    <a:lnTo>
                      <a:pt x="2922" y="292"/>
                    </a:lnTo>
                    <a:lnTo>
                      <a:pt x="1086" y="906"/>
                    </a:lnTo>
                    <a:close/>
                  </a:path>
                </a:pathLst>
              </a:custGeom>
              <a:solidFill>
                <a:srgbClr val="EAEAEA"/>
              </a:solidFill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48" name="Freeform 588"/>
              <p:cNvSpPr>
                <a:spLocks/>
              </p:cNvSpPr>
              <p:nvPr/>
            </p:nvSpPr>
            <p:spPr bwMode="auto">
              <a:xfrm>
                <a:off x="4811" y="3404"/>
                <a:ext cx="63" cy="19"/>
              </a:xfrm>
              <a:custGeom>
                <a:avLst/>
                <a:gdLst>
                  <a:gd name="T0" fmla="*/ 522 w 748"/>
                  <a:gd name="T1" fmla="*/ 233 h 233"/>
                  <a:gd name="T2" fmla="*/ 748 w 748"/>
                  <a:gd name="T3" fmla="*/ 159 h 233"/>
                  <a:gd name="T4" fmla="*/ 748 w 748"/>
                  <a:gd name="T5" fmla="*/ 130 h 233"/>
                  <a:gd name="T6" fmla="*/ 245 w 748"/>
                  <a:gd name="T7" fmla="*/ 0 h 233"/>
                  <a:gd name="T8" fmla="*/ 0 w 748"/>
                  <a:gd name="T9" fmla="*/ 73 h 233"/>
                  <a:gd name="T10" fmla="*/ 0 w 748"/>
                  <a:gd name="T11" fmla="*/ 109 h 233"/>
                  <a:gd name="T12" fmla="*/ 522 w 748"/>
                  <a:gd name="T13" fmla="*/ 233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48" h="233">
                    <a:moveTo>
                      <a:pt x="522" y="233"/>
                    </a:moveTo>
                    <a:lnTo>
                      <a:pt x="748" y="159"/>
                    </a:lnTo>
                    <a:lnTo>
                      <a:pt x="748" y="130"/>
                    </a:lnTo>
                    <a:lnTo>
                      <a:pt x="245" y="0"/>
                    </a:lnTo>
                    <a:lnTo>
                      <a:pt x="0" y="73"/>
                    </a:lnTo>
                    <a:lnTo>
                      <a:pt x="0" y="109"/>
                    </a:lnTo>
                    <a:lnTo>
                      <a:pt x="522" y="233"/>
                    </a:lnTo>
                    <a:close/>
                  </a:path>
                </a:pathLst>
              </a:custGeom>
              <a:solidFill>
                <a:srgbClr val="ABAD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49" name="Freeform 589"/>
              <p:cNvSpPr>
                <a:spLocks/>
              </p:cNvSpPr>
              <p:nvPr/>
            </p:nvSpPr>
            <p:spPr bwMode="auto">
              <a:xfrm>
                <a:off x="4811" y="3404"/>
                <a:ext cx="63" cy="19"/>
              </a:xfrm>
              <a:custGeom>
                <a:avLst/>
                <a:gdLst>
                  <a:gd name="T0" fmla="*/ 522 w 748"/>
                  <a:gd name="T1" fmla="*/ 233 h 233"/>
                  <a:gd name="T2" fmla="*/ 748 w 748"/>
                  <a:gd name="T3" fmla="*/ 159 h 233"/>
                  <a:gd name="T4" fmla="*/ 748 w 748"/>
                  <a:gd name="T5" fmla="*/ 130 h 233"/>
                  <a:gd name="T6" fmla="*/ 245 w 748"/>
                  <a:gd name="T7" fmla="*/ 0 h 233"/>
                  <a:gd name="T8" fmla="*/ 0 w 748"/>
                  <a:gd name="T9" fmla="*/ 73 h 233"/>
                  <a:gd name="T10" fmla="*/ 0 w 748"/>
                  <a:gd name="T11" fmla="*/ 109 h 233"/>
                  <a:gd name="T12" fmla="*/ 522 w 748"/>
                  <a:gd name="T13" fmla="*/ 233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48" h="233">
                    <a:moveTo>
                      <a:pt x="522" y="233"/>
                    </a:moveTo>
                    <a:lnTo>
                      <a:pt x="748" y="159"/>
                    </a:lnTo>
                    <a:lnTo>
                      <a:pt x="748" y="130"/>
                    </a:lnTo>
                    <a:lnTo>
                      <a:pt x="245" y="0"/>
                    </a:lnTo>
                    <a:lnTo>
                      <a:pt x="0" y="73"/>
                    </a:lnTo>
                    <a:lnTo>
                      <a:pt x="0" y="109"/>
                    </a:lnTo>
                    <a:lnTo>
                      <a:pt x="522" y="233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50" name="Freeform 590"/>
              <p:cNvSpPr>
                <a:spLocks/>
              </p:cNvSpPr>
              <p:nvPr/>
            </p:nvSpPr>
            <p:spPr bwMode="auto">
              <a:xfrm>
                <a:off x="4603" y="3397"/>
                <a:ext cx="149" cy="44"/>
              </a:xfrm>
              <a:custGeom>
                <a:avLst/>
                <a:gdLst>
                  <a:gd name="T0" fmla="*/ 0 w 1791"/>
                  <a:gd name="T1" fmla="*/ 487 h 524"/>
                  <a:gd name="T2" fmla="*/ 139 w 1791"/>
                  <a:gd name="T3" fmla="*/ 524 h 524"/>
                  <a:gd name="T4" fmla="*/ 1791 w 1791"/>
                  <a:gd name="T5" fmla="*/ 58 h 524"/>
                  <a:gd name="T6" fmla="*/ 1791 w 1791"/>
                  <a:gd name="T7" fmla="*/ 30 h 524"/>
                  <a:gd name="T8" fmla="*/ 1677 w 1791"/>
                  <a:gd name="T9" fmla="*/ 0 h 524"/>
                  <a:gd name="T10" fmla="*/ 0 w 1791"/>
                  <a:gd name="T11" fmla="*/ 451 h 524"/>
                  <a:gd name="T12" fmla="*/ 0 w 1791"/>
                  <a:gd name="T13" fmla="*/ 487 h 5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91" h="524">
                    <a:moveTo>
                      <a:pt x="0" y="487"/>
                    </a:moveTo>
                    <a:lnTo>
                      <a:pt x="139" y="524"/>
                    </a:lnTo>
                    <a:lnTo>
                      <a:pt x="1791" y="58"/>
                    </a:lnTo>
                    <a:lnTo>
                      <a:pt x="1791" y="30"/>
                    </a:lnTo>
                    <a:lnTo>
                      <a:pt x="1677" y="0"/>
                    </a:lnTo>
                    <a:lnTo>
                      <a:pt x="0" y="451"/>
                    </a:lnTo>
                    <a:lnTo>
                      <a:pt x="0" y="487"/>
                    </a:lnTo>
                    <a:close/>
                  </a:path>
                </a:pathLst>
              </a:custGeom>
              <a:solidFill>
                <a:srgbClr val="ABAD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51" name="Freeform 591"/>
              <p:cNvSpPr>
                <a:spLocks/>
              </p:cNvSpPr>
              <p:nvPr/>
            </p:nvSpPr>
            <p:spPr bwMode="auto">
              <a:xfrm>
                <a:off x="4603" y="3397"/>
                <a:ext cx="149" cy="44"/>
              </a:xfrm>
              <a:custGeom>
                <a:avLst/>
                <a:gdLst>
                  <a:gd name="T0" fmla="*/ 0 w 1791"/>
                  <a:gd name="T1" fmla="*/ 487 h 524"/>
                  <a:gd name="T2" fmla="*/ 139 w 1791"/>
                  <a:gd name="T3" fmla="*/ 524 h 524"/>
                  <a:gd name="T4" fmla="*/ 1791 w 1791"/>
                  <a:gd name="T5" fmla="*/ 58 h 524"/>
                  <a:gd name="T6" fmla="*/ 1791 w 1791"/>
                  <a:gd name="T7" fmla="*/ 30 h 524"/>
                  <a:gd name="T8" fmla="*/ 1677 w 1791"/>
                  <a:gd name="T9" fmla="*/ 0 h 524"/>
                  <a:gd name="T10" fmla="*/ 0 w 1791"/>
                  <a:gd name="T11" fmla="*/ 451 h 524"/>
                  <a:gd name="T12" fmla="*/ 0 w 1791"/>
                  <a:gd name="T13" fmla="*/ 487 h 5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91" h="524">
                    <a:moveTo>
                      <a:pt x="0" y="487"/>
                    </a:moveTo>
                    <a:lnTo>
                      <a:pt x="139" y="524"/>
                    </a:lnTo>
                    <a:lnTo>
                      <a:pt x="1791" y="58"/>
                    </a:lnTo>
                    <a:lnTo>
                      <a:pt x="1791" y="30"/>
                    </a:lnTo>
                    <a:lnTo>
                      <a:pt x="1677" y="0"/>
                    </a:lnTo>
                    <a:lnTo>
                      <a:pt x="0" y="451"/>
                    </a:lnTo>
                    <a:lnTo>
                      <a:pt x="0" y="487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52" name="Freeform 592"/>
              <p:cNvSpPr>
                <a:spLocks/>
              </p:cNvSpPr>
              <p:nvPr/>
            </p:nvSpPr>
            <p:spPr bwMode="auto">
              <a:xfrm>
                <a:off x="4692" y="3417"/>
                <a:ext cx="200" cy="92"/>
              </a:xfrm>
              <a:custGeom>
                <a:avLst/>
                <a:gdLst>
                  <a:gd name="T0" fmla="*/ 2404 w 2404"/>
                  <a:gd name="T1" fmla="*/ 0 h 1113"/>
                  <a:gd name="T2" fmla="*/ 0 w 2404"/>
                  <a:gd name="T3" fmla="*/ 838 h 1113"/>
                  <a:gd name="T4" fmla="*/ 0 w 2404"/>
                  <a:gd name="T5" fmla="*/ 1113 h 1113"/>
                  <a:gd name="T6" fmla="*/ 2404 w 2404"/>
                  <a:gd name="T7" fmla="*/ 236 h 1113"/>
                  <a:gd name="T8" fmla="*/ 2404 w 2404"/>
                  <a:gd name="T9" fmla="*/ 0 h 1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04" h="1113">
                    <a:moveTo>
                      <a:pt x="2404" y="0"/>
                    </a:moveTo>
                    <a:lnTo>
                      <a:pt x="0" y="838"/>
                    </a:lnTo>
                    <a:lnTo>
                      <a:pt x="0" y="1113"/>
                    </a:lnTo>
                    <a:lnTo>
                      <a:pt x="2404" y="236"/>
                    </a:lnTo>
                    <a:lnTo>
                      <a:pt x="2404" y="0"/>
                    </a:lnTo>
                    <a:close/>
                  </a:path>
                </a:pathLst>
              </a:custGeom>
              <a:solidFill>
                <a:srgbClr val="ABAD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53" name="Freeform 593"/>
              <p:cNvSpPr>
                <a:spLocks/>
              </p:cNvSpPr>
              <p:nvPr/>
            </p:nvSpPr>
            <p:spPr bwMode="auto">
              <a:xfrm>
                <a:off x="4692" y="3417"/>
                <a:ext cx="200" cy="92"/>
              </a:xfrm>
              <a:custGeom>
                <a:avLst/>
                <a:gdLst>
                  <a:gd name="T0" fmla="*/ 2404 w 2404"/>
                  <a:gd name="T1" fmla="*/ 0 h 1113"/>
                  <a:gd name="T2" fmla="*/ 0 w 2404"/>
                  <a:gd name="T3" fmla="*/ 838 h 1113"/>
                  <a:gd name="T4" fmla="*/ 0 w 2404"/>
                  <a:gd name="T5" fmla="*/ 1113 h 1113"/>
                  <a:gd name="T6" fmla="*/ 2404 w 2404"/>
                  <a:gd name="T7" fmla="*/ 236 h 1113"/>
                  <a:gd name="T8" fmla="*/ 2404 w 2404"/>
                  <a:gd name="T9" fmla="*/ 0 h 1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04" h="1113">
                    <a:moveTo>
                      <a:pt x="2404" y="0"/>
                    </a:moveTo>
                    <a:lnTo>
                      <a:pt x="0" y="838"/>
                    </a:lnTo>
                    <a:lnTo>
                      <a:pt x="0" y="1113"/>
                    </a:lnTo>
                    <a:lnTo>
                      <a:pt x="2404" y="236"/>
                    </a:lnTo>
                    <a:lnTo>
                      <a:pt x="2404" y="0"/>
                    </a:lnTo>
                    <a:close/>
                  </a:path>
                </a:pathLst>
              </a:custGeom>
              <a:solidFill>
                <a:srgbClr val="EAEAEA"/>
              </a:solidFill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54" name="Freeform 594"/>
              <p:cNvSpPr>
                <a:spLocks/>
              </p:cNvSpPr>
              <p:nvPr/>
            </p:nvSpPr>
            <p:spPr bwMode="auto">
              <a:xfrm>
                <a:off x="4603" y="3400"/>
                <a:ext cx="149" cy="38"/>
              </a:xfrm>
              <a:custGeom>
                <a:avLst/>
                <a:gdLst>
                  <a:gd name="T0" fmla="*/ 0 w 1785"/>
                  <a:gd name="T1" fmla="*/ 419 h 453"/>
                  <a:gd name="T2" fmla="*/ 137 w 1785"/>
                  <a:gd name="T3" fmla="*/ 453 h 453"/>
                  <a:gd name="T4" fmla="*/ 1785 w 1785"/>
                  <a:gd name="T5" fmla="*/ 0 h 4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85" h="453">
                    <a:moveTo>
                      <a:pt x="0" y="419"/>
                    </a:moveTo>
                    <a:lnTo>
                      <a:pt x="137" y="453"/>
                    </a:lnTo>
                    <a:lnTo>
                      <a:pt x="1785" y="0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55" name="Freeform 595"/>
              <p:cNvSpPr>
                <a:spLocks/>
              </p:cNvSpPr>
              <p:nvPr/>
            </p:nvSpPr>
            <p:spPr bwMode="auto">
              <a:xfrm>
                <a:off x="4617" y="3400"/>
                <a:ext cx="128" cy="37"/>
              </a:xfrm>
              <a:custGeom>
                <a:avLst/>
                <a:gdLst>
                  <a:gd name="T0" fmla="*/ 0 w 1528"/>
                  <a:gd name="T1" fmla="*/ 373 h 451"/>
                  <a:gd name="T2" fmla="*/ 134 w 1528"/>
                  <a:gd name="T3" fmla="*/ 414 h 451"/>
                  <a:gd name="T4" fmla="*/ 134 w 1528"/>
                  <a:gd name="T5" fmla="*/ 451 h 451"/>
                  <a:gd name="T6" fmla="*/ 276 w 1528"/>
                  <a:gd name="T7" fmla="*/ 409 h 451"/>
                  <a:gd name="T8" fmla="*/ 276 w 1528"/>
                  <a:gd name="T9" fmla="*/ 375 h 451"/>
                  <a:gd name="T10" fmla="*/ 146 w 1528"/>
                  <a:gd name="T11" fmla="*/ 334 h 451"/>
                  <a:gd name="T12" fmla="*/ 298 w 1528"/>
                  <a:gd name="T13" fmla="*/ 291 h 451"/>
                  <a:gd name="T14" fmla="*/ 452 w 1528"/>
                  <a:gd name="T15" fmla="*/ 326 h 451"/>
                  <a:gd name="T16" fmla="*/ 452 w 1528"/>
                  <a:gd name="T17" fmla="*/ 358 h 451"/>
                  <a:gd name="T18" fmla="*/ 578 w 1528"/>
                  <a:gd name="T19" fmla="*/ 321 h 451"/>
                  <a:gd name="T20" fmla="*/ 578 w 1528"/>
                  <a:gd name="T21" fmla="*/ 291 h 451"/>
                  <a:gd name="T22" fmla="*/ 438 w 1528"/>
                  <a:gd name="T23" fmla="*/ 256 h 451"/>
                  <a:gd name="T24" fmla="*/ 587 w 1528"/>
                  <a:gd name="T25" fmla="*/ 213 h 451"/>
                  <a:gd name="T26" fmla="*/ 728 w 1528"/>
                  <a:gd name="T27" fmla="*/ 244 h 451"/>
                  <a:gd name="T28" fmla="*/ 728 w 1528"/>
                  <a:gd name="T29" fmla="*/ 278 h 451"/>
                  <a:gd name="T30" fmla="*/ 888 w 1528"/>
                  <a:gd name="T31" fmla="*/ 235 h 451"/>
                  <a:gd name="T32" fmla="*/ 732 w 1528"/>
                  <a:gd name="T33" fmla="*/ 174 h 451"/>
                  <a:gd name="T34" fmla="*/ 878 w 1528"/>
                  <a:gd name="T35" fmla="*/ 137 h 451"/>
                  <a:gd name="T36" fmla="*/ 1022 w 1528"/>
                  <a:gd name="T37" fmla="*/ 166 h 451"/>
                  <a:gd name="T38" fmla="*/ 1022 w 1528"/>
                  <a:gd name="T39" fmla="*/ 197 h 451"/>
                  <a:gd name="T40" fmla="*/ 1147 w 1528"/>
                  <a:gd name="T41" fmla="*/ 161 h 451"/>
                  <a:gd name="T42" fmla="*/ 1147 w 1528"/>
                  <a:gd name="T43" fmla="*/ 130 h 451"/>
                  <a:gd name="T44" fmla="*/ 1003 w 1528"/>
                  <a:gd name="T45" fmla="*/ 103 h 451"/>
                  <a:gd name="T46" fmla="*/ 1145 w 1528"/>
                  <a:gd name="T47" fmla="*/ 68 h 451"/>
                  <a:gd name="T48" fmla="*/ 1284 w 1528"/>
                  <a:gd name="T49" fmla="*/ 91 h 451"/>
                  <a:gd name="T50" fmla="*/ 1284 w 1528"/>
                  <a:gd name="T51" fmla="*/ 119 h 451"/>
                  <a:gd name="T52" fmla="*/ 1415 w 1528"/>
                  <a:gd name="T53" fmla="*/ 87 h 451"/>
                  <a:gd name="T54" fmla="*/ 1415 w 1528"/>
                  <a:gd name="T55" fmla="*/ 58 h 451"/>
                  <a:gd name="T56" fmla="*/ 1268 w 1528"/>
                  <a:gd name="T57" fmla="*/ 29 h 451"/>
                  <a:gd name="T58" fmla="*/ 1389 w 1528"/>
                  <a:gd name="T59" fmla="*/ 0 h 451"/>
                  <a:gd name="T60" fmla="*/ 1528 w 1528"/>
                  <a:gd name="T61" fmla="*/ 28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28" h="451">
                    <a:moveTo>
                      <a:pt x="0" y="373"/>
                    </a:moveTo>
                    <a:lnTo>
                      <a:pt x="134" y="414"/>
                    </a:lnTo>
                    <a:lnTo>
                      <a:pt x="134" y="451"/>
                    </a:lnTo>
                    <a:lnTo>
                      <a:pt x="276" y="409"/>
                    </a:lnTo>
                    <a:lnTo>
                      <a:pt x="276" y="375"/>
                    </a:lnTo>
                    <a:lnTo>
                      <a:pt x="146" y="334"/>
                    </a:lnTo>
                    <a:lnTo>
                      <a:pt x="298" y="291"/>
                    </a:lnTo>
                    <a:lnTo>
                      <a:pt x="452" y="326"/>
                    </a:lnTo>
                    <a:lnTo>
                      <a:pt x="452" y="358"/>
                    </a:lnTo>
                    <a:lnTo>
                      <a:pt x="578" y="321"/>
                    </a:lnTo>
                    <a:lnTo>
                      <a:pt x="578" y="291"/>
                    </a:lnTo>
                    <a:lnTo>
                      <a:pt x="438" y="256"/>
                    </a:lnTo>
                    <a:lnTo>
                      <a:pt x="587" y="213"/>
                    </a:lnTo>
                    <a:lnTo>
                      <a:pt x="728" y="244"/>
                    </a:lnTo>
                    <a:lnTo>
                      <a:pt x="728" y="278"/>
                    </a:lnTo>
                    <a:lnTo>
                      <a:pt x="888" y="235"/>
                    </a:lnTo>
                    <a:lnTo>
                      <a:pt x="732" y="174"/>
                    </a:lnTo>
                    <a:lnTo>
                      <a:pt x="878" y="137"/>
                    </a:lnTo>
                    <a:lnTo>
                      <a:pt x="1022" y="166"/>
                    </a:lnTo>
                    <a:lnTo>
                      <a:pt x="1022" y="197"/>
                    </a:lnTo>
                    <a:lnTo>
                      <a:pt x="1147" y="161"/>
                    </a:lnTo>
                    <a:lnTo>
                      <a:pt x="1147" y="130"/>
                    </a:lnTo>
                    <a:lnTo>
                      <a:pt x="1003" y="103"/>
                    </a:lnTo>
                    <a:lnTo>
                      <a:pt x="1145" y="68"/>
                    </a:lnTo>
                    <a:lnTo>
                      <a:pt x="1284" y="91"/>
                    </a:lnTo>
                    <a:lnTo>
                      <a:pt x="1284" y="119"/>
                    </a:lnTo>
                    <a:lnTo>
                      <a:pt x="1415" y="87"/>
                    </a:lnTo>
                    <a:lnTo>
                      <a:pt x="1415" y="58"/>
                    </a:lnTo>
                    <a:lnTo>
                      <a:pt x="1268" y="29"/>
                    </a:lnTo>
                    <a:lnTo>
                      <a:pt x="1389" y="0"/>
                    </a:lnTo>
                    <a:lnTo>
                      <a:pt x="1528" y="28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56" name="Line 596"/>
              <p:cNvSpPr>
                <a:spLocks noChangeShapeType="1"/>
              </p:cNvSpPr>
              <p:nvPr/>
            </p:nvSpPr>
            <p:spPr bwMode="auto">
              <a:xfrm>
                <a:off x="4614" y="3438"/>
                <a:ext cx="1" cy="3"/>
              </a:xfrm>
              <a:prstGeom prst="line">
                <a:avLst/>
              </a:prstGeom>
              <a:noFill/>
              <a:ln w="1588">
                <a:solidFill>
                  <a:srgbClr val="13151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57" name="Freeform 597"/>
              <p:cNvSpPr>
                <a:spLocks/>
              </p:cNvSpPr>
              <p:nvPr/>
            </p:nvSpPr>
            <p:spPr bwMode="auto">
              <a:xfrm>
                <a:off x="4818" y="3406"/>
                <a:ext cx="48" cy="15"/>
              </a:xfrm>
              <a:custGeom>
                <a:avLst/>
                <a:gdLst>
                  <a:gd name="T0" fmla="*/ 246 w 577"/>
                  <a:gd name="T1" fmla="*/ 0 h 189"/>
                  <a:gd name="T2" fmla="*/ 0 w 577"/>
                  <a:gd name="T3" fmla="*/ 78 h 189"/>
                  <a:gd name="T4" fmla="*/ 0 w 577"/>
                  <a:gd name="T5" fmla="*/ 105 h 189"/>
                  <a:gd name="T6" fmla="*/ 81 w 577"/>
                  <a:gd name="T7" fmla="*/ 126 h 189"/>
                  <a:gd name="T8" fmla="*/ 81 w 577"/>
                  <a:gd name="T9" fmla="*/ 97 h 189"/>
                  <a:gd name="T10" fmla="*/ 333 w 577"/>
                  <a:gd name="T11" fmla="*/ 27 h 189"/>
                  <a:gd name="T12" fmla="*/ 414 w 577"/>
                  <a:gd name="T13" fmla="*/ 45 h 189"/>
                  <a:gd name="T14" fmla="*/ 172 w 577"/>
                  <a:gd name="T15" fmla="*/ 120 h 189"/>
                  <a:gd name="T16" fmla="*/ 174 w 577"/>
                  <a:gd name="T17" fmla="*/ 147 h 189"/>
                  <a:gd name="T18" fmla="*/ 252 w 577"/>
                  <a:gd name="T19" fmla="*/ 171 h 189"/>
                  <a:gd name="T20" fmla="*/ 252 w 577"/>
                  <a:gd name="T21" fmla="*/ 138 h 189"/>
                  <a:gd name="T22" fmla="*/ 486 w 577"/>
                  <a:gd name="T23" fmla="*/ 68 h 189"/>
                  <a:gd name="T24" fmla="*/ 577 w 577"/>
                  <a:gd name="T25" fmla="*/ 90 h 189"/>
                  <a:gd name="T26" fmla="*/ 344 w 577"/>
                  <a:gd name="T27" fmla="*/ 161 h 189"/>
                  <a:gd name="T28" fmla="*/ 344 w 577"/>
                  <a:gd name="T29" fmla="*/ 189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7" h="189">
                    <a:moveTo>
                      <a:pt x="246" y="0"/>
                    </a:moveTo>
                    <a:lnTo>
                      <a:pt x="0" y="78"/>
                    </a:lnTo>
                    <a:lnTo>
                      <a:pt x="0" y="105"/>
                    </a:lnTo>
                    <a:lnTo>
                      <a:pt x="81" y="126"/>
                    </a:lnTo>
                    <a:lnTo>
                      <a:pt x="81" y="97"/>
                    </a:lnTo>
                    <a:lnTo>
                      <a:pt x="333" y="27"/>
                    </a:lnTo>
                    <a:lnTo>
                      <a:pt x="414" y="45"/>
                    </a:lnTo>
                    <a:lnTo>
                      <a:pt x="172" y="120"/>
                    </a:lnTo>
                    <a:lnTo>
                      <a:pt x="174" y="147"/>
                    </a:lnTo>
                    <a:lnTo>
                      <a:pt x="252" y="171"/>
                    </a:lnTo>
                    <a:lnTo>
                      <a:pt x="252" y="138"/>
                    </a:lnTo>
                    <a:lnTo>
                      <a:pt x="486" y="68"/>
                    </a:lnTo>
                    <a:lnTo>
                      <a:pt x="577" y="90"/>
                    </a:lnTo>
                    <a:lnTo>
                      <a:pt x="344" y="161"/>
                    </a:lnTo>
                    <a:lnTo>
                      <a:pt x="344" y="189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58" name="Freeform 598"/>
              <p:cNvSpPr>
                <a:spLocks/>
              </p:cNvSpPr>
              <p:nvPr/>
            </p:nvSpPr>
            <p:spPr bwMode="auto">
              <a:xfrm>
                <a:off x="4812" y="3410"/>
                <a:ext cx="62" cy="11"/>
              </a:xfrm>
              <a:custGeom>
                <a:avLst/>
                <a:gdLst>
                  <a:gd name="T0" fmla="*/ 745 w 745"/>
                  <a:gd name="T1" fmla="*/ 61 h 132"/>
                  <a:gd name="T2" fmla="*/ 519 w 745"/>
                  <a:gd name="T3" fmla="*/ 132 h 132"/>
                  <a:gd name="T4" fmla="*/ 0 w 745"/>
                  <a:gd name="T5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45" h="132">
                    <a:moveTo>
                      <a:pt x="745" y="61"/>
                    </a:moveTo>
                    <a:lnTo>
                      <a:pt x="519" y="132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59" name="Freeform 599"/>
              <p:cNvSpPr>
                <a:spLocks/>
              </p:cNvSpPr>
              <p:nvPr/>
            </p:nvSpPr>
            <p:spPr bwMode="auto">
              <a:xfrm>
                <a:off x="4819" y="3406"/>
                <a:ext cx="50" cy="17"/>
              </a:xfrm>
              <a:custGeom>
                <a:avLst/>
                <a:gdLst>
                  <a:gd name="T0" fmla="*/ 606 w 606"/>
                  <a:gd name="T1" fmla="*/ 153 h 214"/>
                  <a:gd name="T2" fmla="*/ 97 w 606"/>
                  <a:gd name="T3" fmla="*/ 0 h 214"/>
                  <a:gd name="T4" fmla="*/ 0 w 606"/>
                  <a:gd name="T5" fmla="*/ 27 h 214"/>
                  <a:gd name="T6" fmla="*/ 513 w 606"/>
                  <a:gd name="T7" fmla="*/ 158 h 214"/>
                  <a:gd name="T8" fmla="*/ 513 w 606"/>
                  <a:gd name="T9" fmla="*/ 187 h 214"/>
                  <a:gd name="T10" fmla="*/ 434 w 606"/>
                  <a:gd name="T11" fmla="*/ 214 h 214"/>
                  <a:gd name="T12" fmla="*/ 434 w 606"/>
                  <a:gd name="T13" fmla="*/ 187 h 2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06" h="214">
                    <a:moveTo>
                      <a:pt x="606" y="153"/>
                    </a:moveTo>
                    <a:lnTo>
                      <a:pt x="97" y="0"/>
                    </a:lnTo>
                    <a:lnTo>
                      <a:pt x="0" y="27"/>
                    </a:lnTo>
                    <a:lnTo>
                      <a:pt x="513" y="158"/>
                    </a:lnTo>
                    <a:lnTo>
                      <a:pt x="513" y="187"/>
                    </a:lnTo>
                    <a:lnTo>
                      <a:pt x="434" y="214"/>
                    </a:lnTo>
                    <a:lnTo>
                      <a:pt x="434" y="187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60" name="Line 600"/>
              <p:cNvSpPr>
                <a:spLocks noChangeShapeType="1"/>
              </p:cNvSpPr>
              <p:nvPr/>
            </p:nvSpPr>
            <p:spPr bwMode="auto">
              <a:xfrm>
                <a:off x="4691" y="347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13151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61" name="Freeform 601"/>
              <p:cNvSpPr>
                <a:spLocks/>
              </p:cNvSpPr>
              <p:nvPr/>
            </p:nvSpPr>
            <p:spPr bwMode="auto">
              <a:xfrm>
                <a:off x="4617" y="3407"/>
                <a:ext cx="219" cy="69"/>
              </a:xfrm>
              <a:custGeom>
                <a:avLst/>
                <a:gdLst>
                  <a:gd name="T0" fmla="*/ 0 w 2629"/>
                  <a:gd name="T1" fmla="*/ 611 h 824"/>
                  <a:gd name="T2" fmla="*/ 0 w 2629"/>
                  <a:gd name="T3" fmla="*/ 561 h 824"/>
                  <a:gd name="T4" fmla="*/ 1954 w 2629"/>
                  <a:gd name="T5" fmla="*/ 0 h 824"/>
                  <a:gd name="T6" fmla="*/ 2110 w 2629"/>
                  <a:gd name="T7" fmla="*/ 34 h 824"/>
                  <a:gd name="T8" fmla="*/ 198 w 2629"/>
                  <a:gd name="T9" fmla="*/ 611 h 824"/>
                  <a:gd name="T10" fmla="*/ 198 w 2629"/>
                  <a:gd name="T11" fmla="*/ 664 h 824"/>
                  <a:gd name="T12" fmla="*/ 333 w 2629"/>
                  <a:gd name="T13" fmla="*/ 701 h 824"/>
                  <a:gd name="T14" fmla="*/ 333 w 2629"/>
                  <a:gd name="T15" fmla="*/ 648 h 824"/>
                  <a:gd name="T16" fmla="*/ 2231 w 2629"/>
                  <a:gd name="T17" fmla="*/ 67 h 824"/>
                  <a:gd name="T18" fmla="*/ 2368 w 2629"/>
                  <a:gd name="T19" fmla="*/ 101 h 824"/>
                  <a:gd name="T20" fmla="*/ 494 w 2629"/>
                  <a:gd name="T21" fmla="*/ 692 h 824"/>
                  <a:gd name="T22" fmla="*/ 494 w 2629"/>
                  <a:gd name="T23" fmla="*/ 743 h 824"/>
                  <a:gd name="T24" fmla="*/ 650 w 2629"/>
                  <a:gd name="T25" fmla="*/ 789 h 824"/>
                  <a:gd name="T26" fmla="*/ 650 w 2629"/>
                  <a:gd name="T27" fmla="*/ 733 h 824"/>
                  <a:gd name="T28" fmla="*/ 2515 w 2629"/>
                  <a:gd name="T29" fmla="*/ 132 h 824"/>
                  <a:gd name="T30" fmla="*/ 2629 w 2629"/>
                  <a:gd name="T31" fmla="*/ 166 h 824"/>
                  <a:gd name="T32" fmla="*/ 785 w 2629"/>
                  <a:gd name="T33" fmla="*/ 767 h 824"/>
                  <a:gd name="T34" fmla="*/ 785 w 2629"/>
                  <a:gd name="T35" fmla="*/ 824 h 8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29" h="824">
                    <a:moveTo>
                      <a:pt x="0" y="611"/>
                    </a:moveTo>
                    <a:lnTo>
                      <a:pt x="0" y="561"/>
                    </a:lnTo>
                    <a:lnTo>
                      <a:pt x="1954" y="0"/>
                    </a:lnTo>
                    <a:lnTo>
                      <a:pt x="2110" y="34"/>
                    </a:lnTo>
                    <a:lnTo>
                      <a:pt x="198" y="611"/>
                    </a:lnTo>
                    <a:lnTo>
                      <a:pt x="198" y="664"/>
                    </a:lnTo>
                    <a:lnTo>
                      <a:pt x="333" y="701"/>
                    </a:lnTo>
                    <a:lnTo>
                      <a:pt x="333" y="648"/>
                    </a:lnTo>
                    <a:lnTo>
                      <a:pt x="2231" y="67"/>
                    </a:lnTo>
                    <a:lnTo>
                      <a:pt x="2368" y="101"/>
                    </a:lnTo>
                    <a:lnTo>
                      <a:pt x="494" y="692"/>
                    </a:lnTo>
                    <a:lnTo>
                      <a:pt x="494" y="743"/>
                    </a:lnTo>
                    <a:lnTo>
                      <a:pt x="650" y="789"/>
                    </a:lnTo>
                    <a:lnTo>
                      <a:pt x="650" y="733"/>
                    </a:lnTo>
                    <a:lnTo>
                      <a:pt x="2515" y="132"/>
                    </a:lnTo>
                    <a:lnTo>
                      <a:pt x="2629" y="166"/>
                    </a:lnTo>
                    <a:lnTo>
                      <a:pt x="785" y="767"/>
                    </a:lnTo>
                    <a:lnTo>
                      <a:pt x="785" y="824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62" name="Freeform 602"/>
              <p:cNvSpPr>
                <a:spLocks/>
              </p:cNvSpPr>
              <p:nvPr/>
            </p:nvSpPr>
            <p:spPr bwMode="auto">
              <a:xfrm>
                <a:off x="4614" y="3405"/>
                <a:ext cx="222" cy="69"/>
              </a:xfrm>
              <a:custGeom>
                <a:avLst/>
                <a:gdLst>
                  <a:gd name="T0" fmla="*/ 0 w 2675"/>
                  <a:gd name="T1" fmla="*/ 497 h 835"/>
                  <a:gd name="T2" fmla="*/ 1071 w 2675"/>
                  <a:gd name="T3" fmla="*/ 776 h 835"/>
                  <a:gd name="T4" fmla="*/ 1071 w 2675"/>
                  <a:gd name="T5" fmla="*/ 835 h 835"/>
                  <a:gd name="T6" fmla="*/ 1222 w 2675"/>
                  <a:gd name="T7" fmla="*/ 783 h 835"/>
                  <a:gd name="T8" fmla="*/ 1222 w 2675"/>
                  <a:gd name="T9" fmla="*/ 729 h 835"/>
                  <a:gd name="T10" fmla="*/ 147 w 2675"/>
                  <a:gd name="T11" fmla="*/ 453 h 835"/>
                  <a:gd name="T12" fmla="*/ 316 w 2675"/>
                  <a:gd name="T13" fmla="*/ 402 h 835"/>
                  <a:gd name="T14" fmla="*/ 1352 w 2675"/>
                  <a:gd name="T15" fmla="*/ 685 h 835"/>
                  <a:gd name="T16" fmla="*/ 1352 w 2675"/>
                  <a:gd name="T17" fmla="*/ 738 h 835"/>
                  <a:gd name="T18" fmla="*/ 1486 w 2675"/>
                  <a:gd name="T19" fmla="*/ 700 h 835"/>
                  <a:gd name="T20" fmla="*/ 1484 w 2675"/>
                  <a:gd name="T21" fmla="*/ 632 h 835"/>
                  <a:gd name="T22" fmla="*/ 470 w 2675"/>
                  <a:gd name="T23" fmla="*/ 367 h 835"/>
                  <a:gd name="T24" fmla="*/ 606 w 2675"/>
                  <a:gd name="T25" fmla="*/ 323 h 835"/>
                  <a:gd name="T26" fmla="*/ 1638 w 2675"/>
                  <a:gd name="T27" fmla="*/ 593 h 835"/>
                  <a:gd name="T28" fmla="*/ 1633 w 2675"/>
                  <a:gd name="T29" fmla="*/ 647 h 835"/>
                  <a:gd name="T30" fmla="*/ 1764 w 2675"/>
                  <a:gd name="T31" fmla="*/ 609 h 835"/>
                  <a:gd name="T32" fmla="*/ 1766 w 2675"/>
                  <a:gd name="T33" fmla="*/ 551 h 835"/>
                  <a:gd name="T34" fmla="*/ 744 w 2675"/>
                  <a:gd name="T35" fmla="*/ 287 h 835"/>
                  <a:gd name="T36" fmla="*/ 896 w 2675"/>
                  <a:gd name="T37" fmla="*/ 237 h 835"/>
                  <a:gd name="T38" fmla="*/ 1902 w 2675"/>
                  <a:gd name="T39" fmla="*/ 509 h 835"/>
                  <a:gd name="T40" fmla="*/ 1905 w 2675"/>
                  <a:gd name="T41" fmla="*/ 558 h 835"/>
                  <a:gd name="T42" fmla="*/ 2033 w 2675"/>
                  <a:gd name="T43" fmla="*/ 516 h 835"/>
                  <a:gd name="T44" fmla="*/ 2033 w 2675"/>
                  <a:gd name="T45" fmla="*/ 465 h 835"/>
                  <a:gd name="T46" fmla="*/ 1042 w 2675"/>
                  <a:gd name="T47" fmla="*/ 199 h 835"/>
                  <a:gd name="T48" fmla="*/ 1191 w 2675"/>
                  <a:gd name="T49" fmla="*/ 153 h 835"/>
                  <a:gd name="T50" fmla="*/ 2170 w 2675"/>
                  <a:gd name="T51" fmla="*/ 419 h 835"/>
                  <a:gd name="T52" fmla="*/ 2170 w 2675"/>
                  <a:gd name="T53" fmla="*/ 471 h 835"/>
                  <a:gd name="T54" fmla="*/ 2300 w 2675"/>
                  <a:gd name="T55" fmla="*/ 429 h 835"/>
                  <a:gd name="T56" fmla="*/ 2300 w 2675"/>
                  <a:gd name="T57" fmla="*/ 374 h 835"/>
                  <a:gd name="T58" fmla="*/ 1350 w 2675"/>
                  <a:gd name="T59" fmla="*/ 108 h 835"/>
                  <a:gd name="T60" fmla="*/ 1511 w 2675"/>
                  <a:gd name="T61" fmla="*/ 65 h 835"/>
                  <a:gd name="T62" fmla="*/ 2433 w 2675"/>
                  <a:gd name="T63" fmla="*/ 329 h 835"/>
                  <a:gd name="T64" fmla="*/ 2433 w 2675"/>
                  <a:gd name="T65" fmla="*/ 384 h 835"/>
                  <a:gd name="T66" fmla="*/ 2561 w 2675"/>
                  <a:gd name="T67" fmla="*/ 332 h 835"/>
                  <a:gd name="T68" fmla="*/ 2563 w 2675"/>
                  <a:gd name="T69" fmla="*/ 290 h 835"/>
                  <a:gd name="T70" fmla="*/ 1629 w 2675"/>
                  <a:gd name="T71" fmla="*/ 30 h 835"/>
                  <a:gd name="T72" fmla="*/ 1739 w 2675"/>
                  <a:gd name="T73" fmla="*/ 0 h 835"/>
                  <a:gd name="T74" fmla="*/ 2675 w 2675"/>
                  <a:gd name="T75" fmla="*/ 252 h 835"/>
                  <a:gd name="T76" fmla="*/ 2675 w 2675"/>
                  <a:gd name="T77" fmla="*/ 298 h 8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675" h="835">
                    <a:moveTo>
                      <a:pt x="0" y="497"/>
                    </a:moveTo>
                    <a:lnTo>
                      <a:pt x="1071" y="776"/>
                    </a:lnTo>
                    <a:lnTo>
                      <a:pt x="1071" y="835"/>
                    </a:lnTo>
                    <a:lnTo>
                      <a:pt x="1222" y="783"/>
                    </a:lnTo>
                    <a:lnTo>
                      <a:pt x="1222" y="729"/>
                    </a:lnTo>
                    <a:lnTo>
                      <a:pt x="147" y="453"/>
                    </a:lnTo>
                    <a:lnTo>
                      <a:pt x="316" y="402"/>
                    </a:lnTo>
                    <a:lnTo>
                      <a:pt x="1352" y="685"/>
                    </a:lnTo>
                    <a:lnTo>
                      <a:pt x="1352" y="738"/>
                    </a:lnTo>
                    <a:lnTo>
                      <a:pt x="1486" y="700"/>
                    </a:lnTo>
                    <a:lnTo>
                      <a:pt x="1484" y="632"/>
                    </a:lnTo>
                    <a:lnTo>
                      <a:pt x="470" y="367"/>
                    </a:lnTo>
                    <a:lnTo>
                      <a:pt x="606" y="323"/>
                    </a:lnTo>
                    <a:lnTo>
                      <a:pt x="1638" y="593"/>
                    </a:lnTo>
                    <a:lnTo>
                      <a:pt x="1633" y="647"/>
                    </a:lnTo>
                    <a:lnTo>
                      <a:pt x="1764" y="609"/>
                    </a:lnTo>
                    <a:lnTo>
                      <a:pt x="1766" y="551"/>
                    </a:lnTo>
                    <a:lnTo>
                      <a:pt x="744" y="287"/>
                    </a:lnTo>
                    <a:lnTo>
                      <a:pt x="896" y="237"/>
                    </a:lnTo>
                    <a:lnTo>
                      <a:pt x="1902" y="509"/>
                    </a:lnTo>
                    <a:lnTo>
                      <a:pt x="1905" y="558"/>
                    </a:lnTo>
                    <a:lnTo>
                      <a:pt x="2033" y="516"/>
                    </a:lnTo>
                    <a:lnTo>
                      <a:pt x="2033" y="465"/>
                    </a:lnTo>
                    <a:lnTo>
                      <a:pt x="1042" y="199"/>
                    </a:lnTo>
                    <a:lnTo>
                      <a:pt x="1191" y="153"/>
                    </a:lnTo>
                    <a:lnTo>
                      <a:pt x="2170" y="419"/>
                    </a:lnTo>
                    <a:lnTo>
                      <a:pt x="2170" y="471"/>
                    </a:lnTo>
                    <a:lnTo>
                      <a:pt x="2300" y="429"/>
                    </a:lnTo>
                    <a:lnTo>
                      <a:pt x="2300" y="374"/>
                    </a:lnTo>
                    <a:lnTo>
                      <a:pt x="1350" y="108"/>
                    </a:lnTo>
                    <a:lnTo>
                      <a:pt x="1511" y="65"/>
                    </a:lnTo>
                    <a:lnTo>
                      <a:pt x="2433" y="329"/>
                    </a:lnTo>
                    <a:lnTo>
                      <a:pt x="2433" y="384"/>
                    </a:lnTo>
                    <a:lnTo>
                      <a:pt x="2561" y="332"/>
                    </a:lnTo>
                    <a:lnTo>
                      <a:pt x="2563" y="290"/>
                    </a:lnTo>
                    <a:lnTo>
                      <a:pt x="1629" y="30"/>
                    </a:lnTo>
                    <a:lnTo>
                      <a:pt x="1739" y="0"/>
                    </a:lnTo>
                    <a:lnTo>
                      <a:pt x="2675" y="252"/>
                    </a:lnTo>
                    <a:lnTo>
                      <a:pt x="2675" y="298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63" name="Freeform 603"/>
              <p:cNvSpPr>
                <a:spLocks/>
              </p:cNvSpPr>
              <p:nvPr/>
            </p:nvSpPr>
            <p:spPr bwMode="auto">
              <a:xfrm>
                <a:off x="4601" y="3423"/>
                <a:ext cx="244" cy="50"/>
              </a:xfrm>
              <a:custGeom>
                <a:avLst/>
                <a:gdLst>
                  <a:gd name="T0" fmla="*/ 0 w 2922"/>
                  <a:gd name="T1" fmla="*/ 319 h 604"/>
                  <a:gd name="T2" fmla="*/ 1080 w 2922"/>
                  <a:gd name="T3" fmla="*/ 604 h 604"/>
                  <a:gd name="T4" fmla="*/ 2922 w 2922"/>
                  <a:gd name="T5" fmla="*/ 0 h 6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922" h="604">
                    <a:moveTo>
                      <a:pt x="0" y="319"/>
                    </a:moveTo>
                    <a:lnTo>
                      <a:pt x="1080" y="604"/>
                    </a:lnTo>
                    <a:lnTo>
                      <a:pt x="2922" y="0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64" name="Freeform 604"/>
              <p:cNvSpPr>
                <a:spLocks/>
              </p:cNvSpPr>
              <p:nvPr/>
            </p:nvSpPr>
            <p:spPr bwMode="auto">
              <a:xfrm>
                <a:off x="4478" y="3120"/>
                <a:ext cx="71" cy="16"/>
              </a:xfrm>
              <a:custGeom>
                <a:avLst/>
                <a:gdLst>
                  <a:gd name="T0" fmla="*/ 0 w 851"/>
                  <a:gd name="T1" fmla="*/ 0 h 181"/>
                  <a:gd name="T2" fmla="*/ 23 w 851"/>
                  <a:gd name="T3" fmla="*/ 181 h 181"/>
                  <a:gd name="T4" fmla="*/ 851 w 851"/>
                  <a:gd name="T5" fmla="*/ 181 h 181"/>
                  <a:gd name="T6" fmla="*/ 819 w 851"/>
                  <a:gd name="T7" fmla="*/ 28 h 181"/>
                  <a:gd name="T8" fmla="*/ 0 w 851"/>
                  <a:gd name="T9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51" h="181">
                    <a:moveTo>
                      <a:pt x="0" y="0"/>
                    </a:moveTo>
                    <a:lnTo>
                      <a:pt x="23" y="181"/>
                    </a:lnTo>
                    <a:lnTo>
                      <a:pt x="851" y="181"/>
                    </a:lnTo>
                    <a:lnTo>
                      <a:pt x="819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1E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65" name="Freeform 605"/>
              <p:cNvSpPr>
                <a:spLocks/>
              </p:cNvSpPr>
              <p:nvPr/>
            </p:nvSpPr>
            <p:spPr bwMode="auto">
              <a:xfrm>
                <a:off x="4478" y="3120"/>
                <a:ext cx="71" cy="16"/>
              </a:xfrm>
              <a:custGeom>
                <a:avLst/>
                <a:gdLst>
                  <a:gd name="T0" fmla="*/ 0 w 851"/>
                  <a:gd name="T1" fmla="*/ 0 h 181"/>
                  <a:gd name="T2" fmla="*/ 23 w 851"/>
                  <a:gd name="T3" fmla="*/ 181 h 181"/>
                  <a:gd name="T4" fmla="*/ 851 w 851"/>
                  <a:gd name="T5" fmla="*/ 181 h 181"/>
                  <a:gd name="T6" fmla="*/ 819 w 851"/>
                  <a:gd name="T7" fmla="*/ 28 h 181"/>
                  <a:gd name="T8" fmla="*/ 0 w 851"/>
                  <a:gd name="T9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51" h="181">
                    <a:moveTo>
                      <a:pt x="0" y="0"/>
                    </a:moveTo>
                    <a:lnTo>
                      <a:pt x="23" y="181"/>
                    </a:lnTo>
                    <a:lnTo>
                      <a:pt x="851" y="181"/>
                    </a:lnTo>
                    <a:lnTo>
                      <a:pt x="819" y="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66" name="Freeform 606"/>
              <p:cNvSpPr>
                <a:spLocks/>
              </p:cNvSpPr>
              <p:nvPr/>
            </p:nvSpPr>
            <p:spPr bwMode="auto">
              <a:xfrm>
                <a:off x="4566" y="3162"/>
                <a:ext cx="29" cy="76"/>
              </a:xfrm>
              <a:custGeom>
                <a:avLst/>
                <a:gdLst>
                  <a:gd name="T0" fmla="*/ 179 w 343"/>
                  <a:gd name="T1" fmla="*/ 5 h 911"/>
                  <a:gd name="T2" fmla="*/ 0 w 343"/>
                  <a:gd name="T3" fmla="*/ 0 h 911"/>
                  <a:gd name="T4" fmla="*/ 156 w 343"/>
                  <a:gd name="T5" fmla="*/ 911 h 911"/>
                  <a:gd name="T6" fmla="*/ 343 w 343"/>
                  <a:gd name="T7" fmla="*/ 893 h 911"/>
                  <a:gd name="T8" fmla="*/ 179 w 343"/>
                  <a:gd name="T9" fmla="*/ 5 h 9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3" h="911">
                    <a:moveTo>
                      <a:pt x="179" y="5"/>
                    </a:moveTo>
                    <a:lnTo>
                      <a:pt x="0" y="0"/>
                    </a:lnTo>
                    <a:lnTo>
                      <a:pt x="156" y="911"/>
                    </a:lnTo>
                    <a:lnTo>
                      <a:pt x="343" y="893"/>
                    </a:lnTo>
                    <a:lnTo>
                      <a:pt x="179" y="5"/>
                    </a:lnTo>
                    <a:close/>
                  </a:path>
                </a:pathLst>
              </a:custGeom>
              <a:solidFill>
                <a:srgbClr val="F1E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67" name="Freeform 607"/>
              <p:cNvSpPr>
                <a:spLocks/>
              </p:cNvSpPr>
              <p:nvPr/>
            </p:nvSpPr>
            <p:spPr bwMode="auto">
              <a:xfrm>
                <a:off x="4566" y="3162"/>
                <a:ext cx="29" cy="76"/>
              </a:xfrm>
              <a:custGeom>
                <a:avLst/>
                <a:gdLst>
                  <a:gd name="T0" fmla="*/ 179 w 343"/>
                  <a:gd name="T1" fmla="*/ 5 h 911"/>
                  <a:gd name="T2" fmla="*/ 0 w 343"/>
                  <a:gd name="T3" fmla="*/ 0 h 911"/>
                  <a:gd name="T4" fmla="*/ 156 w 343"/>
                  <a:gd name="T5" fmla="*/ 911 h 911"/>
                  <a:gd name="T6" fmla="*/ 343 w 343"/>
                  <a:gd name="T7" fmla="*/ 893 h 911"/>
                  <a:gd name="T8" fmla="*/ 179 w 343"/>
                  <a:gd name="T9" fmla="*/ 5 h 9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3" h="911">
                    <a:moveTo>
                      <a:pt x="179" y="5"/>
                    </a:moveTo>
                    <a:lnTo>
                      <a:pt x="0" y="0"/>
                    </a:lnTo>
                    <a:lnTo>
                      <a:pt x="156" y="911"/>
                    </a:lnTo>
                    <a:lnTo>
                      <a:pt x="343" y="893"/>
                    </a:lnTo>
                    <a:lnTo>
                      <a:pt x="179" y="5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68" name="Freeform 608"/>
              <p:cNvSpPr>
                <a:spLocks/>
              </p:cNvSpPr>
              <p:nvPr/>
            </p:nvSpPr>
            <p:spPr bwMode="auto">
              <a:xfrm>
                <a:off x="4456" y="3153"/>
                <a:ext cx="142" cy="95"/>
              </a:xfrm>
              <a:custGeom>
                <a:avLst/>
                <a:gdLst>
                  <a:gd name="T0" fmla="*/ 0 w 1708"/>
                  <a:gd name="T1" fmla="*/ 0 h 1141"/>
                  <a:gd name="T2" fmla="*/ 199 w 1708"/>
                  <a:gd name="T3" fmla="*/ 1141 h 1141"/>
                  <a:gd name="T4" fmla="*/ 1708 w 1708"/>
                  <a:gd name="T5" fmla="*/ 1006 h 1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08" h="1141">
                    <a:moveTo>
                      <a:pt x="0" y="0"/>
                    </a:moveTo>
                    <a:lnTo>
                      <a:pt x="199" y="1141"/>
                    </a:lnTo>
                    <a:lnTo>
                      <a:pt x="1708" y="1006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69" name="Line 609"/>
              <p:cNvSpPr>
                <a:spLocks noChangeShapeType="1"/>
              </p:cNvSpPr>
              <p:nvPr/>
            </p:nvSpPr>
            <p:spPr bwMode="auto">
              <a:xfrm flipV="1">
                <a:off x="4486" y="3248"/>
                <a:ext cx="109" cy="11"/>
              </a:xfrm>
              <a:prstGeom prst="line">
                <a:avLst/>
              </a:prstGeom>
              <a:noFill/>
              <a:ln w="1588">
                <a:solidFill>
                  <a:srgbClr val="13151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70" name="Line 610"/>
              <p:cNvSpPr>
                <a:spLocks noChangeShapeType="1"/>
              </p:cNvSpPr>
              <p:nvPr/>
            </p:nvSpPr>
            <p:spPr bwMode="auto">
              <a:xfrm>
                <a:off x="4484" y="3125"/>
                <a:ext cx="1" cy="8"/>
              </a:xfrm>
              <a:prstGeom prst="line">
                <a:avLst/>
              </a:prstGeom>
              <a:noFill/>
              <a:ln w="1588">
                <a:solidFill>
                  <a:srgbClr val="13151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71" name="Freeform 611"/>
              <p:cNvSpPr>
                <a:spLocks/>
              </p:cNvSpPr>
              <p:nvPr/>
            </p:nvSpPr>
            <p:spPr bwMode="auto">
              <a:xfrm>
                <a:off x="4491" y="3126"/>
                <a:ext cx="3" cy="6"/>
              </a:xfrm>
              <a:custGeom>
                <a:avLst/>
                <a:gdLst>
                  <a:gd name="T0" fmla="*/ 29 w 36"/>
                  <a:gd name="T1" fmla="*/ 0 h 73"/>
                  <a:gd name="T2" fmla="*/ 0 w 36"/>
                  <a:gd name="T3" fmla="*/ 39 h 73"/>
                  <a:gd name="T4" fmla="*/ 36 w 36"/>
                  <a:gd name="T5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" h="73">
                    <a:moveTo>
                      <a:pt x="29" y="0"/>
                    </a:moveTo>
                    <a:lnTo>
                      <a:pt x="0" y="39"/>
                    </a:lnTo>
                    <a:lnTo>
                      <a:pt x="36" y="73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72" name="Freeform 612"/>
              <p:cNvSpPr>
                <a:spLocks/>
              </p:cNvSpPr>
              <p:nvPr/>
            </p:nvSpPr>
            <p:spPr bwMode="auto">
              <a:xfrm>
                <a:off x="4501" y="3127"/>
                <a:ext cx="3" cy="6"/>
              </a:xfrm>
              <a:custGeom>
                <a:avLst/>
                <a:gdLst>
                  <a:gd name="T0" fmla="*/ 25 w 37"/>
                  <a:gd name="T1" fmla="*/ 0 h 73"/>
                  <a:gd name="T2" fmla="*/ 0 w 37"/>
                  <a:gd name="T3" fmla="*/ 17 h 73"/>
                  <a:gd name="T4" fmla="*/ 3 w 37"/>
                  <a:gd name="T5" fmla="*/ 64 h 73"/>
                  <a:gd name="T6" fmla="*/ 37 w 37"/>
                  <a:gd name="T7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7" h="73">
                    <a:moveTo>
                      <a:pt x="25" y="0"/>
                    </a:moveTo>
                    <a:lnTo>
                      <a:pt x="0" y="17"/>
                    </a:lnTo>
                    <a:lnTo>
                      <a:pt x="3" y="64"/>
                    </a:lnTo>
                    <a:lnTo>
                      <a:pt x="37" y="73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73" name="Line 613"/>
              <p:cNvSpPr>
                <a:spLocks noChangeShapeType="1"/>
              </p:cNvSpPr>
              <p:nvPr/>
            </p:nvSpPr>
            <p:spPr bwMode="auto">
              <a:xfrm>
                <a:off x="4510" y="3127"/>
                <a:ext cx="5" cy="5"/>
              </a:xfrm>
              <a:prstGeom prst="line">
                <a:avLst/>
              </a:prstGeom>
              <a:noFill/>
              <a:ln w="1588">
                <a:solidFill>
                  <a:srgbClr val="13151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74" name="Line 614"/>
              <p:cNvSpPr>
                <a:spLocks noChangeShapeType="1"/>
              </p:cNvSpPr>
              <p:nvPr/>
            </p:nvSpPr>
            <p:spPr bwMode="auto">
              <a:xfrm>
                <a:off x="4516" y="3128"/>
                <a:ext cx="4" cy="3"/>
              </a:xfrm>
              <a:prstGeom prst="line">
                <a:avLst/>
              </a:prstGeom>
              <a:noFill/>
              <a:ln w="1588">
                <a:solidFill>
                  <a:srgbClr val="13151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75" name="Line 615"/>
              <p:cNvSpPr>
                <a:spLocks noChangeShapeType="1"/>
              </p:cNvSpPr>
              <p:nvPr/>
            </p:nvSpPr>
            <p:spPr bwMode="auto">
              <a:xfrm>
                <a:off x="4523" y="3128"/>
                <a:ext cx="1" cy="3"/>
              </a:xfrm>
              <a:prstGeom prst="line">
                <a:avLst/>
              </a:prstGeom>
              <a:noFill/>
              <a:ln w="1588">
                <a:solidFill>
                  <a:srgbClr val="13151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76" name="Line 616"/>
              <p:cNvSpPr>
                <a:spLocks noChangeShapeType="1"/>
              </p:cNvSpPr>
              <p:nvPr/>
            </p:nvSpPr>
            <p:spPr bwMode="auto">
              <a:xfrm flipV="1">
                <a:off x="4527" y="3128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13151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77" name="Line 617"/>
              <p:cNvSpPr>
                <a:spLocks noChangeShapeType="1"/>
              </p:cNvSpPr>
              <p:nvPr/>
            </p:nvSpPr>
            <p:spPr bwMode="auto">
              <a:xfrm>
                <a:off x="4540" y="3128"/>
                <a:ext cx="2" cy="3"/>
              </a:xfrm>
              <a:prstGeom prst="line">
                <a:avLst/>
              </a:prstGeom>
              <a:noFill/>
              <a:ln w="1588">
                <a:solidFill>
                  <a:srgbClr val="13151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78" name="Freeform 618"/>
              <p:cNvSpPr>
                <a:spLocks/>
              </p:cNvSpPr>
              <p:nvPr/>
            </p:nvSpPr>
            <p:spPr bwMode="auto">
              <a:xfrm>
                <a:off x="4565" y="3319"/>
                <a:ext cx="88" cy="116"/>
              </a:xfrm>
              <a:custGeom>
                <a:avLst/>
                <a:gdLst>
                  <a:gd name="T0" fmla="*/ 0 w 1056"/>
                  <a:gd name="T1" fmla="*/ 185 h 1390"/>
                  <a:gd name="T2" fmla="*/ 1056 w 1056"/>
                  <a:gd name="T3" fmla="*/ 0 h 1390"/>
                  <a:gd name="T4" fmla="*/ 1056 w 1056"/>
                  <a:gd name="T5" fmla="*/ 560 h 1390"/>
                  <a:gd name="T6" fmla="*/ 5 w 1056"/>
                  <a:gd name="T7" fmla="*/ 797 h 1390"/>
                  <a:gd name="T8" fmla="*/ 1056 w 1056"/>
                  <a:gd name="T9" fmla="*/ 560 h 1390"/>
                  <a:gd name="T10" fmla="*/ 1056 w 1056"/>
                  <a:gd name="T11" fmla="*/ 1130 h 1390"/>
                  <a:gd name="T12" fmla="*/ 0 w 1056"/>
                  <a:gd name="T13" fmla="*/ 1390 h 1390"/>
                  <a:gd name="T14" fmla="*/ 0 w 1056"/>
                  <a:gd name="T15" fmla="*/ 185 h 1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56" h="1390">
                    <a:moveTo>
                      <a:pt x="0" y="185"/>
                    </a:moveTo>
                    <a:lnTo>
                      <a:pt x="1056" y="0"/>
                    </a:lnTo>
                    <a:lnTo>
                      <a:pt x="1056" y="560"/>
                    </a:lnTo>
                    <a:lnTo>
                      <a:pt x="5" y="797"/>
                    </a:lnTo>
                    <a:lnTo>
                      <a:pt x="1056" y="560"/>
                    </a:lnTo>
                    <a:lnTo>
                      <a:pt x="1056" y="1130"/>
                    </a:lnTo>
                    <a:lnTo>
                      <a:pt x="0" y="1390"/>
                    </a:lnTo>
                    <a:lnTo>
                      <a:pt x="0" y="185"/>
                    </a:lnTo>
                    <a:close/>
                  </a:path>
                </a:pathLst>
              </a:custGeom>
              <a:solidFill>
                <a:srgbClr val="1315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79" name="Freeform 619"/>
              <p:cNvSpPr>
                <a:spLocks/>
              </p:cNvSpPr>
              <p:nvPr/>
            </p:nvSpPr>
            <p:spPr bwMode="auto">
              <a:xfrm>
                <a:off x="4565" y="3319"/>
                <a:ext cx="88" cy="116"/>
              </a:xfrm>
              <a:custGeom>
                <a:avLst/>
                <a:gdLst>
                  <a:gd name="T0" fmla="*/ 0 w 1056"/>
                  <a:gd name="T1" fmla="*/ 185 h 1390"/>
                  <a:gd name="T2" fmla="*/ 1056 w 1056"/>
                  <a:gd name="T3" fmla="*/ 0 h 1390"/>
                  <a:gd name="T4" fmla="*/ 1056 w 1056"/>
                  <a:gd name="T5" fmla="*/ 560 h 1390"/>
                  <a:gd name="T6" fmla="*/ 5 w 1056"/>
                  <a:gd name="T7" fmla="*/ 797 h 1390"/>
                  <a:gd name="T8" fmla="*/ 1056 w 1056"/>
                  <a:gd name="T9" fmla="*/ 560 h 1390"/>
                  <a:gd name="T10" fmla="*/ 1056 w 1056"/>
                  <a:gd name="T11" fmla="*/ 1130 h 1390"/>
                  <a:gd name="T12" fmla="*/ 0 w 1056"/>
                  <a:gd name="T13" fmla="*/ 1390 h 1390"/>
                  <a:gd name="T14" fmla="*/ 0 w 1056"/>
                  <a:gd name="T15" fmla="*/ 185 h 1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56" h="1390">
                    <a:moveTo>
                      <a:pt x="0" y="185"/>
                    </a:moveTo>
                    <a:lnTo>
                      <a:pt x="1056" y="0"/>
                    </a:lnTo>
                    <a:lnTo>
                      <a:pt x="1056" y="560"/>
                    </a:lnTo>
                    <a:lnTo>
                      <a:pt x="5" y="797"/>
                    </a:lnTo>
                    <a:lnTo>
                      <a:pt x="1056" y="560"/>
                    </a:lnTo>
                    <a:lnTo>
                      <a:pt x="1056" y="1130"/>
                    </a:lnTo>
                    <a:lnTo>
                      <a:pt x="0" y="1390"/>
                    </a:lnTo>
                    <a:lnTo>
                      <a:pt x="0" y="185"/>
                    </a:lnTo>
                    <a:close/>
                  </a:path>
                </a:pathLst>
              </a:custGeom>
              <a:noFill/>
              <a:ln w="1588">
                <a:solidFill>
                  <a:srgbClr val="ABADB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80" name="Freeform 620"/>
              <p:cNvSpPr>
                <a:spLocks/>
              </p:cNvSpPr>
              <p:nvPr/>
            </p:nvSpPr>
            <p:spPr bwMode="auto">
              <a:xfrm>
                <a:off x="4573" y="3342"/>
                <a:ext cx="75" cy="23"/>
              </a:xfrm>
              <a:custGeom>
                <a:avLst/>
                <a:gdLst>
                  <a:gd name="T0" fmla="*/ 0 w 900"/>
                  <a:gd name="T1" fmla="*/ 172 h 276"/>
                  <a:gd name="T2" fmla="*/ 0 w 900"/>
                  <a:gd name="T3" fmla="*/ 276 h 276"/>
                  <a:gd name="T4" fmla="*/ 900 w 900"/>
                  <a:gd name="T5" fmla="*/ 97 h 276"/>
                  <a:gd name="T6" fmla="*/ 900 w 900"/>
                  <a:gd name="T7" fmla="*/ 0 h 276"/>
                  <a:gd name="T8" fmla="*/ 605 w 900"/>
                  <a:gd name="T9" fmla="*/ 57 h 276"/>
                  <a:gd name="T10" fmla="*/ 605 w 900"/>
                  <a:gd name="T11" fmla="*/ 0 h 276"/>
                  <a:gd name="T12" fmla="*/ 380 w 900"/>
                  <a:gd name="T13" fmla="*/ 36 h 276"/>
                  <a:gd name="T14" fmla="*/ 381 w 900"/>
                  <a:gd name="T15" fmla="*/ 97 h 276"/>
                  <a:gd name="T16" fmla="*/ 0 w 900"/>
                  <a:gd name="T17" fmla="*/ 172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0" h="276">
                    <a:moveTo>
                      <a:pt x="0" y="172"/>
                    </a:moveTo>
                    <a:lnTo>
                      <a:pt x="0" y="276"/>
                    </a:lnTo>
                    <a:lnTo>
                      <a:pt x="900" y="97"/>
                    </a:lnTo>
                    <a:lnTo>
                      <a:pt x="900" y="0"/>
                    </a:lnTo>
                    <a:lnTo>
                      <a:pt x="605" y="57"/>
                    </a:lnTo>
                    <a:lnTo>
                      <a:pt x="605" y="0"/>
                    </a:lnTo>
                    <a:lnTo>
                      <a:pt x="380" y="36"/>
                    </a:lnTo>
                    <a:lnTo>
                      <a:pt x="381" y="97"/>
                    </a:lnTo>
                    <a:lnTo>
                      <a:pt x="0" y="172"/>
                    </a:lnTo>
                    <a:close/>
                  </a:path>
                </a:pathLst>
              </a:custGeom>
              <a:solidFill>
                <a:srgbClr val="1315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81" name="Freeform 621"/>
              <p:cNvSpPr>
                <a:spLocks/>
              </p:cNvSpPr>
              <p:nvPr/>
            </p:nvSpPr>
            <p:spPr bwMode="auto">
              <a:xfrm>
                <a:off x="4573" y="3342"/>
                <a:ext cx="75" cy="23"/>
              </a:xfrm>
              <a:custGeom>
                <a:avLst/>
                <a:gdLst>
                  <a:gd name="T0" fmla="*/ 0 w 900"/>
                  <a:gd name="T1" fmla="*/ 172 h 276"/>
                  <a:gd name="T2" fmla="*/ 0 w 900"/>
                  <a:gd name="T3" fmla="*/ 276 h 276"/>
                  <a:gd name="T4" fmla="*/ 900 w 900"/>
                  <a:gd name="T5" fmla="*/ 97 h 276"/>
                  <a:gd name="T6" fmla="*/ 900 w 900"/>
                  <a:gd name="T7" fmla="*/ 0 h 276"/>
                  <a:gd name="T8" fmla="*/ 605 w 900"/>
                  <a:gd name="T9" fmla="*/ 57 h 276"/>
                  <a:gd name="T10" fmla="*/ 605 w 900"/>
                  <a:gd name="T11" fmla="*/ 0 h 276"/>
                  <a:gd name="T12" fmla="*/ 380 w 900"/>
                  <a:gd name="T13" fmla="*/ 36 h 276"/>
                  <a:gd name="T14" fmla="*/ 381 w 900"/>
                  <a:gd name="T15" fmla="*/ 97 h 276"/>
                  <a:gd name="T16" fmla="*/ 0 w 900"/>
                  <a:gd name="T17" fmla="*/ 172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0" h="276">
                    <a:moveTo>
                      <a:pt x="0" y="172"/>
                    </a:moveTo>
                    <a:lnTo>
                      <a:pt x="0" y="276"/>
                    </a:lnTo>
                    <a:lnTo>
                      <a:pt x="900" y="97"/>
                    </a:lnTo>
                    <a:lnTo>
                      <a:pt x="900" y="0"/>
                    </a:lnTo>
                    <a:lnTo>
                      <a:pt x="605" y="57"/>
                    </a:lnTo>
                    <a:lnTo>
                      <a:pt x="605" y="0"/>
                    </a:lnTo>
                    <a:lnTo>
                      <a:pt x="380" y="36"/>
                    </a:lnTo>
                    <a:lnTo>
                      <a:pt x="381" y="97"/>
                    </a:lnTo>
                    <a:lnTo>
                      <a:pt x="0" y="172"/>
                    </a:lnTo>
                    <a:close/>
                  </a:path>
                </a:pathLst>
              </a:custGeom>
              <a:noFill/>
              <a:ln w="1588">
                <a:solidFill>
                  <a:srgbClr val="ABADB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82" name="Freeform 622"/>
              <p:cNvSpPr>
                <a:spLocks/>
              </p:cNvSpPr>
              <p:nvPr/>
            </p:nvSpPr>
            <p:spPr bwMode="auto">
              <a:xfrm>
                <a:off x="4573" y="3389"/>
                <a:ext cx="74" cy="26"/>
              </a:xfrm>
              <a:custGeom>
                <a:avLst/>
                <a:gdLst>
                  <a:gd name="T0" fmla="*/ 0 w 891"/>
                  <a:gd name="T1" fmla="*/ 204 h 310"/>
                  <a:gd name="T2" fmla="*/ 0 w 891"/>
                  <a:gd name="T3" fmla="*/ 310 h 310"/>
                  <a:gd name="T4" fmla="*/ 891 w 891"/>
                  <a:gd name="T5" fmla="*/ 98 h 310"/>
                  <a:gd name="T6" fmla="*/ 891 w 891"/>
                  <a:gd name="T7" fmla="*/ 0 h 310"/>
                  <a:gd name="T8" fmla="*/ 590 w 891"/>
                  <a:gd name="T9" fmla="*/ 65 h 310"/>
                  <a:gd name="T10" fmla="*/ 590 w 891"/>
                  <a:gd name="T11" fmla="*/ 10 h 310"/>
                  <a:gd name="T12" fmla="*/ 370 w 891"/>
                  <a:gd name="T13" fmla="*/ 58 h 310"/>
                  <a:gd name="T14" fmla="*/ 370 w 891"/>
                  <a:gd name="T15" fmla="*/ 119 h 310"/>
                  <a:gd name="T16" fmla="*/ 0 w 891"/>
                  <a:gd name="T17" fmla="*/ 204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91" h="310">
                    <a:moveTo>
                      <a:pt x="0" y="204"/>
                    </a:moveTo>
                    <a:lnTo>
                      <a:pt x="0" y="310"/>
                    </a:lnTo>
                    <a:lnTo>
                      <a:pt x="891" y="98"/>
                    </a:lnTo>
                    <a:lnTo>
                      <a:pt x="891" y="0"/>
                    </a:lnTo>
                    <a:lnTo>
                      <a:pt x="590" y="65"/>
                    </a:lnTo>
                    <a:lnTo>
                      <a:pt x="590" y="10"/>
                    </a:lnTo>
                    <a:lnTo>
                      <a:pt x="370" y="58"/>
                    </a:lnTo>
                    <a:lnTo>
                      <a:pt x="370" y="119"/>
                    </a:lnTo>
                    <a:lnTo>
                      <a:pt x="0" y="204"/>
                    </a:lnTo>
                    <a:close/>
                  </a:path>
                </a:pathLst>
              </a:custGeom>
              <a:solidFill>
                <a:srgbClr val="1315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83" name="Freeform 623"/>
              <p:cNvSpPr>
                <a:spLocks/>
              </p:cNvSpPr>
              <p:nvPr/>
            </p:nvSpPr>
            <p:spPr bwMode="auto">
              <a:xfrm>
                <a:off x="4573" y="3389"/>
                <a:ext cx="74" cy="26"/>
              </a:xfrm>
              <a:custGeom>
                <a:avLst/>
                <a:gdLst>
                  <a:gd name="T0" fmla="*/ 0 w 891"/>
                  <a:gd name="T1" fmla="*/ 204 h 310"/>
                  <a:gd name="T2" fmla="*/ 0 w 891"/>
                  <a:gd name="T3" fmla="*/ 310 h 310"/>
                  <a:gd name="T4" fmla="*/ 891 w 891"/>
                  <a:gd name="T5" fmla="*/ 98 h 310"/>
                  <a:gd name="T6" fmla="*/ 891 w 891"/>
                  <a:gd name="T7" fmla="*/ 0 h 310"/>
                  <a:gd name="T8" fmla="*/ 590 w 891"/>
                  <a:gd name="T9" fmla="*/ 65 h 310"/>
                  <a:gd name="T10" fmla="*/ 590 w 891"/>
                  <a:gd name="T11" fmla="*/ 10 h 310"/>
                  <a:gd name="T12" fmla="*/ 370 w 891"/>
                  <a:gd name="T13" fmla="*/ 58 h 310"/>
                  <a:gd name="T14" fmla="*/ 370 w 891"/>
                  <a:gd name="T15" fmla="*/ 119 h 310"/>
                  <a:gd name="T16" fmla="*/ 0 w 891"/>
                  <a:gd name="T17" fmla="*/ 204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91" h="310">
                    <a:moveTo>
                      <a:pt x="0" y="204"/>
                    </a:moveTo>
                    <a:lnTo>
                      <a:pt x="0" y="310"/>
                    </a:lnTo>
                    <a:lnTo>
                      <a:pt x="891" y="98"/>
                    </a:lnTo>
                    <a:lnTo>
                      <a:pt x="891" y="0"/>
                    </a:lnTo>
                    <a:lnTo>
                      <a:pt x="590" y="65"/>
                    </a:lnTo>
                    <a:lnTo>
                      <a:pt x="590" y="10"/>
                    </a:lnTo>
                    <a:lnTo>
                      <a:pt x="370" y="58"/>
                    </a:lnTo>
                    <a:lnTo>
                      <a:pt x="370" y="119"/>
                    </a:lnTo>
                    <a:lnTo>
                      <a:pt x="0" y="204"/>
                    </a:lnTo>
                    <a:close/>
                  </a:path>
                </a:pathLst>
              </a:custGeom>
              <a:noFill/>
              <a:ln w="1588">
                <a:solidFill>
                  <a:srgbClr val="ABADB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84" name="Freeform 624"/>
              <p:cNvSpPr>
                <a:spLocks/>
              </p:cNvSpPr>
              <p:nvPr/>
            </p:nvSpPr>
            <p:spPr bwMode="auto">
              <a:xfrm>
                <a:off x="4780" y="3239"/>
                <a:ext cx="650" cy="355"/>
              </a:xfrm>
              <a:custGeom>
                <a:avLst/>
                <a:gdLst>
                  <a:gd name="T0" fmla="*/ 6438 w 7795"/>
                  <a:gd name="T1" fmla="*/ 397 h 4260"/>
                  <a:gd name="T2" fmla="*/ 5734 w 7795"/>
                  <a:gd name="T3" fmla="*/ 1296 h 4260"/>
                  <a:gd name="T4" fmla="*/ 4859 w 7795"/>
                  <a:gd name="T5" fmla="*/ 2911 h 4260"/>
                  <a:gd name="T6" fmla="*/ 4712 w 7795"/>
                  <a:gd name="T7" fmla="*/ 3232 h 4260"/>
                  <a:gd name="T8" fmla="*/ 4544 w 7795"/>
                  <a:gd name="T9" fmla="*/ 3423 h 4260"/>
                  <a:gd name="T10" fmla="*/ 4297 w 7795"/>
                  <a:gd name="T11" fmla="*/ 3509 h 4260"/>
                  <a:gd name="T12" fmla="*/ 2331 w 7795"/>
                  <a:gd name="T13" fmla="*/ 3632 h 4260"/>
                  <a:gd name="T14" fmla="*/ 892 w 7795"/>
                  <a:gd name="T15" fmla="*/ 3636 h 4260"/>
                  <a:gd name="T16" fmla="*/ 239 w 7795"/>
                  <a:gd name="T17" fmla="*/ 3666 h 4260"/>
                  <a:gd name="T18" fmla="*/ 86 w 7795"/>
                  <a:gd name="T19" fmla="*/ 3758 h 4260"/>
                  <a:gd name="T20" fmla="*/ 21 w 7795"/>
                  <a:gd name="T21" fmla="*/ 3861 h 4260"/>
                  <a:gd name="T22" fmla="*/ 5 w 7795"/>
                  <a:gd name="T23" fmla="*/ 4017 h 4260"/>
                  <a:gd name="T24" fmla="*/ 54 w 7795"/>
                  <a:gd name="T25" fmla="*/ 4151 h 4260"/>
                  <a:gd name="T26" fmla="*/ 135 w 7795"/>
                  <a:gd name="T27" fmla="*/ 4207 h 4260"/>
                  <a:gd name="T28" fmla="*/ 1161 w 7795"/>
                  <a:gd name="T29" fmla="*/ 4260 h 4260"/>
                  <a:gd name="T30" fmla="*/ 3259 w 7795"/>
                  <a:gd name="T31" fmla="*/ 4207 h 4260"/>
                  <a:gd name="T32" fmla="*/ 4309 w 7795"/>
                  <a:gd name="T33" fmla="*/ 4131 h 4260"/>
                  <a:gd name="T34" fmla="*/ 4698 w 7795"/>
                  <a:gd name="T35" fmla="*/ 4028 h 4260"/>
                  <a:gd name="T36" fmla="*/ 4963 w 7795"/>
                  <a:gd name="T37" fmla="*/ 3837 h 4260"/>
                  <a:gd name="T38" fmla="*/ 5152 w 7795"/>
                  <a:gd name="T39" fmla="*/ 3549 h 4260"/>
                  <a:gd name="T40" fmla="*/ 5305 w 7795"/>
                  <a:gd name="T41" fmla="*/ 3174 h 4260"/>
                  <a:gd name="T42" fmla="*/ 5693 w 7795"/>
                  <a:gd name="T43" fmla="*/ 2251 h 4260"/>
                  <a:gd name="T44" fmla="*/ 5913 w 7795"/>
                  <a:gd name="T45" fmla="*/ 1790 h 4260"/>
                  <a:gd name="T46" fmla="*/ 6081 w 7795"/>
                  <a:gd name="T47" fmla="*/ 1425 h 4260"/>
                  <a:gd name="T48" fmla="*/ 6221 w 7795"/>
                  <a:gd name="T49" fmla="*/ 1171 h 4260"/>
                  <a:gd name="T50" fmla="*/ 6413 w 7795"/>
                  <a:gd name="T51" fmla="*/ 980 h 4260"/>
                  <a:gd name="T52" fmla="*/ 6941 w 7795"/>
                  <a:gd name="T53" fmla="*/ 773 h 4260"/>
                  <a:gd name="T54" fmla="*/ 7458 w 7795"/>
                  <a:gd name="T55" fmla="*/ 564 h 4260"/>
                  <a:gd name="T56" fmla="*/ 7714 w 7795"/>
                  <a:gd name="T57" fmla="*/ 397 h 4260"/>
                  <a:gd name="T58" fmla="*/ 7795 w 7795"/>
                  <a:gd name="T59" fmla="*/ 178 h 4260"/>
                  <a:gd name="T60" fmla="*/ 7747 w 7795"/>
                  <a:gd name="T61" fmla="*/ 37 h 4260"/>
                  <a:gd name="T62" fmla="*/ 7638 w 7795"/>
                  <a:gd name="T63" fmla="*/ 0 h 4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7795" h="4260">
                    <a:moveTo>
                      <a:pt x="6691" y="267"/>
                    </a:moveTo>
                    <a:lnTo>
                      <a:pt x="6438" y="397"/>
                    </a:lnTo>
                    <a:lnTo>
                      <a:pt x="6181" y="524"/>
                    </a:lnTo>
                    <a:lnTo>
                      <a:pt x="5734" y="1296"/>
                    </a:lnTo>
                    <a:lnTo>
                      <a:pt x="5034" y="2857"/>
                    </a:lnTo>
                    <a:lnTo>
                      <a:pt x="4859" y="2911"/>
                    </a:lnTo>
                    <a:lnTo>
                      <a:pt x="4787" y="3088"/>
                    </a:lnTo>
                    <a:lnTo>
                      <a:pt x="4712" y="3232"/>
                    </a:lnTo>
                    <a:lnTo>
                      <a:pt x="4636" y="3342"/>
                    </a:lnTo>
                    <a:lnTo>
                      <a:pt x="4544" y="3423"/>
                    </a:lnTo>
                    <a:lnTo>
                      <a:pt x="4437" y="3478"/>
                    </a:lnTo>
                    <a:lnTo>
                      <a:pt x="4297" y="3509"/>
                    </a:lnTo>
                    <a:lnTo>
                      <a:pt x="3293" y="3599"/>
                    </a:lnTo>
                    <a:lnTo>
                      <a:pt x="2331" y="3632"/>
                    </a:lnTo>
                    <a:lnTo>
                      <a:pt x="1380" y="3636"/>
                    </a:lnTo>
                    <a:lnTo>
                      <a:pt x="892" y="3636"/>
                    </a:lnTo>
                    <a:lnTo>
                      <a:pt x="388" y="3642"/>
                    </a:lnTo>
                    <a:lnTo>
                      <a:pt x="239" y="3666"/>
                    </a:lnTo>
                    <a:lnTo>
                      <a:pt x="145" y="3703"/>
                    </a:lnTo>
                    <a:lnTo>
                      <a:pt x="86" y="3758"/>
                    </a:lnTo>
                    <a:lnTo>
                      <a:pt x="44" y="3814"/>
                    </a:lnTo>
                    <a:lnTo>
                      <a:pt x="21" y="3861"/>
                    </a:lnTo>
                    <a:lnTo>
                      <a:pt x="0" y="3918"/>
                    </a:lnTo>
                    <a:lnTo>
                      <a:pt x="5" y="4017"/>
                    </a:lnTo>
                    <a:lnTo>
                      <a:pt x="27" y="4111"/>
                    </a:lnTo>
                    <a:lnTo>
                      <a:pt x="54" y="4151"/>
                    </a:lnTo>
                    <a:lnTo>
                      <a:pt x="86" y="4190"/>
                    </a:lnTo>
                    <a:lnTo>
                      <a:pt x="135" y="4207"/>
                    </a:lnTo>
                    <a:lnTo>
                      <a:pt x="183" y="4230"/>
                    </a:lnTo>
                    <a:lnTo>
                      <a:pt x="1161" y="4260"/>
                    </a:lnTo>
                    <a:lnTo>
                      <a:pt x="2198" y="4253"/>
                    </a:lnTo>
                    <a:lnTo>
                      <a:pt x="3259" y="4207"/>
                    </a:lnTo>
                    <a:lnTo>
                      <a:pt x="3787" y="4174"/>
                    </a:lnTo>
                    <a:lnTo>
                      <a:pt x="4309" y="4131"/>
                    </a:lnTo>
                    <a:lnTo>
                      <a:pt x="4520" y="4090"/>
                    </a:lnTo>
                    <a:lnTo>
                      <a:pt x="4698" y="4028"/>
                    </a:lnTo>
                    <a:lnTo>
                      <a:pt x="4843" y="3942"/>
                    </a:lnTo>
                    <a:lnTo>
                      <a:pt x="4963" y="3837"/>
                    </a:lnTo>
                    <a:lnTo>
                      <a:pt x="5066" y="3704"/>
                    </a:lnTo>
                    <a:lnTo>
                      <a:pt x="5152" y="3549"/>
                    </a:lnTo>
                    <a:lnTo>
                      <a:pt x="5230" y="3375"/>
                    </a:lnTo>
                    <a:lnTo>
                      <a:pt x="5305" y="3174"/>
                    </a:lnTo>
                    <a:lnTo>
                      <a:pt x="5481" y="2721"/>
                    </a:lnTo>
                    <a:lnTo>
                      <a:pt x="5693" y="2251"/>
                    </a:lnTo>
                    <a:lnTo>
                      <a:pt x="5806" y="2016"/>
                    </a:lnTo>
                    <a:lnTo>
                      <a:pt x="5913" y="1790"/>
                    </a:lnTo>
                    <a:lnTo>
                      <a:pt x="6016" y="1575"/>
                    </a:lnTo>
                    <a:lnTo>
                      <a:pt x="6081" y="1425"/>
                    </a:lnTo>
                    <a:lnTo>
                      <a:pt x="6144" y="1288"/>
                    </a:lnTo>
                    <a:lnTo>
                      <a:pt x="6221" y="1171"/>
                    </a:lnTo>
                    <a:lnTo>
                      <a:pt x="6313" y="1068"/>
                    </a:lnTo>
                    <a:lnTo>
                      <a:pt x="6413" y="980"/>
                    </a:lnTo>
                    <a:lnTo>
                      <a:pt x="6680" y="867"/>
                    </a:lnTo>
                    <a:lnTo>
                      <a:pt x="6941" y="773"/>
                    </a:lnTo>
                    <a:lnTo>
                      <a:pt x="7196" y="673"/>
                    </a:lnTo>
                    <a:lnTo>
                      <a:pt x="7458" y="564"/>
                    </a:lnTo>
                    <a:lnTo>
                      <a:pt x="7595" y="487"/>
                    </a:lnTo>
                    <a:lnTo>
                      <a:pt x="7714" y="397"/>
                    </a:lnTo>
                    <a:lnTo>
                      <a:pt x="7783" y="299"/>
                    </a:lnTo>
                    <a:lnTo>
                      <a:pt x="7795" y="178"/>
                    </a:lnTo>
                    <a:lnTo>
                      <a:pt x="7782" y="86"/>
                    </a:lnTo>
                    <a:lnTo>
                      <a:pt x="7747" y="37"/>
                    </a:lnTo>
                    <a:lnTo>
                      <a:pt x="7709" y="25"/>
                    </a:lnTo>
                    <a:lnTo>
                      <a:pt x="7638" y="0"/>
                    </a:lnTo>
                    <a:lnTo>
                      <a:pt x="6691" y="267"/>
                    </a:lnTo>
                    <a:close/>
                  </a:path>
                </a:pathLst>
              </a:custGeom>
              <a:solidFill>
                <a:srgbClr val="9829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85" name="Freeform 625"/>
              <p:cNvSpPr>
                <a:spLocks/>
              </p:cNvSpPr>
              <p:nvPr/>
            </p:nvSpPr>
            <p:spPr bwMode="auto">
              <a:xfrm>
                <a:off x="4780" y="3239"/>
                <a:ext cx="650" cy="355"/>
              </a:xfrm>
              <a:custGeom>
                <a:avLst/>
                <a:gdLst>
                  <a:gd name="T0" fmla="*/ 6438 w 7795"/>
                  <a:gd name="T1" fmla="*/ 397 h 4260"/>
                  <a:gd name="T2" fmla="*/ 5734 w 7795"/>
                  <a:gd name="T3" fmla="*/ 1296 h 4260"/>
                  <a:gd name="T4" fmla="*/ 4859 w 7795"/>
                  <a:gd name="T5" fmla="*/ 2911 h 4260"/>
                  <a:gd name="T6" fmla="*/ 4712 w 7795"/>
                  <a:gd name="T7" fmla="*/ 3232 h 4260"/>
                  <a:gd name="T8" fmla="*/ 4544 w 7795"/>
                  <a:gd name="T9" fmla="*/ 3423 h 4260"/>
                  <a:gd name="T10" fmla="*/ 4297 w 7795"/>
                  <a:gd name="T11" fmla="*/ 3509 h 4260"/>
                  <a:gd name="T12" fmla="*/ 2331 w 7795"/>
                  <a:gd name="T13" fmla="*/ 3632 h 4260"/>
                  <a:gd name="T14" fmla="*/ 892 w 7795"/>
                  <a:gd name="T15" fmla="*/ 3636 h 4260"/>
                  <a:gd name="T16" fmla="*/ 239 w 7795"/>
                  <a:gd name="T17" fmla="*/ 3666 h 4260"/>
                  <a:gd name="T18" fmla="*/ 86 w 7795"/>
                  <a:gd name="T19" fmla="*/ 3758 h 4260"/>
                  <a:gd name="T20" fmla="*/ 21 w 7795"/>
                  <a:gd name="T21" fmla="*/ 3861 h 4260"/>
                  <a:gd name="T22" fmla="*/ 5 w 7795"/>
                  <a:gd name="T23" fmla="*/ 4017 h 4260"/>
                  <a:gd name="T24" fmla="*/ 54 w 7795"/>
                  <a:gd name="T25" fmla="*/ 4151 h 4260"/>
                  <a:gd name="T26" fmla="*/ 135 w 7795"/>
                  <a:gd name="T27" fmla="*/ 4207 h 4260"/>
                  <a:gd name="T28" fmla="*/ 1161 w 7795"/>
                  <a:gd name="T29" fmla="*/ 4260 h 4260"/>
                  <a:gd name="T30" fmla="*/ 3259 w 7795"/>
                  <a:gd name="T31" fmla="*/ 4207 h 4260"/>
                  <a:gd name="T32" fmla="*/ 4309 w 7795"/>
                  <a:gd name="T33" fmla="*/ 4131 h 4260"/>
                  <a:gd name="T34" fmla="*/ 4698 w 7795"/>
                  <a:gd name="T35" fmla="*/ 4028 h 4260"/>
                  <a:gd name="T36" fmla="*/ 4963 w 7795"/>
                  <a:gd name="T37" fmla="*/ 3837 h 4260"/>
                  <a:gd name="T38" fmla="*/ 5152 w 7795"/>
                  <a:gd name="T39" fmla="*/ 3549 h 4260"/>
                  <a:gd name="T40" fmla="*/ 5305 w 7795"/>
                  <a:gd name="T41" fmla="*/ 3174 h 4260"/>
                  <a:gd name="T42" fmla="*/ 5693 w 7795"/>
                  <a:gd name="T43" fmla="*/ 2251 h 4260"/>
                  <a:gd name="T44" fmla="*/ 5913 w 7795"/>
                  <a:gd name="T45" fmla="*/ 1790 h 4260"/>
                  <a:gd name="T46" fmla="*/ 6081 w 7795"/>
                  <a:gd name="T47" fmla="*/ 1425 h 4260"/>
                  <a:gd name="T48" fmla="*/ 6221 w 7795"/>
                  <a:gd name="T49" fmla="*/ 1171 h 4260"/>
                  <a:gd name="T50" fmla="*/ 6413 w 7795"/>
                  <a:gd name="T51" fmla="*/ 980 h 4260"/>
                  <a:gd name="T52" fmla="*/ 6941 w 7795"/>
                  <a:gd name="T53" fmla="*/ 773 h 4260"/>
                  <a:gd name="T54" fmla="*/ 7458 w 7795"/>
                  <a:gd name="T55" fmla="*/ 564 h 4260"/>
                  <a:gd name="T56" fmla="*/ 7714 w 7795"/>
                  <a:gd name="T57" fmla="*/ 397 h 4260"/>
                  <a:gd name="T58" fmla="*/ 7795 w 7795"/>
                  <a:gd name="T59" fmla="*/ 178 h 4260"/>
                  <a:gd name="T60" fmla="*/ 7747 w 7795"/>
                  <a:gd name="T61" fmla="*/ 37 h 4260"/>
                  <a:gd name="T62" fmla="*/ 7638 w 7795"/>
                  <a:gd name="T63" fmla="*/ 0 h 4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7795" h="4260">
                    <a:moveTo>
                      <a:pt x="6691" y="267"/>
                    </a:moveTo>
                    <a:lnTo>
                      <a:pt x="6438" y="397"/>
                    </a:lnTo>
                    <a:lnTo>
                      <a:pt x="6181" y="524"/>
                    </a:lnTo>
                    <a:lnTo>
                      <a:pt x="5734" y="1296"/>
                    </a:lnTo>
                    <a:lnTo>
                      <a:pt x="5034" y="2857"/>
                    </a:lnTo>
                    <a:lnTo>
                      <a:pt x="4859" y="2911"/>
                    </a:lnTo>
                    <a:lnTo>
                      <a:pt x="4787" y="3088"/>
                    </a:lnTo>
                    <a:lnTo>
                      <a:pt x="4712" y="3232"/>
                    </a:lnTo>
                    <a:lnTo>
                      <a:pt x="4636" y="3342"/>
                    </a:lnTo>
                    <a:lnTo>
                      <a:pt x="4544" y="3423"/>
                    </a:lnTo>
                    <a:lnTo>
                      <a:pt x="4437" y="3478"/>
                    </a:lnTo>
                    <a:lnTo>
                      <a:pt x="4297" y="3509"/>
                    </a:lnTo>
                    <a:lnTo>
                      <a:pt x="3293" y="3599"/>
                    </a:lnTo>
                    <a:lnTo>
                      <a:pt x="2331" y="3632"/>
                    </a:lnTo>
                    <a:lnTo>
                      <a:pt x="1380" y="3636"/>
                    </a:lnTo>
                    <a:lnTo>
                      <a:pt x="892" y="3636"/>
                    </a:lnTo>
                    <a:lnTo>
                      <a:pt x="388" y="3642"/>
                    </a:lnTo>
                    <a:lnTo>
                      <a:pt x="239" y="3666"/>
                    </a:lnTo>
                    <a:lnTo>
                      <a:pt x="145" y="3703"/>
                    </a:lnTo>
                    <a:lnTo>
                      <a:pt x="86" y="3758"/>
                    </a:lnTo>
                    <a:lnTo>
                      <a:pt x="44" y="3814"/>
                    </a:lnTo>
                    <a:lnTo>
                      <a:pt x="21" y="3861"/>
                    </a:lnTo>
                    <a:lnTo>
                      <a:pt x="0" y="3918"/>
                    </a:lnTo>
                    <a:lnTo>
                      <a:pt x="5" y="4017"/>
                    </a:lnTo>
                    <a:lnTo>
                      <a:pt x="27" y="4111"/>
                    </a:lnTo>
                    <a:lnTo>
                      <a:pt x="54" y="4151"/>
                    </a:lnTo>
                    <a:lnTo>
                      <a:pt x="86" y="4190"/>
                    </a:lnTo>
                    <a:lnTo>
                      <a:pt x="135" y="4207"/>
                    </a:lnTo>
                    <a:lnTo>
                      <a:pt x="183" y="4230"/>
                    </a:lnTo>
                    <a:lnTo>
                      <a:pt x="1161" y="4260"/>
                    </a:lnTo>
                    <a:lnTo>
                      <a:pt x="2198" y="4253"/>
                    </a:lnTo>
                    <a:lnTo>
                      <a:pt x="3259" y="4207"/>
                    </a:lnTo>
                    <a:lnTo>
                      <a:pt x="3787" y="4174"/>
                    </a:lnTo>
                    <a:lnTo>
                      <a:pt x="4309" y="4131"/>
                    </a:lnTo>
                    <a:lnTo>
                      <a:pt x="4520" y="4090"/>
                    </a:lnTo>
                    <a:lnTo>
                      <a:pt x="4698" y="4028"/>
                    </a:lnTo>
                    <a:lnTo>
                      <a:pt x="4843" y="3942"/>
                    </a:lnTo>
                    <a:lnTo>
                      <a:pt x="4963" y="3837"/>
                    </a:lnTo>
                    <a:lnTo>
                      <a:pt x="5066" y="3704"/>
                    </a:lnTo>
                    <a:lnTo>
                      <a:pt x="5152" y="3549"/>
                    </a:lnTo>
                    <a:lnTo>
                      <a:pt x="5230" y="3375"/>
                    </a:lnTo>
                    <a:lnTo>
                      <a:pt x="5305" y="3174"/>
                    </a:lnTo>
                    <a:lnTo>
                      <a:pt x="5481" y="2721"/>
                    </a:lnTo>
                    <a:lnTo>
                      <a:pt x="5693" y="2251"/>
                    </a:lnTo>
                    <a:lnTo>
                      <a:pt x="5806" y="2016"/>
                    </a:lnTo>
                    <a:lnTo>
                      <a:pt x="5913" y="1790"/>
                    </a:lnTo>
                    <a:lnTo>
                      <a:pt x="6016" y="1575"/>
                    </a:lnTo>
                    <a:lnTo>
                      <a:pt x="6081" y="1425"/>
                    </a:lnTo>
                    <a:lnTo>
                      <a:pt x="6144" y="1288"/>
                    </a:lnTo>
                    <a:lnTo>
                      <a:pt x="6221" y="1171"/>
                    </a:lnTo>
                    <a:lnTo>
                      <a:pt x="6313" y="1068"/>
                    </a:lnTo>
                    <a:lnTo>
                      <a:pt x="6413" y="980"/>
                    </a:lnTo>
                    <a:lnTo>
                      <a:pt x="6680" y="867"/>
                    </a:lnTo>
                    <a:lnTo>
                      <a:pt x="6941" y="773"/>
                    </a:lnTo>
                    <a:lnTo>
                      <a:pt x="7196" y="673"/>
                    </a:lnTo>
                    <a:lnTo>
                      <a:pt x="7458" y="564"/>
                    </a:lnTo>
                    <a:lnTo>
                      <a:pt x="7595" y="487"/>
                    </a:lnTo>
                    <a:lnTo>
                      <a:pt x="7714" y="397"/>
                    </a:lnTo>
                    <a:lnTo>
                      <a:pt x="7783" y="299"/>
                    </a:lnTo>
                    <a:lnTo>
                      <a:pt x="7795" y="178"/>
                    </a:lnTo>
                    <a:lnTo>
                      <a:pt x="7782" y="86"/>
                    </a:lnTo>
                    <a:lnTo>
                      <a:pt x="7747" y="37"/>
                    </a:lnTo>
                    <a:lnTo>
                      <a:pt x="7709" y="25"/>
                    </a:lnTo>
                    <a:lnTo>
                      <a:pt x="7638" y="0"/>
                    </a:lnTo>
                    <a:lnTo>
                      <a:pt x="6691" y="267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86" name="Freeform 626"/>
              <p:cNvSpPr>
                <a:spLocks/>
              </p:cNvSpPr>
              <p:nvPr/>
            </p:nvSpPr>
            <p:spPr bwMode="auto">
              <a:xfrm>
                <a:off x="5298" y="3020"/>
                <a:ext cx="165" cy="247"/>
              </a:xfrm>
              <a:custGeom>
                <a:avLst/>
                <a:gdLst>
                  <a:gd name="T0" fmla="*/ 1713 w 1980"/>
                  <a:gd name="T1" fmla="*/ 0 h 2971"/>
                  <a:gd name="T2" fmla="*/ 1594 w 1980"/>
                  <a:gd name="T3" fmla="*/ 17 h 2971"/>
                  <a:gd name="T4" fmla="*/ 1479 w 1980"/>
                  <a:gd name="T5" fmla="*/ 37 h 2971"/>
                  <a:gd name="T6" fmla="*/ 1369 w 1980"/>
                  <a:gd name="T7" fmla="*/ 71 h 2971"/>
                  <a:gd name="T8" fmla="*/ 1259 w 1980"/>
                  <a:gd name="T9" fmla="*/ 109 h 2971"/>
                  <a:gd name="T10" fmla="*/ 1155 w 1980"/>
                  <a:gd name="T11" fmla="*/ 150 h 2971"/>
                  <a:gd name="T12" fmla="*/ 1058 w 1980"/>
                  <a:gd name="T13" fmla="*/ 201 h 2971"/>
                  <a:gd name="T14" fmla="*/ 964 w 1980"/>
                  <a:gd name="T15" fmla="*/ 257 h 2971"/>
                  <a:gd name="T16" fmla="*/ 870 w 1980"/>
                  <a:gd name="T17" fmla="*/ 319 h 2971"/>
                  <a:gd name="T18" fmla="*/ 785 w 1980"/>
                  <a:gd name="T19" fmla="*/ 385 h 2971"/>
                  <a:gd name="T20" fmla="*/ 704 w 1980"/>
                  <a:gd name="T21" fmla="*/ 459 h 2971"/>
                  <a:gd name="T22" fmla="*/ 629 w 1980"/>
                  <a:gd name="T23" fmla="*/ 535 h 2971"/>
                  <a:gd name="T24" fmla="*/ 558 w 1980"/>
                  <a:gd name="T25" fmla="*/ 617 h 2971"/>
                  <a:gd name="T26" fmla="*/ 492 w 1980"/>
                  <a:gd name="T27" fmla="*/ 702 h 2971"/>
                  <a:gd name="T28" fmla="*/ 430 w 1980"/>
                  <a:gd name="T29" fmla="*/ 795 h 2971"/>
                  <a:gd name="T30" fmla="*/ 373 w 1980"/>
                  <a:gd name="T31" fmla="*/ 888 h 2971"/>
                  <a:gd name="T32" fmla="*/ 322 w 1980"/>
                  <a:gd name="T33" fmla="*/ 987 h 2971"/>
                  <a:gd name="T34" fmla="*/ 253 w 1980"/>
                  <a:gd name="T35" fmla="*/ 1115 h 2971"/>
                  <a:gd name="T36" fmla="*/ 195 w 1980"/>
                  <a:gd name="T37" fmla="*/ 1244 h 2971"/>
                  <a:gd name="T38" fmla="*/ 146 w 1980"/>
                  <a:gd name="T39" fmla="*/ 1369 h 2971"/>
                  <a:gd name="T40" fmla="*/ 102 w 1980"/>
                  <a:gd name="T41" fmla="*/ 1494 h 2971"/>
                  <a:gd name="T42" fmla="*/ 69 w 1980"/>
                  <a:gd name="T43" fmla="*/ 1612 h 2971"/>
                  <a:gd name="T44" fmla="*/ 43 w 1980"/>
                  <a:gd name="T45" fmla="*/ 1728 h 2971"/>
                  <a:gd name="T46" fmla="*/ 23 w 1980"/>
                  <a:gd name="T47" fmla="*/ 1844 h 2971"/>
                  <a:gd name="T48" fmla="*/ 8 w 1980"/>
                  <a:gd name="T49" fmla="*/ 1951 h 2971"/>
                  <a:gd name="T50" fmla="*/ 2 w 1980"/>
                  <a:gd name="T51" fmla="*/ 2057 h 2971"/>
                  <a:gd name="T52" fmla="*/ 0 w 1980"/>
                  <a:gd name="T53" fmla="*/ 2158 h 2971"/>
                  <a:gd name="T54" fmla="*/ 2 w 1980"/>
                  <a:gd name="T55" fmla="*/ 2255 h 2971"/>
                  <a:gd name="T56" fmla="*/ 8 w 1980"/>
                  <a:gd name="T57" fmla="*/ 2351 h 2971"/>
                  <a:gd name="T58" fmla="*/ 23 w 1980"/>
                  <a:gd name="T59" fmla="*/ 2438 h 2971"/>
                  <a:gd name="T60" fmla="*/ 32 w 1980"/>
                  <a:gd name="T61" fmla="*/ 2555 h 2971"/>
                  <a:gd name="T62" fmla="*/ 64 w 1980"/>
                  <a:gd name="T63" fmla="*/ 2653 h 2971"/>
                  <a:gd name="T64" fmla="*/ 123 w 1980"/>
                  <a:gd name="T65" fmla="*/ 2736 h 2971"/>
                  <a:gd name="T66" fmla="*/ 190 w 1980"/>
                  <a:gd name="T67" fmla="*/ 2809 h 2971"/>
                  <a:gd name="T68" fmla="*/ 271 w 1980"/>
                  <a:gd name="T69" fmla="*/ 2872 h 2971"/>
                  <a:gd name="T70" fmla="*/ 376 w 1980"/>
                  <a:gd name="T71" fmla="*/ 2929 h 2971"/>
                  <a:gd name="T72" fmla="*/ 478 w 1980"/>
                  <a:gd name="T73" fmla="*/ 2962 h 2971"/>
                  <a:gd name="T74" fmla="*/ 582 w 1980"/>
                  <a:gd name="T75" fmla="*/ 2971 h 2971"/>
                  <a:gd name="T76" fmla="*/ 683 w 1980"/>
                  <a:gd name="T77" fmla="*/ 2964 h 2971"/>
                  <a:gd name="T78" fmla="*/ 787 w 1980"/>
                  <a:gd name="T79" fmla="*/ 2935 h 2971"/>
                  <a:gd name="T80" fmla="*/ 890 w 1980"/>
                  <a:gd name="T81" fmla="*/ 2900 h 2971"/>
                  <a:gd name="T82" fmla="*/ 1006 w 1980"/>
                  <a:gd name="T83" fmla="*/ 2844 h 2971"/>
                  <a:gd name="T84" fmla="*/ 1115 w 1980"/>
                  <a:gd name="T85" fmla="*/ 2797 h 2971"/>
                  <a:gd name="T86" fmla="*/ 1227 w 1980"/>
                  <a:gd name="T87" fmla="*/ 2750 h 2971"/>
                  <a:gd name="T88" fmla="*/ 1335 w 1980"/>
                  <a:gd name="T89" fmla="*/ 2701 h 2971"/>
                  <a:gd name="T90" fmla="*/ 1434 w 1980"/>
                  <a:gd name="T91" fmla="*/ 2641 h 2971"/>
                  <a:gd name="T92" fmla="*/ 1520 w 1980"/>
                  <a:gd name="T93" fmla="*/ 2569 h 2971"/>
                  <a:gd name="T94" fmla="*/ 1594 w 1980"/>
                  <a:gd name="T95" fmla="*/ 2476 h 2971"/>
                  <a:gd name="T96" fmla="*/ 1645 w 1980"/>
                  <a:gd name="T97" fmla="*/ 2367 h 2971"/>
                  <a:gd name="T98" fmla="*/ 1969 w 1980"/>
                  <a:gd name="T99" fmla="*/ 315 h 2971"/>
                  <a:gd name="T100" fmla="*/ 1980 w 1980"/>
                  <a:gd name="T101" fmla="*/ 214 h 2971"/>
                  <a:gd name="T102" fmla="*/ 1971 w 1980"/>
                  <a:gd name="T103" fmla="*/ 138 h 2971"/>
                  <a:gd name="T104" fmla="*/ 1906 w 1980"/>
                  <a:gd name="T105" fmla="*/ 45 h 2971"/>
                  <a:gd name="T106" fmla="*/ 1811 w 1980"/>
                  <a:gd name="T107" fmla="*/ 8 h 2971"/>
                  <a:gd name="T108" fmla="*/ 1713 w 1980"/>
                  <a:gd name="T109" fmla="*/ 0 h 29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980" h="2971">
                    <a:moveTo>
                      <a:pt x="1713" y="0"/>
                    </a:moveTo>
                    <a:lnTo>
                      <a:pt x="1594" y="17"/>
                    </a:lnTo>
                    <a:lnTo>
                      <a:pt x="1479" y="37"/>
                    </a:lnTo>
                    <a:lnTo>
                      <a:pt x="1369" y="71"/>
                    </a:lnTo>
                    <a:lnTo>
                      <a:pt x="1259" y="109"/>
                    </a:lnTo>
                    <a:lnTo>
                      <a:pt x="1155" y="150"/>
                    </a:lnTo>
                    <a:lnTo>
                      <a:pt x="1058" y="201"/>
                    </a:lnTo>
                    <a:lnTo>
                      <a:pt x="964" y="257"/>
                    </a:lnTo>
                    <a:lnTo>
                      <a:pt x="870" y="319"/>
                    </a:lnTo>
                    <a:lnTo>
                      <a:pt x="785" y="385"/>
                    </a:lnTo>
                    <a:lnTo>
                      <a:pt x="704" y="459"/>
                    </a:lnTo>
                    <a:lnTo>
                      <a:pt x="629" y="535"/>
                    </a:lnTo>
                    <a:lnTo>
                      <a:pt x="558" y="617"/>
                    </a:lnTo>
                    <a:lnTo>
                      <a:pt x="492" y="702"/>
                    </a:lnTo>
                    <a:lnTo>
                      <a:pt x="430" y="795"/>
                    </a:lnTo>
                    <a:lnTo>
                      <a:pt x="373" y="888"/>
                    </a:lnTo>
                    <a:lnTo>
                      <a:pt x="322" y="987"/>
                    </a:lnTo>
                    <a:lnTo>
                      <a:pt x="253" y="1115"/>
                    </a:lnTo>
                    <a:lnTo>
                      <a:pt x="195" y="1244"/>
                    </a:lnTo>
                    <a:lnTo>
                      <a:pt x="146" y="1369"/>
                    </a:lnTo>
                    <a:lnTo>
                      <a:pt x="102" y="1494"/>
                    </a:lnTo>
                    <a:lnTo>
                      <a:pt x="69" y="1612"/>
                    </a:lnTo>
                    <a:lnTo>
                      <a:pt x="43" y="1728"/>
                    </a:lnTo>
                    <a:lnTo>
                      <a:pt x="23" y="1844"/>
                    </a:lnTo>
                    <a:lnTo>
                      <a:pt x="8" y="1951"/>
                    </a:lnTo>
                    <a:lnTo>
                      <a:pt x="2" y="2057"/>
                    </a:lnTo>
                    <a:lnTo>
                      <a:pt x="0" y="2158"/>
                    </a:lnTo>
                    <a:lnTo>
                      <a:pt x="2" y="2255"/>
                    </a:lnTo>
                    <a:lnTo>
                      <a:pt x="8" y="2351"/>
                    </a:lnTo>
                    <a:lnTo>
                      <a:pt x="23" y="2438"/>
                    </a:lnTo>
                    <a:lnTo>
                      <a:pt x="32" y="2555"/>
                    </a:lnTo>
                    <a:lnTo>
                      <a:pt x="64" y="2653"/>
                    </a:lnTo>
                    <a:lnTo>
                      <a:pt x="123" y="2736"/>
                    </a:lnTo>
                    <a:lnTo>
                      <a:pt x="190" y="2809"/>
                    </a:lnTo>
                    <a:lnTo>
                      <a:pt x="271" y="2872"/>
                    </a:lnTo>
                    <a:lnTo>
                      <a:pt x="376" y="2929"/>
                    </a:lnTo>
                    <a:lnTo>
                      <a:pt x="478" y="2962"/>
                    </a:lnTo>
                    <a:lnTo>
                      <a:pt x="582" y="2971"/>
                    </a:lnTo>
                    <a:lnTo>
                      <a:pt x="683" y="2964"/>
                    </a:lnTo>
                    <a:lnTo>
                      <a:pt x="787" y="2935"/>
                    </a:lnTo>
                    <a:lnTo>
                      <a:pt x="890" y="2900"/>
                    </a:lnTo>
                    <a:lnTo>
                      <a:pt x="1006" y="2844"/>
                    </a:lnTo>
                    <a:lnTo>
                      <a:pt x="1115" y="2797"/>
                    </a:lnTo>
                    <a:lnTo>
                      <a:pt x="1227" y="2750"/>
                    </a:lnTo>
                    <a:lnTo>
                      <a:pt x="1335" y="2701"/>
                    </a:lnTo>
                    <a:lnTo>
                      <a:pt x="1434" y="2641"/>
                    </a:lnTo>
                    <a:lnTo>
                      <a:pt x="1520" y="2569"/>
                    </a:lnTo>
                    <a:lnTo>
                      <a:pt x="1594" y="2476"/>
                    </a:lnTo>
                    <a:lnTo>
                      <a:pt x="1645" y="2367"/>
                    </a:lnTo>
                    <a:lnTo>
                      <a:pt x="1969" y="315"/>
                    </a:lnTo>
                    <a:lnTo>
                      <a:pt x="1980" y="214"/>
                    </a:lnTo>
                    <a:lnTo>
                      <a:pt x="1971" y="138"/>
                    </a:lnTo>
                    <a:lnTo>
                      <a:pt x="1906" y="45"/>
                    </a:lnTo>
                    <a:lnTo>
                      <a:pt x="1811" y="8"/>
                    </a:lnTo>
                    <a:lnTo>
                      <a:pt x="1713" y="0"/>
                    </a:lnTo>
                    <a:close/>
                  </a:path>
                </a:pathLst>
              </a:custGeom>
              <a:solidFill>
                <a:srgbClr val="9829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87" name="Freeform 627"/>
              <p:cNvSpPr>
                <a:spLocks/>
              </p:cNvSpPr>
              <p:nvPr/>
            </p:nvSpPr>
            <p:spPr bwMode="auto">
              <a:xfrm>
                <a:off x="5298" y="3020"/>
                <a:ext cx="165" cy="247"/>
              </a:xfrm>
              <a:custGeom>
                <a:avLst/>
                <a:gdLst>
                  <a:gd name="T0" fmla="*/ 1713 w 1980"/>
                  <a:gd name="T1" fmla="*/ 0 h 2971"/>
                  <a:gd name="T2" fmla="*/ 1594 w 1980"/>
                  <a:gd name="T3" fmla="*/ 17 h 2971"/>
                  <a:gd name="T4" fmla="*/ 1479 w 1980"/>
                  <a:gd name="T5" fmla="*/ 37 h 2971"/>
                  <a:gd name="T6" fmla="*/ 1369 w 1980"/>
                  <a:gd name="T7" fmla="*/ 71 h 2971"/>
                  <a:gd name="T8" fmla="*/ 1259 w 1980"/>
                  <a:gd name="T9" fmla="*/ 109 h 2971"/>
                  <a:gd name="T10" fmla="*/ 1155 w 1980"/>
                  <a:gd name="T11" fmla="*/ 150 h 2971"/>
                  <a:gd name="T12" fmla="*/ 1058 w 1980"/>
                  <a:gd name="T13" fmla="*/ 201 h 2971"/>
                  <a:gd name="T14" fmla="*/ 964 w 1980"/>
                  <a:gd name="T15" fmla="*/ 257 h 2971"/>
                  <a:gd name="T16" fmla="*/ 870 w 1980"/>
                  <a:gd name="T17" fmla="*/ 319 h 2971"/>
                  <a:gd name="T18" fmla="*/ 785 w 1980"/>
                  <a:gd name="T19" fmla="*/ 385 h 2971"/>
                  <a:gd name="T20" fmla="*/ 704 w 1980"/>
                  <a:gd name="T21" fmla="*/ 459 h 2971"/>
                  <a:gd name="T22" fmla="*/ 629 w 1980"/>
                  <a:gd name="T23" fmla="*/ 535 h 2971"/>
                  <a:gd name="T24" fmla="*/ 558 w 1980"/>
                  <a:gd name="T25" fmla="*/ 617 h 2971"/>
                  <a:gd name="T26" fmla="*/ 492 w 1980"/>
                  <a:gd name="T27" fmla="*/ 702 h 2971"/>
                  <a:gd name="T28" fmla="*/ 430 w 1980"/>
                  <a:gd name="T29" fmla="*/ 795 h 2971"/>
                  <a:gd name="T30" fmla="*/ 373 w 1980"/>
                  <a:gd name="T31" fmla="*/ 888 h 2971"/>
                  <a:gd name="T32" fmla="*/ 322 w 1980"/>
                  <a:gd name="T33" fmla="*/ 987 h 2971"/>
                  <a:gd name="T34" fmla="*/ 253 w 1980"/>
                  <a:gd name="T35" fmla="*/ 1115 h 2971"/>
                  <a:gd name="T36" fmla="*/ 195 w 1980"/>
                  <a:gd name="T37" fmla="*/ 1244 h 2971"/>
                  <a:gd name="T38" fmla="*/ 146 w 1980"/>
                  <a:gd name="T39" fmla="*/ 1369 h 2971"/>
                  <a:gd name="T40" fmla="*/ 102 w 1980"/>
                  <a:gd name="T41" fmla="*/ 1494 h 2971"/>
                  <a:gd name="T42" fmla="*/ 69 w 1980"/>
                  <a:gd name="T43" fmla="*/ 1612 h 2971"/>
                  <a:gd name="T44" fmla="*/ 43 w 1980"/>
                  <a:gd name="T45" fmla="*/ 1728 h 2971"/>
                  <a:gd name="T46" fmla="*/ 23 w 1980"/>
                  <a:gd name="T47" fmla="*/ 1844 h 2971"/>
                  <a:gd name="T48" fmla="*/ 8 w 1980"/>
                  <a:gd name="T49" fmla="*/ 1951 h 2971"/>
                  <a:gd name="T50" fmla="*/ 2 w 1980"/>
                  <a:gd name="T51" fmla="*/ 2057 h 2971"/>
                  <a:gd name="T52" fmla="*/ 0 w 1980"/>
                  <a:gd name="T53" fmla="*/ 2158 h 2971"/>
                  <a:gd name="T54" fmla="*/ 2 w 1980"/>
                  <a:gd name="T55" fmla="*/ 2255 h 2971"/>
                  <a:gd name="T56" fmla="*/ 8 w 1980"/>
                  <a:gd name="T57" fmla="*/ 2351 h 2971"/>
                  <a:gd name="T58" fmla="*/ 23 w 1980"/>
                  <a:gd name="T59" fmla="*/ 2438 h 2971"/>
                  <a:gd name="T60" fmla="*/ 32 w 1980"/>
                  <a:gd name="T61" fmla="*/ 2555 h 2971"/>
                  <a:gd name="T62" fmla="*/ 64 w 1980"/>
                  <a:gd name="T63" fmla="*/ 2653 h 2971"/>
                  <a:gd name="T64" fmla="*/ 123 w 1980"/>
                  <a:gd name="T65" fmla="*/ 2736 h 2971"/>
                  <a:gd name="T66" fmla="*/ 190 w 1980"/>
                  <a:gd name="T67" fmla="*/ 2809 h 2971"/>
                  <a:gd name="T68" fmla="*/ 271 w 1980"/>
                  <a:gd name="T69" fmla="*/ 2872 h 2971"/>
                  <a:gd name="T70" fmla="*/ 376 w 1980"/>
                  <a:gd name="T71" fmla="*/ 2929 h 2971"/>
                  <a:gd name="T72" fmla="*/ 478 w 1980"/>
                  <a:gd name="T73" fmla="*/ 2962 h 2971"/>
                  <a:gd name="T74" fmla="*/ 582 w 1980"/>
                  <a:gd name="T75" fmla="*/ 2971 h 2971"/>
                  <a:gd name="T76" fmla="*/ 683 w 1980"/>
                  <a:gd name="T77" fmla="*/ 2964 h 2971"/>
                  <a:gd name="T78" fmla="*/ 787 w 1980"/>
                  <a:gd name="T79" fmla="*/ 2935 h 2971"/>
                  <a:gd name="T80" fmla="*/ 890 w 1980"/>
                  <a:gd name="T81" fmla="*/ 2900 h 2971"/>
                  <a:gd name="T82" fmla="*/ 1006 w 1980"/>
                  <a:gd name="T83" fmla="*/ 2844 h 2971"/>
                  <a:gd name="T84" fmla="*/ 1115 w 1980"/>
                  <a:gd name="T85" fmla="*/ 2797 h 2971"/>
                  <a:gd name="T86" fmla="*/ 1227 w 1980"/>
                  <a:gd name="T87" fmla="*/ 2750 h 2971"/>
                  <a:gd name="T88" fmla="*/ 1335 w 1980"/>
                  <a:gd name="T89" fmla="*/ 2701 h 2971"/>
                  <a:gd name="T90" fmla="*/ 1434 w 1980"/>
                  <a:gd name="T91" fmla="*/ 2641 h 2971"/>
                  <a:gd name="T92" fmla="*/ 1520 w 1980"/>
                  <a:gd name="T93" fmla="*/ 2569 h 2971"/>
                  <a:gd name="T94" fmla="*/ 1594 w 1980"/>
                  <a:gd name="T95" fmla="*/ 2476 h 2971"/>
                  <a:gd name="T96" fmla="*/ 1645 w 1980"/>
                  <a:gd name="T97" fmla="*/ 2367 h 2971"/>
                  <a:gd name="T98" fmla="*/ 1969 w 1980"/>
                  <a:gd name="T99" fmla="*/ 315 h 2971"/>
                  <a:gd name="T100" fmla="*/ 1980 w 1980"/>
                  <a:gd name="T101" fmla="*/ 214 h 2971"/>
                  <a:gd name="T102" fmla="*/ 1971 w 1980"/>
                  <a:gd name="T103" fmla="*/ 138 h 2971"/>
                  <a:gd name="T104" fmla="*/ 1906 w 1980"/>
                  <a:gd name="T105" fmla="*/ 45 h 2971"/>
                  <a:gd name="T106" fmla="*/ 1811 w 1980"/>
                  <a:gd name="T107" fmla="*/ 8 h 2971"/>
                  <a:gd name="T108" fmla="*/ 1713 w 1980"/>
                  <a:gd name="T109" fmla="*/ 0 h 29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980" h="2971">
                    <a:moveTo>
                      <a:pt x="1713" y="0"/>
                    </a:moveTo>
                    <a:lnTo>
                      <a:pt x="1594" y="17"/>
                    </a:lnTo>
                    <a:lnTo>
                      <a:pt x="1479" y="37"/>
                    </a:lnTo>
                    <a:lnTo>
                      <a:pt x="1369" y="71"/>
                    </a:lnTo>
                    <a:lnTo>
                      <a:pt x="1259" y="109"/>
                    </a:lnTo>
                    <a:lnTo>
                      <a:pt x="1155" y="150"/>
                    </a:lnTo>
                    <a:lnTo>
                      <a:pt x="1058" y="201"/>
                    </a:lnTo>
                    <a:lnTo>
                      <a:pt x="964" y="257"/>
                    </a:lnTo>
                    <a:lnTo>
                      <a:pt x="870" y="319"/>
                    </a:lnTo>
                    <a:lnTo>
                      <a:pt x="785" y="385"/>
                    </a:lnTo>
                    <a:lnTo>
                      <a:pt x="704" y="459"/>
                    </a:lnTo>
                    <a:lnTo>
                      <a:pt x="629" y="535"/>
                    </a:lnTo>
                    <a:lnTo>
                      <a:pt x="558" y="617"/>
                    </a:lnTo>
                    <a:lnTo>
                      <a:pt x="492" y="702"/>
                    </a:lnTo>
                    <a:lnTo>
                      <a:pt x="430" y="795"/>
                    </a:lnTo>
                    <a:lnTo>
                      <a:pt x="373" y="888"/>
                    </a:lnTo>
                    <a:lnTo>
                      <a:pt x="322" y="987"/>
                    </a:lnTo>
                    <a:lnTo>
                      <a:pt x="253" y="1115"/>
                    </a:lnTo>
                    <a:lnTo>
                      <a:pt x="195" y="1244"/>
                    </a:lnTo>
                    <a:lnTo>
                      <a:pt x="146" y="1369"/>
                    </a:lnTo>
                    <a:lnTo>
                      <a:pt x="102" y="1494"/>
                    </a:lnTo>
                    <a:lnTo>
                      <a:pt x="69" y="1612"/>
                    </a:lnTo>
                    <a:lnTo>
                      <a:pt x="43" y="1728"/>
                    </a:lnTo>
                    <a:lnTo>
                      <a:pt x="23" y="1844"/>
                    </a:lnTo>
                    <a:lnTo>
                      <a:pt x="8" y="1951"/>
                    </a:lnTo>
                    <a:lnTo>
                      <a:pt x="2" y="2057"/>
                    </a:lnTo>
                    <a:lnTo>
                      <a:pt x="0" y="2158"/>
                    </a:lnTo>
                    <a:lnTo>
                      <a:pt x="2" y="2255"/>
                    </a:lnTo>
                    <a:lnTo>
                      <a:pt x="8" y="2351"/>
                    </a:lnTo>
                    <a:lnTo>
                      <a:pt x="23" y="2438"/>
                    </a:lnTo>
                    <a:lnTo>
                      <a:pt x="32" y="2555"/>
                    </a:lnTo>
                    <a:lnTo>
                      <a:pt x="64" y="2653"/>
                    </a:lnTo>
                    <a:lnTo>
                      <a:pt x="123" y="2736"/>
                    </a:lnTo>
                    <a:lnTo>
                      <a:pt x="190" y="2809"/>
                    </a:lnTo>
                    <a:lnTo>
                      <a:pt x="271" y="2872"/>
                    </a:lnTo>
                    <a:lnTo>
                      <a:pt x="376" y="2929"/>
                    </a:lnTo>
                    <a:lnTo>
                      <a:pt x="478" y="2962"/>
                    </a:lnTo>
                    <a:lnTo>
                      <a:pt x="582" y="2971"/>
                    </a:lnTo>
                    <a:lnTo>
                      <a:pt x="683" y="2964"/>
                    </a:lnTo>
                    <a:lnTo>
                      <a:pt x="787" y="2935"/>
                    </a:lnTo>
                    <a:lnTo>
                      <a:pt x="890" y="2900"/>
                    </a:lnTo>
                    <a:lnTo>
                      <a:pt x="1006" y="2844"/>
                    </a:lnTo>
                    <a:lnTo>
                      <a:pt x="1115" y="2797"/>
                    </a:lnTo>
                    <a:lnTo>
                      <a:pt x="1227" y="2750"/>
                    </a:lnTo>
                    <a:lnTo>
                      <a:pt x="1335" y="2701"/>
                    </a:lnTo>
                    <a:lnTo>
                      <a:pt x="1434" y="2641"/>
                    </a:lnTo>
                    <a:lnTo>
                      <a:pt x="1520" y="2569"/>
                    </a:lnTo>
                    <a:lnTo>
                      <a:pt x="1594" y="2476"/>
                    </a:lnTo>
                    <a:lnTo>
                      <a:pt x="1645" y="2367"/>
                    </a:lnTo>
                    <a:lnTo>
                      <a:pt x="1969" y="315"/>
                    </a:lnTo>
                    <a:lnTo>
                      <a:pt x="1980" y="214"/>
                    </a:lnTo>
                    <a:lnTo>
                      <a:pt x="1971" y="138"/>
                    </a:lnTo>
                    <a:lnTo>
                      <a:pt x="1906" y="45"/>
                    </a:lnTo>
                    <a:lnTo>
                      <a:pt x="1811" y="8"/>
                    </a:lnTo>
                    <a:lnTo>
                      <a:pt x="1713" y="0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88" name="Freeform 628"/>
              <p:cNvSpPr>
                <a:spLocks/>
              </p:cNvSpPr>
              <p:nvPr/>
            </p:nvSpPr>
            <p:spPr bwMode="auto">
              <a:xfrm>
                <a:off x="5298" y="3034"/>
                <a:ext cx="117" cy="225"/>
              </a:xfrm>
              <a:custGeom>
                <a:avLst/>
                <a:gdLst>
                  <a:gd name="T0" fmla="*/ 627 w 1400"/>
                  <a:gd name="T1" fmla="*/ 759 h 2702"/>
                  <a:gd name="T2" fmla="*/ 688 w 1400"/>
                  <a:gd name="T3" fmla="*/ 656 h 2702"/>
                  <a:gd name="T4" fmla="*/ 763 w 1400"/>
                  <a:gd name="T5" fmla="*/ 552 h 2702"/>
                  <a:gd name="T6" fmla="*/ 836 w 1400"/>
                  <a:gd name="T7" fmla="*/ 458 h 2702"/>
                  <a:gd name="T8" fmla="*/ 934 w 1400"/>
                  <a:gd name="T9" fmla="*/ 335 h 2702"/>
                  <a:gd name="T10" fmla="*/ 1028 w 1400"/>
                  <a:gd name="T11" fmla="*/ 244 h 2702"/>
                  <a:gd name="T12" fmla="*/ 1132 w 1400"/>
                  <a:gd name="T13" fmla="*/ 171 h 2702"/>
                  <a:gd name="T14" fmla="*/ 1400 w 1400"/>
                  <a:gd name="T15" fmla="*/ 22 h 2702"/>
                  <a:gd name="T16" fmla="*/ 1231 w 1400"/>
                  <a:gd name="T17" fmla="*/ 22 h 2702"/>
                  <a:gd name="T18" fmla="*/ 1115 w 1400"/>
                  <a:gd name="T19" fmla="*/ 0 h 2702"/>
                  <a:gd name="T20" fmla="*/ 985 w 1400"/>
                  <a:gd name="T21" fmla="*/ 63 h 2702"/>
                  <a:gd name="T22" fmla="*/ 870 w 1400"/>
                  <a:gd name="T23" fmla="*/ 149 h 2702"/>
                  <a:gd name="T24" fmla="*/ 785 w 1400"/>
                  <a:gd name="T25" fmla="*/ 215 h 2702"/>
                  <a:gd name="T26" fmla="*/ 704 w 1400"/>
                  <a:gd name="T27" fmla="*/ 289 h 2702"/>
                  <a:gd name="T28" fmla="*/ 629 w 1400"/>
                  <a:gd name="T29" fmla="*/ 365 h 2702"/>
                  <a:gd name="T30" fmla="*/ 558 w 1400"/>
                  <a:gd name="T31" fmla="*/ 447 h 2702"/>
                  <a:gd name="T32" fmla="*/ 492 w 1400"/>
                  <a:gd name="T33" fmla="*/ 532 h 2702"/>
                  <a:gd name="T34" fmla="*/ 430 w 1400"/>
                  <a:gd name="T35" fmla="*/ 625 h 2702"/>
                  <a:gd name="T36" fmla="*/ 373 w 1400"/>
                  <a:gd name="T37" fmla="*/ 718 h 2702"/>
                  <a:gd name="T38" fmla="*/ 322 w 1400"/>
                  <a:gd name="T39" fmla="*/ 815 h 2702"/>
                  <a:gd name="T40" fmla="*/ 253 w 1400"/>
                  <a:gd name="T41" fmla="*/ 945 h 2702"/>
                  <a:gd name="T42" fmla="*/ 195 w 1400"/>
                  <a:gd name="T43" fmla="*/ 1074 h 2702"/>
                  <a:gd name="T44" fmla="*/ 146 w 1400"/>
                  <a:gd name="T45" fmla="*/ 1199 h 2702"/>
                  <a:gd name="T46" fmla="*/ 102 w 1400"/>
                  <a:gd name="T47" fmla="*/ 1324 h 2702"/>
                  <a:gd name="T48" fmla="*/ 69 w 1400"/>
                  <a:gd name="T49" fmla="*/ 1442 h 2702"/>
                  <a:gd name="T50" fmla="*/ 43 w 1400"/>
                  <a:gd name="T51" fmla="*/ 1558 h 2702"/>
                  <a:gd name="T52" fmla="*/ 23 w 1400"/>
                  <a:gd name="T53" fmla="*/ 1674 h 2702"/>
                  <a:gd name="T54" fmla="*/ 8 w 1400"/>
                  <a:gd name="T55" fmla="*/ 1781 h 2702"/>
                  <a:gd name="T56" fmla="*/ 2 w 1400"/>
                  <a:gd name="T57" fmla="*/ 1887 h 2702"/>
                  <a:gd name="T58" fmla="*/ 0 w 1400"/>
                  <a:gd name="T59" fmla="*/ 1988 h 2702"/>
                  <a:gd name="T60" fmla="*/ 2 w 1400"/>
                  <a:gd name="T61" fmla="*/ 2085 h 2702"/>
                  <a:gd name="T62" fmla="*/ 8 w 1400"/>
                  <a:gd name="T63" fmla="*/ 2181 h 2702"/>
                  <a:gd name="T64" fmla="*/ 23 w 1400"/>
                  <a:gd name="T65" fmla="*/ 2268 h 2702"/>
                  <a:gd name="T66" fmla="*/ 32 w 1400"/>
                  <a:gd name="T67" fmla="*/ 2385 h 2702"/>
                  <a:gd name="T68" fmla="*/ 64 w 1400"/>
                  <a:gd name="T69" fmla="*/ 2483 h 2702"/>
                  <a:gd name="T70" fmla="*/ 123 w 1400"/>
                  <a:gd name="T71" fmla="*/ 2566 h 2702"/>
                  <a:gd name="T72" fmla="*/ 190 w 1400"/>
                  <a:gd name="T73" fmla="*/ 2639 h 2702"/>
                  <a:gd name="T74" fmla="*/ 271 w 1400"/>
                  <a:gd name="T75" fmla="*/ 2702 h 2702"/>
                  <a:gd name="T76" fmla="*/ 390 w 1400"/>
                  <a:gd name="T77" fmla="*/ 2696 h 2702"/>
                  <a:gd name="T78" fmla="*/ 445 w 1400"/>
                  <a:gd name="T79" fmla="*/ 2689 h 2702"/>
                  <a:gd name="T80" fmla="*/ 380 w 1400"/>
                  <a:gd name="T81" fmla="*/ 2592 h 2702"/>
                  <a:gd name="T82" fmla="*/ 336 w 1400"/>
                  <a:gd name="T83" fmla="*/ 2479 h 2702"/>
                  <a:gd name="T84" fmla="*/ 294 w 1400"/>
                  <a:gd name="T85" fmla="*/ 2330 h 2702"/>
                  <a:gd name="T86" fmla="*/ 286 w 1400"/>
                  <a:gd name="T87" fmla="*/ 2181 h 2702"/>
                  <a:gd name="T88" fmla="*/ 271 w 1400"/>
                  <a:gd name="T89" fmla="*/ 2018 h 2702"/>
                  <a:gd name="T90" fmla="*/ 286 w 1400"/>
                  <a:gd name="T91" fmla="*/ 1799 h 2702"/>
                  <a:gd name="T92" fmla="*/ 315 w 1400"/>
                  <a:gd name="T93" fmla="*/ 1615 h 2702"/>
                  <a:gd name="T94" fmla="*/ 360 w 1400"/>
                  <a:gd name="T95" fmla="*/ 1428 h 2702"/>
                  <a:gd name="T96" fmla="*/ 422 w 1400"/>
                  <a:gd name="T97" fmla="*/ 1211 h 2702"/>
                  <a:gd name="T98" fmla="*/ 463 w 1400"/>
                  <a:gd name="T99" fmla="*/ 1083 h 2702"/>
                  <a:gd name="T100" fmla="*/ 524 w 1400"/>
                  <a:gd name="T101" fmla="*/ 941 h 2702"/>
                  <a:gd name="T102" fmla="*/ 582 w 1400"/>
                  <a:gd name="T103" fmla="*/ 839 h 2702"/>
                  <a:gd name="T104" fmla="*/ 627 w 1400"/>
                  <a:gd name="T105" fmla="*/ 759 h 2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400" h="2702">
                    <a:moveTo>
                      <a:pt x="627" y="759"/>
                    </a:moveTo>
                    <a:lnTo>
                      <a:pt x="688" y="656"/>
                    </a:lnTo>
                    <a:lnTo>
                      <a:pt x="763" y="552"/>
                    </a:lnTo>
                    <a:lnTo>
                      <a:pt x="836" y="458"/>
                    </a:lnTo>
                    <a:lnTo>
                      <a:pt x="934" y="335"/>
                    </a:lnTo>
                    <a:lnTo>
                      <a:pt x="1028" y="244"/>
                    </a:lnTo>
                    <a:lnTo>
                      <a:pt x="1132" y="171"/>
                    </a:lnTo>
                    <a:lnTo>
                      <a:pt x="1400" y="22"/>
                    </a:lnTo>
                    <a:lnTo>
                      <a:pt x="1231" y="22"/>
                    </a:lnTo>
                    <a:lnTo>
                      <a:pt x="1115" y="0"/>
                    </a:lnTo>
                    <a:lnTo>
                      <a:pt x="985" y="63"/>
                    </a:lnTo>
                    <a:lnTo>
                      <a:pt x="870" y="149"/>
                    </a:lnTo>
                    <a:lnTo>
                      <a:pt x="785" y="215"/>
                    </a:lnTo>
                    <a:lnTo>
                      <a:pt x="704" y="289"/>
                    </a:lnTo>
                    <a:lnTo>
                      <a:pt x="629" y="365"/>
                    </a:lnTo>
                    <a:lnTo>
                      <a:pt x="558" y="447"/>
                    </a:lnTo>
                    <a:lnTo>
                      <a:pt x="492" y="532"/>
                    </a:lnTo>
                    <a:lnTo>
                      <a:pt x="430" y="625"/>
                    </a:lnTo>
                    <a:lnTo>
                      <a:pt x="373" y="718"/>
                    </a:lnTo>
                    <a:lnTo>
                      <a:pt x="322" y="815"/>
                    </a:lnTo>
                    <a:lnTo>
                      <a:pt x="253" y="945"/>
                    </a:lnTo>
                    <a:lnTo>
                      <a:pt x="195" y="1074"/>
                    </a:lnTo>
                    <a:lnTo>
                      <a:pt x="146" y="1199"/>
                    </a:lnTo>
                    <a:lnTo>
                      <a:pt x="102" y="1324"/>
                    </a:lnTo>
                    <a:lnTo>
                      <a:pt x="69" y="1442"/>
                    </a:lnTo>
                    <a:lnTo>
                      <a:pt x="43" y="1558"/>
                    </a:lnTo>
                    <a:lnTo>
                      <a:pt x="23" y="1674"/>
                    </a:lnTo>
                    <a:lnTo>
                      <a:pt x="8" y="1781"/>
                    </a:lnTo>
                    <a:lnTo>
                      <a:pt x="2" y="1887"/>
                    </a:lnTo>
                    <a:lnTo>
                      <a:pt x="0" y="1988"/>
                    </a:lnTo>
                    <a:lnTo>
                      <a:pt x="2" y="2085"/>
                    </a:lnTo>
                    <a:lnTo>
                      <a:pt x="8" y="2181"/>
                    </a:lnTo>
                    <a:lnTo>
                      <a:pt x="23" y="2268"/>
                    </a:lnTo>
                    <a:lnTo>
                      <a:pt x="32" y="2385"/>
                    </a:lnTo>
                    <a:lnTo>
                      <a:pt x="64" y="2483"/>
                    </a:lnTo>
                    <a:lnTo>
                      <a:pt x="123" y="2566"/>
                    </a:lnTo>
                    <a:lnTo>
                      <a:pt x="190" y="2639"/>
                    </a:lnTo>
                    <a:lnTo>
                      <a:pt x="271" y="2702"/>
                    </a:lnTo>
                    <a:lnTo>
                      <a:pt x="390" y="2696"/>
                    </a:lnTo>
                    <a:lnTo>
                      <a:pt x="445" y="2689"/>
                    </a:lnTo>
                    <a:lnTo>
                      <a:pt x="380" y="2592"/>
                    </a:lnTo>
                    <a:lnTo>
                      <a:pt x="336" y="2479"/>
                    </a:lnTo>
                    <a:lnTo>
                      <a:pt x="294" y="2330"/>
                    </a:lnTo>
                    <a:lnTo>
                      <a:pt x="286" y="2181"/>
                    </a:lnTo>
                    <a:lnTo>
                      <a:pt x="271" y="2018"/>
                    </a:lnTo>
                    <a:lnTo>
                      <a:pt x="286" y="1799"/>
                    </a:lnTo>
                    <a:lnTo>
                      <a:pt x="315" y="1615"/>
                    </a:lnTo>
                    <a:lnTo>
                      <a:pt x="360" y="1428"/>
                    </a:lnTo>
                    <a:lnTo>
                      <a:pt x="422" y="1211"/>
                    </a:lnTo>
                    <a:lnTo>
                      <a:pt x="463" y="1083"/>
                    </a:lnTo>
                    <a:lnTo>
                      <a:pt x="524" y="941"/>
                    </a:lnTo>
                    <a:lnTo>
                      <a:pt x="582" y="839"/>
                    </a:lnTo>
                    <a:lnTo>
                      <a:pt x="627" y="759"/>
                    </a:lnTo>
                    <a:close/>
                  </a:path>
                </a:pathLst>
              </a:custGeom>
              <a:solidFill>
                <a:srgbClr val="DA27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89" name="Freeform 629"/>
              <p:cNvSpPr>
                <a:spLocks/>
              </p:cNvSpPr>
              <p:nvPr/>
            </p:nvSpPr>
            <p:spPr bwMode="auto">
              <a:xfrm>
                <a:off x="5298" y="3034"/>
                <a:ext cx="117" cy="225"/>
              </a:xfrm>
              <a:custGeom>
                <a:avLst/>
                <a:gdLst>
                  <a:gd name="T0" fmla="*/ 627 w 1400"/>
                  <a:gd name="T1" fmla="*/ 759 h 2702"/>
                  <a:gd name="T2" fmla="*/ 688 w 1400"/>
                  <a:gd name="T3" fmla="*/ 656 h 2702"/>
                  <a:gd name="T4" fmla="*/ 763 w 1400"/>
                  <a:gd name="T5" fmla="*/ 552 h 2702"/>
                  <a:gd name="T6" fmla="*/ 836 w 1400"/>
                  <a:gd name="T7" fmla="*/ 458 h 2702"/>
                  <a:gd name="T8" fmla="*/ 934 w 1400"/>
                  <a:gd name="T9" fmla="*/ 335 h 2702"/>
                  <a:gd name="T10" fmla="*/ 1028 w 1400"/>
                  <a:gd name="T11" fmla="*/ 244 h 2702"/>
                  <a:gd name="T12" fmla="*/ 1132 w 1400"/>
                  <a:gd name="T13" fmla="*/ 171 h 2702"/>
                  <a:gd name="T14" fmla="*/ 1400 w 1400"/>
                  <a:gd name="T15" fmla="*/ 22 h 2702"/>
                  <a:gd name="T16" fmla="*/ 1231 w 1400"/>
                  <a:gd name="T17" fmla="*/ 22 h 2702"/>
                  <a:gd name="T18" fmla="*/ 1115 w 1400"/>
                  <a:gd name="T19" fmla="*/ 0 h 2702"/>
                  <a:gd name="T20" fmla="*/ 985 w 1400"/>
                  <a:gd name="T21" fmla="*/ 63 h 2702"/>
                  <a:gd name="T22" fmla="*/ 870 w 1400"/>
                  <a:gd name="T23" fmla="*/ 149 h 2702"/>
                  <a:gd name="T24" fmla="*/ 785 w 1400"/>
                  <a:gd name="T25" fmla="*/ 215 h 2702"/>
                  <a:gd name="T26" fmla="*/ 704 w 1400"/>
                  <a:gd name="T27" fmla="*/ 289 h 2702"/>
                  <a:gd name="T28" fmla="*/ 629 w 1400"/>
                  <a:gd name="T29" fmla="*/ 365 h 2702"/>
                  <a:gd name="T30" fmla="*/ 558 w 1400"/>
                  <a:gd name="T31" fmla="*/ 447 h 2702"/>
                  <a:gd name="T32" fmla="*/ 492 w 1400"/>
                  <a:gd name="T33" fmla="*/ 532 h 2702"/>
                  <a:gd name="T34" fmla="*/ 430 w 1400"/>
                  <a:gd name="T35" fmla="*/ 625 h 2702"/>
                  <a:gd name="T36" fmla="*/ 373 w 1400"/>
                  <a:gd name="T37" fmla="*/ 718 h 2702"/>
                  <a:gd name="T38" fmla="*/ 322 w 1400"/>
                  <a:gd name="T39" fmla="*/ 815 h 2702"/>
                  <a:gd name="T40" fmla="*/ 253 w 1400"/>
                  <a:gd name="T41" fmla="*/ 945 h 2702"/>
                  <a:gd name="T42" fmla="*/ 195 w 1400"/>
                  <a:gd name="T43" fmla="*/ 1074 h 2702"/>
                  <a:gd name="T44" fmla="*/ 146 w 1400"/>
                  <a:gd name="T45" fmla="*/ 1199 h 2702"/>
                  <a:gd name="T46" fmla="*/ 102 w 1400"/>
                  <a:gd name="T47" fmla="*/ 1324 h 2702"/>
                  <a:gd name="T48" fmla="*/ 69 w 1400"/>
                  <a:gd name="T49" fmla="*/ 1442 h 2702"/>
                  <a:gd name="T50" fmla="*/ 43 w 1400"/>
                  <a:gd name="T51" fmla="*/ 1558 h 2702"/>
                  <a:gd name="T52" fmla="*/ 23 w 1400"/>
                  <a:gd name="T53" fmla="*/ 1674 h 2702"/>
                  <a:gd name="T54" fmla="*/ 8 w 1400"/>
                  <a:gd name="T55" fmla="*/ 1781 h 2702"/>
                  <a:gd name="T56" fmla="*/ 2 w 1400"/>
                  <a:gd name="T57" fmla="*/ 1887 h 2702"/>
                  <a:gd name="T58" fmla="*/ 0 w 1400"/>
                  <a:gd name="T59" fmla="*/ 1988 h 2702"/>
                  <a:gd name="T60" fmla="*/ 2 w 1400"/>
                  <a:gd name="T61" fmla="*/ 2085 h 2702"/>
                  <a:gd name="T62" fmla="*/ 8 w 1400"/>
                  <a:gd name="T63" fmla="*/ 2181 h 2702"/>
                  <a:gd name="T64" fmla="*/ 23 w 1400"/>
                  <a:gd name="T65" fmla="*/ 2268 h 2702"/>
                  <a:gd name="T66" fmla="*/ 32 w 1400"/>
                  <a:gd name="T67" fmla="*/ 2385 h 2702"/>
                  <a:gd name="T68" fmla="*/ 64 w 1400"/>
                  <a:gd name="T69" fmla="*/ 2483 h 2702"/>
                  <a:gd name="T70" fmla="*/ 123 w 1400"/>
                  <a:gd name="T71" fmla="*/ 2566 h 2702"/>
                  <a:gd name="T72" fmla="*/ 190 w 1400"/>
                  <a:gd name="T73" fmla="*/ 2639 h 2702"/>
                  <a:gd name="T74" fmla="*/ 271 w 1400"/>
                  <a:gd name="T75" fmla="*/ 2702 h 2702"/>
                  <a:gd name="T76" fmla="*/ 390 w 1400"/>
                  <a:gd name="T77" fmla="*/ 2696 h 2702"/>
                  <a:gd name="T78" fmla="*/ 445 w 1400"/>
                  <a:gd name="T79" fmla="*/ 2689 h 2702"/>
                  <a:gd name="T80" fmla="*/ 380 w 1400"/>
                  <a:gd name="T81" fmla="*/ 2592 h 2702"/>
                  <a:gd name="T82" fmla="*/ 336 w 1400"/>
                  <a:gd name="T83" fmla="*/ 2479 h 2702"/>
                  <a:gd name="T84" fmla="*/ 294 w 1400"/>
                  <a:gd name="T85" fmla="*/ 2330 h 2702"/>
                  <a:gd name="T86" fmla="*/ 286 w 1400"/>
                  <a:gd name="T87" fmla="*/ 2181 h 2702"/>
                  <a:gd name="T88" fmla="*/ 271 w 1400"/>
                  <a:gd name="T89" fmla="*/ 2018 h 2702"/>
                  <a:gd name="T90" fmla="*/ 286 w 1400"/>
                  <a:gd name="T91" fmla="*/ 1799 h 2702"/>
                  <a:gd name="T92" fmla="*/ 315 w 1400"/>
                  <a:gd name="T93" fmla="*/ 1615 h 2702"/>
                  <a:gd name="T94" fmla="*/ 360 w 1400"/>
                  <a:gd name="T95" fmla="*/ 1428 h 2702"/>
                  <a:gd name="T96" fmla="*/ 422 w 1400"/>
                  <a:gd name="T97" fmla="*/ 1211 h 2702"/>
                  <a:gd name="T98" fmla="*/ 463 w 1400"/>
                  <a:gd name="T99" fmla="*/ 1083 h 2702"/>
                  <a:gd name="T100" fmla="*/ 524 w 1400"/>
                  <a:gd name="T101" fmla="*/ 941 h 2702"/>
                  <a:gd name="T102" fmla="*/ 582 w 1400"/>
                  <a:gd name="T103" fmla="*/ 839 h 2702"/>
                  <a:gd name="T104" fmla="*/ 627 w 1400"/>
                  <a:gd name="T105" fmla="*/ 759 h 2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400" h="2702">
                    <a:moveTo>
                      <a:pt x="627" y="759"/>
                    </a:moveTo>
                    <a:lnTo>
                      <a:pt x="688" y="656"/>
                    </a:lnTo>
                    <a:lnTo>
                      <a:pt x="763" y="552"/>
                    </a:lnTo>
                    <a:lnTo>
                      <a:pt x="836" y="458"/>
                    </a:lnTo>
                    <a:lnTo>
                      <a:pt x="934" y="335"/>
                    </a:lnTo>
                    <a:lnTo>
                      <a:pt x="1028" y="244"/>
                    </a:lnTo>
                    <a:lnTo>
                      <a:pt x="1132" y="171"/>
                    </a:lnTo>
                    <a:lnTo>
                      <a:pt x="1400" y="22"/>
                    </a:lnTo>
                    <a:lnTo>
                      <a:pt x="1231" y="22"/>
                    </a:lnTo>
                    <a:lnTo>
                      <a:pt x="1115" y="0"/>
                    </a:lnTo>
                    <a:lnTo>
                      <a:pt x="985" y="63"/>
                    </a:lnTo>
                    <a:lnTo>
                      <a:pt x="870" y="149"/>
                    </a:lnTo>
                    <a:lnTo>
                      <a:pt x="785" y="215"/>
                    </a:lnTo>
                    <a:lnTo>
                      <a:pt x="704" y="289"/>
                    </a:lnTo>
                    <a:lnTo>
                      <a:pt x="629" y="365"/>
                    </a:lnTo>
                    <a:lnTo>
                      <a:pt x="558" y="447"/>
                    </a:lnTo>
                    <a:lnTo>
                      <a:pt x="492" y="532"/>
                    </a:lnTo>
                    <a:lnTo>
                      <a:pt x="430" y="625"/>
                    </a:lnTo>
                    <a:lnTo>
                      <a:pt x="373" y="718"/>
                    </a:lnTo>
                    <a:lnTo>
                      <a:pt x="322" y="815"/>
                    </a:lnTo>
                    <a:lnTo>
                      <a:pt x="253" y="945"/>
                    </a:lnTo>
                    <a:lnTo>
                      <a:pt x="195" y="1074"/>
                    </a:lnTo>
                    <a:lnTo>
                      <a:pt x="146" y="1199"/>
                    </a:lnTo>
                    <a:lnTo>
                      <a:pt x="102" y="1324"/>
                    </a:lnTo>
                    <a:lnTo>
                      <a:pt x="69" y="1442"/>
                    </a:lnTo>
                    <a:lnTo>
                      <a:pt x="43" y="1558"/>
                    </a:lnTo>
                    <a:lnTo>
                      <a:pt x="23" y="1674"/>
                    </a:lnTo>
                    <a:lnTo>
                      <a:pt x="8" y="1781"/>
                    </a:lnTo>
                    <a:lnTo>
                      <a:pt x="2" y="1887"/>
                    </a:lnTo>
                    <a:lnTo>
                      <a:pt x="0" y="1988"/>
                    </a:lnTo>
                    <a:lnTo>
                      <a:pt x="2" y="2085"/>
                    </a:lnTo>
                    <a:lnTo>
                      <a:pt x="8" y="2181"/>
                    </a:lnTo>
                    <a:lnTo>
                      <a:pt x="23" y="2268"/>
                    </a:lnTo>
                    <a:lnTo>
                      <a:pt x="32" y="2385"/>
                    </a:lnTo>
                    <a:lnTo>
                      <a:pt x="64" y="2483"/>
                    </a:lnTo>
                    <a:lnTo>
                      <a:pt x="123" y="2566"/>
                    </a:lnTo>
                    <a:lnTo>
                      <a:pt x="190" y="2639"/>
                    </a:lnTo>
                    <a:lnTo>
                      <a:pt x="271" y="2702"/>
                    </a:lnTo>
                    <a:lnTo>
                      <a:pt x="390" y="2696"/>
                    </a:lnTo>
                    <a:lnTo>
                      <a:pt x="445" y="2689"/>
                    </a:lnTo>
                    <a:lnTo>
                      <a:pt x="380" y="2592"/>
                    </a:lnTo>
                    <a:lnTo>
                      <a:pt x="336" y="2479"/>
                    </a:lnTo>
                    <a:lnTo>
                      <a:pt x="294" y="2330"/>
                    </a:lnTo>
                    <a:lnTo>
                      <a:pt x="286" y="2181"/>
                    </a:lnTo>
                    <a:lnTo>
                      <a:pt x="271" y="2018"/>
                    </a:lnTo>
                    <a:lnTo>
                      <a:pt x="286" y="1799"/>
                    </a:lnTo>
                    <a:lnTo>
                      <a:pt x="315" y="1615"/>
                    </a:lnTo>
                    <a:lnTo>
                      <a:pt x="360" y="1428"/>
                    </a:lnTo>
                    <a:lnTo>
                      <a:pt x="422" y="1211"/>
                    </a:lnTo>
                    <a:lnTo>
                      <a:pt x="463" y="1083"/>
                    </a:lnTo>
                    <a:lnTo>
                      <a:pt x="524" y="941"/>
                    </a:lnTo>
                    <a:lnTo>
                      <a:pt x="582" y="839"/>
                    </a:lnTo>
                    <a:lnTo>
                      <a:pt x="627" y="759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90" name="Freeform 630"/>
              <p:cNvSpPr>
                <a:spLocks/>
              </p:cNvSpPr>
              <p:nvPr/>
            </p:nvSpPr>
            <p:spPr bwMode="auto">
              <a:xfrm>
                <a:off x="5159" y="3271"/>
                <a:ext cx="183" cy="276"/>
              </a:xfrm>
              <a:custGeom>
                <a:avLst/>
                <a:gdLst>
                  <a:gd name="T0" fmla="*/ 2036 w 2196"/>
                  <a:gd name="T1" fmla="*/ 0 h 3317"/>
                  <a:gd name="T2" fmla="*/ 1897 w 2196"/>
                  <a:gd name="T3" fmla="*/ 11 h 3317"/>
                  <a:gd name="T4" fmla="*/ 1640 w 2196"/>
                  <a:gd name="T5" fmla="*/ 138 h 3317"/>
                  <a:gd name="T6" fmla="*/ 1476 w 2196"/>
                  <a:gd name="T7" fmla="*/ 246 h 3317"/>
                  <a:gd name="T8" fmla="*/ 1394 w 2196"/>
                  <a:gd name="T9" fmla="*/ 322 h 3317"/>
                  <a:gd name="T10" fmla="*/ 1324 w 2196"/>
                  <a:gd name="T11" fmla="*/ 395 h 3317"/>
                  <a:gd name="T12" fmla="*/ 1269 w 2196"/>
                  <a:gd name="T13" fmla="*/ 468 h 3317"/>
                  <a:gd name="T14" fmla="*/ 1216 w 2196"/>
                  <a:gd name="T15" fmla="*/ 547 h 3317"/>
                  <a:gd name="T16" fmla="*/ 1159 w 2196"/>
                  <a:gd name="T17" fmla="*/ 641 h 3317"/>
                  <a:gd name="T18" fmla="*/ 1071 w 2196"/>
                  <a:gd name="T19" fmla="*/ 788 h 3317"/>
                  <a:gd name="T20" fmla="*/ 981 w 2196"/>
                  <a:gd name="T21" fmla="*/ 958 h 3317"/>
                  <a:gd name="T22" fmla="*/ 890 w 2196"/>
                  <a:gd name="T23" fmla="*/ 1152 h 3317"/>
                  <a:gd name="T24" fmla="*/ 710 w 2196"/>
                  <a:gd name="T25" fmla="*/ 1560 h 3317"/>
                  <a:gd name="T26" fmla="*/ 503 w 2196"/>
                  <a:gd name="T27" fmla="*/ 2059 h 3317"/>
                  <a:gd name="T28" fmla="*/ 363 w 2196"/>
                  <a:gd name="T29" fmla="*/ 2433 h 3317"/>
                  <a:gd name="T30" fmla="*/ 246 w 2196"/>
                  <a:gd name="T31" fmla="*/ 2700 h 3317"/>
                  <a:gd name="T32" fmla="*/ 184 w 2196"/>
                  <a:gd name="T33" fmla="*/ 2825 h 3317"/>
                  <a:gd name="T34" fmla="*/ 152 w 2196"/>
                  <a:gd name="T35" fmla="*/ 2962 h 3317"/>
                  <a:gd name="T36" fmla="*/ 133 w 2196"/>
                  <a:gd name="T37" fmla="*/ 3067 h 3317"/>
                  <a:gd name="T38" fmla="*/ 78 w 2196"/>
                  <a:gd name="T39" fmla="*/ 3173 h 3317"/>
                  <a:gd name="T40" fmla="*/ 44 w 2196"/>
                  <a:gd name="T41" fmla="*/ 3228 h 3317"/>
                  <a:gd name="T42" fmla="*/ 15 w 2196"/>
                  <a:gd name="T43" fmla="*/ 3277 h 3317"/>
                  <a:gd name="T44" fmla="*/ 0 w 2196"/>
                  <a:gd name="T45" fmla="*/ 3317 h 3317"/>
                  <a:gd name="T46" fmla="*/ 89 w 2196"/>
                  <a:gd name="T47" fmla="*/ 3287 h 3317"/>
                  <a:gd name="T48" fmla="*/ 215 w 2196"/>
                  <a:gd name="T49" fmla="*/ 3196 h 3317"/>
                  <a:gd name="T50" fmla="*/ 332 w 2196"/>
                  <a:gd name="T51" fmla="*/ 3047 h 3317"/>
                  <a:gd name="T52" fmla="*/ 440 w 2196"/>
                  <a:gd name="T53" fmla="*/ 2861 h 3317"/>
                  <a:gd name="T54" fmla="*/ 629 w 2196"/>
                  <a:gd name="T55" fmla="*/ 2413 h 3317"/>
                  <a:gd name="T56" fmla="*/ 768 w 2196"/>
                  <a:gd name="T57" fmla="*/ 2108 h 3317"/>
                  <a:gd name="T58" fmla="*/ 990 w 2196"/>
                  <a:gd name="T59" fmla="*/ 1571 h 3317"/>
                  <a:gd name="T60" fmla="*/ 1195 w 2196"/>
                  <a:gd name="T61" fmla="*/ 1049 h 3317"/>
                  <a:gd name="T62" fmla="*/ 1304 w 2196"/>
                  <a:gd name="T63" fmla="*/ 821 h 3317"/>
                  <a:gd name="T64" fmla="*/ 1406 w 2196"/>
                  <a:gd name="T65" fmla="*/ 622 h 3317"/>
                  <a:gd name="T66" fmla="*/ 1503 w 2196"/>
                  <a:gd name="T67" fmla="*/ 488 h 3317"/>
                  <a:gd name="T68" fmla="*/ 1611 w 2196"/>
                  <a:gd name="T69" fmla="*/ 395 h 3317"/>
                  <a:gd name="T70" fmla="*/ 1730 w 2196"/>
                  <a:gd name="T71" fmla="*/ 310 h 3317"/>
                  <a:gd name="T72" fmla="*/ 1909 w 2196"/>
                  <a:gd name="T73" fmla="*/ 198 h 3317"/>
                  <a:gd name="T74" fmla="*/ 2196 w 2196"/>
                  <a:gd name="T75" fmla="*/ 52 h 3317"/>
                  <a:gd name="T76" fmla="*/ 2036 w 2196"/>
                  <a:gd name="T77" fmla="*/ 0 h 3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196" h="3317">
                    <a:moveTo>
                      <a:pt x="2036" y="0"/>
                    </a:moveTo>
                    <a:lnTo>
                      <a:pt x="1897" y="11"/>
                    </a:lnTo>
                    <a:lnTo>
                      <a:pt x="1640" y="138"/>
                    </a:lnTo>
                    <a:lnTo>
                      <a:pt x="1476" y="246"/>
                    </a:lnTo>
                    <a:lnTo>
                      <a:pt x="1394" y="322"/>
                    </a:lnTo>
                    <a:lnTo>
                      <a:pt x="1324" y="395"/>
                    </a:lnTo>
                    <a:lnTo>
                      <a:pt x="1269" y="468"/>
                    </a:lnTo>
                    <a:lnTo>
                      <a:pt x="1216" y="547"/>
                    </a:lnTo>
                    <a:lnTo>
                      <a:pt x="1159" y="641"/>
                    </a:lnTo>
                    <a:lnTo>
                      <a:pt x="1071" y="788"/>
                    </a:lnTo>
                    <a:lnTo>
                      <a:pt x="981" y="958"/>
                    </a:lnTo>
                    <a:lnTo>
                      <a:pt x="890" y="1152"/>
                    </a:lnTo>
                    <a:lnTo>
                      <a:pt x="710" y="1560"/>
                    </a:lnTo>
                    <a:lnTo>
                      <a:pt x="503" y="2059"/>
                    </a:lnTo>
                    <a:lnTo>
                      <a:pt x="363" y="2433"/>
                    </a:lnTo>
                    <a:lnTo>
                      <a:pt x="246" y="2700"/>
                    </a:lnTo>
                    <a:lnTo>
                      <a:pt x="184" y="2825"/>
                    </a:lnTo>
                    <a:lnTo>
                      <a:pt x="152" y="2962"/>
                    </a:lnTo>
                    <a:lnTo>
                      <a:pt x="133" y="3067"/>
                    </a:lnTo>
                    <a:lnTo>
                      <a:pt x="78" y="3173"/>
                    </a:lnTo>
                    <a:lnTo>
                      <a:pt x="44" y="3228"/>
                    </a:lnTo>
                    <a:lnTo>
                      <a:pt x="15" y="3277"/>
                    </a:lnTo>
                    <a:lnTo>
                      <a:pt x="0" y="3317"/>
                    </a:lnTo>
                    <a:lnTo>
                      <a:pt x="89" y="3287"/>
                    </a:lnTo>
                    <a:lnTo>
                      <a:pt x="215" y="3196"/>
                    </a:lnTo>
                    <a:lnTo>
                      <a:pt x="332" y="3047"/>
                    </a:lnTo>
                    <a:lnTo>
                      <a:pt x="440" y="2861"/>
                    </a:lnTo>
                    <a:lnTo>
                      <a:pt x="629" y="2413"/>
                    </a:lnTo>
                    <a:lnTo>
                      <a:pt x="768" y="2108"/>
                    </a:lnTo>
                    <a:lnTo>
                      <a:pt x="990" y="1571"/>
                    </a:lnTo>
                    <a:lnTo>
                      <a:pt x="1195" y="1049"/>
                    </a:lnTo>
                    <a:lnTo>
                      <a:pt x="1304" y="821"/>
                    </a:lnTo>
                    <a:lnTo>
                      <a:pt x="1406" y="622"/>
                    </a:lnTo>
                    <a:lnTo>
                      <a:pt x="1503" y="488"/>
                    </a:lnTo>
                    <a:lnTo>
                      <a:pt x="1611" y="395"/>
                    </a:lnTo>
                    <a:lnTo>
                      <a:pt x="1730" y="310"/>
                    </a:lnTo>
                    <a:lnTo>
                      <a:pt x="1909" y="198"/>
                    </a:lnTo>
                    <a:lnTo>
                      <a:pt x="2196" y="52"/>
                    </a:lnTo>
                    <a:lnTo>
                      <a:pt x="2036" y="0"/>
                    </a:lnTo>
                    <a:close/>
                  </a:path>
                </a:pathLst>
              </a:custGeom>
              <a:solidFill>
                <a:srgbClr val="DA27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91" name="Freeform 631"/>
              <p:cNvSpPr>
                <a:spLocks/>
              </p:cNvSpPr>
              <p:nvPr/>
            </p:nvSpPr>
            <p:spPr bwMode="auto">
              <a:xfrm>
                <a:off x="5159" y="3271"/>
                <a:ext cx="183" cy="276"/>
              </a:xfrm>
              <a:custGeom>
                <a:avLst/>
                <a:gdLst>
                  <a:gd name="T0" fmla="*/ 2036 w 2196"/>
                  <a:gd name="T1" fmla="*/ 0 h 3317"/>
                  <a:gd name="T2" fmla="*/ 1897 w 2196"/>
                  <a:gd name="T3" fmla="*/ 11 h 3317"/>
                  <a:gd name="T4" fmla="*/ 1640 w 2196"/>
                  <a:gd name="T5" fmla="*/ 138 h 3317"/>
                  <a:gd name="T6" fmla="*/ 1476 w 2196"/>
                  <a:gd name="T7" fmla="*/ 246 h 3317"/>
                  <a:gd name="T8" fmla="*/ 1394 w 2196"/>
                  <a:gd name="T9" fmla="*/ 322 h 3317"/>
                  <a:gd name="T10" fmla="*/ 1324 w 2196"/>
                  <a:gd name="T11" fmla="*/ 395 h 3317"/>
                  <a:gd name="T12" fmla="*/ 1269 w 2196"/>
                  <a:gd name="T13" fmla="*/ 468 h 3317"/>
                  <a:gd name="T14" fmla="*/ 1216 w 2196"/>
                  <a:gd name="T15" fmla="*/ 547 h 3317"/>
                  <a:gd name="T16" fmla="*/ 1159 w 2196"/>
                  <a:gd name="T17" fmla="*/ 641 h 3317"/>
                  <a:gd name="T18" fmla="*/ 1071 w 2196"/>
                  <a:gd name="T19" fmla="*/ 788 h 3317"/>
                  <a:gd name="T20" fmla="*/ 981 w 2196"/>
                  <a:gd name="T21" fmla="*/ 958 h 3317"/>
                  <a:gd name="T22" fmla="*/ 890 w 2196"/>
                  <a:gd name="T23" fmla="*/ 1152 h 3317"/>
                  <a:gd name="T24" fmla="*/ 710 w 2196"/>
                  <a:gd name="T25" fmla="*/ 1560 h 3317"/>
                  <a:gd name="T26" fmla="*/ 503 w 2196"/>
                  <a:gd name="T27" fmla="*/ 2059 h 3317"/>
                  <a:gd name="T28" fmla="*/ 363 w 2196"/>
                  <a:gd name="T29" fmla="*/ 2433 h 3317"/>
                  <a:gd name="T30" fmla="*/ 246 w 2196"/>
                  <a:gd name="T31" fmla="*/ 2700 h 3317"/>
                  <a:gd name="T32" fmla="*/ 184 w 2196"/>
                  <a:gd name="T33" fmla="*/ 2825 h 3317"/>
                  <a:gd name="T34" fmla="*/ 152 w 2196"/>
                  <a:gd name="T35" fmla="*/ 2962 h 3317"/>
                  <a:gd name="T36" fmla="*/ 133 w 2196"/>
                  <a:gd name="T37" fmla="*/ 3067 h 3317"/>
                  <a:gd name="T38" fmla="*/ 78 w 2196"/>
                  <a:gd name="T39" fmla="*/ 3173 h 3317"/>
                  <a:gd name="T40" fmla="*/ 44 w 2196"/>
                  <a:gd name="T41" fmla="*/ 3228 h 3317"/>
                  <a:gd name="T42" fmla="*/ 15 w 2196"/>
                  <a:gd name="T43" fmla="*/ 3277 h 3317"/>
                  <a:gd name="T44" fmla="*/ 0 w 2196"/>
                  <a:gd name="T45" fmla="*/ 3317 h 3317"/>
                  <a:gd name="T46" fmla="*/ 89 w 2196"/>
                  <a:gd name="T47" fmla="*/ 3287 h 3317"/>
                  <a:gd name="T48" fmla="*/ 215 w 2196"/>
                  <a:gd name="T49" fmla="*/ 3196 h 3317"/>
                  <a:gd name="T50" fmla="*/ 332 w 2196"/>
                  <a:gd name="T51" fmla="*/ 3047 h 3317"/>
                  <a:gd name="T52" fmla="*/ 440 w 2196"/>
                  <a:gd name="T53" fmla="*/ 2861 h 3317"/>
                  <a:gd name="T54" fmla="*/ 629 w 2196"/>
                  <a:gd name="T55" fmla="*/ 2413 h 3317"/>
                  <a:gd name="T56" fmla="*/ 768 w 2196"/>
                  <a:gd name="T57" fmla="*/ 2108 h 3317"/>
                  <a:gd name="T58" fmla="*/ 990 w 2196"/>
                  <a:gd name="T59" fmla="*/ 1571 h 3317"/>
                  <a:gd name="T60" fmla="*/ 1195 w 2196"/>
                  <a:gd name="T61" fmla="*/ 1049 h 3317"/>
                  <a:gd name="T62" fmla="*/ 1304 w 2196"/>
                  <a:gd name="T63" fmla="*/ 821 h 3317"/>
                  <a:gd name="T64" fmla="*/ 1406 w 2196"/>
                  <a:gd name="T65" fmla="*/ 622 h 3317"/>
                  <a:gd name="T66" fmla="*/ 1503 w 2196"/>
                  <a:gd name="T67" fmla="*/ 488 h 3317"/>
                  <a:gd name="T68" fmla="*/ 1611 w 2196"/>
                  <a:gd name="T69" fmla="*/ 395 h 3317"/>
                  <a:gd name="T70" fmla="*/ 1730 w 2196"/>
                  <a:gd name="T71" fmla="*/ 310 h 3317"/>
                  <a:gd name="T72" fmla="*/ 1909 w 2196"/>
                  <a:gd name="T73" fmla="*/ 198 h 3317"/>
                  <a:gd name="T74" fmla="*/ 2196 w 2196"/>
                  <a:gd name="T75" fmla="*/ 52 h 3317"/>
                  <a:gd name="T76" fmla="*/ 2036 w 2196"/>
                  <a:gd name="T77" fmla="*/ 0 h 3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196" h="3317">
                    <a:moveTo>
                      <a:pt x="2036" y="0"/>
                    </a:moveTo>
                    <a:lnTo>
                      <a:pt x="1897" y="11"/>
                    </a:lnTo>
                    <a:lnTo>
                      <a:pt x="1640" y="138"/>
                    </a:lnTo>
                    <a:lnTo>
                      <a:pt x="1476" y="246"/>
                    </a:lnTo>
                    <a:lnTo>
                      <a:pt x="1394" y="322"/>
                    </a:lnTo>
                    <a:lnTo>
                      <a:pt x="1324" y="395"/>
                    </a:lnTo>
                    <a:lnTo>
                      <a:pt x="1269" y="468"/>
                    </a:lnTo>
                    <a:lnTo>
                      <a:pt x="1216" y="547"/>
                    </a:lnTo>
                    <a:lnTo>
                      <a:pt x="1159" y="641"/>
                    </a:lnTo>
                    <a:lnTo>
                      <a:pt x="1071" y="788"/>
                    </a:lnTo>
                    <a:lnTo>
                      <a:pt x="981" y="958"/>
                    </a:lnTo>
                    <a:lnTo>
                      <a:pt x="890" y="1152"/>
                    </a:lnTo>
                    <a:lnTo>
                      <a:pt x="710" y="1560"/>
                    </a:lnTo>
                    <a:lnTo>
                      <a:pt x="503" y="2059"/>
                    </a:lnTo>
                    <a:lnTo>
                      <a:pt x="363" y="2433"/>
                    </a:lnTo>
                    <a:lnTo>
                      <a:pt x="246" y="2700"/>
                    </a:lnTo>
                    <a:lnTo>
                      <a:pt x="184" y="2825"/>
                    </a:lnTo>
                    <a:lnTo>
                      <a:pt x="152" y="2962"/>
                    </a:lnTo>
                    <a:lnTo>
                      <a:pt x="133" y="3067"/>
                    </a:lnTo>
                    <a:lnTo>
                      <a:pt x="78" y="3173"/>
                    </a:lnTo>
                    <a:lnTo>
                      <a:pt x="44" y="3228"/>
                    </a:lnTo>
                    <a:lnTo>
                      <a:pt x="15" y="3277"/>
                    </a:lnTo>
                    <a:lnTo>
                      <a:pt x="0" y="3317"/>
                    </a:lnTo>
                    <a:lnTo>
                      <a:pt x="89" y="3287"/>
                    </a:lnTo>
                    <a:lnTo>
                      <a:pt x="215" y="3196"/>
                    </a:lnTo>
                    <a:lnTo>
                      <a:pt x="332" y="3047"/>
                    </a:lnTo>
                    <a:lnTo>
                      <a:pt x="440" y="2861"/>
                    </a:lnTo>
                    <a:lnTo>
                      <a:pt x="629" y="2413"/>
                    </a:lnTo>
                    <a:lnTo>
                      <a:pt x="768" y="2108"/>
                    </a:lnTo>
                    <a:lnTo>
                      <a:pt x="990" y="1571"/>
                    </a:lnTo>
                    <a:lnTo>
                      <a:pt x="1195" y="1049"/>
                    </a:lnTo>
                    <a:lnTo>
                      <a:pt x="1304" y="821"/>
                    </a:lnTo>
                    <a:lnTo>
                      <a:pt x="1406" y="622"/>
                    </a:lnTo>
                    <a:lnTo>
                      <a:pt x="1503" y="488"/>
                    </a:lnTo>
                    <a:lnTo>
                      <a:pt x="1611" y="395"/>
                    </a:lnTo>
                    <a:lnTo>
                      <a:pt x="1730" y="310"/>
                    </a:lnTo>
                    <a:lnTo>
                      <a:pt x="1909" y="198"/>
                    </a:lnTo>
                    <a:lnTo>
                      <a:pt x="2196" y="52"/>
                    </a:lnTo>
                    <a:lnTo>
                      <a:pt x="2036" y="0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92" name="Freeform 632"/>
              <p:cNvSpPr>
                <a:spLocks/>
              </p:cNvSpPr>
              <p:nvPr/>
            </p:nvSpPr>
            <p:spPr bwMode="auto">
              <a:xfrm>
                <a:off x="4789" y="3542"/>
                <a:ext cx="119" cy="22"/>
              </a:xfrm>
              <a:custGeom>
                <a:avLst/>
                <a:gdLst>
                  <a:gd name="T0" fmla="*/ 1279 w 1426"/>
                  <a:gd name="T1" fmla="*/ 0 h 270"/>
                  <a:gd name="T2" fmla="*/ 791 w 1426"/>
                  <a:gd name="T3" fmla="*/ 0 h 270"/>
                  <a:gd name="T4" fmla="*/ 287 w 1426"/>
                  <a:gd name="T5" fmla="*/ 6 h 270"/>
                  <a:gd name="T6" fmla="*/ 138 w 1426"/>
                  <a:gd name="T7" fmla="*/ 30 h 270"/>
                  <a:gd name="T8" fmla="*/ 65 w 1426"/>
                  <a:gd name="T9" fmla="*/ 50 h 270"/>
                  <a:gd name="T10" fmla="*/ 23 w 1426"/>
                  <a:gd name="T11" fmla="*/ 89 h 270"/>
                  <a:gd name="T12" fmla="*/ 0 w 1426"/>
                  <a:gd name="T13" fmla="*/ 138 h 270"/>
                  <a:gd name="T14" fmla="*/ 1 w 1426"/>
                  <a:gd name="T15" fmla="*/ 185 h 270"/>
                  <a:gd name="T16" fmla="*/ 28 w 1426"/>
                  <a:gd name="T17" fmla="*/ 208 h 270"/>
                  <a:gd name="T18" fmla="*/ 65 w 1426"/>
                  <a:gd name="T19" fmla="*/ 232 h 270"/>
                  <a:gd name="T20" fmla="*/ 142 w 1426"/>
                  <a:gd name="T21" fmla="*/ 246 h 270"/>
                  <a:gd name="T22" fmla="*/ 276 w 1426"/>
                  <a:gd name="T23" fmla="*/ 262 h 270"/>
                  <a:gd name="T24" fmla="*/ 500 w 1426"/>
                  <a:gd name="T25" fmla="*/ 262 h 270"/>
                  <a:gd name="T26" fmla="*/ 830 w 1426"/>
                  <a:gd name="T27" fmla="*/ 262 h 270"/>
                  <a:gd name="T28" fmla="*/ 1426 w 1426"/>
                  <a:gd name="T29" fmla="*/ 270 h 270"/>
                  <a:gd name="T30" fmla="*/ 1279 w 1426"/>
                  <a:gd name="T31" fmla="*/ 0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426" h="270">
                    <a:moveTo>
                      <a:pt x="1279" y="0"/>
                    </a:moveTo>
                    <a:lnTo>
                      <a:pt x="791" y="0"/>
                    </a:lnTo>
                    <a:lnTo>
                      <a:pt x="287" y="6"/>
                    </a:lnTo>
                    <a:lnTo>
                      <a:pt x="138" y="30"/>
                    </a:lnTo>
                    <a:lnTo>
                      <a:pt x="65" y="50"/>
                    </a:lnTo>
                    <a:lnTo>
                      <a:pt x="23" y="89"/>
                    </a:lnTo>
                    <a:lnTo>
                      <a:pt x="0" y="138"/>
                    </a:lnTo>
                    <a:lnTo>
                      <a:pt x="1" y="185"/>
                    </a:lnTo>
                    <a:lnTo>
                      <a:pt x="28" y="208"/>
                    </a:lnTo>
                    <a:lnTo>
                      <a:pt x="65" y="232"/>
                    </a:lnTo>
                    <a:lnTo>
                      <a:pt x="142" y="246"/>
                    </a:lnTo>
                    <a:lnTo>
                      <a:pt x="276" y="262"/>
                    </a:lnTo>
                    <a:lnTo>
                      <a:pt x="500" y="262"/>
                    </a:lnTo>
                    <a:lnTo>
                      <a:pt x="830" y="262"/>
                    </a:lnTo>
                    <a:lnTo>
                      <a:pt x="1426" y="270"/>
                    </a:lnTo>
                    <a:lnTo>
                      <a:pt x="1279" y="0"/>
                    </a:lnTo>
                    <a:close/>
                  </a:path>
                </a:pathLst>
              </a:custGeom>
              <a:solidFill>
                <a:srgbClr val="DA27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93" name="Freeform 633"/>
              <p:cNvSpPr>
                <a:spLocks/>
              </p:cNvSpPr>
              <p:nvPr/>
            </p:nvSpPr>
            <p:spPr bwMode="auto">
              <a:xfrm>
                <a:off x="4789" y="3542"/>
                <a:ext cx="119" cy="22"/>
              </a:xfrm>
              <a:custGeom>
                <a:avLst/>
                <a:gdLst>
                  <a:gd name="T0" fmla="*/ 1279 w 1426"/>
                  <a:gd name="T1" fmla="*/ 0 h 270"/>
                  <a:gd name="T2" fmla="*/ 791 w 1426"/>
                  <a:gd name="T3" fmla="*/ 0 h 270"/>
                  <a:gd name="T4" fmla="*/ 287 w 1426"/>
                  <a:gd name="T5" fmla="*/ 6 h 270"/>
                  <a:gd name="T6" fmla="*/ 138 w 1426"/>
                  <a:gd name="T7" fmla="*/ 30 h 270"/>
                  <a:gd name="T8" fmla="*/ 65 w 1426"/>
                  <a:gd name="T9" fmla="*/ 50 h 270"/>
                  <a:gd name="T10" fmla="*/ 23 w 1426"/>
                  <a:gd name="T11" fmla="*/ 89 h 270"/>
                  <a:gd name="T12" fmla="*/ 0 w 1426"/>
                  <a:gd name="T13" fmla="*/ 138 h 270"/>
                  <a:gd name="T14" fmla="*/ 1 w 1426"/>
                  <a:gd name="T15" fmla="*/ 185 h 270"/>
                  <a:gd name="T16" fmla="*/ 28 w 1426"/>
                  <a:gd name="T17" fmla="*/ 208 h 270"/>
                  <a:gd name="T18" fmla="*/ 65 w 1426"/>
                  <a:gd name="T19" fmla="*/ 232 h 270"/>
                  <a:gd name="T20" fmla="*/ 142 w 1426"/>
                  <a:gd name="T21" fmla="*/ 246 h 270"/>
                  <a:gd name="T22" fmla="*/ 276 w 1426"/>
                  <a:gd name="T23" fmla="*/ 262 h 270"/>
                  <a:gd name="T24" fmla="*/ 500 w 1426"/>
                  <a:gd name="T25" fmla="*/ 262 h 270"/>
                  <a:gd name="T26" fmla="*/ 830 w 1426"/>
                  <a:gd name="T27" fmla="*/ 262 h 270"/>
                  <a:gd name="T28" fmla="*/ 1426 w 1426"/>
                  <a:gd name="T29" fmla="*/ 270 h 270"/>
                  <a:gd name="T30" fmla="*/ 1279 w 1426"/>
                  <a:gd name="T31" fmla="*/ 0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426" h="270">
                    <a:moveTo>
                      <a:pt x="1279" y="0"/>
                    </a:moveTo>
                    <a:lnTo>
                      <a:pt x="791" y="0"/>
                    </a:lnTo>
                    <a:lnTo>
                      <a:pt x="287" y="6"/>
                    </a:lnTo>
                    <a:lnTo>
                      <a:pt x="138" y="30"/>
                    </a:lnTo>
                    <a:lnTo>
                      <a:pt x="65" y="50"/>
                    </a:lnTo>
                    <a:lnTo>
                      <a:pt x="23" y="89"/>
                    </a:lnTo>
                    <a:lnTo>
                      <a:pt x="0" y="138"/>
                    </a:lnTo>
                    <a:lnTo>
                      <a:pt x="1" y="185"/>
                    </a:lnTo>
                    <a:lnTo>
                      <a:pt x="28" y="208"/>
                    </a:lnTo>
                    <a:lnTo>
                      <a:pt x="65" y="232"/>
                    </a:lnTo>
                    <a:lnTo>
                      <a:pt x="142" y="246"/>
                    </a:lnTo>
                    <a:lnTo>
                      <a:pt x="276" y="262"/>
                    </a:lnTo>
                    <a:lnTo>
                      <a:pt x="500" y="262"/>
                    </a:lnTo>
                    <a:lnTo>
                      <a:pt x="830" y="262"/>
                    </a:lnTo>
                    <a:lnTo>
                      <a:pt x="1426" y="270"/>
                    </a:lnTo>
                    <a:lnTo>
                      <a:pt x="1279" y="0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94" name="Freeform 634"/>
              <p:cNvSpPr>
                <a:spLocks/>
              </p:cNvSpPr>
              <p:nvPr/>
            </p:nvSpPr>
            <p:spPr bwMode="auto">
              <a:xfrm>
                <a:off x="5372" y="3235"/>
                <a:ext cx="27" cy="45"/>
              </a:xfrm>
              <a:custGeom>
                <a:avLst/>
                <a:gdLst>
                  <a:gd name="T0" fmla="*/ 157 w 321"/>
                  <a:gd name="T1" fmla="*/ 38 h 538"/>
                  <a:gd name="T2" fmla="*/ 0 w 321"/>
                  <a:gd name="T3" fmla="*/ 529 h 538"/>
                  <a:gd name="T4" fmla="*/ 44 w 321"/>
                  <a:gd name="T5" fmla="*/ 538 h 538"/>
                  <a:gd name="T6" fmla="*/ 203 w 321"/>
                  <a:gd name="T7" fmla="*/ 32 h 538"/>
                  <a:gd name="T8" fmla="*/ 44 w 321"/>
                  <a:gd name="T9" fmla="*/ 538 h 538"/>
                  <a:gd name="T10" fmla="*/ 142 w 321"/>
                  <a:gd name="T11" fmla="*/ 499 h 538"/>
                  <a:gd name="T12" fmla="*/ 203 w 321"/>
                  <a:gd name="T13" fmla="*/ 454 h 538"/>
                  <a:gd name="T14" fmla="*/ 321 w 321"/>
                  <a:gd name="T15" fmla="*/ 0 h 538"/>
                  <a:gd name="T16" fmla="*/ 157 w 321"/>
                  <a:gd name="T17" fmla="*/ 38 h 5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1" h="538">
                    <a:moveTo>
                      <a:pt x="157" y="38"/>
                    </a:moveTo>
                    <a:lnTo>
                      <a:pt x="0" y="529"/>
                    </a:lnTo>
                    <a:lnTo>
                      <a:pt x="44" y="538"/>
                    </a:lnTo>
                    <a:lnTo>
                      <a:pt x="203" y="32"/>
                    </a:lnTo>
                    <a:lnTo>
                      <a:pt x="44" y="538"/>
                    </a:lnTo>
                    <a:lnTo>
                      <a:pt x="142" y="499"/>
                    </a:lnTo>
                    <a:lnTo>
                      <a:pt x="203" y="454"/>
                    </a:lnTo>
                    <a:lnTo>
                      <a:pt x="321" y="0"/>
                    </a:lnTo>
                    <a:lnTo>
                      <a:pt x="157" y="38"/>
                    </a:lnTo>
                    <a:close/>
                  </a:path>
                </a:pathLst>
              </a:custGeom>
              <a:solidFill>
                <a:srgbClr val="ABAD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95" name="Freeform 635"/>
              <p:cNvSpPr>
                <a:spLocks/>
              </p:cNvSpPr>
              <p:nvPr/>
            </p:nvSpPr>
            <p:spPr bwMode="auto">
              <a:xfrm>
                <a:off x="5372" y="3235"/>
                <a:ext cx="27" cy="45"/>
              </a:xfrm>
              <a:custGeom>
                <a:avLst/>
                <a:gdLst>
                  <a:gd name="T0" fmla="*/ 157 w 321"/>
                  <a:gd name="T1" fmla="*/ 38 h 538"/>
                  <a:gd name="T2" fmla="*/ 0 w 321"/>
                  <a:gd name="T3" fmla="*/ 529 h 538"/>
                  <a:gd name="T4" fmla="*/ 44 w 321"/>
                  <a:gd name="T5" fmla="*/ 538 h 538"/>
                  <a:gd name="T6" fmla="*/ 203 w 321"/>
                  <a:gd name="T7" fmla="*/ 32 h 538"/>
                  <a:gd name="T8" fmla="*/ 44 w 321"/>
                  <a:gd name="T9" fmla="*/ 538 h 538"/>
                  <a:gd name="T10" fmla="*/ 142 w 321"/>
                  <a:gd name="T11" fmla="*/ 499 h 538"/>
                  <a:gd name="T12" fmla="*/ 203 w 321"/>
                  <a:gd name="T13" fmla="*/ 454 h 538"/>
                  <a:gd name="T14" fmla="*/ 321 w 321"/>
                  <a:gd name="T15" fmla="*/ 0 h 538"/>
                  <a:gd name="T16" fmla="*/ 157 w 321"/>
                  <a:gd name="T17" fmla="*/ 38 h 5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1" h="538">
                    <a:moveTo>
                      <a:pt x="157" y="38"/>
                    </a:moveTo>
                    <a:lnTo>
                      <a:pt x="0" y="529"/>
                    </a:lnTo>
                    <a:lnTo>
                      <a:pt x="44" y="538"/>
                    </a:lnTo>
                    <a:lnTo>
                      <a:pt x="203" y="32"/>
                    </a:lnTo>
                    <a:lnTo>
                      <a:pt x="44" y="538"/>
                    </a:lnTo>
                    <a:lnTo>
                      <a:pt x="142" y="499"/>
                    </a:lnTo>
                    <a:lnTo>
                      <a:pt x="203" y="454"/>
                    </a:lnTo>
                    <a:lnTo>
                      <a:pt x="321" y="0"/>
                    </a:lnTo>
                    <a:lnTo>
                      <a:pt x="157" y="38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96" name="Freeform 636"/>
              <p:cNvSpPr>
                <a:spLocks/>
              </p:cNvSpPr>
              <p:nvPr/>
            </p:nvSpPr>
            <p:spPr bwMode="auto">
              <a:xfrm>
                <a:off x="5364" y="3274"/>
                <a:ext cx="20" cy="11"/>
              </a:xfrm>
              <a:custGeom>
                <a:avLst/>
                <a:gdLst>
                  <a:gd name="T0" fmla="*/ 111 w 235"/>
                  <a:gd name="T1" fmla="*/ 0 h 139"/>
                  <a:gd name="T2" fmla="*/ 34 w 235"/>
                  <a:gd name="T3" fmla="*/ 45 h 139"/>
                  <a:gd name="T4" fmla="*/ 0 w 235"/>
                  <a:gd name="T5" fmla="*/ 98 h 139"/>
                  <a:gd name="T6" fmla="*/ 63 w 235"/>
                  <a:gd name="T7" fmla="*/ 139 h 139"/>
                  <a:gd name="T8" fmla="*/ 150 w 235"/>
                  <a:gd name="T9" fmla="*/ 134 h 139"/>
                  <a:gd name="T10" fmla="*/ 235 w 235"/>
                  <a:gd name="T11" fmla="*/ 121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5" h="139">
                    <a:moveTo>
                      <a:pt x="111" y="0"/>
                    </a:moveTo>
                    <a:lnTo>
                      <a:pt x="34" y="45"/>
                    </a:lnTo>
                    <a:lnTo>
                      <a:pt x="0" y="98"/>
                    </a:lnTo>
                    <a:lnTo>
                      <a:pt x="63" y="139"/>
                    </a:lnTo>
                    <a:lnTo>
                      <a:pt x="150" y="134"/>
                    </a:lnTo>
                    <a:lnTo>
                      <a:pt x="235" y="121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97" name="Freeform 637"/>
              <p:cNvSpPr>
                <a:spLocks/>
              </p:cNvSpPr>
              <p:nvPr/>
            </p:nvSpPr>
            <p:spPr bwMode="auto">
              <a:xfrm>
                <a:off x="5392" y="3268"/>
                <a:ext cx="2" cy="9"/>
              </a:xfrm>
              <a:custGeom>
                <a:avLst/>
                <a:gdLst>
                  <a:gd name="T0" fmla="*/ 4 w 30"/>
                  <a:gd name="T1" fmla="*/ 0 h 114"/>
                  <a:gd name="T2" fmla="*/ 30 w 30"/>
                  <a:gd name="T3" fmla="*/ 49 h 114"/>
                  <a:gd name="T4" fmla="*/ 0 w 30"/>
                  <a:gd name="T5" fmla="*/ 114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0" h="114">
                    <a:moveTo>
                      <a:pt x="4" y="0"/>
                    </a:moveTo>
                    <a:lnTo>
                      <a:pt x="30" y="49"/>
                    </a:lnTo>
                    <a:lnTo>
                      <a:pt x="0" y="114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98" name="Freeform 638"/>
              <p:cNvSpPr>
                <a:spLocks/>
              </p:cNvSpPr>
              <p:nvPr/>
            </p:nvSpPr>
            <p:spPr bwMode="auto">
              <a:xfrm>
                <a:off x="5331" y="3042"/>
                <a:ext cx="133" cy="201"/>
              </a:xfrm>
              <a:custGeom>
                <a:avLst/>
                <a:gdLst>
                  <a:gd name="T0" fmla="*/ 480 w 1593"/>
                  <a:gd name="T1" fmla="*/ 580 h 2410"/>
                  <a:gd name="T2" fmla="*/ 368 w 1593"/>
                  <a:gd name="T3" fmla="*/ 735 h 2410"/>
                  <a:gd name="T4" fmla="*/ 269 w 1593"/>
                  <a:gd name="T5" fmla="*/ 892 h 2410"/>
                  <a:gd name="T6" fmla="*/ 183 w 1593"/>
                  <a:gd name="T7" fmla="*/ 1054 h 2410"/>
                  <a:gd name="T8" fmla="*/ 128 w 1593"/>
                  <a:gd name="T9" fmla="*/ 1214 h 2410"/>
                  <a:gd name="T10" fmla="*/ 73 w 1593"/>
                  <a:gd name="T11" fmla="*/ 1386 h 2410"/>
                  <a:gd name="T12" fmla="*/ 38 w 1593"/>
                  <a:gd name="T13" fmla="*/ 1563 h 2410"/>
                  <a:gd name="T14" fmla="*/ 8 w 1593"/>
                  <a:gd name="T15" fmla="*/ 1760 h 2410"/>
                  <a:gd name="T16" fmla="*/ 0 w 1593"/>
                  <a:gd name="T17" fmla="*/ 1965 h 2410"/>
                  <a:gd name="T18" fmla="*/ 5 w 1593"/>
                  <a:gd name="T19" fmla="*/ 2136 h 2410"/>
                  <a:gd name="T20" fmla="*/ 31 w 1593"/>
                  <a:gd name="T21" fmla="*/ 2240 h 2410"/>
                  <a:gd name="T22" fmla="*/ 86 w 1593"/>
                  <a:gd name="T23" fmla="*/ 2324 h 2410"/>
                  <a:gd name="T24" fmla="*/ 147 w 1593"/>
                  <a:gd name="T25" fmla="*/ 2375 h 2410"/>
                  <a:gd name="T26" fmla="*/ 265 w 1593"/>
                  <a:gd name="T27" fmla="*/ 2409 h 2410"/>
                  <a:gd name="T28" fmla="*/ 370 w 1593"/>
                  <a:gd name="T29" fmla="*/ 2410 h 2410"/>
                  <a:gd name="T30" fmla="*/ 469 w 1593"/>
                  <a:gd name="T31" fmla="*/ 2395 h 2410"/>
                  <a:gd name="T32" fmla="*/ 701 w 1593"/>
                  <a:gd name="T33" fmla="*/ 2350 h 2410"/>
                  <a:gd name="T34" fmla="*/ 891 w 1593"/>
                  <a:gd name="T35" fmla="*/ 2304 h 2410"/>
                  <a:gd name="T36" fmla="*/ 1079 w 1593"/>
                  <a:gd name="T37" fmla="*/ 2232 h 2410"/>
                  <a:gd name="T38" fmla="*/ 1253 w 1593"/>
                  <a:gd name="T39" fmla="*/ 2099 h 2410"/>
                  <a:gd name="T40" fmla="*/ 1370 w 1593"/>
                  <a:gd name="T41" fmla="*/ 1792 h 2410"/>
                  <a:gd name="T42" fmla="*/ 1453 w 1593"/>
                  <a:gd name="T43" fmla="*/ 1528 h 2410"/>
                  <a:gd name="T44" fmla="*/ 1513 w 1593"/>
                  <a:gd name="T45" fmla="*/ 1287 h 2410"/>
                  <a:gd name="T46" fmla="*/ 1555 w 1593"/>
                  <a:gd name="T47" fmla="*/ 1063 h 2410"/>
                  <a:gd name="T48" fmla="*/ 1579 w 1593"/>
                  <a:gd name="T49" fmla="*/ 835 h 2410"/>
                  <a:gd name="T50" fmla="*/ 1591 w 1593"/>
                  <a:gd name="T51" fmla="*/ 601 h 2410"/>
                  <a:gd name="T52" fmla="*/ 1593 w 1593"/>
                  <a:gd name="T53" fmla="*/ 344 h 2410"/>
                  <a:gd name="T54" fmla="*/ 1593 w 1593"/>
                  <a:gd name="T55" fmla="*/ 53 h 2410"/>
                  <a:gd name="T56" fmla="*/ 1431 w 1593"/>
                  <a:gd name="T57" fmla="*/ 6 h 2410"/>
                  <a:gd name="T58" fmla="*/ 1282 w 1593"/>
                  <a:gd name="T59" fmla="*/ 0 h 2410"/>
                  <a:gd name="T60" fmla="*/ 1137 w 1593"/>
                  <a:gd name="T61" fmla="*/ 32 h 2410"/>
                  <a:gd name="T62" fmla="*/ 995 w 1593"/>
                  <a:gd name="T63" fmla="*/ 97 h 2410"/>
                  <a:gd name="T64" fmla="*/ 860 w 1593"/>
                  <a:gd name="T65" fmla="*/ 185 h 2410"/>
                  <a:gd name="T66" fmla="*/ 728 w 1593"/>
                  <a:gd name="T67" fmla="*/ 298 h 2410"/>
                  <a:gd name="T68" fmla="*/ 604 w 1593"/>
                  <a:gd name="T69" fmla="*/ 433 h 2410"/>
                  <a:gd name="T70" fmla="*/ 480 w 1593"/>
                  <a:gd name="T71" fmla="*/ 580 h 2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593" h="2410">
                    <a:moveTo>
                      <a:pt x="480" y="580"/>
                    </a:moveTo>
                    <a:lnTo>
                      <a:pt x="368" y="735"/>
                    </a:lnTo>
                    <a:lnTo>
                      <a:pt x="269" y="892"/>
                    </a:lnTo>
                    <a:lnTo>
                      <a:pt x="183" y="1054"/>
                    </a:lnTo>
                    <a:lnTo>
                      <a:pt x="128" y="1214"/>
                    </a:lnTo>
                    <a:lnTo>
                      <a:pt x="73" y="1386"/>
                    </a:lnTo>
                    <a:lnTo>
                      <a:pt x="38" y="1563"/>
                    </a:lnTo>
                    <a:lnTo>
                      <a:pt x="8" y="1760"/>
                    </a:lnTo>
                    <a:lnTo>
                      <a:pt x="0" y="1965"/>
                    </a:lnTo>
                    <a:lnTo>
                      <a:pt x="5" y="2136"/>
                    </a:lnTo>
                    <a:lnTo>
                      <a:pt x="31" y="2240"/>
                    </a:lnTo>
                    <a:lnTo>
                      <a:pt x="86" y="2324"/>
                    </a:lnTo>
                    <a:lnTo>
                      <a:pt x="147" y="2375"/>
                    </a:lnTo>
                    <a:lnTo>
                      <a:pt x="265" y="2409"/>
                    </a:lnTo>
                    <a:lnTo>
                      <a:pt x="370" y="2410"/>
                    </a:lnTo>
                    <a:lnTo>
                      <a:pt x="469" y="2395"/>
                    </a:lnTo>
                    <a:lnTo>
                      <a:pt x="701" y="2350"/>
                    </a:lnTo>
                    <a:lnTo>
                      <a:pt x="891" y="2304"/>
                    </a:lnTo>
                    <a:lnTo>
                      <a:pt x="1079" y="2232"/>
                    </a:lnTo>
                    <a:lnTo>
                      <a:pt x="1253" y="2099"/>
                    </a:lnTo>
                    <a:lnTo>
                      <a:pt x="1370" y="1792"/>
                    </a:lnTo>
                    <a:lnTo>
                      <a:pt x="1453" y="1528"/>
                    </a:lnTo>
                    <a:lnTo>
                      <a:pt x="1513" y="1287"/>
                    </a:lnTo>
                    <a:lnTo>
                      <a:pt x="1555" y="1063"/>
                    </a:lnTo>
                    <a:lnTo>
                      <a:pt x="1579" y="835"/>
                    </a:lnTo>
                    <a:lnTo>
                      <a:pt x="1591" y="601"/>
                    </a:lnTo>
                    <a:lnTo>
                      <a:pt x="1593" y="344"/>
                    </a:lnTo>
                    <a:lnTo>
                      <a:pt x="1593" y="53"/>
                    </a:lnTo>
                    <a:lnTo>
                      <a:pt x="1431" y="6"/>
                    </a:lnTo>
                    <a:lnTo>
                      <a:pt x="1282" y="0"/>
                    </a:lnTo>
                    <a:lnTo>
                      <a:pt x="1137" y="32"/>
                    </a:lnTo>
                    <a:lnTo>
                      <a:pt x="995" y="97"/>
                    </a:lnTo>
                    <a:lnTo>
                      <a:pt x="860" y="185"/>
                    </a:lnTo>
                    <a:lnTo>
                      <a:pt x="728" y="298"/>
                    </a:lnTo>
                    <a:lnTo>
                      <a:pt x="604" y="433"/>
                    </a:lnTo>
                    <a:lnTo>
                      <a:pt x="480" y="580"/>
                    </a:lnTo>
                    <a:close/>
                  </a:path>
                </a:pathLst>
              </a:custGeom>
              <a:solidFill>
                <a:srgbClr val="1315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799" name="Freeform 639"/>
              <p:cNvSpPr>
                <a:spLocks/>
              </p:cNvSpPr>
              <p:nvPr/>
            </p:nvSpPr>
            <p:spPr bwMode="auto">
              <a:xfrm>
                <a:off x="5331" y="3042"/>
                <a:ext cx="133" cy="201"/>
              </a:xfrm>
              <a:custGeom>
                <a:avLst/>
                <a:gdLst>
                  <a:gd name="T0" fmla="*/ 480 w 1593"/>
                  <a:gd name="T1" fmla="*/ 580 h 2410"/>
                  <a:gd name="T2" fmla="*/ 368 w 1593"/>
                  <a:gd name="T3" fmla="*/ 735 h 2410"/>
                  <a:gd name="T4" fmla="*/ 269 w 1593"/>
                  <a:gd name="T5" fmla="*/ 892 h 2410"/>
                  <a:gd name="T6" fmla="*/ 183 w 1593"/>
                  <a:gd name="T7" fmla="*/ 1054 h 2410"/>
                  <a:gd name="T8" fmla="*/ 128 w 1593"/>
                  <a:gd name="T9" fmla="*/ 1214 h 2410"/>
                  <a:gd name="T10" fmla="*/ 73 w 1593"/>
                  <a:gd name="T11" fmla="*/ 1386 h 2410"/>
                  <a:gd name="T12" fmla="*/ 38 w 1593"/>
                  <a:gd name="T13" fmla="*/ 1563 h 2410"/>
                  <a:gd name="T14" fmla="*/ 8 w 1593"/>
                  <a:gd name="T15" fmla="*/ 1760 h 2410"/>
                  <a:gd name="T16" fmla="*/ 0 w 1593"/>
                  <a:gd name="T17" fmla="*/ 1965 h 2410"/>
                  <a:gd name="T18" fmla="*/ 5 w 1593"/>
                  <a:gd name="T19" fmla="*/ 2136 h 2410"/>
                  <a:gd name="T20" fmla="*/ 31 w 1593"/>
                  <a:gd name="T21" fmla="*/ 2240 h 2410"/>
                  <a:gd name="T22" fmla="*/ 86 w 1593"/>
                  <a:gd name="T23" fmla="*/ 2324 h 2410"/>
                  <a:gd name="T24" fmla="*/ 147 w 1593"/>
                  <a:gd name="T25" fmla="*/ 2375 h 2410"/>
                  <a:gd name="T26" fmla="*/ 265 w 1593"/>
                  <a:gd name="T27" fmla="*/ 2409 h 2410"/>
                  <a:gd name="T28" fmla="*/ 370 w 1593"/>
                  <a:gd name="T29" fmla="*/ 2410 h 2410"/>
                  <a:gd name="T30" fmla="*/ 469 w 1593"/>
                  <a:gd name="T31" fmla="*/ 2395 h 2410"/>
                  <a:gd name="T32" fmla="*/ 701 w 1593"/>
                  <a:gd name="T33" fmla="*/ 2350 h 2410"/>
                  <a:gd name="T34" fmla="*/ 891 w 1593"/>
                  <a:gd name="T35" fmla="*/ 2304 h 2410"/>
                  <a:gd name="T36" fmla="*/ 1079 w 1593"/>
                  <a:gd name="T37" fmla="*/ 2232 h 2410"/>
                  <a:gd name="T38" fmla="*/ 1253 w 1593"/>
                  <a:gd name="T39" fmla="*/ 2099 h 2410"/>
                  <a:gd name="T40" fmla="*/ 1370 w 1593"/>
                  <a:gd name="T41" fmla="*/ 1792 h 2410"/>
                  <a:gd name="T42" fmla="*/ 1453 w 1593"/>
                  <a:gd name="T43" fmla="*/ 1528 h 2410"/>
                  <a:gd name="T44" fmla="*/ 1513 w 1593"/>
                  <a:gd name="T45" fmla="*/ 1287 h 2410"/>
                  <a:gd name="T46" fmla="*/ 1555 w 1593"/>
                  <a:gd name="T47" fmla="*/ 1063 h 2410"/>
                  <a:gd name="T48" fmla="*/ 1579 w 1593"/>
                  <a:gd name="T49" fmla="*/ 835 h 2410"/>
                  <a:gd name="T50" fmla="*/ 1591 w 1593"/>
                  <a:gd name="T51" fmla="*/ 601 h 2410"/>
                  <a:gd name="T52" fmla="*/ 1593 w 1593"/>
                  <a:gd name="T53" fmla="*/ 344 h 2410"/>
                  <a:gd name="T54" fmla="*/ 1593 w 1593"/>
                  <a:gd name="T55" fmla="*/ 53 h 2410"/>
                  <a:gd name="T56" fmla="*/ 1431 w 1593"/>
                  <a:gd name="T57" fmla="*/ 6 h 2410"/>
                  <a:gd name="T58" fmla="*/ 1282 w 1593"/>
                  <a:gd name="T59" fmla="*/ 0 h 2410"/>
                  <a:gd name="T60" fmla="*/ 1137 w 1593"/>
                  <a:gd name="T61" fmla="*/ 32 h 2410"/>
                  <a:gd name="T62" fmla="*/ 995 w 1593"/>
                  <a:gd name="T63" fmla="*/ 97 h 2410"/>
                  <a:gd name="T64" fmla="*/ 860 w 1593"/>
                  <a:gd name="T65" fmla="*/ 185 h 2410"/>
                  <a:gd name="T66" fmla="*/ 728 w 1593"/>
                  <a:gd name="T67" fmla="*/ 298 h 2410"/>
                  <a:gd name="T68" fmla="*/ 604 w 1593"/>
                  <a:gd name="T69" fmla="*/ 433 h 2410"/>
                  <a:gd name="T70" fmla="*/ 480 w 1593"/>
                  <a:gd name="T71" fmla="*/ 580 h 2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593" h="2410">
                    <a:moveTo>
                      <a:pt x="480" y="580"/>
                    </a:moveTo>
                    <a:lnTo>
                      <a:pt x="368" y="735"/>
                    </a:lnTo>
                    <a:lnTo>
                      <a:pt x="269" y="892"/>
                    </a:lnTo>
                    <a:lnTo>
                      <a:pt x="183" y="1054"/>
                    </a:lnTo>
                    <a:lnTo>
                      <a:pt x="128" y="1214"/>
                    </a:lnTo>
                    <a:lnTo>
                      <a:pt x="73" y="1386"/>
                    </a:lnTo>
                    <a:lnTo>
                      <a:pt x="38" y="1563"/>
                    </a:lnTo>
                    <a:lnTo>
                      <a:pt x="8" y="1760"/>
                    </a:lnTo>
                    <a:lnTo>
                      <a:pt x="0" y="1965"/>
                    </a:lnTo>
                    <a:lnTo>
                      <a:pt x="5" y="2136"/>
                    </a:lnTo>
                    <a:lnTo>
                      <a:pt x="31" y="2240"/>
                    </a:lnTo>
                    <a:lnTo>
                      <a:pt x="86" y="2324"/>
                    </a:lnTo>
                    <a:lnTo>
                      <a:pt x="147" y="2375"/>
                    </a:lnTo>
                    <a:lnTo>
                      <a:pt x="265" y="2409"/>
                    </a:lnTo>
                    <a:lnTo>
                      <a:pt x="370" y="2410"/>
                    </a:lnTo>
                    <a:lnTo>
                      <a:pt x="469" y="2395"/>
                    </a:lnTo>
                    <a:lnTo>
                      <a:pt x="701" y="2350"/>
                    </a:lnTo>
                    <a:lnTo>
                      <a:pt x="891" y="2304"/>
                    </a:lnTo>
                    <a:lnTo>
                      <a:pt x="1079" y="2232"/>
                    </a:lnTo>
                    <a:lnTo>
                      <a:pt x="1253" y="2099"/>
                    </a:lnTo>
                    <a:lnTo>
                      <a:pt x="1370" y="1792"/>
                    </a:lnTo>
                    <a:lnTo>
                      <a:pt x="1453" y="1528"/>
                    </a:lnTo>
                    <a:lnTo>
                      <a:pt x="1513" y="1287"/>
                    </a:lnTo>
                    <a:lnTo>
                      <a:pt x="1555" y="1063"/>
                    </a:lnTo>
                    <a:lnTo>
                      <a:pt x="1579" y="835"/>
                    </a:lnTo>
                    <a:lnTo>
                      <a:pt x="1591" y="601"/>
                    </a:lnTo>
                    <a:lnTo>
                      <a:pt x="1593" y="344"/>
                    </a:lnTo>
                    <a:lnTo>
                      <a:pt x="1593" y="53"/>
                    </a:lnTo>
                    <a:lnTo>
                      <a:pt x="1431" y="6"/>
                    </a:lnTo>
                    <a:lnTo>
                      <a:pt x="1282" y="0"/>
                    </a:lnTo>
                    <a:lnTo>
                      <a:pt x="1137" y="32"/>
                    </a:lnTo>
                    <a:lnTo>
                      <a:pt x="995" y="97"/>
                    </a:lnTo>
                    <a:lnTo>
                      <a:pt x="860" y="185"/>
                    </a:lnTo>
                    <a:lnTo>
                      <a:pt x="728" y="298"/>
                    </a:lnTo>
                    <a:lnTo>
                      <a:pt x="604" y="433"/>
                    </a:lnTo>
                    <a:lnTo>
                      <a:pt x="480" y="580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800" name="Freeform 640"/>
              <p:cNvSpPr>
                <a:spLocks/>
              </p:cNvSpPr>
              <p:nvPr/>
            </p:nvSpPr>
            <p:spPr bwMode="auto">
              <a:xfrm>
                <a:off x="4791" y="3143"/>
                <a:ext cx="465" cy="542"/>
              </a:xfrm>
              <a:custGeom>
                <a:avLst/>
                <a:gdLst>
                  <a:gd name="T0" fmla="*/ 5038 w 5582"/>
                  <a:gd name="T1" fmla="*/ 0 h 6499"/>
                  <a:gd name="T2" fmla="*/ 4724 w 5582"/>
                  <a:gd name="T3" fmla="*/ 57 h 6499"/>
                  <a:gd name="T4" fmla="*/ 4503 w 5582"/>
                  <a:gd name="T5" fmla="*/ 183 h 6499"/>
                  <a:gd name="T6" fmla="*/ 4195 w 5582"/>
                  <a:gd name="T7" fmla="*/ 452 h 6499"/>
                  <a:gd name="T8" fmla="*/ 3961 w 5582"/>
                  <a:gd name="T9" fmla="*/ 746 h 6499"/>
                  <a:gd name="T10" fmla="*/ 3775 w 5582"/>
                  <a:gd name="T11" fmla="*/ 1045 h 6499"/>
                  <a:gd name="T12" fmla="*/ 3574 w 5582"/>
                  <a:gd name="T13" fmla="*/ 1394 h 6499"/>
                  <a:gd name="T14" fmla="*/ 3380 w 5582"/>
                  <a:gd name="T15" fmla="*/ 1663 h 6499"/>
                  <a:gd name="T16" fmla="*/ 3191 w 5582"/>
                  <a:gd name="T17" fmla="*/ 2006 h 6499"/>
                  <a:gd name="T18" fmla="*/ 3014 w 5582"/>
                  <a:gd name="T19" fmla="*/ 2381 h 6499"/>
                  <a:gd name="T20" fmla="*/ 2873 w 5582"/>
                  <a:gd name="T21" fmla="*/ 2706 h 6499"/>
                  <a:gd name="T22" fmla="*/ 2745 w 5582"/>
                  <a:gd name="T23" fmla="*/ 2989 h 6499"/>
                  <a:gd name="T24" fmla="*/ 2606 w 5582"/>
                  <a:gd name="T25" fmla="*/ 3298 h 6499"/>
                  <a:gd name="T26" fmla="*/ 2267 w 5582"/>
                  <a:gd name="T27" fmla="*/ 3609 h 6499"/>
                  <a:gd name="T28" fmla="*/ 2056 w 5582"/>
                  <a:gd name="T29" fmla="*/ 3765 h 6499"/>
                  <a:gd name="T30" fmla="*/ 1859 w 5582"/>
                  <a:gd name="T31" fmla="*/ 3926 h 6499"/>
                  <a:gd name="T32" fmla="*/ 1657 w 5582"/>
                  <a:gd name="T33" fmla="*/ 4109 h 6499"/>
                  <a:gd name="T34" fmla="*/ 1425 w 5582"/>
                  <a:gd name="T35" fmla="*/ 4327 h 6499"/>
                  <a:gd name="T36" fmla="*/ 1150 w 5582"/>
                  <a:gd name="T37" fmla="*/ 4590 h 6499"/>
                  <a:gd name="T38" fmla="*/ 989 w 5582"/>
                  <a:gd name="T39" fmla="*/ 4749 h 6499"/>
                  <a:gd name="T40" fmla="*/ 782 w 5582"/>
                  <a:gd name="T41" fmla="*/ 4940 h 6499"/>
                  <a:gd name="T42" fmla="*/ 548 w 5582"/>
                  <a:gd name="T43" fmla="*/ 5203 h 6499"/>
                  <a:gd name="T44" fmla="*/ 394 w 5582"/>
                  <a:gd name="T45" fmla="*/ 5471 h 6499"/>
                  <a:gd name="T46" fmla="*/ 241 w 5582"/>
                  <a:gd name="T47" fmla="*/ 5760 h 6499"/>
                  <a:gd name="T48" fmla="*/ 0 w 5582"/>
                  <a:gd name="T49" fmla="*/ 6095 h 6499"/>
                  <a:gd name="T50" fmla="*/ 612 w 5582"/>
                  <a:gd name="T51" fmla="*/ 6499 h 6499"/>
                  <a:gd name="T52" fmla="*/ 1089 w 5582"/>
                  <a:gd name="T53" fmla="*/ 5932 h 6499"/>
                  <a:gd name="T54" fmla="*/ 2508 w 5582"/>
                  <a:gd name="T55" fmla="*/ 5062 h 6499"/>
                  <a:gd name="T56" fmla="*/ 3422 w 5582"/>
                  <a:gd name="T57" fmla="*/ 4257 h 6499"/>
                  <a:gd name="T58" fmla="*/ 5582 w 5582"/>
                  <a:gd name="T59" fmla="*/ 428 h 6499"/>
                  <a:gd name="T60" fmla="*/ 5429 w 5582"/>
                  <a:gd name="T61" fmla="*/ 197 h 6499"/>
                  <a:gd name="T62" fmla="*/ 5219 w 5582"/>
                  <a:gd name="T63" fmla="*/ 46 h 6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582" h="6499">
                    <a:moveTo>
                      <a:pt x="5219" y="46"/>
                    </a:moveTo>
                    <a:lnTo>
                      <a:pt x="5038" y="0"/>
                    </a:lnTo>
                    <a:lnTo>
                      <a:pt x="4870" y="12"/>
                    </a:lnTo>
                    <a:lnTo>
                      <a:pt x="4724" y="57"/>
                    </a:lnTo>
                    <a:lnTo>
                      <a:pt x="4618" y="110"/>
                    </a:lnTo>
                    <a:lnTo>
                      <a:pt x="4503" y="183"/>
                    </a:lnTo>
                    <a:lnTo>
                      <a:pt x="4388" y="269"/>
                    </a:lnTo>
                    <a:lnTo>
                      <a:pt x="4195" y="452"/>
                    </a:lnTo>
                    <a:lnTo>
                      <a:pt x="4033" y="648"/>
                    </a:lnTo>
                    <a:lnTo>
                      <a:pt x="3961" y="746"/>
                    </a:lnTo>
                    <a:lnTo>
                      <a:pt x="3862" y="900"/>
                    </a:lnTo>
                    <a:lnTo>
                      <a:pt x="3775" y="1045"/>
                    </a:lnTo>
                    <a:lnTo>
                      <a:pt x="3669" y="1232"/>
                    </a:lnTo>
                    <a:lnTo>
                      <a:pt x="3574" y="1394"/>
                    </a:lnTo>
                    <a:lnTo>
                      <a:pt x="3478" y="1528"/>
                    </a:lnTo>
                    <a:lnTo>
                      <a:pt x="3380" y="1663"/>
                    </a:lnTo>
                    <a:lnTo>
                      <a:pt x="3285" y="1826"/>
                    </a:lnTo>
                    <a:lnTo>
                      <a:pt x="3191" y="2006"/>
                    </a:lnTo>
                    <a:lnTo>
                      <a:pt x="3096" y="2196"/>
                    </a:lnTo>
                    <a:lnTo>
                      <a:pt x="3014" y="2381"/>
                    </a:lnTo>
                    <a:lnTo>
                      <a:pt x="2938" y="2556"/>
                    </a:lnTo>
                    <a:lnTo>
                      <a:pt x="2873" y="2706"/>
                    </a:lnTo>
                    <a:lnTo>
                      <a:pt x="2820" y="2824"/>
                    </a:lnTo>
                    <a:lnTo>
                      <a:pt x="2745" y="2989"/>
                    </a:lnTo>
                    <a:lnTo>
                      <a:pt x="2689" y="3120"/>
                    </a:lnTo>
                    <a:lnTo>
                      <a:pt x="2606" y="3298"/>
                    </a:lnTo>
                    <a:lnTo>
                      <a:pt x="2491" y="3436"/>
                    </a:lnTo>
                    <a:lnTo>
                      <a:pt x="2267" y="3609"/>
                    </a:lnTo>
                    <a:lnTo>
                      <a:pt x="2158" y="3685"/>
                    </a:lnTo>
                    <a:lnTo>
                      <a:pt x="2056" y="3765"/>
                    </a:lnTo>
                    <a:lnTo>
                      <a:pt x="1951" y="3837"/>
                    </a:lnTo>
                    <a:lnTo>
                      <a:pt x="1859" y="3926"/>
                    </a:lnTo>
                    <a:lnTo>
                      <a:pt x="1764" y="4003"/>
                    </a:lnTo>
                    <a:lnTo>
                      <a:pt x="1657" y="4109"/>
                    </a:lnTo>
                    <a:lnTo>
                      <a:pt x="1543" y="4224"/>
                    </a:lnTo>
                    <a:lnTo>
                      <a:pt x="1425" y="4327"/>
                    </a:lnTo>
                    <a:lnTo>
                      <a:pt x="1286" y="4464"/>
                    </a:lnTo>
                    <a:lnTo>
                      <a:pt x="1150" y="4590"/>
                    </a:lnTo>
                    <a:lnTo>
                      <a:pt x="1041" y="4698"/>
                    </a:lnTo>
                    <a:lnTo>
                      <a:pt x="989" y="4749"/>
                    </a:lnTo>
                    <a:lnTo>
                      <a:pt x="896" y="4835"/>
                    </a:lnTo>
                    <a:lnTo>
                      <a:pt x="782" y="4940"/>
                    </a:lnTo>
                    <a:lnTo>
                      <a:pt x="663" y="5068"/>
                    </a:lnTo>
                    <a:lnTo>
                      <a:pt x="548" y="5203"/>
                    </a:lnTo>
                    <a:lnTo>
                      <a:pt x="454" y="5341"/>
                    </a:lnTo>
                    <a:lnTo>
                      <a:pt x="394" y="5471"/>
                    </a:lnTo>
                    <a:lnTo>
                      <a:pt x="383" y="5586"/>
                    </a:lnTo>
                    <a:lnTo>
                      <a:pt x="241" y="5760"/>
                    </a:lnTo>
                    <a:lnTo>
                      <a:pt x="94" y="5939"/>
                    </a:lnTo>
                    <a:lnTo>
                      <a:pt x="0" y="6095"/>
                    </a:lnTo>
                    <a:lnTo>
                      <a:pt x="13" y="6199"/>
                    </a:lnTo>
                    <a:lnTo>
                      <a:pt x="612" y="6499"/>
                    </a:lnTo>
                    <a:lnTo>
                      <a:pt x="696" y="6424"/>
                    </a:lnTo>
                    <a:lnTo>
                      <a:pt x="1089" y="5932"/>
                    </a:lnTo>
                    <a:lnTo>
                      <a:pt x="1554" y="5633"/>
                    </a:lnTo>
                    <a:lnTo>
                      <a:pt x="2508" y="5062"/>
                    </a:lnTo>
                    <a:lnTo>
                      <a:pt x="3018" y="4625"/>
                    </a:lnTo>
                    <a:lnTo>
                      <a:pt x="3422" y="4257"/>
                    </a:lnTo>
                    <a:lnTo>
                      <a:pt x="4417" y="2788"/>
                    </a:lnTo>
                    <a:lnTo>
                      <a:pt x="5582" y="428"/>
                    </a:lnTo>
                    <a:lnTo>
                      <a:pt x="5505" y="287"/>
                    </a:lnTo>
                    <a:lnTo>
                      <a:pt x="5429" y="197"/>
                    </a:lnTo>
                    <a:lnTo>
                      <a:pt x="5341" y="127"/>
                    </a:lnTo>
                    <a:lnTo>
                      <a:pt x="5219" y="4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801" name="Freeform 641"/>
              <p:cNvSpPr>
                <a:spLocks/>
              </p:cNvSpPr>
              <p:nvPr/>
            </p:nvSpPr>
            <p:spPr bwMode="auto">
              <a:xfrm>
                <a:off x="4791" y="3143"/>
                <a:ext cx="465" cy="542"/>
              </a:xfrm>
              <a:custGeom>
                <a:avLst/>
                <a:gdLst>
                  <a:gd name="T0" fmla="*/ 5038 w 5582"/>
                  <a:gd name="T1" fmla="*/ 0 h 6499"/>
                  <a:gd name="T2" fmla="*/ 4724 w 5582"/>
                  <a:gd name="T3" fmla="*/ 57 h 6499"/>
                  <a:gd name="T4" fmla="*/ 4503 w 5582"/>
                  <a:gd name="T5" fmla="*/ 183 h 6499"/>
                  <a:gd name="T6" fmla="*/ 4195 w 5582"/>
                  <a:gd name="T7" fmla="*/ 452 h 6499"/>
                  <a:gd name="T8" fmla="*/ 3961 w 5582"/>
                  <a:gd name="T9" fmla="*/ 746 h 6499"/>
                  <a:gd name="T10" fmla="*/ 3775 w 5582"/>
                  <a:gd name="T11" fmla="*/ 1045 h 6499"/>
                  <a:gd name="T12" fmla="*/ 3574 w 5582"/>
                  <a:gd name="T13" fmla="*/ 1394 h 6499"/>
                  <a:gd name="T14" fmla="*/ 3380 w 5582"/>
                  <a:gd name="T15" fmla="*/ 1663 h 6499"/>
                  <a:gd name="T16" fmla="*/ 3191 w 5582"/>
                  <a:gd name="T17" fmla="*/ 2006 h 6499"/>
                  <a:gd name="T18" fmla="*/ 3014 w 5582"/>
                  <a:gd name="T19" fmla="*/ 2381 h 6499"/>
                  <a:gd name="T20" fmla="*/ 2873 w 5582"/>
                  <a:gd name="T21" fmla="*/ 2706 h 6499"/>
                  <a:gd name="T22" fmla="*/ 2745 w 5582"/>
                  <a:gd name="T23" fmla="*/ 2989 h 6499"/>
                  <a:gd name="T24" fmla="*/ 2606 w 5582"/>
                  <a:gd name="T25" fmla="*/ 3298 h 6499"/>
                  <a:gd name="T26" fmla="*/ 2267 w 5582"/>
                  <a:gd name="T27" fmla="*/ 3609 h 6499"/>
                  <a:gd name="T28" fmla="*/ 2056 w 5582"/>
                  <a:gd name="T29" fmla="*/ 3765 h 6499"/>
                  <a:gd name="T30" fmla="*/ 1859 w 5582"/>
                  <a:gd name="T31" fmla="*/ 3926 h 6499"/>
                  <a:gd name="T32" fmla="*/ 1657 w 5582"/>
                  <a:gd name="T33" fmla="*/ 4109 h 6499"/>
                  <a:gd name="T34" fmla="*/ 1425 w 5582"/>
                  <a:gd name="T35" fmla="*/ 4327 h 6499"/>
                  <a:gd name="T36" fmla="*/ 1150 w 5582"/>
                  <a:gd name="T37" fmla="*/ 4590 h 6499"/>
                  <a:gd name="T38" fmla="*/ 989 w 5582"/>
                  <a:gd name="T39" fmla="*/ 4749 h 6499"/>
                  <a:gd name="T40" fmla="*/ 782 w 5582"/>
                  <a:gd name="T41" fmla="*/ 4940 h 6499"/>
                  <a:gd name="T42" fmla="*/ 548 w 5582"/>
                  <a:gd name="T43" fmla="*/ 5203 h 6499"/>
                  <a:gd name="T44" fmla="*/ 394 w 5582"/>
                  <a:gd name="T45" fmla="*/ 5471 h 6499"/>
                  <a:gd name="T46" fmla="*/ 241 w 5582"/>
                  <a:gd name="T47" fmla="*/ 5760 h 6499"/>
                  <a:gd name="T48" fmla="*/ 0 w 5582"/>
                  <a:gd name="T49" fmla="*/ 6095 h 6499"/>
                  <a:gd name="T50" fmla="*/ 612 w 5582"/>
                  <a:gd name="T51" fmla="*/ 6499 h 6499"/>
                  <a:gd name="T52" fmla="*/ 1089 w 5582"/>
                  <a:gd name="T53" fmla="*/ 5932 h 6499"/>
                  <a:gd name="T54" fmla="*/ 2508 w 5582"/>
                  <a:gd name="T55" fmla="*/ 5062 h 6499"/>
                  <a:gd name="T56" fmla="*/ 3422 w 5582"/>
                  <a:gd name="T57" fmla="*/ 4257 h 6499"/>
                  <a:gd name="T58" fmla="*/ 5582 w 5582"/>
                  <a:gd name="T59" fmla="*/ 428 h 6499"/>
                  <a:gd name="T60" fmla="*/ 5429 w 5582"/>
                  <a:gd name="T61" fmla="*/ 197 h 6499"/>
                  <a:gd name="T62" fmla="*/ 5219 w 5582"/>
                  <a:gd name="T63" fmla="*/ 46 h 6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582" h="6499">
                    <a:moveTo>
                      <a:pt x="5219" y="46"/>
                    </a:moveTo>
                    <a:lnTo>
                      <a:pt x="5038" y="0"/>
                    </a:lnTo>
                    <a:lnTo>
                      <a:pt x="4870" y="12"/>
                    </a:lnTo>
                    <a:lnTo>
                      <a:pt x="4724" y="57"/>
                    </a:lnTo>
                    <a:lnTo>
                      <a:pt x="4618" y="110"/>
                    </a:lnTo>
                    <a:lnTo>
                      <a:pt x="4503" y="183"/>
                    </a:lnTo>
                    <a:lnTo>
                      <a:pt x="4388" y="269"/>
                    </a:lnTo>
                    <a:lnTo>
                      <a:pt x="4195" y="452"/>
                    </a:lnTo>
                    <a:lnTo>
                      <a:pt x="4033" y="648"/>
                    </a:lnTo>
                    <a:lnTo>
                      <a:pt x="3961" y="746"/>
                    </a:lnTo>
                    <a:lnTo>
                      <a:pt x="3862" y="900"/>
                    </a:lnTo>
                    <a:lnTo>
                      <a:pt x="3775" y="1045"/>
                    </a:lnTo>
                    <a:lnTo>
                      <a:pt x="3669" y="1232"/>
                    </a:lnTo>
                    <a:lnTo>
                      <a:pt x="3574" y="1394"/>
                    </a:lnTo>
                    <a:lnTo>
                      <a:pt x="3478" y="1528"/>
                    </a:lnTo>
                    <a:lnTo>
                      <a:pt x="3380" y="1663"/>
                    </a:lnTo>
                    <a:lnTo>
                      <a:pt x="3285" y="1826"/>
                    </a:lnTo>
                    <a:lnTo>
                      <a:pt x="3191" y="2006"/>
                    </a:lnTo>
                    <a:lnTo>
                      <a:pt x="3096" y="2196"/>
                    </a:lnTo>
                    <a:lnTo>
                      <a:pt x="3014" y="2381"/>
                    </a:lnTo>
                    <a:lnTo>
                      <a:pt x="2938" y="2556"/>
                    </a:lnTo>
                    <a:lnTo>
                      <a:pt x="2873" y="2706"/>
                    </a:lnTo>
                    <a:lnTo>
                      <a:pt x="2820" y="2824"/>
                    </a:lnTo>
                    <a:lnTo>
                      <a:pt x="2745" y="2989"/>
                    </a:lnTo>
                    <a:lnTo>
                      <a:pt x="2689" y="3120"/>
                    </a:lnTo>
                    <a:lnTo>
                      <a:pt x="2606" y="3298"/>
                    </a:lnTo>
                    <a:lnTo>
                      <a:pt x="2491" y="3436"/>
                    </a:lnTo>
                    <a:lnTo>
                      <a:pt x="2267" y="3609"/>
                    </a:lnTo>
                    <a:lnTo>
                      <a:pt x="2158" y="3685"/>
                    </a:lnTo>
                    <a:lnTo>
                      <a:pt x="2056" y="3765"/>
                    </a:lnTo>
                    <a:lnTo>
                      <a:pt x="1951" y="3837"/>
                    </a:lnTo>
                    <a:lnTo>
                      <a:pt x="1859" y="3926"/>
                    </a:lnTo>
                    <a:lnTo>
                      <a:pt x="1764" y="4003"/>
                    </a:lnTo>
                    <a:lnTo>
                      <a:pt x="1657" y="4109"/>
                    </a:lnTo>
                    <a:lnTo>
                      <a:pt x="1543" y="4224"/>
                    </a:lnTo>
                    <a:lnTo>
                      <a:pt x="1425" y="4327"/>
                    </a:lnTo>
                    <a:lnTo>
                      <a:pt x="1286" y="4464"/>
                    </a:lnTo>
                    <a:lnTo>
                      <a:pt x="1150" y="4590"/>
                    </a:lnTo>
                    <a:lnTo>
                      <a:pt x="1041" y="4698"/>
                    </a:lnTo>
                    <a:lnTo>
                      <a:pt x="989" y="4749"/>
                    </a:lnTo>
                    <a:lnTo>
                      <a:pt x="896" y="4835"/>
                    </a:lnTo>
                    <a:lnTo>
                      <a:pt x="782" y="4940"/>
                    </a:lnTo>
                    <a:lnTo>
                      <a:pt x="663" y="5068"/>
                    </a:lnTo>
                    <a:lnTo>
                      <a:pt x="548" y="5203"/>
                    </a:lnTo>
                    <a:lnTo>
                      <a:pt x="454" y="5341"/>
                    </a:lnTo>
                    <a:lnTo>
                      <a:pt x="394" y="5471"/>
                    </a:lnTo>
                    <a:lnTo>
                      <a:pt x="383" y="5586"/>
                    </a:lnTo>
                    <a:lnTo>
                      <a:pt x="241" y="5760"/>
                    </a:lnTo>
                    <a:lnTo>
                      <a:pt x="94" y="5939"/>
                    </a:lnTo>
                    <a:lnTo>
                      <a:pt x="0" y="6095"/>
                    </a:lnTo>
                    <a:lnTo>
                      <a:pt x="13" y="6199"/>
                    </a:lnTo>
                    <a:lnTo>
                      <a:pt x="612" y="6499"/>
                    </a:lnTo>
                    <a:lnTo>
                      <a:pt x="696" y="6424"/>
                    </a:lnTo>
                    <a:lnTo>
                      <a:pt x="1089" y="5932"/>
                    </a:lnTo>
                    <a:lnTo>
                      <a:pt x="1554" y="5633"/>
                    </a:lnTo>
                    <a:lnTo>
                      <a:pt x="2508" y="5062"/>
                    </a:lnTo>
                    <a:lnTo>
                      <a:pt x="3018" y="4625"/>
                    </a:lnTo>
                    <a:lnTo>
                      <a:pt x="3422" y="4257"/>
                    </a:lnTo>
                    <a:lnTo>
                      <a:pt x="4417" y="2788"/>
                    </a:lnTo>
                    <a:lnTo>
                      <a:pt x="5582" y="428"/>
                    </a:lnTo>
                    <a:lnTo>
                      <a:pt x="5505" y="287"/>
                    </a:lnTo>
                    <a:lnTo>
                      <a:pt x="5429" y="197"/>
                    </a:lnTo>
                    <a:lnTo>
                      <a:pt x="5341" y="127"/>
                    </a:lnTo>
                    <a:lnTo>
                      <a:pt x="5219" y="46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802" name="Freeform 642"/>
              <p:cNvSpPr>
                <a:spLocks/>
              </p:cNvSpPr>
              <p:nvPr/>
            </p:nvSpPr>
            <p:spPr bwMode="auto">
              <a:xfrm>
                <a:off x="4842" y="3167"/>
                <a:ext cx="423" cy="520"/>
              </a:xfrm>
              <a:custGeom>
                <a:avLst/>
                <a:gdLst>
                  <a:gd name="T0" fmla="*/ 4681 w 5078"/>
                  <a:gd name="T1" fmla="*/ 465 h 6238"/>
                  <a:gd name="T2" fmla="*/ 4459 w 5078"/>
                  <a:gd name="T3" fmla="*/ 853 h 6238"/>
                  <a:gd name="T4" fmla="*/ 4322 w 5078"/>
                  <a:gd name="T5" fmla="*/ 1297 h 6238"/>
                  <a:gd name="T6" fmla="*/ 4134 w 5078"/>
                  <a:gd name="T7" fmla="*/ 1499 h 6238"/>
                  <a:gd name="T8" fmla="*/ 3998 w 5078"/>
                  <a:gd name="T9" fmla="*/ 1760 h 6238"/>
                  <a:gd name="T10" fmla="*/ 3775 w 5078"/>
                  <a:gd name="T11" fmla="*/ 1983 h 6238"/>
                  <a:gd name="T12" fmla="*/ 3452 w 5078"/>
                  <a:gd name="T13" fmla="*/ 2237 h 6238"/>
                  <a:gd name="T14" fmla="*/ 3108 w 5078"/>
                  <a:gd name="T15" fmla="*/ 2425 h 6238"/>
                  <a:gd name="T16" fmla="*/ 3230 w 5078"/>
                  <a:gd name="T17" fmla="*/ 2570 h 6238"/>
                  <a:gd name="T18" fmla="*/ 3587 w 5078"/>
                  <a:gd name="T19" fmla="*/ 2347 h 6238"/>
                  <a:gd name="T20" fmla="*/ 3471 w 5078"/>
                  <a:gd name="T21" fmla="*/ 2662 h 6238"/>
                  <a:gd name="T22" fmla="*/ 3126 w 5078"/>
                  <a:gd name="T23" fmla="*/ 2920 h 6238"/>
                  <a:gd name="T24" fmla="*/ 2940 w 5078"/>
                  <a:gd name="T25" fmla="*/ 3252 h 6238"/>
                  <a:gd name="T26" fmla="*/ 2990 w 5078"/>
                  <a:gd name="T27" fmla="*/ 3478 h 6238"/>
                  <a:gd name="T28" fmla="*/ 2836 w 5078"/>
                  <a:gd name="T29" fmla="*/ 3755 h 6238"/>
                  <a:gd name="T30" fmla="*/ 2616 w 5078"/>
                  <a:gd name="T31" fmla="*/ 4049 h 6238"/>
                  <a:gd name="T32" fmla="*/ 2254 w 5078"/>
                  <a:gd name="T33" fmla="*/ 4088 h 6238"/>
                  <a:gd name="T34" fmla="*/ 2309 w 5078"/>
                  <a:gd name="T35" fmla="*/ 4270 h 6238"/>
                  <a:gd name="T36" fmla="*/ 2066 w 5078"/>
                  <a:gd name="T37" fmla="*/ 4491 h 6238"/>
                  <a:gd name="T38" fmla="*/ 1709 w 5078"/>
                  <a:gd name="T39" fmla="*/ 4806 h 6238"/>
                  <a:gd name="T40" fmla="*/ 1334 w 5078"/>
                  <a:gd name="T41" fmla="*/ 5007 h 6238"/>
                  <a:gd name="T42" fmla="*/ 886 w 5078"/>
                  <a:gd name="T43" fmla="*/ 5284 h 6238"/>
                  <a:gd name="T44" fmla="*/ 551 w 5078"/>
                  <a:gd name="T45" fmla="*/ 5531 h 6238"/>
                  <a:gd name="T46" fmla="*/ 396 w 5078"/>
                  <a:gd name="T47" fmla="*/ 5568 h 6238"/>
                  <a:gd name="T48" fmla="*/ 102 w 5078"/>
                  <a:gd name="T49" fmla="*/ 6008 h 6238"/>
                  <a:gd name="T50" fmla="*/ 7 w 5078"/>
                  <a:gd name="T51" fmla="*/ 6212 h 6238"/>
                  <a:gd name="T52" fmla="*/ 113 w 5078"/>
                  <a:gd name="T53" fmla="*/ 6217 h 6238"/>
                  <a:gd name="T54" fmla="*/ 251 w 5078"/>
                  <a:gd name="T55" fmla="*/ 6071 h 6238"/>
                  <a:gd name="T56" fmla="*/ 385 w 5078"/>
                  <a:gd name="T57" fmla="*/ 5864 h 6238"/>
                  <a:gd name="T58" fmla="*/ 488 w 5078"/>
                  <a:gd name="T59" fmla="*/ 5708 h 6238"/>
                  <a:gd name="T60" fmla="*/ 614 w 5078"/>
                  <a:gd name="T61" fmla="*/ 5669 h 6238"/>
                  <a:gd name="T62" fmla="*/ 792 w 5078"/>
                  <a:gd name="T63" fmla="*/ 5552 h 6238"/>
                  <a:gd name="T64" fmla="*/ 1013 w 5078"/>
                  <a:gd name="T65" fmla="*/ 5388 h 6238"/>
                  <a:gd name="T66" fmla="*/ 1255 w 5078"/>
                  <a:gd name="T67" fmla="*/ 5214 h 6238"/>
                  <a:gd name="T68" fmla="*/ 1775 w 5078"/>
                  <a:gd name="T69" fmla="*/ 4934 h 6238"/>
                  <a:gd name="T70" fmla="*/ 2115 w 5078"/>
                  <a:gd name="T71" fmla="*/ 4685 h 6238"/>
                  <a:gd name="T72" fmla="*/ 2341 w 5078"/>
                  <a:gd name="T73" fmla="*/ 4471 h 6238"/>
                  <a:gd name="T74" fmla="*/ 2536 w 5078"/>
                  <a:gd name="T75" fmla="*/ 4462 h 6238"/>
                  <a:gd name="T76" fmla="*/ 2797 w 5078"/>
                  <a:gd name="T77" fmla="*/ 4219 h 6238"/>
                  <a:gd name="T78" fmla="*/ 3102 w 5078"/>
                  <a:gd name="T79" fmla="*/ 3897 h 6238"/>
                  <a:gd name="T80" fmla="*/ 3368 w 5078"/>
                  <a:gd name="T81" fmla="*/ 3536 h 6238"/>
                  <a:gd name="T82" fmla="*/ 3641 w 5078"/>
                  <a:gd name="T83" fmla="*/ 3191 h 6238"/>
                  <a:gd name="T84" fmla="*/ 4014 w 5078"/>
                  <a:gd name="T85" fmla="*/ 2770 h 6238"/>
                  <a:gd name="T86" fmla="*/ 4208 w 5078"/>
                  <a:gd name="T87" fmla="*/ 2501 h 6238"/>
                  <a:gd name="T88" fmla="*/ 4445 w 5078"/>
                  <a:gd name="T89" fmla="*/ 2162 h 6238"/>
                  <a:gd name="T90" fmla="*/ 4684 w 5078"/>
                  <a:gd name="T91" fmla="*/ 1857 h 6238"/>
                  <a:gd name="T92" fmla="*/ 4868 w 5078"/>
                  <a:gd name="T93" fmla="*/ 1484 h 6238"/>
                  <a:gd name="T94" fmla="*/ 5012 w 5078"/>
                  <a:gd name="T95" fmla="*/ 1023 h 6238"/>
                  <a:gd name="T96" fmla="*/ 5078 w 5078"/>
                  <a:gd name="T97" fmla="*/ 409 h 6238"/>
                  <a:gd name="T98" fmla="*/ 4977 w 5078"/>
                  <a:gd name="T99" fmla="*/ 141 h 6238"/>
                  <a:gd name="T100" fmla="*/ 4821 w 5078"/>
                  <a:gd name="T101" fmla="*/ 111 h 6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5078" h="6238">
                    <a:moveTo>
                      <a:pt x="4759" y="227"/>
                    </a:moveTo>
                    <a:lnTo>
                      <a:pt x="4681" y="465"/>
                    </a:lnTo>
                    <a:lnTo>
                      <a:pt x="4527" y="687"/>
                    </a:lnTo>
                    <a:lnTo>
                      <a:pt x="4459" y="853"/>
                    </a:lnTo>
                    <a:lnTo>
                      <a:pt x="4409" y="1056"/>
                    </a:lnTo>
                    <a:lnTo>
                      <a:pt x="4322" y="1297"/>
                    </a:lnTo>
                    <a:lnTo>
                      <a:pt x="4271" y="1424"/>
                    </a:lnTo>
                    <a:lnTo>
                      <a:pt x="4134" y="1499"/>
                    </a:lnTo>
                    <a:lnTo>
                      <a:pt x="4033" y="1650"/>
                    </a:lnTo>
                    <a:lnTo>
                      <a:pt x="3998" y="1760"/>
                    </a:lnTo>
                    <a:lnTo>
                      <a:pt x="3911" y="1888"/>
                    </a:lnTo>
                    <a:lnTo>
                      <a:pt x="3775" y="1983"/>
                    </a:lnTo>
                    <a:lnTo>
                      <a:pt x="3621" y="2107"/>
                    </a:lnTo>
                    <a:lnTo>
                      <a:pt x="3452" y="2237"/>
                    </a:lnTo>
                    <a:lnTo>
                      <a:pt x="3280" y="2347"/>
                    </a:lnTo>
                    <a:lnTo>
                      <a:pt x="3108" y="2425"/>
                    </a:lnTo>
                    <a:lnTo>
                      <a:pt x="3092" y="2551"/>
                    </a:lnTo>
                    <a:lnTo>
                      <a:pt x="3230" y="2570"/>
                    </a:lnTo>
                    <a:lnTo>
                      <a:pt x="3435" y="2461"/>
                    </a:lnTo>
                    <a:lnTo>
                      <a:pt x="3587" y="2347"/>
                    </a:lnTo>
                    <a:lnTo>
                      <a:pt x="3587" y="2474"/>
                    </a:lnTo>
                    <a:lnTo>
                      <a:pt x="3471" y="2662"/>
                    </a:lnTo>
                    <a:lnTo>
                      <a:pt x="3301" y="2793"/>
                    </a:lnTo>
                    <a:lnTo>
                      <a:pt x="3126" y="2920"/>
                    </a:lnTo>
                    <a:lnTo>
                      <a:pt x="2990" y="3069"/>
                    </a:lnTo>
                    <a:lnTo>
                      <a:pt x="2940" y="3252"/>
                    </a:lnTo>
                    <a:lnTo>
                      <a:pt x="3009" y="3344"/>
                    </a:lnTo>
                    <a:lnTo>
                      <a:pt x="2990" y="3478"/>
                    </a:lnTo>
                    <a:lnTo>
                      <a:pt x="2905" y="3604"/>
                    </a:lnTo>
                    <a:lnTo>
                      <a:pt x="2836" y="3755"/>
                    </a:lnTo>
                    <a:lnTo>
                      <a:pt x="2752" y="3918"/>
                    </a:lnTo>
                    <a:lnTo>
                      <a:pt x="2616" y="4049"/>
                    </a:lnTo>
                    <a:lnTo>
                      <a:pt x="2409" y="4123"/>
                    </a:lnTo>
                    <a:lnTo>
                      <a:pt x="2254" y="4088"/>
                    </a:lnTo>
                    <a:lnTo>
                      <a:pt x="2254" y="4159"/>
                    </a:lnTo>
                    <a:lnTo>
                      <a:pt x="2309" y="4270"/>
                    </a:lnTo>
                    <a:lnTo>
                      <a:pt x="2204" y="4346"/>
                    </a:lnTo>
                    <a:lnTo>
                      <a:pt x="2066" y="4491"/>
                    </a:lnTo>
                    <a:lnTo>
                      <a:pt x="1964" y="4639"/>
                    </a:lnTo>
                    <a:lnTo>
                      <a:pt x="1709" y="4806"/>
                    </a:lnTo>
                    <a:lnTo>
                      <a:pt x="1555" y="4900"/>
                    </a:lnTo>
                    <a:lnTo>
                      <a:pt x="1334" y="5007"/>
                    </a:lnTo>
                    <a:lnTo>
                      <a:pt x="1125" y="5119"/>
                    </a:lnTo>
                    <a:lnTo>
                      <a:pt x="886" y="5284"/>
                    </a:lnTo>
                    <a:lnTo>
                      <a:pt x="648" y="5434"/>
                    </a:lnTo>
                    <a:lnTo>
                      <a:pt x="551" y="5531"/>
                    </a:lnTo>
                    <a:lnTo>
                      <a:pt x="484" y="5552"/>
                    </a:lnTo>
                    <a:lnTo>
                      <a:pt x="396" y="5568"/>
                    </a:lnTo>
                    <a:lnTo>
                      <a:pt x="239" y="5768"/>
                    </a:lnTo>
                    <a:lnTo>
                      <a:pt x="102" y="6008"/>
                    </a:lnTo>
                    <a:lnTo>
                      <a:pt x="0" y="6136"/>
                    </a:lnTo>
                    <a:lnTo>
                      <a:pt x="7" y="6212"/>
                    </a:lnTo>
                    <a:lnTo>
                      <a:pt x="58" y="6238"/>
                    </a:lnTo>
                    <a:lnTo>
                      <a:pt x="113" y="6217"/>
                    </a:lnTo>
                    <a:lnTo>
                      <a:pt x="182" y="6156"/>
                    </a:lnTo>
                    <a:lnTo>
                      <a:pt x="251" y="6071"/>
                    </a:lnTo>
                    <a:lnTo>
                      <a:pt x="319" y="5963"/>
                    </a:lnTo>
                    <a:lnTo>
                      <a:pt x="385" y="5864"/>
                    </a:lnTo>
                    <a:lnTo>
                      <a:pt x="443" y="5773"/>
                    </a:lnTo>
                    <a:lnTo>
                      <a:pt x="488" y="5708"/>
                    </a:lnTo>
                    <a:lnTo>
                      <a:pt x="544" y="5702"/>
                    </a:lnTo>
                    <a:lnTo>
                      <a:pt x="614" y="5669"/>
                    </a:lnTo>
                    <a:lnTo>
                      <a:pt x="698" y="5617"/>
                    </a:lnTo>
                    <a:lnTo>
                      <a:pt x="792" y="5552"/>
                    </a:lnTo>
                    <a:lnTo>
                      <a:pt x="900" y="5469"/>
                    </a:lnTo>
                    <a:lnTo>
                      <a:pt x="1013" y="5388"/>
                    </a:lnTo>
                    <a:lnTo>
                      <a:pt x="1135" y="5299"/>
                    </a:lnTo>
                    <a:lnTo>
                      <a:pt x="1255" y="5214"/>
                    </a:lnTo>
                    <a:lnTo>
                      <a:pt x="1513" y="5054"/>
                    </a:lnTo>
                    <a:lnTo>
                      <a:pt x="1775" y="4934"/>
                    </a:lnTo>
                    <a:lnTo>
                      <a:pt x="1997" y="4830"/>
                    </a:lnTo>
                    <a:lnTo>
                      <a:pt x="2115" y="4685"/>
                    </a:lnTo>
                    <a:lnTo>
                      <a:pt x="2262" y="4521"/>
                    </a:lnTo>
                    <a:lnTo>
                      <a:pt x="2341" y="4471"/>
                    </a:lnTo>
                    <a:lnTo>
                      <a:pt x="2428" y="4464"/>
                    </a:lnTo>
                    <a:lnTo>
                      <a:pt x="2536" y="4462"/>
                    </a:lnTo>
                    <a:lnTo>
                      <a:pt x="2691" y="4339"/>
                    </a:lnTo>
                    <a:lnTo>
                      <a:pt x="2797" y="4219"/>
                    </a:lnTo>
                    <a:lnTo>
                      <a:pt x="2969" y="4053"/>
                    </a:lnTo>
                    <a:lnTo>
                      <a:pt x="3102" y="3897"/>
                    </a:lnTo>
                    <a:lnTo>
                      <a:pt x="3237" y="3716"/>
                    </a:lnTo>
                    <a:lnTo>
                      <a:pt x="3368" y="3536"/>
                    </a:lnTo>
                    <a:lnTo>
                      <a:pt x="3491" y="3380"/>
                    </a:lnTo>
                    <a:lnTo>
                      <a:pt x="3641" y="3191"/>
                    </a:lnTo>
                    <a:lnTo>
                      <a:pt x="3854" y="2946"/>
                    </a:lnTo>
                    <a:lnTo>
                      <a:pt x="4014" y="2770"/>
                    </a:lnTo>
                    <a:lnTo>
                      <a:pt x="4152" y="2587"/>
                    </a:lnTo>
                    <a:lnTo>
                      <a:pt x="4208" y="2501"/>
                    </a:lnTo>
                    <a:lnTo>
                      <a:pt x="4322" y="2323"/>
                    </a:lnTo>
                    <a:lnTo>
                      <a:pt x="4445" y="2162"/>
                    </a:lnTo>
                    <a:lnTo>
                      <a:pt x="4568" y="2011"/>
                    </a:lnTo>
                    <a:lnTo>
                      <a:pt x="4684" y="1857"/>
                    </a:lnTo>
                    <a:lnTo>
                      <a:pt x="4785" y="1679"/>
                    </a:lnTo>
                    <a:lnTo>
                      <a:pt x="4868" y="1484"/>
                    </a:lnTo>
                    <a:lnTo>
                      <a:pt x="4938" y="1277"/>
                    </a:lnTo>
                    <a:lnTo>
                      <a:pt x="5012" y="1023"/>
                    </a:lnTo>
                    <a:lnTo>
                      <a:pt x="5078" y="765"/>
                    </a:lnTo>
                    <a:lnTo>
                      <a:pt x="5078" y="409"/>
                    </a:lnTo>
                    <a:lnTo>
                      <a:pt x="5062" y="240"/>
                    </a:lnTo>
                    <a:lnTo>
                      <a:pt x="4977" y="141"/>
                    </a:lnTo>
                    <a:lnTo>
                      <a:pt x="4900" y="0"/>
                    </a:lnTo>
                    <a:lnTo>
                      <a:pt x="4821" y="111"/>
                    </a:lnTo>
                    <a:lnTo>
                      <a:pt x="4759" y="227"/>
                    </a:lnTo>
                    <a:close/>
                  </a:path>
                </a:pathLst>
              </a:custGeom>
              <a:solidFill>
                <a:srgbClr val="ABAD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803" name="Freeform 643"/>
              <p:cNvSpPr>
                <a:spLocks/>
              </p:cNvSpPr>
              <p:nvPr/>
            </p:nvSpPr>
            <p:spPr bwMode="auto">
              <a:xfrm>
                <a:off x="4842" y="3167"/>
                <a:ext cx="423" cy="520"/>
              </a:xfrm>
              <a:custGeom>
                <a:avLst/>
                <a:gdLst>
                  <a:gd name="T0" fmla="*/ 4681 w 5078"/>
                  <a:gd name="T1" fmla="*/ 465 h 6238"/>
                  <a:gd name="T2" fmla="*/ 4459 w 5078"/>
                  <a:gd name="T3" fmla="*/ 853 h 6238"/>
                  <a:gd name="T4" fmla="*/ 4322 w 5078"/>
                  <a:gd name="T5" fmla="*/ 1297 h 6238"/>
                  <a:gd name="T6" fmla="*/ 4134 w 5078"/>
                  <a:gd name="T7" fmla="*/ 1499 h 6238"/>
                  <a:gd name="T8" fmla="*/ 3998 w 5078"/>
                  <a:gd name="T9" fmla="*/ 1760 h 6238"/>
                  <a:gd name="T10" fmla="*/ 3775 w 5078"/>
                  <a:gd name="T11" fmla="*/ 1983 h 6238"/>
                  <a:gd name="T12" fmla="*/ 3452 w 5078"/>
                  <a:gd name="T13" fmla="*/ 2237 h 6238"/>
                  <a:gd name="T14" fmla="*/ 3108 w 5078"/>
                  <a:gd name="T15" fmla="*/ 2425 h 6238"/>
                  <a:gd name="T16" fmla="*/ 3230 w 5078"/>
                  <a:gd name="T17" fmla="*/ 2570 h 6238"/>
                  <a:gd name="T18" fmla="*/ 3587 w 5078"/>
                  <a:gd name="T19" fmla="*/ 2347 h 6238"/>
                  <a:gd name="T20" fmla="*/ 3471 w 5078"/>
                  <a:gd name="T21" fmla="*/ 2662 h 6238"/>
                  <a:gd name="T22" fmla="*/ 3126 w 5078"/>
                  <a:gd name="T23" fmla="*/ 2920 h 6238"/>
                  <a:gd name="T24" fmla="*/ 2940 w 5078"/>
                  <a:gd name="T25" fmla="*/ 3252 h 6238"/>
                  <a:gd name="T26" fmla="*/ 2990 w 5078"/>
                  <a:gd name="T27" fmla="*/ 3478 h 6238"/>
                  <a:gd name="T28" fmla="*/ 2836 w 5078"/>
                  <a:gd name="T29" fmla="*/ 3755 h 6238"/>
                  <a:gd name="T30" fmla="*/ 2616 w 5078"/>
                  <a:gd name="T31" fmla="*/ 4049 h 6238"/>
                  <a:gd name="T32" fmla="*/ 2254 w 5078"/>
                  <a:gd name="T33" fmla="*/ 4088 h 6238"/>
                  <a:gd name="T34" fmla="*/ 2309 w 5078"/>
                  <a:gd name="T35" fmla="*/ 4270 h 6238"/>
                  <a:gd name="T36" fmla="*/ 2066 w 5078"/>
                  <a:gd name="T37" fmla="*/ 4491 h 6238"/>
                  <a:gd name="T38" fmla="*/ 1709 w 5078"/>
                  <a:gd name="T39" fmla="*/ 4806 h 6238"/>
                  <a:gd name="T40" fmla="*/ 1334 w 5078"/>
                  <a:gd name="T41" fmla="*/ 5007 h 6238"/>
                  <a:gd name="T42" fmla="*/ 886 w 5078"/>
                  <a:gd name="T43" fmla="*/ 5284 h 6238"/>
                  <a:gd name="T44" fmla="*/ 551 w 5078"/>
                  <a:gd name="T45" fmla="*/ 5531 h 6238"/>
                  <a:gd name="T46" fmla="*/ 396 w 5078"/>
                  <a:gd name="T47" fmla="*/ 5568 h 6238"/>
                  <a:gd name="T48" fmla="*/ 102 w 5078"/>
                  <a:gd name="T49" fmla="*/ 6008 h 6238"/>
                  <a:gd name="T50" fmla="*/ 7 w 5078"/>
                  <a:gd name="T51" fmla="*/ 6212 h 6238"/>
                  <a:gd name="T52" fmla="*/ 113 w 5078"/>
                  <a:gd name="T53" fmla="*/ 6217 h 6238"/>
                  <a:gd name="T54" fmla="*/ 251 w 5078"/>
                  <a:gd name="T55" fmla="*/ 6071 h 6238"/>
                  <a:gd name="T56" fmla="*/ 385 w 5078"/>
                  <a:gd name="T57" fmla="*/ 5864 h 6238"/>
                  <a:gd name="T58" fmla="*/ 488 w 5078"/>
                  <a:gd name="T59" fmla="*/ 5708 h 6238"/>
                  <a:gd name="T60" fmla="*/ 614 w 5078"/>
                  <a:gd name="T61" fmla="*/ 5669 h 6238"/>
                  <a:gd name="T62" fmla="*/ 792 w 5078"/>
                  <a:gd name="T63" fmla="*/ 5552 h 6238"/>
                  <a:gd name="T64" fmla="*/ 1013 w 5078"/>
                  <a:gd name="T65" fmla="*/ 5388 h 6238"/>
                  <a:gd name="T66" fmla="*/ 1255 w 5078"/>
                  <a:gd name="T67" fmla="*/ 5214 h 6238"/>
                  <a:gd name="T68" fmla="*/ 1775 w 5078"/>
                  <a:gd name="T69" fmla="*/ 4934 h 6238"/>
                  <a:gd name="T70" fmla="*/ 2115 w 5078"/>
                  <a:gd name="T71" fmla="*/ 4685 h 6238"/>
                  <a:gd name="T72" fmla="*/ 2341 w 5078"/>
                  <a:gd name="T73" fmla="*/ 4471 h 6238"/>
                  <a:gd name="T74" fmla="*/ 2536 w 5078"/>
                  <a:gd name="T75" fmla="*/ 4462 h 6238"/>
                  <a:gd name="T76" fmla="*/ 2797 w 5078"/>
                  <a:gd name="T77" fmla="*/ 4219 h 6238"/>
                  <a:gd name="T78" fmla="*/ 3102 w 5078"/>
                  <a:gd name="T79" fmla="*/ 3897 h 6238"/>
                  <a:gd name="T80" fmla="*/ 3368 w 5078"/>
                  <a:gd name="T81" fmla="*/ 3536 h 6238"/>
                  <a:gd name="T82" fmla="*/ 3641 w 5078"/>
                  <a:gd name="T83" fmla="*/ 3191 h 6238"/>
                  <a:gd name="T84" fmla="*/ 4014 w 5078"/>
                  <a:gd name="T85" fmla="*/ 2770 h 6238"/>
                  <a:gd name="T86" fmla="*/ 4208 w 5078"/>
                  <a:gd name="T87" fmla="*/ 2501 h 6238"/>
                  <a:gd name="T88" fmla="*/ 4445 w 5078"/>
                  <a:gd name="T89" fmla="*/ 2162 h 6238"/>
                  <a:gd name="T90" fmla="*/ 4684 w 5078"/>
                  <a:gd name="T91" fmla="*/ 1857 h 6238"/>
                  <a:gd name="T92" fmla="*/ 4868 w 5078"/>
                  <a:gd name="T93" fmla="*/ 1484 h 6238"/>
                  <a:gd name="T94" fmla="*/ 5012 w 5078"/>
                  <a:gd name="T95" fmla="*/ 1023 h 6238"/>
                  <a:gd name="T96" fmla="*/ 5078 w 5078"/>
                  <a:gd name="T97" fmla="*/ 409 h 6238"/>
                  <a:gd name="T98" fmla="*/ 4977 w 5078"/>
                  <a:gd name="T99" fmla="*/ 141 h 6238"/>
                  <a:gd name="T100" fmla="*/ 4821 w 5078"/>
                  <a:gd name="T101" fmla="*/ 111 h 6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5078" h="6238">
                    <a:moveTo>
                      <a:pt x="4759" y="227"/>
                    </a:moveTo>
                    <a:lnTo>
                      <a:pt x="4681" y="465"/>
                    </a:lnTo>
                    <a:lnTo>
                      <a:pt x="4527" y="687"/>
                    </a:lnTo>
                    <a:lnTo>
                      <a:pt x="4459" y="853"/>
                    </a:lnTo>
                    <a:lnTo>
                      <a:pt x="4409" y="1056"/>
                    </a:lnTo>
                    <a:lnTo>
                      <a:pt x="4322" y="1297"/>
                    </a:lnTo>
                    <a:lnTo>
                      <a:pt x="4271" y="1424"/>
                    </a:lnTo>
                    <a:lnTo>
                      <a:pt x="4134" y="1499"/>
                    </a:lnTo>
                    <a:lnTo>
                      <a:pt x="4033" y="1650"/>
                    </a:lnTo>
                    <a:lnTo>
                      <a:pt x="3998" y="1760"/>
                    </a:lnTo>
                    <a:lnTo>
                      <a:pt x="3911" y="1888"/>
                    </a:lnTo>
                    <a:lnTo>
                      <a:pt x="3775" y="1983"/>
                    </a:lnTo>
                    <a:lnTo>
                      <a:pt x="3621" y="2107"/>
                    </a:lnTo>
                    <a:lnTo>
                      <a:pt x="3452" y="2237"/>
                    </a:lnTo>
                    <a:lnTo>
                      <a:pt x="3280" y="2347"/>
                    </a:lnTo>
                    <a:lnTo>
                      <a:pt x="3108" y="2425"/>
                    </a:lnTo>
                    <a:lnTo>
                      <a:pt x="3092" y="2551"/>
                    </a:lnTo>
                    <a:lnTo>
                      <a:pt x="3230" y="2570"/>
                    </a:lnTo>
                    <a:lnTo>
                      <a:pt x="3435" y="2461"/>
                    </a:lnTo>
                    <a:lnTo>
                      <a:pt x="3587" y="2347"/>
                    </a:lnTo>
                    <a:lnTo>
                      <a:pt x="3587" y="2474"/>
                    </a:lnTo>
                    <a:lnTo>
                      <a:pt x="3471" y="2662"/>
                    </a:lnTo>
                    <a:lnTo>
                      <a:pt x="3301" y="2793"/>
                    </a:lnTo>
                    <a:lnTo>
                      <a:pt x="3126" y="2920"/>
                    </a:lnTo>
                    <a:lnTo>
                      <a:pt x="2990" y="3069"/>
                    </a:lnTo>
                    <a:lnTo>
                      <a:pt x="2940" y="3252"/>
                    </a:lnTo>
                    <a:lnTo>
                      <a:pt x="3009" y="3344"/>
                    </a:lnTo>
                    <a:lnTo>
                      <a:pt x="2990" y="3478"/>
                    </a:lnTo>
                    <a:lnTo>
                      <a:pt x="2905" y="3604"/>
                    </a:lnTo>
                    <a:lnTo>
                      <a:pt x="2836" y="3755"/>
                    </a:lnTo>
                    <a:lnTo>
                      <a:pt x="2752" y="3918"/>
                    </a:lnTo>
                    <a:lnTo>
                      <a:pt x="2616" y="4049"/>
                    </a:lnTo>
                    <a:lnTo>
                      <a:pt x="2409" y="4123"/>
                    </a:lnTo>
                    <a:lnTo>
                      <a:pt x="2254" y="4088"/>
                    </a:lnTo>
                    <a:lnTo>
                      <a:pt x="2254" y="4159"/>
                    </a:lnTo>
                    <a:lnTo>
                      <a:pt x="2309" y="4270"/>
                    </a:lnTo>
                    <a:lnTo>
                      <a:pt x="2204" y="4346"/>
                    </a:lnTo>
                    <a:lnTo>
                      <a:pt x="2066" y="4491"/>
                    </a:lnTo>
                    <a:lnTo>
                      <a:pt x="1964" y="4639"/>
                    </a:lnTo>
                    <a:lnTo>
                      <a:pt x="1709" y="4806"/>
                    </a:lnTo>
                    <a:lnTo>
                      <a:pt x="1555" y="4900"/>
                    </a:lnTo>
                    <a:lnTo>
                      <a:pt x="1334" y="5007"/>
                    </a:lnTo>
                    <a:lnTo>
                      <a:pt x="1125" y="5119"/>
                    </a:lnTo>
                    <a:lnTo>
                      <a:pt x="886" y="5284"/>
                    </a:lnTo>
                    <a:lnTo>
                      <a:pt x="648" y="5434"/>
                    </a:lnTo>
                    <a:lnTo>
                      <a:pt x="551" y="5531"/>
                    </a:lnTo>
                    <a:lnTo>
                      <a:pt x="484" y="5552"/>
                    </a:lnTo>
                    <a:lnTo>
                      <a:pt x="396" y="5568"/>
                    </a:lnTo>
                    <a:lnTo>
                      <a:pt x="239" y="5768"/>
                    </a:lnTo>
                    <a:lnTo>
                      <a:pt x="102" y="6008"/>
                    </a:lnTo>
                    <a:lnTo>
                      <a:pt x="0" y="6136"/>
                    </a:lnTo>
                    <a:lnTo>
                      <a:pt x="7" y="6212"/>
                    </a:lnTo>
                    <a:lnTo>
                      <a:pt x="58" y="6238"/>
                    </a:lnTo>
                    <a:lnTo>
                      <a:pt x="113" y="6217"/>
                    </a:lnTo>
                    <a:lnTo>
                      <a:pt x="182" y="6156"/>
                    </a:lnTo>
                    <a:lnTo>
                      <a:pt x="251" y="6071"/>
                    </a:lnTo>
                    <a:lnTo>
                      <a:pt x="319" y="5963"/>
                    </a:lnTo>
                    <a:lnTo>
                      <a:pt x="385" y="5864"/>
                    </a:lnTo>
                    <a:lnTo>
                      <a:pt x="443" y="5773"/>
                    </a:lnTo>
                    <a:lnTo>
                      <a:pt x="488" y="5708"/>
                    </a:lnTo>
                    <a:lnTo>
                      <a:pt x="544" y="5702"/>
                    </a:lnTo>
                    <a:lnTo>
                      <a:pt x="614" y="5669"/>
                    </a:lnTo>
                    <a:lnTo>
                      <a:pt x="698" y="5617"/>
                    </a:lnTo>
                    <a:lnTo>
                      <a:pt x="792" y="5552"/>
                    </a:lnTo>
                    <a:lnTo>
                      <a:pt x="900" y="5469"/>
                    </a:lnTo>
                    <a:lnTo>
                      <a:pt x="1013" y="5388"/>
                    </a:lnTo>
                    <a:lnTo>
                      <a:pt x="1135" y="5299"/>
                    </a:lnTo>
                    <a:lnTo>
                      <a:pt x="1255" y="5214"/>
                    </a:lnTo>
                    <a:lnTo>
                      <a:pt x="1513" y="5054"/>
                    </a:lnTo>
                    <a:lnTo>
                      <a:pt x="1775" y="4934"/>
                    </a:lnTo>
                    <a:lnTo>
                      <a:pt x="1997" y="4830"/>
                    </a:lnTo>
                    <a:lnTo>
                      <a:pt x="2115" y="4685"/>
                    </a:lnTo>
                    <a:lnTo>
                      <a:pt x="2262" y="4521"/>
                    </a:lnTo>
                    <a:lnTo>
                      <a:pt x="2341" y="4471"/>
                    </a:lnTo>
                    <a:lnTo>
                      <a:pt x="2428" y="4464"/>
                    </a:lnTo>
                    <a:lnTo>
                      <a:pt x="2536" y="4462"/>
                    </a:lnTo>
                    <a:lnTo>
                      <a:pt x="2691" y="4339"/>
                    </a:lnTo>
                    <a:lnTo>
                      <a:pt x="2797" y="4219"/>
                    </a:lnTo>
                    <a:lnTo>
                      <a:pt x="2969" y="4053"/>
                    </a:lnTo>
                    <a:lnTo>
                      <a:pt x="3102" y="3897"/>
                    </a:lnTo>
                    <a:lnTo>
                      <a:pt x="3237" y="3716"/>
                    </a:lnTo>
                    <a:lnTo>
                      <a:pt x="3368" y="3536"/>
                    </a:lnTo>
                    <a:lnTo>
                      <a:pt x="3491" y="3380"/>
                    </a:lnTo>
                    <a:lnTo>
                      <a:pt x="3641" y="3191"/>
                    </a:lnTo>
                    <a:lnTo>
                      <a:pt x="3854" y="2946"/>
                    </a:lnTo>
                    <a:lnTo>
                      <a:pt x="4014" y="2770"/>
                    </a:lnTo>
                    <a:lnTo>
                      <a:pt x="4152" y="2587"/>
                    </a:lnTo>
                    <a:lnTo>
                      <a:pt x="4208" y="2501"/>
                    </a:lnTo>
                    <a:lnTo>
                      <a:pt x="4322" y="2323"/>
                    </a:lnTo>
                    <a:lnTo>
                      <a:pt x="4445" y="2162"/>
                    </a:lnTo>
                    <a:lnTo>
                      <a:pt x="4568" y="2011"/>
                    </a:lnTo>
                    <a:lnTo>
                      <a:pt x="4684" y="1857"/>
                    </a:lnTo>
                    <a:lnTo>
                      <a:pt x="4785" y="1679"/>
                    </a:lnTo>
                    <a:lnTo>
                      <a:pt x="4868" y="1484"/>
                    </a:lnTo>
                    <a:lnTo>
                      <a:pt x="4938" y="1277"/>
                    </a:lnTo>
                    <a:lnTo>
                      <a:pt x="5012" y="1023"/>
                    </a:lnTo>
                    <a:lnTo>
                      <a:pt x="5078" y="765"/>
                    </a:lnTo>
                    <a:lnTo>
                      <a:pt x="5078" y="409"/>
                    </a:lnTo>
                    <a:lnTo>
                      <a:pt x="5062" y="240"/>
                    </a:lnTo>
                    <a:lnTo>
                      <a:pt x="4977" y="141"/>
                    </a:lnTo>
                    <a:lnTo>
                      <a:pt x="4900" y="0"/>
                    </a:lnTo>
                    <a:lnTo>
                      <a:pt x="4821" y="111"/>
                    </a:lnTo>
                    <a:lnTo>
                      <a:pt x="4759" y="227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804" name="Freeform 644"/>
              <p:cNvSpPr>
                <a:spLocks/>
              </p:cNvSpPr>
              <p:nvPr/>
            </p:nvSpPr>
            <p:spPr bwMode="auto">
              <a:xfrm>
                <a:off x="5198" y="3136"/>
                <a:ext cx="111" cy="5"/>
              </a:xfrm>
              <a:custGeom>
                <a:avLst/>
                <a:gdLst>
                  <a:gd name="T0" fmla="*/ 0 w 1327"/>
                  <a:gd name="T1" fmla="*/ 68 h 68"/>
                  <a:gd name="T2" fmla="*/ 160 w 1327"/>
                  <a:gd name="T3" fmla="*/ 51 h 68"/>
                  <a:gd name="T4" fmla="*/ 326 w 1327"/>
                  <a:gd name="T5" fmla="*/ 39 h 68"/>
                  <a:gd name="T6" fmla="*/ 493 w 1327"/>
                  <a:gd name="T7" fmla="*/ 37 h 68"/>
                  <a:gd name="T8" fmla="*/ 663 w 1327"/>
                  <a:gd name="T9" fmla="*/ 37 h 68"/>
                  <a:gd name="T10" fmla="*/ 832 w 1327"/>
                  <a:gd name="T11" fmla="*/ 37 h 68"/>
                  <a:gd name="T12" fmla="*/ 1000 w 1327"/>
                  <a:gd name="T13" fmla="*/ 32 h 68"/>
                  <a:gd name="T14" fmla="*/ 1164 w 1327"/>
                  <a:gd name="T15" fmla="*/ 22 h 68"/>
                  <a:gd name="T16" fmla="*/ 1327 w 1327"/>
                  <a:gd name="T17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27" h="68">
                    <a:moveTo>
                      <a:pt x="0" y="68"/>
                    </a:moveTo>
                    <a:lnTo>
                      <a:pt x="160" y="51"/>
                    </a:lnTo>
                    <a:lnTo>
                      <a:pt x="326" y="39"/>
                    </a:lnTo>
                    <a:lnTo>
                      <a:pt x="493" y="37"/>
                    </a:lnTo>
                    <a:lnTo>
                      <a:pt x="663" y="37"/>
                    </a:lnTo>
                    <a:lnTo>
                      <a:pt x="832" y="37"/>
                    </a:lnTo>
                    <a:lnTo>
                      <a:pt x="1000" y="32"/>
                    </a:lnTo>
                    <a:lnTo>
                      <a:pt x="1164" y="22"/>
                    </a:lnTo>
                    <a:lnTo>
                      <a:pt x="1327" y="0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805" name="Freeform 645"/>
              <p:cNvSpPr>
                <a:spLocks/>
              </p:cNvSpPr>
              <p:nvPr/>
            </p:nvSpPr>
            <p:spPr bwMode="auto">
              <a:xfrm>
                <a:off x="5230" y="3138"/>
                <a:ext cx="40" cy="11"/>
              </a:xfrm>
              <a:custGeom>
                <a:avLst/>
                <a:gdLst>
                  <a:gd name="T0" fmla="*/ 476 w 476"/>
                  <a:gd name="T1" fmla="*/ 0 h 132"/>
                  <a:gd name="T2" fmla="*/ 346 w 476"/>
                  <a:gd name="T3" fmla="*/ 37 h 132"/>
                  <a:gd name="T4" fmla="*/ 160 w 476"/>
                  <a:gd name="T5" fmla="*/ 87 h 132"/>
                  <a:gd name="T6" fmla="*/ 0 w 476"/>
                  <a:gd name="T7" fmla="*/ 132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76" h="132">
                    <a:moveTo>
                      <a:pt x="476" y="0"/>
                    </a:moveTo>
                    <a:lnTo>
                      <a:pt x="346" y="37"/>
                    </a:lnTo>
                    <a:lnTo>
                      <a:pt x="160" y="87"/>
                    </a:lnTo>
                    <a:lnTo>
                      <a:pt x="0" y="132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806" name="Freeform 646"/>
              <p:cNvSpPr>
                <a:spLocks/>
              </p:cNvSpPr>
              <p:nvPr/>
            </p:nvSpPr>
            <p:spPr bwMode="auto">
              <a:xfrm>
                <a:off x="5272" y="3157"/>
                <a:ext cx="23" cy="46"/>
              </a:xfrm>
              <a:custGeom>
                <a:avLst/>
                <a:gdLst>
                  <a:gd name="T0" fmla="*/ 0 w 271"/>
                  <a:gd name="T1" fmla="*/ 0 h 554"/>
                  <a:gd name="T2" fmla="*/ 94 w 271"/>
                  <a:gd name="T3" fmla="*/ 58 h 554"/>
                  <a:gd name="T4" fmla="*/ 169 w 271"/>
                  <a:gd name="T5" fmla="*/ 155 h 554"/>
                  <a:gd name="T6" fmla="*/ 219 w 271"/>
                  <a:gd name="T7" fmla="*/ 265 h 554"/>
                  <a:gd name="T8" fmla="*/ 249 w 271"/>
                  <a:gd name="T9" fmla="*/ 381 h 554"/>
                  <a:gd name="T10" fmla="*/ 271 w 271"/>
                  <a:gd name="T11" fmla="*/ 554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71" h="554">
                    <a:moveTo>
                      <a:pt x="0" y="0"/>
                    </a:moveTo>
                    <a:lnTo>
                      <a:pt x="94" y="58"/>
                    </a:lnTo>
                    <a:lnTo>
                      <a:pt x="169" y="155"/>
                    </a:lnTo>
                    <a:lnTo>
                      <a:pt x="219" y="265"/>
                    </a:lnTo>
                    <a:lnTo>
                      <a:pt x="249" y="381"/>
                    </a:lnTo>
                    <a:lnTo>
                      <a:pt x="271" y="554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807" name="Freeform 647"/>
              <p:cNvSpPr>
                <a:spLocks/>
              </p:cNvSpPr>
              <p:nvPr/>
            </p:nvSpPr>
            <p:spPr bwMode="auto">
              <a:xfrm>
                <a:off x="5109" y="3172"/>
                <a:ext cx="80" cy="55"/>
              </a:xfrm>
              <a:custGeom>
                <a:avLst/>
                <a:gdLst>
                  <a:gd name="T0" fmla="*/ 962 w 962"/>
                  <a:gd name="T1" fmla="*/ 0 h 658"/>
                  <a:gd name="T2" fmla="*/ 852 w 962"/>
                  <a:gd name="T3" fmla="*/ 144 h 658"/>
                  <a:gd name="T4" fmla="*/ 704 w 962"/>
                  <a:gd name="T5" fmla="*/ 257 h 658"/>
                  <a:gd name="T6" fmla="*/ 542 w 962"/>
                  <a:gd name="T7" fmla="*/ 354 h 658"/>
                  <a:gd name="T8" fmla="*/ 386 w 962"/>
                  <a:gd name="T9" fmla="*/ 450 h 658"/>
                  <a:gd name="T10" fmla="*/ 300 w 962"/>
                  <a:gd name="T11" fmla="*/ 512 h 658"/>
                  <a:gd name="T12" fmla="*/ 205 w 962"/>
                  <a:gd name="T13" fmla="*/ 576 h 658"/>
                  <a:gd name="T14" fmla="*/ 109 w 962"/>
                  <a:gd name="T15" fmla="*/ 630 h 658"/>
                  <a:gd name="T16" fmla="*/ 0 w 962"/>
                  <a:gd name="T17" fmla="*/ 658 h 6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62" h="658">
                    <a:moveTo>
                      <a:pt x="962" y="0"/>
                    </a:moveTo>
                    <a:lnTo>
                      <a:pt x="852" y="144"/>
                    </a:lnTo>
                    <a:lnTo>
                      <a:pt x="704" y="257"/>
                    </a:lnTo>
                    <a:lnTo>
                      <a:pt x="542" y="354"/>
                    </a:lnTo>
                    <a:lnTo>
                      <a:pt x="386" y="450"/>
                    </a:lnTo>
                    <a:lnTo>
                      <a:pt x="300" y="512"/>
                    </a:lnTo>
                    <a:lnTo>
                      <a:pt x="205" y="576"/>
                    </a:lnTo>
                    <a:lnTo>
                      <a:pt x="109" y="630"/>
                    </a:lnTo>
                    <a:lnTo>
                      <a:pt x="0" y="658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808" name="Freeform 648"/>
              <p:cNvSpPr>
                <a:spLocks/>
              </p:cNvSpPr>
              <p:nvPr/>
            </p:nvSpPr>
            <p:spPr bwMode="auto">
              <a:xfrm>
                <a:off x="5117" y="3247"/>
                <a:ext cx="62" cy="60"/>
              </a:xfrm>
              <a:custGeom>
                <a:avLst/>
                <a:gdLst>
                  <a:gd name="T0" fmla="*/ 739 w 739"/>
                  <a:gd name="T1" fmla="*/ 0 h 726"/>
                  <a:gd name="T2" fmla="*/ 732 w 739"/>
                  <a:gd name="T3" fmla="*/ 171 h 726"/>
                  <a:gd name="T4" fmla="*/ 666 w 739"/>
                  <a:gd name="T5" fmla="*/ 346 h 726"/>
                  <a:gd name="T6" fmla="*/ 561 w 739"/>
                  <a:gd name="T7" fmla="*/ 491 h 726"/>
                  <a:gd name="T8" fmla="*/ 418 w 739"/>
                  <a:gd name="T9" fmla="*/ 589 h 726"/>
                  <a:gd name="T10" fmla="*/ 318 w 739"/>
                  <a:gd name="T11" fmla="*/ 632 h 726"/>
                  <a:gd name="T12" fmla="*/ 217 w 739"/>
                  <a:gd name="T13" fmla="*/ 679 h 726"/>
                  <a:gd name="T14" fmla="*/ 116 w 739"/>
                  <a:gd name="T15" fmla="*/ 712 h 726"/>
                  <a:gd name="T16" fmla="*/ 0 w 739"/>
                  <a:gd name="T17" fmla="*/ 726 h 7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39" h="726">
                    <a:moveTo>
                      <a:pt x="739" y="0"/>
                    </a:moveTo>
                    <a:lnTo>
                      <a:pt x="732" y="171"/>
                    </a:lnTo>
                    <a:lnTo>
                      <a:pt x="666" y="346"/>
                    </a:lnTo>
                    <a:lnTo>
                      <a:pt x="561" y="491"/>
                    </a:lnTo>
                    <a:lnTo>
                      <a:pt x="418" y="589"/>
                    </a:lnTo>
                    <a:lnTo>
                      <a:pt x="318" y="632"/>
                    </a:lnTo>
                    <a:lnTo>
                      <a:pt x="217" y="679"/>
                    </a:lnTo>
                    <a:lnTo>
                      <a:pt x="116" y="712"/>
                    </a:lnTo>
                    <a:lnTo>
                      <a:pt x="0" y="726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809" name="Freeform 649"/>
              <p:cNvSpPr>
                <a:spLocks/>
              </p:cNvSpPr>
              <p:nvPr/>
            </p:nvSpPr>
            <p:spPr bwMode="auto">
              <a:xfrm>
                <a:off x="5201" y="3224"/>
                <a:ext cx="47" cy="138"/>
              </a:xfrm>
              <a:custGeom>
                <a:avLst/>
                <a:gdLst>
                  <a:gd name="T0" fmla="*/ 556 w 556"/>
                  <a:gd name="T1" fmla="*/ 0 h 1662"/>
                  <a:gd name="T2" fmla="*/ 550 w 556"/>
                  <a:gd name="T3" fmla="*/ 195 h 1662"/>
                  <a:gd name="T4" fmla="*/ 502 w 556"/>
                  <a:gd name="T5" fmla="*/ 406 h 1662"/>
                  <a:gd name="T6" fmla="*/ 418 w 556"/>
                  <a:gd name="T7" fmla="*/ 620 h 1662"/>
                  <a:gd name="T8" fmla="*/ 318 w 556"/>
                  <a:gd name="T9" fmla="*/ 841 h 1662"/>
                  <a:gd name="T10" fmla="*/ 212 w 556"/>
                  <a:gd name="T11" fmla="*/ 1060 h 1662"/>
                  <a:gd name="T12" fmla="*/ 114 w 556"/>
                  <a:gd name="T13" fmla="*/ 1269 h 1662"/>
                  <a:gd name="T14" fmla="*/ 39 w 556"/>
                  <a:gd name="T15" fmla="*/ 1471 h 1662"/>
                  <a:gd name="T16" fmla="*/ 0 w 556"/>
                  <a:gd name="T17" fmla="*/ 1662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56" h="1662">
                    <a:moveTo>
                      <a:pt x="556" y="0"/>
                    </a:moveTo>
                    <a:lnTo>
                      <a:pt x="550" y="195"/>
                    </a:lnTo>
                    <a:lnTo>
                      <a:pt x="502" y="406"/>
                    </a:lnTo>
                    <a:lnTo>
                      <a:pt x="418" y="620"/>
                    </a:lnTo>
                    <a:lnTo>
                      <a:pt x="318" y="841"/>
                    </a:lnTo>
                    <a:lnTo>
                      <a:pt x="212" y="1060"/>
                    </a:lnTo>
                    <a:lnTo>
                      <a:pt x="114" y="1269"/>
                    </a:lnTo>
                    <a:lnTo>
                      <a:pt x="39" y="1471"/>
                    </a:lnTo>
                    <a:lnTo>
                      <a:pt x="0" y="1662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810" name="Freeform 650"/>
              <p:cNvSpPr>
                <a:spLocks/>
              </p:cNvSpPr>
              <p:nvPr/>
            </p:nvSpPr>
            <p:spPr bwMode="auto">
              <a:xfrm>
                <a:off x="5140" y="3335"/>
                <a:ext cx="31" cy="28"/>
              </a:xfrm>
              <a:custGeom>
                <a:avLst/>
                <a:gdLst>
                  <a:gd name="T0" fmla="*/ 374 w 374"/>
                  <a:gd name="T1" fmla="*/ 0 h 345"/>
                  <a:gd name="T2" fmla="*/ 348 w 374"/>
                  <a:gd name="T3" fmla="*/ 13 h 345"/>
                  <a:gd name="T4" fmla="*/ 333 w 374"/>
                  <a:gd name="T5" fmla="*/ 21 h 345"/>
                  <a:gd name="T6" fmla="*/ 325 w 374"/>
                  <a:gd name="T7" fmla="*/ 32 h 345"/>
                  <a:gd name="T8" fmla="*/ 310 w 374"/>
                  <a:gd name="T9" fmla="*/ 37 h 345"/>
                  <a:gd name="T10" fmla="*/ 297 w 374"/>
                  <a:gd name="T11" fmla="*/ 49 h 345"/>
                  <a:gd name="T12" fmla="*/ 288 w 374"/>
                  <a:gd name="T13" fmla="*/ 61 h 345"/>
                  <a:gd name="T14" fmla="*/ 274 w 374"/>
                  <a:gd name="T15" fmla="*/ 73 h 345"/>
                  <a:gd name="T16" fmla="*/ 262 w 374"/>
                  <a:gd name="T17" fmla="*/ 87 h 345"/>
                  <a:gd name="T18" fmla="*/ 253 w 374"/>
                  <a:gd name="T19" fmla="*/ 98 h 345"/>
                  <a:gd name="T20" fmla="*/ 241 w 374"/>
                  <a:gd name="T21" fmla="*/ 111 h 345"/>
                  <a:gd name="T22" fmla="*/ 230 w 374"/>
                  <a:gd name="T23" fmla="*/ 123 h 345"/>
                  <a:gd name="T24" fmla="*/ 219 w 374"/>
                  <a:gd name="T25" fmla="*/ 138 h 345"/>
                  <a:gd name="T26" fmla="*/ 208 w 374"/>
                  <a:gd name="T27" fmla="*/ 152 h 345"/>
                  <a:gd name="T28" fmla="*/ 197 w 374"/>
                  <a:gd name="T29" fmla="*/ 167 h 345"/>
                  <a:gd name="T30" fmla="*/ 188 w 374"/>
                  <a:gd name="T31" fmla="*/ 184 h 345"/>
                  <a:gd name="T32" fmla="*/ 175 w 374"/>
                  <a:gd name="T33" fmla="*/ 194 h 345"/>
                  <a:gd name="T34" fmla="*/ 165 w 374"/>
                  <a:gd name="T35" fmla="*/ 210 h 345"/>
                  <a:gd name="T36" fmla="*/ 151 w 374"/>
                  <a:gd name="T37" fmla="*/ 225 h 345"/>
                  <a:gd name="T38" fmla="*/ 143 w 374"/>
                  <a:gd name="T39" fmla="*/ 238 h 345"/>
                  <a:gd name="T40" fmla="*/ 129 w 374"/>
                  <a:gd name="T41" fmla="*/ 253 h 345"/>
                  <a:gd name="T42" fmla="*/ 118 w 374"/>
                  <a:gd name="T43" fmla="*/ 262 h 345"/>
                  <a:gd name="T44" fmla="*/ 106 w 374"/>
                  <a:gd name="T45" fmla="*/ 273 h 345"/>
                  <a:gd name="T46" fmla="*/ 96 w 374"/>
                  <a:gd name="T47" fmla="*/ 288 h 345"/>
                  <a:gd name="T48" fmla="*/ 85 w 374"/>
                  <a:gd name="T49" fmla="*/ 297 h 345"/>
                  <a:gd name="T50" fmla="*/ 69 w 374"/>
                  <a:gd name="T51" fmla="*/ 311 h 345"/>
                  <a:gd name="T52" fmla="*/ 57 w 374"/>
                  <a:gd name="T53" fmla="*/ 318 h 345"/>
                  <a:gd name="T54" fmla="*/ 43 w 374"/>
                  <a:gd name="T55" fmla="*/ 326 h 345"/>
                  <a:gd name="T56" fmla="*/ 31 w 374"/>
                  <a:gd name="T57" fmla="*/ 333 h 345"/>
                  <a:gd name="T58" fmla="*/ 16 w 374"/>
                  <a:gd name="T59" fmla="*/ 337 h 345"/>
                  <a:gd name="T60" fmla="*/ 0 w 374"/>
                  <a:gd name="T61" fmla="*/ 345 h 3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74" h="345">
                    <a:moveTo>
                      <a:pt x="374" y="0"/>
                    </a:moveTo>
                    <a:lnTo>
                      <a:pt x="348" y="13"/>
                    </a:lnTo>
                    <a:lnTo>
                      <a:pt x="333" y="21"/>
                    </a:lnTo>
                    <a:lnTo>
                      <a:pt x="325" y="32"/>
                    </a:lnTo>
                    <a:lnTo>
                      <a:pt x="310" y="37"/>
                    </a:lnTo>
                    <a:lnTo>
                      <a:pt x="297" y="49"/>
                    </a:lnTo>
                    <a:lnTo>
                      <a:pt x="288" y="61"/>
                    </a:lnTo>
                    <a:lnTo>
                      <a:pt x="274" y="73"/>
                    </a:lnTo>
                    <a:lnTo>
                      <a:pt x="262" y="87"/>
                    </a:lnTo>
                    <a:lnTo>
                      <a:pt x="253" y="98"/>
                    </a:lnTo>
                    <a:lnTo>
                      <a:pt x="241" y="111"/>
                    </a:lnTo>
                    <a:lnTo>
                      <a:pt x="230" y="123"/>
                    </a:lnTo>
                    <a:lnTo>
                      <a:pt x="219" y="138"/>
                    </a:lnTo>
                    <a:lnTo>
                      <a:pt x="208" y="152"/>
                    </a:lnTo>
                    <a:lnTo>
                      <a:pt x="197" y="167"/>
                    </a:lnTo>
                    <a:lnTo>
                      <a:pt x="188" y="184"/>
                    </a:lnTo>
                    <a:lnTo>
                      <a:pt x="175" y="194"/>
                    </a:lnTo>
                    <a:lnTo>
                      <a:pt x="165" y="210"/>
                    </a:lnTo>
                    <a:lnTo>
                      <a:pt x="151" y="225"/>
                    </a:lnTo>
                    <a:lnTo>
                      <a:pt x="143" y="238"/>
                    </a:lnTo>
                    <a:lnTo>
                      <a:pt x="129" y="253"/>
                    </a:lnTo>
                    <a:lnTo>
                      <a:pt x="118" y="262"/>
                    </a:lnTo>
                    <a:lnTo>
                      <a:pt x="106" y="273"/>
                    </a:lnTo>
                    <a:lnTo>
                      <a:pt x="96" y="288"/>
                    </a:lnTo>
                    <a:lnTo>
                      <a:pt x="85" y="297"/>
                    </a:lnTo>
                    <a:lnTo>
                      <a:pt x="69" y="311"/>
                    </a:lnTo>
                    <a:lnTo>
                      <a:pt x="57" y="318"/>
                    </a:lnTo>
                    <a:lnTo>
                      <a:pt x="43" y="326"/>
                    </a:lnTo>
                    <a:lnTo>
                      <a:pt x="31" y="333"/>
                    </a:lnTo>
                    <a:lnTo>
                      <a:pt x="16" y="337"/>
                    </a:lnTo>
                    <a:lnTo>
                      <a:pt x="0" y="345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811" name="Freeform 651"/>
              <p:cNvSpPr>
                <a:spLocks/>
              </p:cNvSpPr>
              <p:nvPr/>
            </p:nvSpPr>
            <p:spPr bwMode="auto">
              <a:xfrm>
                <a:off x="5065" y="3372"/>
                <a:ext cx="34" cy="11"/>
              </a:xfrm>
              <a:custGeom>
                <a:avLst/>
                <a:gdLst>
                  <a:gd name="T0" fmla="*/ 401 w 401"/>
                  <a:gd name="T1" fmla="*/ 0 h 132"/>
                  <a:gd name="T2" fmla="*/ 292 w 401"/>
                  <a:gd name="T3" fmla="*/ 35 h 132"/>
                  <a:gd name="T4" fmla="*/ 202 w 401"/>
                  <a:gd name="T5" fmla="*/ 59 h 132"/>
                  <a:gd name="T6" fmla="*/ 107 w 401"/>
                  <a:gd name="T7" fmla="*/ 84 h 132"/>
                  <a:gd name="T8" fmla="*/ 0 w 401"/>
                  <a:gd name="T9" fmla="*/ 132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1" h="132">
                    <a:moveTo>
                      <a:pt x="401" y="0"/>
                    </a:moveTo>
                    <a:lnTo>
                      <a:pt x="292" y="35"/>
                    </a:lnTo>
                    <a:lnTo>
                      <a:pt x="202" y="59"/>
                    </a:lnTo>
                    <a:lnTo>
                      <a:pt x="107" y="84"/>
                    </a:lnTo>
                    <a:lnTo>
                      <a:pt x="0" y="132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812" name="Freeform 652"/>
              <p:cNvSpPr>
                <a:spLocks/>
              </p:cNvSpPr>
              <p:nvPr/>
            </p:nvSpPr>
            <p:spPr bwMode="auto">
              <a:xfrm>
                <a:off x="5034" y="3355"/>
                <a:ext cx="3" cy="45"/>
              </a:xfrm>
              <a:custGeom>
                <a:avLst/>
                <a:gdLst>
                  <a:gd name="T0" fmla="*/ 24 w 32"/>
                  <a:gd name="T1" fmla="*/ 0 h 543"/>
                  <a:gd name="T2" fmla="*/ 12 w 32"/>
                  <a:gd name="T3" fmla="*/ 123 h 543"/>
                  <a:gd name="T4" fmla="*/ 0 w 32"/>
                  <a:gd name="T5" fmla="*/ 270 h 543"/>
                  <a:gd name="T6" fmla="*/ 5 w 32"/>
                  <a:gd name="T7" fmla="*/ 416 h 543"/>
                  <a:gd name="T8" fmla="*/ 32 w 32"/>
                  <a:gd name="T9" fmla="*/ 543 h 5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543">
                    <a:moveTo>
                      <a:pt x="24" y="0"/>
                    </a:moveTo>
                    <a:lnTo>
                      <a:pt x="12" y="123"/>
                    </a:lnTo>
                    <a:lnTo>
                      <a:pt x="0" y="270"/>
                    </a:lnTo>
                    <a:lnTo>
                      <a:pt x="5" y="416"/>
                    </a:lnTo>
                    <a:lnTo>
                      <a:pt x="32" y="543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813" name="Freeform 653"/>
              <p:cNvSpPr>
                <a:spLocks/>
              </p:cNvSpPr>
              <p:nvPr/>
            </p:nvSpPr>
            <p:spPr bwMode="auto">
              <a:xfrm>
                <a:off x="5004" y="3426"/>
                <a:ext cx="28" cy="18"/>
              </a:xfrm>
              <a:custGeom>
                <a:avLst/>
                <a:gdLst>
                  <a:gd name="T0" fmla="*/ 0 w 334"/>
                  <a:gd name="T1" fmla="*/ 0 h 211"/>
                  <a:gd name="T2" fmla="*/ 51 w 334"/>
                  <a:gd name="T3" fmla="*/ 72 h 211"/>
                  <a:gd name="T4" fmla="*/ 138 w 334"/>
                  <a:gd name="T5" fmla="*/ 141 h 211"/>
                  <a:gd name="T6" fmla="*/ 236 w 334"/>
                  <a:gd name="T7" fmla="*/ 190 h 211"/>
                  <a:gd name="T8" fmla="*/ 334 w 334"/>
                  <a:gd name="T9" fmla="*/ 211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4" h="211">
                    <a:moveTo>
                      <a:pt x="0" y="0"/>
                    </a:moveTo>
                    <a:lnTo>
                      <a:pt x="51" y="72"/>
                    </a:lnTo>
                    <a:lnTo>
                      <a:pt x="138" y="141"/>
                    </a:lnTo>
                    <a:lnTo>
                      <a:pt x="236" y="190"/>
                    </a:lnTo>
                    <a:lnTo>
                      <a:pt x="334" y="211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814" name="Freeform 654"/>
              <p:cNvSpPr>
                <a:spLocks/>
              </p:cNvSpPr>
              <p:nvPr/>
            </p:nvSpPr>
            <p:spPr bwMode="auto">
              <a:xfrm>
                <a:off x="5015" y="3403"/>
                <a:ext cx="7" cy="21"/>
              </a:xfrm>
              <a:custGeom>
                <a:avLst/>
                <a:gdLst>
                  <a:gd name="T0" fmla="*/ 0 w 81"/>
                  <a:gd name="T1" fmla="*/ 0 h 241"/>
                  <a:gd name="T2" fmla="*/ 28 w 81"/>
                  <a:gd name="T3" fmla="*/ 125 h 241"/>
                  <a:gd name="T4" fmla="*/ 81 w 81"/>
                  <a:gd name="T5" fmla="*/ 241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" h="241">
                    <a:moveTo>
                      <a:pt x="0" y="0"/>
                    </a:moveTo>
                    <a:lnTo>
                      <a:pt x="28" y="125"/>
                    </a:lnTo>
                    <a:lnTo>
                      <a:pt x="81" y="241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815" name="Freeform 655"/>
              <p:cNvSpPr>
                <a:spLocks/>
              </p:cNvSpPr>
              <p:nvPr/>
            </p:nvSpPr>
            <p:spPr bwMode="auto">
              <a:xfrm>
                <a:off x="5057" y="3387"/>
                <a:ext cx="91" cy="67"/>
              </a:xfrm>
              <a:custGeom>
                <a:avLst/>
                <a:gdLst>
                  <a:gd name="T0" fmla="*/ 1094 w 1094"/>
                  <a:gd name="T1" fmla="*/ 0 h 800"/>
                  <a:gd name="T2" fmla="*/ 934 w 1094"/>
                  <a:gd name="T3" fmla="*/ 226 h 800"/>
                  <a:gd name="T4" fmla="*/ 758 w 1094"/>
                  <a:gd name="T5" fmla="*/ 455 h 800"/>
                  <a:gd name="T6" fmla="*/ 674 w 1094"/>
                  <a:gd name="T7" fmla="*/ 574 h 800"/>
                  <a:gd name="T8" fmla="*/ 580 w 1094"/>
                  <a:gd name="T9" fmla="*/ 664 h 800"/>
                  <a:gd name="T10" fmla="*/ 408 w 1094"/>
                  <a:gd name="T11" fmla="*/ 705 h 800"/>
                  <a:gd name="T12" fmla="*/ 226 w 1094"/>
                  <a:gd name="T13" fmla="*/ 736 h 800"/>
                  <a:gd name="T14" fmla="*/ 110 w 1094"/>
                  <a:gd name="T15" fmla="*/ 774 h 800"/>
                  <a:gd name="T16" fmla="*/ 0 w 1094"/>
                  <a:gd name="T17" fmla="*/ 800 h 8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94" h="800">
                    <a:moveTo>
                      <a:pt x="1094" y="0"/>
                    </a:moveTo>
                    <a:lnTo>
                      <a:pt x="934" y="226"/>
                    </a:lnTo>
                    <a:lnTo>
                      <a:pt x="758" y="455"/>
                    </a:lnTo>
                    <a:lnTo>
                      <a:pt x="674" y="574"/>
                    </a:lnTo>
                    <a:lnTo>
                      <a:pt x="580" y="664"/>
                    </a:lnTo>
                    <a:lnTo>
                      <a:pt x="408" y="705"/>
                    </a:lnTo>
                    <a:lnTo>
                      <a:pt x="226" y="736"/>
                    </a:lnTo>
                    <a:lnTo>
                      <a:pt x="110" y="774"/>
                    </a:lnTo>
                    <a:lnTo>
                      <a:pt x="0" y="800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816" name="Freeform 656"/>
              <p:cNvSpPr>
                <a:spLocks/>
              </p:cNvSpPr>
              <p:nvPr/>
            </p:nvSpPr>
            <p:spPr bwMode="auto">
              <a:xfrm>
                <a:off x="5156" y="3382"/>
                <a:ext cx="45" cy="39"/>
              </a:xfrm>
              <a:custGeom>
                <a:avLst/>
                <a:gdLst>
                  <a:gd name="T0" fmla="*/ 0 w 540"/>
                  <a:gd name="T1" fmla="*/ 471 h 471"/>
                  <a:gd name="T2" fmla="*/ 118 w 540"/>
                  <a:gd name="T3" fmla="*/ 465 h 471"/>
                  <a:gd name="T4" fmla="*/ 228 w 540"/>
                  <a:gd name="T5" fmla="*/ 433 h 471"/>
                  <a:gd name="T6" fmla="*/ 325 w 540"/>
                  <a:gd name="T7" fmla="*/ 354 h 471"/>
                  <a:gd name="T8" fmla="*/ 398 w 540"/>
                  <a:gd name="T9" fmla="*/ 238 h 471"/>
                  <a:gd name="T10" fmla="*/ 463 w 540"/>
                  <a:gd name="T11" fmla="*/ 116 h 471"/>
                  <a:gd name="T12" fmla="*/ 540 w 540"/>
                  <a:gd name="T13" fmla="*/ 0 h 4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0" h="471">
                    <a:moveTo>
                      <a:pt x="0" y="471"/>
                    </a:moveTo>
                    <a:lnTo>
                      <a:pt x="118" y="465"/>
                    </a:lnTo>
                    <a:lnTo>
                      <a:pt x="228" y="433"/>
                    </a:lnTo>
                    <a:lnTo>
                      <a:pt x="325" y="354"/>
                    </a:lnTo>
                    <a:lnTo>
                      <a:pt x="398" y="238"/>
                    </a:lnTo>
                    <a:lnTo>
                      <a:pt x="463" y="116"/>
                    </a:lnTo>
                    <a:lnTo>
                      <a:pt x="540" y="0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817" name="Freeform 657"/>
              <p:cNvSpPr>
                <a:spLocks/>
              </p:cNvSpPr>
              <p:nvPr/>
            </p:nvSpPr>
            <p:spPr bwMode="auto">
              <a:xfrm>
                <a:off x="5123" y="3440"/>
                <a:ext cx="59" cy="24"/>
              </a:xfrm>
              <a:custGeom>
                <a:avLst/>
                <a:gdLst>
                  <a:gd name="T0" fmla="*/ 0 w 713"/>
                  <a:gd name="T1" fmla="*/ 296 h 296"/>
                  <a:gd name="T2" fmla="*/ 188 w 713"/>
                  <a:gd name="T3" fmla="*/ 249 h 296"/>
                  <a:gd name="T4" fmla="*/ 358 w 713"/>
                  <a:gd name="T5" fmla="*/ 153 h 296"/>
                  <a:gd name="T6" fmla="*/ 533 w 713"/>
                  <a:gd name="T7" fmla="*/ 84 h 296"/>
                  <a:gd name="T8" fmla="*/ 713 w 713"/>
                  <a:gd name="T9" fmla="*/ 0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3" h="296">
                    <a:moveTo>
                      <a:pt x="0" y="296"/>
                    </a:moveTo>
                    <a:lnTo>
                      <a:pt x="188" y="249"/>
                    </a:lnTo>
                    <a:lnTo>
                      <a:pt x="358" y="153"/>
                    </a:lnTo>
                    <a:lnTo>
                      <a:pt x="533" y="84"/>
                    </a:lnTo>
                    <a:lnTo>
                      <a:pt x="713" y="0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818" name="Freeform 658"/>
              <p:cNvSpPr>
                <a:spLocks/>
              </p:cNvSpPr>
              <p:nvPr/>
            </p:nvSpPr>
            <p:spPr bwMode="auto">
              <a:xfrm>
                <a:off x="5134" y="3480"/>
                <a:ext cx="52" cy="51"/>
              </a:xfrm>
              <a:custGeom>
                <a:avLst/>
                <a:gdLst>
                  <a:gd name="T0" fmla="*/ 630 w 630"/>
                  <a:gd name="T1" fmla="*/ 0 h 617"/>
                  <a:gd name="T2" fmla="*/ 563 w 630"/>
                  <a:gd name="T3" fmla="*/ 116 h 617"/>
                  <a:gd name="T4" fmla="*/ 448 w 630"/>
                  <a:gd name="T5" fmla="*/ 236 h 617"/>
                  <a:gd name="T6" fmla="*/ 322 w 630"/>
                  <a:gd name="T7" fmla="*/ 337 h 617"/>
                  <a:gd name="T8" fmla="*/ 209 w 630"/>
                  <a:gd name="T9" fmla="*/ 403 h 617"/>
                  <a:gd name="T10" fmla="*/ 155 w 630"/>
                  <a:gd name="T11" fmla="*/ 439 h 617"/>
                  <a:gd name="T12" fmla="*/ 99 w 630"/>
                  <a:gd name="T13" fmla="*/ 500 h 617"/>
                  <a:gd name="T14" fmla="*/ 44 w 630"/>
                  <a:gd name="T15" fmla="*/ 565 h 617"/>
                  <a:gd name="T16" fmla="*/ 0 w 630"/>
                  <a:gd name="T17" fmla="*/ 617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30" h="617">
                    <a:moveTo>
                      <a:pt x="630" y="0"/>
                    </a:moveTo>
                    <a:lnTo>
                      <a:pt x="563" y="116"/>
                    </a:lnTo>
                    <a:lnTo>
                      <a:pt x="448" y="236"/>
                    </a:lnTo>
                    <a:lnTo>
                      <a:pt x="322" y="337"/>
                    </a:lnTo>
                    <a:lnTo>
                      <a:pt x="209" y="403"/>
                    </a:lnTo>
                    <a:lnTo>
                      <a:pt x="155" y="439"/>
                    </a:lnTo>
                    <a:lnTo>
                      <a:pt x="99" y="500"/>
                    </a:lnTo>
                    <a:lnTo>
                      <a:pt x="44" y="565"/>
                    </a:lnTo>
                    <a:lnTo>
                      <a:pt x="0" y="617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819" name="Freeform 659"/>
              <p:cNvSpPr>
                <a:spLocks/>
              </p:cNvSpPr>
              <p:nvPr/>
            </p:nvSpPr>
            <p:spPr bwMode="auto">
              <a:xfrm>
                <a:off x="4911" y="3494"/>
                <a:ext cx="64" cy="11"/>
              </a:xfrm>
              <a:custGeom>
                <a:avLst/>
                <a:gdLst>
                  <a:gd name="T0" fmla="*/ 0 w 774"/>
                  <a:gd name="T1" fmla="*/ 135 h 135"/>
                  <a:gd name="T2" fmla="*/ 179 w 774"/>
                  <a:gd name="T3" fmla="*/ 74 h 135"/>
                  <a:gd name="T4" fmla="*/ 381 w 774"/>
                  <a:gd name="T5" fmla="*/ 20 h 135"/>
                  <a:gd name="T6" fmla="*/ 583 w 774"/>
                  <a:gd name="T7" fmla="*/ 0 h 135"/>
                  <a:gd name="T8" fmla="*/ 774 w 774"/>
                  <a:gd name="T9" fmla="*/ 48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74" h="135">
                    <a:moveTo>
                      <a:pt x="0" y="135"/>
                    </a:moveTo>
                    <a:lnTo>
                      <a:pt x="179" y="74"/>
                    </a:lnTo>
                    <a:lnTo>
                      <a:pt x="381" y="20"/>
                    </a:lnTo>
                    <a:lnTo>
                      <a:pt x="583" y="0"/>
                    </a:lnTo>
                    <a:lnTo>
                      <a:pt x="774" y="48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820" name="Freeform 660"/>
              <p:cNvSpPr>
                <a:spLocks/>
              </p:cNvSpPr>
              <p:nvPr/>
            </p:nvSpPr>
            <p:spPr bwMode="auto">
              <a:xfrm>
                <a:off x="4912" y="3521"/>
                <a:ext cx="83" cy="17"/>
              </a:xfrm>
              <a:custGeom>
                <a:avLst/>
                <a:gdLst>
                  <a:gd name="T0" fmla="*/ 0 w 995"/>
                  <a:gd name="T1" fmla="*/ 195 h 214"/>
                  <a:gd name="T2" fmla="*/ 268 w 995"/>
                  <a:gd name="T3" fmla="*/ 214 h 214"/>
                  <a:gd name="T4" fmla="*/ 530 w 995"/>
                  <a:gd name="T5" fmla="*/ 195 h 214"/>
                  <a:gd name="T6" fmla="*/ 761 w 995"/>
                  <a:gd name="T7" fmla="*/ 104 h 214"/>
                  <a:gd name="T8" fmla="*/ 995 w 995"/>
                  <a:gd name="T9" fmla="*/ 0 h 2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95" h="214">
                    <a:moveTo>
                      <a:pt x="0" y="195"/>
                    </a:moveTo>
                    <a:lnTo>
                      <a:pt x="268" y="214"/>
                    </a:lnTo>
                    <a:lnTo>
                      <a:pt x="530" y="195"/>
                    </a:lnTo>
                    <a:lnTo>
                      <a:pt x="761" y="104"/>
                    </a:lnTo>
                    <a:lnTo>
                      <a:pt x="995" y="0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821" name="Freeform 661"/>
              <p:cNvSpPr>
                <a:spLocks/>
              </p:cNvSpPr>
              <p:nvPr/>
            </p:nvSpPr>
            <p:spPr bwMode="auto">
              <a:xfrm>
                <a:off x="4824" y="3606"/>
                <a:ext cx="58" cy="38"/>
              </a:xfrm>
              <a:custGeom>
                <a:avLst/>
                <a:gdLst>
                  <a:gd name="T0" fmla="*/ 0 w 693"/>
                  <a:gd name="T1" fmla="*/ 25 h 448"/>
                  <a:gd name="T2" fmla="*/ 77 w 693"/>
                  <a:gd name="T3" fmla="*/ 0 h 448"/>
                  <a:gd name="T4" fmla="*/ 174 w 693"/>
                  <a:gd name="T5" fmla="*/ 2 h 448"/>
                  <a:gd name="T6" fmla="*/ 270 w 693"/>
                  <a:gd name="T7" fmla="*/ 30 h 448"/>
                  <a:gd name="T8" fmla="*/ 377 w 693"/>
                  <a:gd name="T9" fmla="*/ 79 h 448"/>
                  <a:gd name="T10" fmla="*/ 476 w 693"/>
                  <a:gd name="T11" fmla="*/ 150 h 448"/>
                  <a:gd name="T12" fmla="*/ 567 w 693"/>
                  <a:gd name="T13" fmla="*/ 234 h 448"/>
                  <a:gd name="T14" fmla="*/ 642 w 693"/>
                  <a:gd name="T15" fmla="*/ 334 h 448"/>
                  <a:gd name="T16" fmla="*/ 693 w 693"/>
                  <a:gd name="T17" fmla="*/ 448 h 4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93" h="448">
                    <a:moveTo>
                      <a:pt x="0" y="25"/>
                    </a:moveTo>
                    <a:lnTo>
                      <a:pt x="77" y="0"/>
                    </a:lnTo>
                    <a:lnTo>
                      <a:pt x="174" y="2"/>
                    </a:lnTo>
                    <a:lnTo>
                      <a:pt x="270" y="30"/>
                    </a:lnTo>
                    <a:lnTo>
                      <a:pt x="377" y="79"/>
                    </a:lnTo>
                    <a:lnTo>
                      <a:pt x="476" y="150"/>
                    </a:lnTo>
                    <a:lnTo>
                      <a:pt x="567" y="234"/>
                    </a:lnTo>
                    <a:lnTo>
                      <a:pt x="642" y="334"/>
                    </a:lnTo>
                    <a:lnTo>
                      <a:pt x="693" y="448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822" name="Freeform 662"/>
              <p:cNvSpPr>
                <a:spLocks/>
              </p:cNvSpPr>
              <p:nvPr/>
            </p:nvSpPr>
            <p:spPr bwMode="auto">
              <a:xfrm>
                <a:off x="4944" y="3572"/>
                <a:ext cx="26" cy="24"/>
              </a:xfrm>
              <a:custGeom>
                <a:avLst/>
                <a:gdLst>
                  <a:gd name="T0" fmla="*/ 316 w 316"/>
                  <a:gd name="T1" fmla="*/ 0 h 292"/>
                  <a:gd name="T2" fmla="*/ 220 w 316"/>
                  <a:gd name="T3" fmla="*/ 99 h 292"/>
                  <a:gd name="T4" fmla="*/ 113 w 316"/>
                  <a:gd name="T5" fmla="*/ 194 h 292"/>
                  <a:gd name="T6" fmla="*/ 60 w 316"/>
                  <a:gd name="T7" fmla="*/ 248 h 292"/>
                  <a:gd name="T8" fmla="*/ 0 w 316"/>
                  <a:gd name="T9" fmla="*/ 292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6" h="292">
                    <a:moveTo>
                      <a:pt x="316" y="0"/>
                    </a:moveTo>
                    <a:lnTo>
                      <a:pt x="220" y="99"/>
                    </a:lnTo>
                    <a:lnTo>
                      <a:pt x="113" y="194"/>
                    </a:lnTo>
                    <a:lnTo>
                      <a:pt x="60" y="248"/>
                    </a:lnTo>
                    <a:lnTo>
                      <a:pt x="0" y="292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823" name="Freeform 663"/>
              <p:cNvSpPr>
                <a:spLocks/>
              </p:cNvSpPr>
              <p:nvPr/>
            </p:nvSpPr>
            <p:spPr bwMode="auto">
              <a:xfrm>
                <a:off x="4994" y="3537"/>
                <a:ext cx="44" cy="8"/>
              </a:xfrm>
              <a:custGeom>
                <a:avLst/>
                <a:gdLst>
                  <a:gd name="T0" fmla="*/ 521 w 521"/>
                  <a:gd name="T1" fmla="*/ 18 h 93"/>
                  <a:gd name="T2" fmla="*/ 400 w 521"/>
                  <a:gd name="T3" fmla="*/ 0 h 93"/>
                  <a:gd name="T4" fmla="*/ 280 w 521"/>
                  <a:gd name="T5" fmla="*/ 5 h 93"/>
                  <a:gd name="T6" fmla="*/ 141 w 521"/>
                  <a:gd name="T7" fmla="*/ 74 h 93"/>
                  <a:gd name="T8" fmla="*/ 0 w 521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1" h="93">
                    <a:moveTo>
                      <a:pt x="521" y="18"/>
                    </a:moveTo>
                    <a:lnTo>
                      <a:pt x="400" y="0"/>
                    </a:lnTo>
                    <a:lnTo>
                      <a:pt x="280" y="5"/>
                    </a:lnTo>
                    <a:lnTo>
                      <a:pt x="141" y="74"/>
                    </a:lnTo>
                    <a:lnTo>
                      <a:pt x="0" y="93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824" name="Freeform 664"/>
              <p:cNvSpPr>
                <a:spLocks/>
              </p:cNvSpPr>
              <p:nvPr/>
            </p:nvSpPr>
            <p:spPr bwMode="auto">
              <a:xfrm>
                <a:off x="5021" y="3501"/>
                <a:ext cx="30" cy="13"/>
              </a:xfrm>
              <a:custGeom>
                <a:avLst/>
                <a:gdLst>
                  <a:gd name="T0" fmla="*/ 0 w 361"/>
                  <a:gd name="T1" fmla="*/ 0 h 153"/>
                  <a:gd name="T2" fmla="*/ 72 w 361"/>
                  <a:gd name="T3" fmla="*/ 69 h 153"/>
                  <a:gd name="T4" fmla="*/ 163 w 361"/>
                  <a:gd name="T5" fmla="*/ 115 h 153"/>
                  <a:gd name="T6" fmla="*/ 264 w 361"/>
                  <a:gd name="T7" fmla="*/ 142 h 153"/>
                  <a:gd name="T8" fmla="*/ 361 w 361"/>
                  <a:gd name="T9" fmla="*/ 153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1" h="153">
                    <a:moveTo>
                      <a:pt x="0" y="0"/>
                    </a:moveTo>
                    <a:lnTo>
                      <a:pt x="72" y="69"/>
                    </a:lnTo>
                    <a:lnTo>
                      <a:pt x="163" y="115"/>
                    </a:lnTo>
                    <a:lnTo>
                      <a:pt x="264" y="142"/>
                    </a:lnTo>
                    <a:lnTo>
                      <a:pt x="361" y="153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825" name="Freeform 665"/>
              <p:cNvSpPr>
                <a:spLocks/>
              </p:cNvSpPr>
              <p:nvPr/>
            </p:nvSpPr>
            <p:spPr bwMode="auto">
              <a:xfrm>
                <a:off x="4751" y="3651"/>
                <a:ext cx="98" cy="192"/>
              </a:xfrm>
              <a:custGeom>
                <a:avLst/>
                <a:gdLst>
                  <a:gd name="T0" fmla="*/ 547 w 1173"/>
                  <a:gd name="T1" fmla="*/ 16 h 2305"/>
                  <a:gd name="T2" fmla="*/ 500 w 1173"/>
                  <a:gd name="T3" fmla="*/ 94 h 2305"/>
                  <a:gd name="T4" fmla="*/ 454 w 1173"/>
                  <a:gd name="T5" fmla="*/ 170 h 2305"/>
                  <a:gd name="T6" fmla="*/ 362 w 1173"/>
                  <a:gd name="T7" fmla="*/ 328 h 2305"/>
                  <a:gd name="T8" fmla="*/ 276 w 1173"/>
                  <a:gd name="T9" fmla="*/ 499 h 2305"/>
                  <a:gd name="T10" fmla="*/ 195 w 1173"/>
                  <a:gd name="T11" fmla="*/ 701 h 2305"/>
                  <a:gd name="T12" fmla="*/ 37 w 1173"/>
                  <a:gd name="T13" fmla="*/ 1151 h 2305"/>
                  <a:gd name="T14" fmla="*/ 14 w 1173"/>
                  <a:gd name="T15" fmla="*/ 1228 h 2305"/>
                  <a:gd name="T16" fmla="*/ 5 w 1173"/>
                  <a:gd name="T17" fmla="*/ 1294 h 2305"/>
                  <a:gd name="T18" fmla="*/ 0 w 1173"/>
                  <a:gd name="T19" fmla="*/ 1366 h 2305"/>
                  <a:gd name="T20" fmla="*/ 2 w 1173"/>
                  <a:gd name="T21" fmla="*/ 1435 h 2305"/>
                  <a:gd name="T22" fmla="*/ 24 w 1173"/>
                  <a:gd name="T23" fmla="*/ 1612 h 2305"/>
                  <a:gd name="T24" fmla="*/ 39 w 1173"/>
                  <a:gd name="T25" fmla="*/ 1728 h 2305"/>
                  <a:gd name="T26" fmla="*/ 52 w 1173"/>
                  <a:gd name="T27" fmla="*/ 1876 h 2305"/>
                  <a:gd name="T28" fmla="*/ 63 w 1173"/>
                  <a:gd name="T29" fmla="*/ 1998 h 2305"/>
                  <a:gd name="T30" fmla="*/ 73 w 1173"/>
                  <a:gd name="T31" fmla="*/ 2118 h 2305"/>
                  <a:gd name="T32" fmla="*/ 175 w 1173"/>
                  <a:gd name="T33" fmla="*/ 2305 h 2305"/>
                  <a:gd name="T34" fmla="*/ 251 w 1173"/>
                  <a:gd name="T35" fmla="*/ 2222 h 2305"/>
                  <a:gd name="T36" fmla="*/ 744 w 1173"/>
                  <a:gd name="T37" fmla="*/ 2186 h 2305"/>
                  <a:gd name="T38" fmla="*/ 953 w 1173"/>
                  <a:gd name="T39" fmla="*/ 2129 h 2305"/>
                  <a:gd name="T40" fmla="*/ 993 w 1173"/>
                  <a:gd name="T41" fmla="*/ 1695 h 2305"/>
                  <a:gd name="T42" fmla="*/ 1031 w 1173"/>
                  <a:gd name="T43" fmla="*/ 1403 h 2305"/>
                  <a:gd name="T44" fmla="*/ 1158 w 1173"/>
                  <a:gd name="T45" fmla="*/ 950 h 2305"/>
                  <a:gd name="T46" fmla="*/ 1173 w 1173"/>
                  <a:gd name="T47" fmla="*/ 322 h 2305"/>
                  <a:gd name="T48" fmla="*/ 1122 w 1173"/>
                  <a:gd name="T49" fmla="*/ 252 h 2305"/>
                  <a:gd name="T50" fmla="*/ 1064 w 1173"/>
                  <a:gd name="T51" fmla="*/ 192 h 2305"/>
                  <a:gd name="T52" fmla="*/ 1014 w 1173"/>
                  <a:gd name="T53" fmla="*/ 154 h 2305"/>
                  <a:gd name="T54" fmla="*/ 960 w 1173"/>
                  <a:gd name="T55" fmla="*/ 121 h 2305"/>
                  <a:gd name="T56" fmla="*/ 903 w 1173"/>
                  <a:gd name="T57" fmla="*/ 88 h 2305"/>
                  <a:gd name="T58" fmla="*/ 839 w 1173"/>
                  <a:gd name="T59" fmla="*/ 57 h 2305"/>
                  <a:gd name="T60" fmla="*/ 778 w 1173"/>
                  <a:gd name="T61" fmla="*/ 30 h 2305"/>
                  <a:gd name="T62" fmla="*/ 715 w 1173"/>
                  <a:gd name="T63" fmla="*/ 12 h 2305"/>
                  <a:gd name="T64" fmla="*/ 654 w 1173"/>
                  <a:gd name="T65" fmla="*/ 0 h 2305"/>
                  <a:gd name="T66" fmla="*/ 595 w 1173"/>
                  <a:gd name="T67" fmla="*/ 2 h 2305"/>
                  <a:gd name="T68" fmla="*/ 547 w 1173"/>
                  <a:gd name="T69" fmla="*/ 16 h 2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173" h="2305">
                    <a:moveTo>
                      <a:pt x="547" y="16"/>
                    </a:moveTo>
                    <a:lnTo>
                      <a:pt x="500" y="94"/>
                    </a:lnTo>
                    <a:lnTo>
                      <a:pt x="454" y="170"/>
                    </a:lnTo>
                    <a:lnTo>
                      <a:pt x="362" y="328"/>
                    </a:lnTo>
                    <a:lnTo>
                      <a:pt x="276" y="499"/>
                    </a:lnTo>
                    <a:lnTo>
                      <a:pt x="195" y="701"/>
                    </a:lnTo>
                    <a:lnTo>
                      <a:pt x="37" y="1151"/>
                    </a:lnTo>
                    <a:lnTo>
                      <a:pt x="14" y="1228"/>
                    </a:lnTo>
                    <a:lnTo>
                      <a:pt x="5" y="1294"/>
                    </a:lnTo>
                    <a:lnTo>
                      <a:pt x="0" y="1366"/>
                    </a:lnTo>
                    <a:lnTo>
                      <a:pt x="2" y="1435"/>
                    </a:lnTo>
                    <a:lnTo>
                      <a:pt x="24" y="1612"/>
                    </a:lnTo>
                    <a:lnTo>
                      <a:pt x="39" y="1728"/>
                    </a:lnTo>
                    <a:lnTo>
                      <a:pt x="52" y="1876"/>
                    </a:lnTo>
                    <a:lnTo>
                      <a:pt x="63" y="1998"/>
                    </a:lnTo>
                    <a:lnTo>
                      <a:pt x="73" y="2118"/>
                    </a:lnTo>
                    <a:lnTo>
                      <a:pt x="175" y="2305"/>
                    </a:lnTo>
                    <a:lnTo>
                      <a:pt x="251" y="2222"/>
                    </a:lnTo>
                    <a:lnTo>
                      <a:pt x="744" y="2186"/>
                    </a:lnTo>
                    <a:lnTo>
                      <a:pt x="953" y="2129"/>
                    </a:lnTo>
                    <a:lnTo>
                      <a:pt x="993" y="1695"/>
                    </a:lnTo>
                    <a:lnTo>
                      <a:pt x="1031" y="1403"/>
                    </a:lnTo>
                    <a:lnTo>
                      <a:pt x="1158" y="950"/>
                    </a:lnTo>
                    <a:lnTo>
                      <a:pt x="1173" y="322"/>
                    </a:lnTo>
                    <a:lnTo>
                      <a:pt x="1122" y="252"/>
                    </a:lnTo>
                    <a:lnTo>
                      <a:pt x="1064" y="192"/>
                    </a:lnTo>
                    <a:lnTo>
                      <a:pt x="1014" y="154"/>
                    </a:lnTo>
                    <a:lnTo>
                      <a:pt x="960" y="121"/>
                    </a:lnTo>
                    <a:lnTo>
                      <a:pt x="903" y="88"/>
                    </a:lnTo>
                    <a:lnTo>
                      <a:pt x="839" y="57"/>
                    </a:lnTo>
                    <a:lnTo>
                      <a:pt x="778" y="30"/>
                    </a:lnTo>
                    <a:lnTo>
                      <a:pt x="715" y="12"/>
                    </a:lnTo>
                    <a:lnTo>
                      <a:pt x="654" y="0"/>
                    </a:lnTo>
                    <a:lnTo>
                      <a:pt x="595" y="2"/>
                    </a:lnTo>
                    <a:lnTo>
                      <a:pt x="547" y="16"/>
                    </a:lnTo>
                    <a:close/>
                  </a:path>
                </a:pathLst>
              </a:custGeom>
              <a:solidFill>
                <a:srgbClr val="F1B8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826" name="Freeform 666"/>
              <p:cNvSpPr>
                <a:spLocks/>
              </p:cNvSpPr>
              <p:nvPr/>
            </p:nvSpPr>
            <p:spPr bwMode="auto">
              <a:xfrm>
                <a:off x="4751" y="3651"/>
                <a:ext cx="98" cy="192"/>
              </a:xfrm>
              <a:custGeom>
                <a:avLst/>
                <a:gdLst>
                  <a:gd name="T0" fmla="*/ 547 w 1173"/>
                  <a:gd name="T1" fmla="*/ 16 h 2305"/>
                  <a:gd name="T2" fmla="*/ 500 w 1173"/>
                  <a:gd name="T3" fmla="*/ 94 h 2305"/>
                  <a:gd name="T4" fmla="*/ 454 w 1173"/>
                  <a:gd name="T5" fmla="*/ 170 h 2305"/>
                  <a:gd name="T6" fmla="*/ 362 w 1173"/>
                  <a:gd name="T7" fmla="*/ 328 h 2305"/>
                  <a:gd name="T8" fmla="*/ 276 w 1173"/>
                  <a:gd name="T9" fmla="*/ 499 h 2305"/>
                  <a:gd name="T10" fmla="*/ 195 w 1173"/>
                  <a:gd name="T11" fmla="*/ 701 h 2305"/>
                  <a:gd name="T12" fmla="*/ 37 w 1173"/>
                  <a:gd name="T13" fmla="*/ 1151 h 2305"/>
                  <a:gd name="T14" fmla="*/ 14 w 1173"/>
                  <a:gd name="T15" fmla="*/ 1228 h 2305"/>
                  <a:gd name="T16" fmla="*/ 5 w 1173"/>
                  <a:gd name="T17" fmla="*/ 1294 h 2305"/>
                  <a:gd name="T18" fmla="*/ 0 w 1173"/>
                  <a:gd name="T19" fmla="*/ 1366 h 2305"/>
                  <a:gd name="T20" fmla="*/ 2 w 1173"/>
                  <a:gd name="T21" fmla="*/ 1435 h 2305"/>
                  <a:gd name="T22" fmla="*/ 24 w 1173"/>
                  <a:gd name="T23" fmla="*/ 1612 h 2305"/>
                  <a:gd name="T24" fmla="*/ 39 w 1173"/>
                  <a:gd name="T25" fmla="*/ 1728 h 2305"/>
                  <a:gd name="T26" fmla="*/ 52 w 1173"/>
                  <a:gd name="T27" fmla="*/ 1876 h 2305"/>
                  <a:gd name="T28" fmla="*/ 63 w 1173"/>
                  <a:gd name="T29" fmla="*/ 1998 h 2305"/>
                  <a:gd name="T30" fmla="*/ 73 w 1173"/>
                  <a:gd name="T31" fmla="*/ 2118 h 2305"/>
                  <a:gd name="T32" fmla="*/ 175 w 1173"/>
                  <a:gd name="T33" fmla="*/ 2305 h 2305"/>
                  <a:gd name="T34" fmla="*/ 251 w 1173"/>
                  <a:gd name="T35" fmla="*/ 2222 h 2305"/>
                  <a:gd name="T36" fmla="*/ 744 w 1173"/>
                  <a:gd name="T37" fmla="*/ 2186 h 2305"/>
                  <a:gd name="T38" fmla="*/ 953 w 1173"/>
                  <a:gd name="T39" fmla="*/ 2129 h 2305"/>
                  <a:gd name="T40" fmla="*/ 993 w 1173"/>
                  <a:gd name="T41" fmla="*/ 1695 h 2305"/>
                  <a:gd name="T42" fmla="*/ 1031 w 1173"/>
                  <a:gd name="T43" fmla="*/ 1403 h 2305"/>
                  <a:gd name="T44" fmla="*/ 1158 w 1173"/>
                  <a:gd name="T45" fmla="*/ 950 h 2305"/>
                  <a:gd name="T46" fmla="*/ 1173 w 1173"/>
                  <a:gd name="T47" fmla="*/ 322 h 2305"/>
                  <a:gd name="T48" fmla="*/ 1122 w 1173"/>
                  <a:gd name="T49" fmla="*/ 252 h 2305"/>
                  <a:gd name="T50" fmla="*/ 1064 w 1173"/>
                  <a:gd name="T51" fmla="*/ 192 h 2305"/>
                  <a:gd name="T52" fmla="*/ 1014 w 1173"/>
                  <a:gd name="T53" fmla="*/ 154 h 2305"/>
                  <a:gd name="T54" fmla="*/ 960 w 1173"/>
                  <a:gd name="T55" fmla="*/ 121 h 2305"/>
                  <a:gd name="T56" fmla="*/ 903 w 1173"/>
                  <a:gd name="T57" fmla="*/ 88 h 2305"/>
                  <a:gd name="T58" fmla="*/ 839 w 1173"/>
                  <a:gd name="T59" fmla="*/ 57 h 2305"/>
                  <a:gd name="T60" fmla="*/ 778 w 1173"/>
                  <a:gd name="T61" fmla="*/ 30 h 2305"/>
                  <a:gd name="T62" fmla="*/ 715 w 1173"/>
                  <a:gd name="T63" fmla="*/ 12 h 2305"/>
                  <a:gd name="T64" fmla="*/ 654 w 1173"/>
                  <a:gd name="T65" fmla="*/ 0 h 2305"/>
                  <a:gd name="T66" fmla="*/ 595 w 1173"/>
                  <a:gd name="T67" fmla="*/ 2 h 2305"/>
                  <a:gd name="T68" fmla="*/ 547 w 1173"/>
                  <a:gd name="T69" fmla="*/ 16 h 2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173" h="2305">
                    <a:moveTo>
                      <a:pt x="547" y="16"/>
                    </a:moveTo>
                    <a:lnTo>
                      <a:pt x="500" y="94"/>
                    </a:lnTo>
                    <a:lnTo>
                      <a:pt x="454" y="170"/>
                    </a:lnTo>
                    <a:lnTo>
                      <a:pt x="362" y="328"/>
                    </a:lnTo>
                    <a:lnTo>
                      <a:pt x="276" y="499"/>
                    </a:lnTo>
                    <a:lnTo>
                      <a:pt x="195" y="701"/>
                    </a:lnTo>
                    <a:lnTo>
                      <a:pt x="37" y="1151"/>
                    </a:lnTo>
                    <a:lnTo>
                      <a:pt x="14" y="1228"/>
                    </a:lnTo>
                    <a:lnTo>
                      <a:pt x="5" y="1294"/>
                    </a:lnTo>
                    <a:lnTo>
                      <a:pt x="0" y="1366"/>
                    </a:lnTo>
                    <a:lnTo>
                      <a:pt x="2" y="1435"/>
                    </a:lnTo>
                    <a:lnTo>
                      <a:pt x="24" y="1612"/>
                    </a:lnTo>
                    <a:lnTo>
                      <a:pt x="39" y="1728"/>
                    </a:lnTo>
                    <a:lnTo>
                      <a:pt x="52" y="1876"/>
                    </a:lnTo>
                    <a:lnTo>
                      <a:pt x="63" y="1998"/>
                    </a:lnTo>
                    <a:lnTo>
                      <a:pt x="73" y="2118"/>
                    </a:lnTo>
                    <a:lnTo>
                      <a:pt x="175" y="2305"/>
                    </a:lnTo>
                    <a:lnTo>
                      <a:pt x="251" y="2222"/>
                    </a:lnTo>
                    <a:lnTo>
                      <a:pt x="744" y="2186"/>
                    </a:lnTo>
                    <a:lnTo>
                      <a:pt x="953" y="2129"/>
                    </a:lnTo>
                    <a:lnTo>
                      <a:pt x="993" y="1695"/>
                    </a:lnTo>
                    <a:lnTo>
                      <a:pt x="1031" y="1403"/>
                    </a:lnTo>
                    <a:lnTo>
                      <a:pt x="1158" y="950"/>
                    </a:lnTo>
                    <a:lnTo>
                      <a:pt x="1173" y="322"/>
                    </a:lnTo>
                    <a:lnTo>
                      <a:pt x="1122" y="252"/>
                    </a:lnTo>
                    <a:lnTo>
                      <a:pt x="1064" y="192"/>
                    </a:lnTo>
                    <a:lnTo>
                      <a:pt x="1014" y="154"/>
                    </a:lnTo>
                    <a:lnTo>
                      <a:pt x="960" y="121"/>
                    </a:lnTo>
                    <a:lnTo>
                      <a:pt x="903" y="88"/>
                    </a:lnTo>
                    <a:lnTo>
                      <a:pt x="839" y="57"/>
                    </a:lnTo>
                    <a:lnTo>
                      <a:pt x="778" y="30"/>
                    </a:lnTo>
                    <a:lnTo>
                      <a:pt x="715" y="12"/>
                    </a:lnTo>
                    <a:lnTo>
                      <a:pt x="654" y="0"/>
                    </a:lnTo>
                    <a:lnTo>
                      <a:pt x="595" y="2"/>
                    </a:lnTo>
                    <a:lnTo>
                      <a:pt x="547" y="16"/>
                    </a:lnTo>
                    <a:close/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827" name="Freeform 667"/>
              <p:cNvSpPr>
                <a:spLocks/>
              </p:cNvSpPr>
              <p:nvPr/>
            </p:nvSpPr>
            <p:spPr bwMode="auto">
              <a:xfrm>
                <a:off x="4757" y="3672"/>
                <a:ext cx="101" cy="194"/>
              </a:xfrm>
              <a:custGeom>
                <a:avLst/>
                <a:gdLst>
                  <a:gd name="T0" fmla="*/ 455 w 1214"/>
                  <a:gd name="T1" fmla="*/ 1746 h 2332"/>
                  <a:gd name="T2" fmla="*/ 425 w 1214"/>
                  <a:gd name="T3" fmla="*/ 1703 h 2332"/>
                  <a:gd name="T4" fmla="*/ 352 w 1214"/>
                  <a:gd name="T5" fmla="*/ 1891 h 2332"/>
                  <a:gd name="T6" fmla="*/ 209 w 1214"/>
                  <a:gd name="T7" fmla="*/ 1891 h 2332"/>
                  <a:gd name="T8" fmla="*/ 194 w 1214"/>
                  <a:gd name="T9" fmla="*/ 1457 h 2332"/>
                  <a:gd name="T10" fmla="*/ 164 w 1214"/>
                  <a:gd name="T11" fmla="*/ 1797 h 2332"/>
                  <a:gd name="T12" fmla="*/ 0 w 1214"/>
                  <a:gd name="T13" fmla="*/ 1866 h 2332"/>
                  <a:gd name="T14" fmla="*/ 265 w 1214"/>
                  <a:gd name="T15" fmla="*/ 2240 h 2332"/>
                  <a:gd name="T16" fmla="*/ 416 w 1214"/>
                  <a:gd name="T17" fmla="*/ 2332 h 2332"/>
                  <a:gd name="T18" fmla="*/ 445 w 1214"/>
                  <a:gd name="T19" fmla="*/ 2203 h 2332"/>
                  <a:gd name="T20" fmla="*/ 506 w 1214"/>
                  <a:gd name="T21" fmla="*/ 2184 h 2332"/>
                  <a:gd name="T22" fmla="*/ 694 w 1214"/>
                  <a:gd name="T23" fmla="*/ 2258 h 2332"/>
                  <a:gd name="T24" fmla="*/ 851 w 1214"/>
                  <a:gd name="T25" fmla="*/ 2271 h 2332"/>
                  <a:gd name="T26" fmla="*/ 830 w 1214"/>
                  <a:gd name="T27" fmla="*/ 2127 h 2332"/>
                  <a:gd name="T28" fmla="*/ 817 w 1214"/>
                  <a:gd name="T29" fmla="*/ 2066 h 2332"/>
                  <a:gd name="T30" fmla="*/ 943 w 1214"/>
                  <a:gd name="T31" fmla="*/ 2050 h 2332"/>
                  <a:gd name="T32" fmla="*/ 1060 w 1214"/>
                  <a:gd name="T33" fmla="*/ 1989 h 2332"/>
                  <a:gd name="T34" fmla="*/ 1214 w 1214"/>
                  <a:gd name="T35" fmla="*/ 1804 h 2332"/>
                  <a:gd name="T36" fmla="*/ 1185 w 1214"/>
                  <a:gd name="T37" fmla="*/ 1727 h 2332"/>
                  <a:gd name="T38" fmla="*/ 1112 w 1214"/>
                  <a:gd name="T39" fmla="*/ 1712 h 2332"/>
                  <a:gd name="T40" fmla="*/ 984 w 1214"/>
                  <a:gd name="T41" fmla="*/ 1769 h 2332"/>
                  <a:gd name="T42" fmla="*/ 943 w 1214"/>
                  <a:gd name="T43" fmla="*/ 1660 h 2332"/>
                  <a:gd name="T44" fmla="*/ 967 w 1214"/>
                  <a:gd name="T45" fmla="*/ 1461 h 2332"/>
                  <a:gd name="T46" fmla="*/ 982 w 1214"/>
                  <a:gd name="T47" fmla="*/ 1225 h 2332"/>
                  <a:gd name="T48" fmla="*/ 1069 w 1214"/>
                  <a:gd name="T49" fmla="*/ 1038 h 2332"/>
                  <a:gd name="T50" fmla="*/ 1134 w 1214"/>
                  <a:gd name="T51" fmla="*/ 804 h 2332"/>
                  <a:gd name="T52" fmla="*/ 1168 w 1214"/>
                  <a:gd name="T53" fmla="*/ 587 h 2332"/>
                  <a:gd name="T54" fmla="*/ 1168 w 1214"/>
                  <a:gd name="T55" fmla="*/ 422 h 2332"/>
                  <a:gd name="T56" fmla="*/ 1128 w 1214"/>
                  <a:gd name="T57" fmla="*/ 284 h 2332"/>
                  <a:gd name="T58" fmla="*/ 1134 w 1214"/>
                  <a:gd name="T59" fmla="*/ 134 h 2332"/>
                  <a:gd name="T60" fmla="*/ 1049 w 1214"/>
                  <a:gd name="T61" fmla="*/ 0 h 2332"/>
                  <a:gd name="T62" fmla="*/ 1034 w 1214"/>
                  <a:gd name="T63" fmla="*/ 186 h 2332"/>
                  <a:gd name="T64" fmla="*/ 1069 w 1214"/>
                  <a:gd name="T65" fmla="*/ 489 h 2332"/>
                  <a:gd name="T66" fmla="*/ 974 w 1214"/>
                  <a:gd name="T67" fmla="*/ 909 h 2332"/>
                  <a:gd name="T68" fmla="*/ 873 w 1214"/>
                  <a:gd name="T69" fmla="*/ 1131 h 2332"/>
                  <a:gd name="T70" fmla="*/ 853 w 1214"/>
                  <a:gd name="T71" fmla="*/ 1338 h 2332"/>
                  <a:gd name="T72" fmla="*/ 873 w 1214"/>
                  <a:gd name="T73" fmla="*/ 1630 h 2332"/>
                  <a:gd name="T74" fmla="*/ 843 w 1214"/>
                  <a:gd name="T75" fmla="*/ 1851 h 2332"/>
                  <a:gd name="T76" fmla="*/ 705 w 1214"/>
                  <a:gd name="T77" fmla="*/ 1884 h 2332"/>
                  <a:gd name="T78" fmla="*/ 663 w 1214"/>
                  <a:gd name="T79" fmla="*/ 1634 h 2332"/>
                  <a:gd name="T80" fmla="*/ 640 w 1214"/>
                  <a:gd name="T81" fmla="*/ 1676 h 2332"/>
                  <a:gd name="T82" fmla="*/ 606 w 1214"/>
                  <a:gd name="T83" fmla="*/ 1859 h 2332"/>
                  <a:gd name="T84" fmla="*/ 471 w 1214"/>
                  <a:gd name="T85" fmla="*/ 1884 h 2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214" h="2332">
                    <a:moveTo>
                      <a:pt x="471" y="1884"/>
                    </a:moveTo>
                    <a:lnTo>
                      <a:pt x="455" y="1746"/>
                    </a:lnTo>
                    <a:lnTo>
                      <a:pt x="449" y="1591"/>
                    </a:lnTo>
                    <a:lnTo>
                      <a:pt x="425" y="1703"/>
                    </a:lnTo>
                    <a:lnTo>
                      <a:pt x="392" y="1832"/>
                    </a:lnTo>
                    <a:lnTo>
                      <a:pt x="352" y="1891"/>
                    </a:lnTo>
                    <a:lnTo>
                      <a:pt x="265" y="1901"/>
                    </a:lnTo>
                    <a:lnTo>
                      <a:pt x="209" y="1891"/>
                    </a:lnTo>
                    <a:lnTo>
                      <a:pt x="209" y="1648"/>
                    </a:lnTo>
                    <a:lnTo>
                      <a:pt x="194" y="1457"/>
                    </a:lnTo>
                    <a:lnTo>
                      <a:pt x="178" y="1634"/>
                    </a:lnTo>
                    <a:lnTo>
                      <a:pt x="164" y="1797"/>
                    </a:lnTo>
                    <a:lnTo>
                      <a:pt x="144" y="1866"/>
                    </a:lnTo>
                    <a:lnTo>
                      <a:pt x="0" y="1866"/>
                    </a:lnTo>
                    <a:lnTo>
                      <a:pt x="102" y="2053"/>
                    </a:lnTo>
                    <a:lnTo>
                      <a:pt x="265" y="2240"/>
                    </a:lnTo>
                    <a:lnTo>
                      <a:pt x="336" y="2316"/>
                    </a:lnTo>
                    <a:lnTo>
                      <a:pt x="416" y="2332"/>
                    </a:lnTo>
                    <a:lnTo>
                      <a:pt x="445" y="2267"/>
                    </a:lnTo>
                    <a:lnTo>
                      <a:pt x="445" y="2203"/>
                    </a:lnTo>
                    <a:lnTo>
                      <a:pt x="425" y="2140"/>
                    </a:lnTo>
                    <a:lnTo>
                      <a:pt x="506" y="2184"/>
                    </a:lnTo>
                    <a:lnTo>
                      <a:pt x="596" y="2224"/>
                    </a:lnTo>
                    <a:lnTo>
                      <a:pt x="694" y="2258"/>
                    </a:lnTo>
                    <a:lnTo>
                      <a:pt x="801" y="2293"/>
                    </a:lnTo>
                    <a:lnTo>
                      <a:pt x="851" y="2271"/>
                    </a:lnTo>
                    <a:lnTo>
                      <a:pt x="857" y="2224"/>
                    </a:lnTo>
                    <a:lnTo>
                      <a:pt x="830" y="2127"/>
                    </a:lnTo>
                    <a:lnTo>
                      <a:pt x="712" y="2038"/>
                    </a:lnTo>
                    <a:lnTo>
                      <a:pt x="817" y="2066"/>
                    </a:lnTo>
                    <a:lnTo>
                      <a:pt x="887" y="2066"/>
                    </a:lnTo>
                    <a:lnTo>
                      <a:pt x="943" y="2050"/>
                    </a:lnTo>
                    <a:lnTo>
                      <a:pt x="982" y="2004"/>
                    </a:lnTo>
                    <a:lnTo>
                      <a:pt x="1060" y="1989"/>
                    </a:lnTo>
                    <a:lnTo>
                      <a:pt x="1147" y="1886"/>
                    </a:lnTo>
                    <a:lnTo>
                      <a:pt x="1214" y="1804"/>
                    </a:lnTo>
                    <a:lnTo>
                      <a:pt x="1214" y="1756"/>
                    </a:lnTo>
                    <a:lnTo>
                      <a:pt x="1185" y="1727"/>
                    </a:lnTo>
                    <a:lnTo>
                      <a:pt x="1155" y="1706"/>
                    </a:lnTo>
                    <a:lnTo>
                      <a:pt x="1112" y="1712"/>
                    </a:lnTo>
                    <a:lnTo>
                      <a:pt x="1047" y="1774"/>
                    </a:lnTo>
                    <a:lnTo>
                      <a:pt x="984" y="1769"/>
                    </a:lnTo>
                    <a:lnTo>
                      <a:pt x="927" y="1762"/>
                    </a:lnTo>
                    <a:lnTo>
                      <a:pt x="943" y="1660"/>
                    </a:lnTo>
                    <a:lnTo>
                      <a:pt x="952" y="1591"/>
                    </a:lnTo>
                    <a:lnTo>
                      <a:pt x="967" y="1461"/>
                    </a:lnTo>
                    <a:lnTo>
                      <a:pt x="974" y="1344"/>
                    </a:lnTo>
                    <a:lnTo>
                      <a:pt x="982" y="1225"/>
                    </a:lnTo>
                    <a:lnTo>
                      <a:pt x="1024" y="1131"/>
                    </a:lnTo>
                    <a:lnTo>
                      <a:pt x="1069" y="1038"/>
                    </a:lnTo>
                    <a:lnTo>
                      <a:pt x="1108" y="930"/>
                    </a:lnTo>
                    <a:lnTo>
                      <a:pt x="1134" y="804"/>
                    </a:lnTo>
                    <a:lnTo>
                      <a:pt x="1150" y="691"/>
                    </a:lnTo>
                    <a:lnTo>
                      <a:pt x="1168" y="587"/>
                    </a:lnTo>
                    <a:lnTo>
                      <a:pt x="1171" y="492"/>
                    </a:lnTo>
                    <a:lnTo>
                      <a:pt x="1168" y="422"/>
                    </a:lnTo>
                    <a:lnTo>
                      <a:pt x="1150" y="352"/>
                    </a:lnTo>
                    <a:lnTo>
                      <a:pt x="1128" y="284"/>
                    </a:lnTo>
                    <a:lnTo>
                      <a:pt x="1115" y="215"/>
                    </a:lnTo>
                    <a:lnTo>
                      <a:pt x="1134" y="134"/>
                    </a:lnTo>
                    <a:lnTo>
                      <a:pt x="1100" y="70"/>
                    </a:lnTo>
                    <a:lnTo>
                      <a:pt x="1049" y="0"/>
                    </a:lnTo>
                    <a:lnTo>
                      <a:pt x="1039" y="90"/>
                    </a:lnTo>
                    <a:lnTo>
                      <a:pt x="1034" y="186"/>
                    </a:lnTo>
                    <a:lnTo>
                      <a:pt x="1060" y="323"/>
                    </a:lnTo>
                    <a:lnTo>
                      <a:pt x="1069" y="489"/>
                    </a:lnTo>
                    <a:lnTo>
                      <a:pt x="1039" y="691"/>
                    </a:lnTo>
                    <a:lnTo>
                      <a:pt x="974" y="909"/>
                    </a:lnTo>
                    <a:lnTo>
                      <a:pt x="916" y="1042"/>
                    </a:lnTo>
                    <a:lnTo>
                      <a:pt x="873" y="1131"/>
                    </a:lnTo>
                    <a:lnTo>
                      <a:pt x="863" y="1218"/>
                    </a:lnTo>
                    <a:lnTo>
                      <a:pt x="853" y="1338"/>
                    </a:lnTo>
                    <a:lnTo>
                      <a:pt x="866" y="1477"/>
                    </a:lnTo>
                    <a:lnTo>
                      <a:pt x="873" y="1630"/>
                    </a:lnTo>
                    <a:lnTo>
                      <a:pt x="863" y="1787"/>
                    </a:lnTo>
                    <a:lnTo>
                      <a:pt x="843" y="1851"/>
                    </a:lnTo>
                    <a:lnTo>
                      <a:pt x="796" y="1879"/>
                    </a:lnTo>
                    <a:lnTo>
                      <a:pt x="705" y="1884"/>
                    </a:lnTo>
                    <a:lnTo>
                      <a:pt x="687" y="1813"/>
                    </a:lnTo>
                    <a:lnTo>
                      <a:pt x="663" y="1634"/>
                    </a:lnTo>
                    <a:lnTo>
                      <a:pt x="653" y="1520"/>
                    </a:lnTo>
                    <a:lnTo>
                      <a:pt x="640" y="1676"/>
                    </a:lnTo>
                    <a:lnTo>
                      <a:pt x="620" y="1780"/>
                    </a:lnTo>
                    <a:lnTo>
                      <a:pt x="606" y="1859"/>
                    </a:lnTo>
                    <a:lnTo>
                      <a:pt x="552" y="1884"/>
                    </a:lnTo>
                    <a:lnTo>
                      <a:pt x="471" y="1884"/>
                    </a:lnTo>
                    <a:close/>
                  </a:path>
                </a:pathLst>
              </a:custGeom>
              <a:solidFill>
                <a:srgbClr val="C396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828" name="Freeform 668"/>
              <p:cNvSpPr>
                <a:spLocks/>
              </p:cNvSpPr>
              <p:nvPr/>
            </p:nvSpPr>
            <p:spPr bwMode="auto">
              <a:xfrm>
                <a:off x="4770" y="3778"/>
                <a:ext cx="22" cy="72"/>
              </a:xfrm>
              <a:custGeom>
                <a:avLst/>
                <a:gdLst>
                  <a:gd name="T0" fmla="*/ 0 w 273"/>
                  <a:gd name="T1" fmla="*/ 0 h 860"/>
                  <a:gd name="T2" fmla="*/ 32 w 273"/>
                  <a:gd name="T3" fmla="*/ 90 h 860"/>
                  <a:gd name="T4" fmla="*/ 49 w 273"/>
                  <a:gd name="T5" fmla="*/ 230 h 860"/>
                  <a:gd name="T6" fmla="*/ 53 w 273"/>
                  <a:gd name="T7" fmla="*/ 402 h 860"/>
                  <a:gd name="T8" fmla="*/ 61 w 273"/>
                  <a:gd name="T9" fmla="*/ 609 h 860"/>
                  <a:gd name="T10" fmla="*/ 126 w 273"/>
                  <a:gd name="T11" fmla="*/ 719 h 860"/>
                  <a:gd name="T12" fmla="*/ 206 w 273"/>
                  <a:gd name="T13" fmla="*/ 797 h 860"/>
                  <a:gd name="T14" fmla="*/ 273 w 273"/>
                  <a:gd name="T15" fmla="*/ 860 h 8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3" h="860">
                    <a:moveTo>
                      <a:pt x="0" y="0"/>
                    </a:moveTo>
                    <a:lnTo>
                      <a:pt x="32" y="90"/>
                    </a:lnTo>
                    <a:lnTo>
                      <a:pt x="49" y="230"/>
                    </a:lnTo>
                    <a:lnTo>
                      <a:pt x="53" y="402"/>
                    </a:lnTo>
                    <a:lnTo>
                      <a:pt x="61" y="609"/>
                    </a:lnTo>
                    <a:lnTo>
                      <a:pt x="126" y="719"/>
                    </a:lnTo>
                    <a:lnTo>
                      <a:pt x="206" y="797"/>
                    </a:lnTo>
                    <a:lnTo>
                      <a:pt x="273" y="860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829" name="Freeform 669"/>
              <p:cNvSpPr>
                <a:spLocks/>
              </p:cNvSpPr>
              <p:nvPr/>
            </p:nvSpPr>
            <p:spPr bwMode="auto">
              <a:xfrm>
                <a:off x="4794" y="3790"/>
                <a:ext cx="23" cy="52"/>
              </a:xfrm>
              <a:custGeom>
                <a:avLst/>
                <a:gdLst>
                  <a:gd name="T0" fmla="*/ 0 w 278"/>
                  <a:gd name="T1" fmla="*/ 0 h 619"/>
                  <a:gd name="T2" fmla="*/ 6 w 278"/>
                  <a:gd name="T3" fmla="*/ 238 h 619"/>
                  <a:gd name="T4" fmla="*/ 41 w 278"/>
                  <a:gd name="T5" fmla="*/ 466 h 619"/>
                  <a:gd name="T6" fmla="*/ 139 w 278"/>
                  <a:gd name="T7" fmla="*/ 550 h 619"/>
                  <a:gd name="T8" fmla="*/ 278 w 278"/>
                  <a:gd name="T9" fmla="*/ 619 h 6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8" h="619">
                    <a:moveTo>
                      <a:pt x="0" y="0"/>
                    </a:moveTo>
                    <a:lnTo>
                      <a:pt x="6" y="238"/>
                    </a:lnTo>
                    <a:lnTo>
                      <a:pt x="41" y="466"/>
                    </a:lnTo>
                    <a:lnTo>
                      <a:pt x="139" y="550"/>
                    </a:lnTo>
                    <a:lnTo>
                      <a:pt x="278" y="619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830" name="Freeform 670"/>
              <p:cNvSpPr>
                <a:spLocks/>
              </p:cNvSpPr>
              <p:nvPr/>
            </p:nvSpPr>
            <p:spPr bwMode="auto">
              <a:xfrm>
                <a:off x="4810" y="3793"/>
                <a:ext cx="30" cy="45"/>
              </a:xfrm>
              <a:custGeom>
                <a:avLst/>
                <a:gdLst>
                  <a:gd name="T0" fmla="*/ 0 w 357"/>
                  <a:gd name="T1" fmla="*/ 0 h 534"/>
                  <a:gd name="T2" fmla="*/ 23 w 357"/>
                  <a:gd name="T3" fmla="*/ 130 h 534"/>
                  <a:gd name="T4" fmla="*/ 47 w 357"/>
                  <a:gd name="T5" fmla="*/ 405 h 534"/>
                  <a:gd name="T6" fmla="*/ 87 w 357"/>
                  <a:gd name="T7" fmla="*/ 486 h 534"/>
                  <a:gd name="T8" fmla="*/ 166 w 357"/>
                  <a:gd name="T9" fmla="*/ 522 h 534"/>
                  <a:gd name="T10" fmla="*/ 357 w 357"/>
                  <a:gd name="T11" fmla="*/ 534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57" h="534">
                    <a:moveTo>
                      <a:pt x="0" y="0"/>
                    </a:moveTo>
                    <a:lnTo>
                      <a:pt x="23" y="130"/>
                    </a:lnTo>
                    <a:lnTo>
                      <a:pt x="47" y="405"/>
                    </a:lnTo>
                    <a:lnTo>
                      <a:pt x="87" y="486"/>
                    </a:lnTo>
                    <a:lnTo>
                      <a:pt x="166" y="522"/>
                    </a:lnTo>
                    <a:lnTo>
                      <a:pt x="357" y="534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831" name="Freeform 671"/>
              <p:cNvSpPr>
                <a:spLocks/>
              </p:cNvSpPr>
              <p:nvPr/>
            </p:nvSpPr>
            <p:spPr bwMode="auto">
              <a:xfrm>
                <a:off x="4816" y="3857"/>
                <a:ext cx="11" cy="3"/>
              </a:xfrm>
              <a:custGeom>
                <a:avLst/>
                <a:gdLst>
                  <a:gd name="T0" fmla="*/ 125 w 125"/>
                  <a:gd name="T1" fmla="*/ 32 h 37"/>
                  <a:gd name="T2" fmla="*/ 60 w 125"/>
                  <a:gd name="T3" fmla="*/ 0 h 37"/>
                  <a:gd name="T4" fmla="*/ 0 w 125"/>
                  <a:gd name="T5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5" h="37">
                    <a:moveTo>
                      <a:pt x="125" y="32"/>
                    </a:moveTo>
                    <a:lnTo>
                      <a:pt x="60" y="0"/>
                    </a:lnTo>
                    <a:lnTo>
                      <a:pt x="0" y="37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832" name="Freeform 672"/>
              <p:cNvSpPr>
                <a:spLocks/>
              </p:cNvSpPr>
              <p:nvPr/>
            </p:nvSpPr>
            <p:spPr bwMode="auto">
              <a:xfrm>
                <a:off x="4779" y="3857"/>
                <a:ext cx="12" cy="8"/>
              </a:xfrm>
              <a:custGeom>
                <a:avLst/>
                <a:gdLst>
                  <a:gd name="T0" fmla="*/ 141 w 141"/>
                  <a:gd name="T1" fmla="*/ 89 h 89"/>
                  <a:gd name="T2" fmla="*/ 78 w 141"/>
                  <a:gd name="T3" fmla="*/ 0 h 89"/>
                  <a:gd name="T4" fmla="*/ 0 w 141"/>
                  <a:gd name="T5" fmla="*/ 16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1" h="89">
                    <a:moveTo>
                      <a:pt x="141" y="89"/>
                    </a:moveTo>
                    <a:lnTo>
                      <a:pt x="78" y="0"/>
                    </a:lnTo>
                    <a:lnTo>
                      <a:pt x="0" y="16"/>
                    </a:lnTo>
                  </a:path>
                </a:pathLst>
              </a:custGeom>
              <a:noFill/>
              <a:ln w="1588">
                <a:solidFill>
                  <a:srgbClr val="13151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833" name="Line 673"/>
              <p:cNvSpPr>
                <a:spLocks noChangeShapeType="1"/>
              </p:cNvSpPr>
              <p:nvPr/>
            </p:nvSpPr>
            <p:spPr bwMode="auto">
              <a:xfrm flipV="1">
                <a:off x="4758" y="382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13151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834" name="Line 674"/>
              <p:cNvSpPr>
                <a:spLocks noChangeShapeType="1"/>
              </p:cNvSpPr>
              <p:nvPr/>
            </p:nvSpPr>
            <p:spPr bwMode="auto">
              <a:xfrm flipV="1">
                <a:off x="4760" y="383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13151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835" name="Line 675"/>
              <p:cNvSpPr>
                <a:spLocks noChangeShapeType="1"/>
              </p:cNvSpPr>
              <p:nvPr/>
            </p:nvSpPr>
            <p:spPr bwMode="auto">
              <a:xfrm flipH="1">
                <a:off x="4772" y="3845"/>
                <a:ext cx="5" cy="4"/>
              </a:xfrm>
              <a:prstGeom prst="line">
                <a:avLst/>
              </a:prstGeom>
              <a:noFill/>
              <a:ln w="1588">
                <a:solidFill>
                  <a:srgbClr val="13151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  <p:sp>
          <p:nvSpPr>
            <p:cNvPr id="220837" name="Line 677"/>
            <p:cNvSpPr>
              <a:spLocks noChangeShapeType="1"/>
            </p:cNvSpPr>
            <p:nvPr/>
          </p:nvSpPr>
          <p:spPr bwMode="auto">
            <a:xfrm flipV="1">
              <a:off x="4780" y="3835"/>
              <a:ext cx="7" cy="2"/>
            </a:xfrm>
            <a:prstGeom prst="line">
              <a:avLst/>
            </a:prstGeom>
            <a:noFill/>
            <a:ln w="1588">
              <a:solidFill>
                <a:srgbClr val="13151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838" name="Line 678"/>
            <p:cNvSpPr>
              <a:spLocks noChangeShapeType="1"/>
            </p:cNvSpPr>
            <p:nvPr/>
          </p:nvSpPr>
          <p:spPr bwMode="auto">
            <a:xfrm flipV="1">
              <a:off x="4777" y="3826"/>
              <a:ext cx="7" cy="3"/>
            </a:xfrm>
            <a:prstGeom prst="line">
              <a:avLst/>
            </a:prstGeom>
            <a:noFill/>
            <a:ln w="1588">
              <a:solidFill>
                <a:srgbClr val="13151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839" name="Line 679"/>
            <p:cNvSpPr>
              <a:spLocks noChangeShapeType="1"/>
            </p:cNvSpPr>
            <p:nvPr/>
          </p:nvSpPr>
          <p:spPr bwMode="auto">
            <a:xfrm flipH="1">
              <a:off x="4800" y="3851"/>
              <a:ext cx="6" cy="3"/>
            </a:xfrm>
            <a:prstGeom prst="line">
              <a:avLst/>
            </a:prstGeom>
            <a:noFill/>
            <a:ln w="1588">
              <a:solidFill>
                <a:srgbClr val="13151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840" name="Line 680"/>
            <p:cNvSpPr>
              <a:spLocks noChangeShapeType="1"/>
            </p:cNvSpPr>
            <p:nvPr/>
          </p:nvSpPr>
          <p:spPr bwMode="auto">
            <a:xfrm flipH="1">
              <a:off x="4800" y="3831"/>
              <a:ext cx="7" cy="2"/>
            </a:xfrm>
            <a:prstGeom prst="line">
              <a:avLst/>
            </a:prstGeom>
            <a:noFill/>
            <a:ln w="1588">
              <a:solidFill>
                <a:srgbClr val="13151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841" name="Freeform 681"/>
            <p:cNvSpPr>
              <a:spLocks/>
            </p:cNvSpPr>
            <p:nvPr/>
          </p:nvSpPr>
          <p:spPr bwMode="auto">
            <a:xfrm>
              <a:off x="4787" y="3705"/>
              <a:ext cx="15" cy="44"/>
            </a:xfrm>
            <a:custGeom>
              <a:avLst/>
              <a:gdLst>
                <a:gd name="T0" fmla="*/ 186 w 186"/>
                <a:gd name="T1" fmla="*/ 0 h 527"/>
                <a:gd name="T2" fmla="*/ 159 w 186"/>
                <a:gd name="T3" fmla="*/ 28 h 527"/>
                <a:gd name="T4" fmla="*/ 0 w 186"/>
                <a:gd name="T5" fmla="*/ 527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6" h="527">
                  <a:moveTo>
                    <a:pt x="186" y="0"/>
                  </a:moveTo>
                  <a:lnTo>
                    <a:pt x="159" y="28"/>
                  </a:lnTo>
                  <a:lnTo>
                    <a:pt x="0" y="527"/>
                  </a:lnTo>
                </a:path>
              </a:pathLst>
            </a:custGeom>
            <a:noFill/>
            <a:ln w="1588">
              <a:solidFill>
                <a:srgbClr val="13151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842" name="Freeform 682"/>
            <p:cNvSpPr>
              <a:spLocks/>
            </p:cNvSpPr>
            <p:nvPr/>
          </p:nvSpPr>
          <p:spPr bwMode="auto">
            <a:xfrm>
              <a:off x="4765" y="3720"/>
              <a:ext cx="18" cy="27"/>
            </a:xfrm>
            <a:custGeom>
              <a:avLst/>
              <a:gdLst>
                <a:gd name="T0" fmla="*/ 214 w 214"/>
                <a:gd name="T1" fmla="*/ 0 h 320"/>
                <a:gd name="T2" fmla="*/ 188 w 214"/>
                <a:gd name="T3" fmla="*/ 11 h 320"/>
                <a:gd name="T4" fmla="*/ 173 w 214"/>
                <a:gd name="T5" fmla="*/ 44 h 320"/>
                <a:gd name="T6" fmla="*/ 0 w 214"/>
                <a:gd name="T7" fmla="*/ 320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4" h="320">
                  <a:moveTo>
                    <a:pt x="214" y="0"/>
                  </a:moveTo>
                  <a:lnTo>
                    <a:pt x="188" y="11"/>
                  </a:lnTo>
                  <a:lnTo>
                    <a:pt x="173" y="44"/>
                  </a:lnTo>
                  <a:lnTo>
                    <a:pt x="0" y="320"/>
                  </a:lnTo>
                </a:path>
              </a:pathLst>
            </a:custGeom>
            <a:noFill/>
            <a:ln w="1588">
              <a:solidFill>
                <a:srgbClr val="13151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843" name="Freeform 683"/>
            <p:cNvSpPr>
              <a:spLocks/>
            </p:cNvSpPr>
            <p:nvPr/>
          </p:nvSpPr>
          <p:spPr bwMode="auto">
            <a:xfrm>
              <a:off x="4771" y="3757"/>
              <a:ext cx="36" cy="11"/>
            </a:xfrm>
            <a:custGeom>
              <a:avLst/>
              <a:gdLst>
                <a:gd name="T0" fmla="*/ 437 w 437"/>
                <a:gd name="T1" fmla="*/ 132 h 132"/>
                <a:gd name="T2" fmla="*/ 252 w 437"/>
                <a:gd name="T3" fmla="*/ 93 h 132"/>
                <a:gd name="T4" fmla="*/ 125 w 437"/>
                <a:gd name="T5" fmla="*/ 86 h 132"/>
                <a:gd name="T6" fmla="*/ 0 w 437"/>
                <a:gd name="T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7" h="132">
                  <a:moveTo>
                    <a:pt x="437" y="132"/>
                  </a:moveTo>
                  <a:lnTo>
                    <a:pt x="252" y="93"/>
                  </a:lnTo>
                  <a:lnTo>
                    <a:pt x="125" y="86"/>
                  </a:lnTo>
                  <a:lnTo>
                    <a:pt x="0" y="0"/>
                  </a:lnTo>
                </a:path>
              </a:pathLst>
            </a:custGeom>
            <a:noFill/>
            <a:ln w="1588">
              <a:solidFill>
                <a:srgbClr val="13151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844" name="Line 684"/>
            <p:cNvSpPr>
              <a:spLocks noChangeShapeType="1"/>
            </p:cNvSpPr>
            <p:nvPr/>
          </p:nvSpPr>
          <p:spPr bwMode="auto">
            <a:xfrm>
              <a:off x="4845" y="3819"/>
              <a:ext cx="5" cy="1"/>
            </a:xfrm>
            <a:prstGeom prst="line">
              <a:avLst/>
            </a:prstGeom>
            <a:noFill/>
            <a:ln w="1588">
              <a:solidFill>
                <a:srgbClr val="13151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845" name="Line 685"/>
            <p:cNvSpPr>
              <a:spLocks noChangeShapeType="1"/>
            </p:cNvSpPr>
            <p:nvPr/>
          </p:nvSpPr>
          <p:spPr bwMode="auto">
            <a:xfrm>
              <a:off x="4834" y="3819"/>
              <a:ext cx="1" cy="4"/>
            </a:xfrm>
            <a:prstGeom prst="line">
              <a:avLst/>
            </a:prstGeom>
            <a:noFill/>
            <a:ln w="1588">
              <a:solidFill>
                <a:srgbClr val="13151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846" name="Line 686"/>
            <p:cNvSpPr>
              <a:spLocks noChangeShapeType="1"/>
            </p:cNvSpPr>
            <p:nvPr/>
          </p:nvSpPr>
          <p:spPr bwMode="auto">
            <a:xfrm flipV="1">
              <a:off x="4826" y="3842"/>
              <a:ext cx="5" cy="2"/>
            </a:xfrm>
            <a:prstGeom prst="line">
              <a:avLst/>
            </a:prstGeom>
            <a:noFill/>
            <a:ln w="1588">
              <a:solidFill>
                <a:srgbClr val="13151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220870" name="Group 710"/>
          <p:cNvGrpSpPr>
            <a:grpSpLocks/>
          </p:cNvGrpSpPr>
          <p:nvPr/>
        </p:nvGrpSpPr>
        <p:grpSpPr bwMode="auto">
          <a:xfrm>
            <a:off x="5092701" y="998538"/>
            <a:ext cx="1509713" cy="1098550"/>
            <a:chOff x="2248" y="629"/>
            <a:chExt cx="951" cy="692"/>
          </a:xfrm>
        </p:grpSpPr>
        <p:sp>
          <p:nvSpPr>
            <p:cNvPr id="220616" name="Freeform 456"/>
            <p:cNvSpPr>
              <a:spLocks/>
            </p:cNvSpPr>
            <p:nvPr/>
          </p:nvSpPr>
          <p:spPr bwMode="auto">
            <a:xfrm>
              <a:off x="2319" y="1009"/>
              <a:ext cx="602" cy="312"/>
            </a:xfrm>
            <a:custGeom>
              <a:avLst/>
              <a:gdLst>
                <a:gd name="T0" fmla="*/ 542 w 542"/>
                <a:gd name="T1" fmla="*/ 130 h 312"/>
                <a:gd name="T2" fmla="*/ 424 w 542"/>
                <a:gd name="T3" fmla="*/ 94 h 312"/>
                <a:gd name="T4" fmla="*/ 274 w 542"/>
                <a:gd name="T5" fmla="*/ 12 h 312"/>
                <a:gd name="T6" fmla="*/ 116 w 542"/>
                <a:gd name="T7" fmla="*/ 22 h 312"/>
                <a:gd name="T8" fmla="*/ 28 w 542"/>
                <a:gd name="T9" fmla="*/ 84 h 312"/>
                <a:gd name="T10" fmla="*/ 4 w 542"/>
                <a:gd name="T11" fmla="*/ 184 h 312"/>
                <a:gd name="T12" fmla="*/ 4 w 542"/>
                <a:gd name="T13" fmla="*/ 312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2" h="312">
                  <a:moveTo>
                    <a:pt x="542" y="130"/>
                  </a:moveTo>
                  <a:cubicBezTo>
                    <a:pt x="505" y="122"/>
                    <a:pt x="469" y="114"/>
                    <a:pt x="424" y="94"/>
                  </a:cubicBezTo>
                  <a:cubicBezTo>
                    <a:pt x="379" y="74"/>
                    <a:pt x="325" y="24"/>
                    <a:pt x="274" y="12"/>
                  </a:cubicBezTo>
                  <a:cubicBezTo>
                    <a:pt x="223" y="0"/>
                    <a:pt x="157" y="10"/>
                    <a:pt x="116" y="22"/>
                  </a:cubicBezTo>
                  <a:cubicBezTo>
                    <a:pt x="75" y="34"/>
                    <a:pt x="47" y="57"/>
                    <a:pt x="28" y="84"/>
                  </a:cubicBezTo>
                  <a:cubicBezTo>
                    <a:pt x="9" y="111"/>
                    <a:pt x="8" y="146"/>
                    <a:pt x="4" y="184"/>
                  </a:cubicBezTo>
                  <a:cubicBezTo>
                    <a:pt x="0" y="222"/>
                    <a:pt x="2" y="267"/>
                    <a:pt x="4" y="312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pic>
          <p:nvPicPr>
            <p:cNvPr id="220165" name="Picture 5" descr="Корпус-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3" y="629"/>
              <a:ext cx="336" cy="5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0168" name="Rectangle 8"/>
            <p:cNvSpPr>
              <a:spLocks noChangeArrowheads="1"/>
            </p:cNvSpPr>
            <p:nvPr/>
          </p:nvSpPr>
          <p:spPr bwMode="auto">
            <a:xfrm>
              <a:off x="2248" y="631"/>
              <a:ext cx="57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ru-RU" altLang="ru-RU"/>
                <a:t>роутер </a:t>
              </a:r>
            </a:p>
          </p:txBody>
        </p:sp>
      </p:grpSp>
      <p:grpSp>
        <p:nvGrpSpPr>
          <p:cNvPr id="220869" name="Group 709"/>
          <p:cNvGrpSpPr>
            <a:grpSpLocks/>
          </p:cNvGrpSpPr>
          <p:nvPr/>
        </p:nvGrpSpPr>
        <p:grpSpPr bwMode="auto">
          <a:xfrm>
            <a:off x="3127376" y="1147764"/>
            <a:ext cx="2347913" cy="1836737"/>
            <a:chOff x="1010" y="723"/>
            <a:chExt cx="1479" cy="1157"/>
          </a:xfrm>
        </p:grpSpPr>
        <p:sp>
          <p:nvSpPr>
            <p:cNvPr id="220848" name="Freeform 688"/>
            <p:cNvSpPr>
              <a:spLocks/>
            </p:cNvSpPr>
            <p:nvPr/>
          </p:nvSpPr>
          <p:spPr bwMode="auto">
            <a:xfrm>
              <a:off x="1997" y="1427"/>
              <a:ext cx="303" cy="339"/>
            </a:xfrm>
            <a:custGeom>
              <a:avLst/>
              <a:gdLst>
                <a:gd name="T0" fmla="*/ 303 w 303"/>
                <a:gd name="T1" fmla="*/ 363 h 376"/>
                <a:gd name="T2" fmla="*/ 153 w 303"/>
                <a:gd name="T3" fmla="*/ 366 h 376"/>
                <a:gd name="T4" fmla="*/ 33 w 303"/>
                <a:gd name="T5" fmla="*/ 300 h 376"/>
                <a:gd name="T6" fmla="*/ 0 w 303"/>
                <a:gd name="T7" fmla="*/ 0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3" h="376">
                  <a:moveTo>
                    <a:pt x="303" y="363"/>
                  </a:moveTo>
                  <a:cubicBezTo>
                    <a:pt x="250" y="369"/>
                    <a:pt x="198" y="376"/>
                    <a:pt x="153" y="366"/>
                  </a:cubicBezTo>
                  <a:cubicBezTo>
                    <a:pt x="108" y="356"/>
                    <a:pt x="58" y="361"/>
                    <a:pt x="33" y="300"/>
                  </a:cubicBezTo>
                  <a:cubicBezTo>
                    <a:pt x="8" y="239"/>
                    <a:pt x="4" y="119"/>
                    <a:pt x="0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615" name="Freeform 455"/>
            <p:cNvSpPr>
              <a:spLocks/>
            </p:cNvSpPr>
            <p:nvPr/>
          </p:nvSpPr>
          <p:spPr bwMode="auto">
            <a:xfrm>
              <a:off x="1907" y="930"/>
              <a:ext cx="233" cy="379"/>
            </a:xfrm>
            <a:custGeom>
              <a:avLst/>
              <a:gdLst>
                <a:gd name="T0" fmla="*/ 0 w 233"/>
                <a:gd name="T1" fmla="*/ 61 h 379"/>
                <a:gd name="T2" fmla="*/ 80 w 233"/>
                <a:gd name="T3" fmla="*/ 5 h 379"/>
                <a:gd name="T4" fmla="*/ 228 w 233"/>
                <a:gd name="T5" fmla="*/ 91 h 379"/>
                <a:gd name="T6" fmla="*/ 112 w 233"/>
                <a:gd name="T7" fmla="*/ 229 h 379"/>
                <a:gd name="T8" fmla="*/ 106 w 233"/>
                <a:gd name="T9" fmla="*/ 379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3" h="379">
                  <a:moveTo>
                    <a:pt x="0" y="61"/>
                  </a:moveTo>
                  <a:cubicBezTo>
                    <a:pt x="21" y="30"/>
                    <a:pt x="42" y="0"/>
                    <a:pt x="80" y="5"/>
                  </a:cubicBezTo>
                  <a:cubicBezTo>
                    <a:pt x="118" y="10"/>
                    <a:pt x="223" y="54"/>
                    <a:pt x="228" y="91"/>
                  </a:cubicBezTo>
                  <a:cubicBezTo>
                    <a:pt x="233" y="128"/>
                    <a:pt x="132" y="181"/>
                    <a:pt x="112" y="229"/>
                  </a:cubicBezTo>
                  <a:cubicBezTo>
                    <a:pt x="92" y="277"/>
                    <a:pt x="99" y="328"/>
                    <a:pt x="106" y="379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612" name="Freeform 452"/>
            <p:cNvSpPr>
              <a:spLocks/>
            </p:cNvSpPr>
            <p:nvPr/>
          </p:nvSpPr>
          <p:spPr bwMode="auto">
            <a:xfrm>
              <a:off x="1240" y="1431"/>
              <a:ext cx="685" cy="211"/>
            </a:xfrm>
            <a:custGeom>
              <a:avLst/>
              <a:gdLst>
                <a:gd name="T0" fmla="*/ 0 w 685"/>
                <a:gd name="T1" fmla="*/ 45 h 211"/>
                <a:gd name="T2" fmla="*/ 141 w 685"/>
                <a:gd name="T3" fmla="*/ 12 h 211"/>
                <a:gd name="T4" fmla="*/ 343 w 685"/>
                <a:gd name="T5" fmla="*/ 120 h 211"/>
                <a:gd name="T6" fmla="*/ 629 w 685"/>
                <a:gd name="T7" fmla="*/ 192 h 211"/>
                <a:gd name="T8" fmla="*/ 681 w 685"/>
                <a:gd name="T9" fmla="*/ 6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5" h="211">
                  <a:moveTo>
                    <a:pt x="0" y="45"/>
                  </a:moveTo>
                  <a:cubicBezTo>
                    <a:pt x="24" y="39"/>
                    <a:pt x="84" y="0"/>
                    <a:pt x="141" y="12"/>
                  </a:cubicBezTo>
                  <a:cubicBezTo>
                    <a:pt x="198" y="24"/>
                    <a:pt x="262" y="90"/>
                    <a:pt x="343" y="120"/>
                  </a:cubicBezTo>
                  <a:cubicBezTo>
                    <a:pt x="424" y="150"/>
                    <a:pt x="573" y="211"/>
                    <a:pt x="629" y="192"/>
                  </a:cubicBezTo>
                  <a:cubicBezTo>
                    <a:pt x="685" y="173"/>
                    <a:pt x="683" y="89"/>
                    <a:pt x="681" y="6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169" name="Rectangle 9"/>
            <p:cNvSpPr>
              <a:spLocks noChangeArrowheads="1"/>
            </p:cNvSpPr>
            <p:nvPr/>
          </p:nvSpPr>
          <p:spPr bwMode="auto">
            <a:xfrm>
              <a:off x="1853" y="1286"/>
              <a:ext cx="636" cy="168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20170" name="Rectangle 10"/>
            <p:cNvSpPr>
              <a:spLocks noChangeArrowheads="1"/>
            </p:cNvSpPr>
            <p:nvPr/>
          </p:nvSpPr>
          <p:spPr bwMode="auto">
            <a:xfrm>
              <a:off x="1993" y="1084"/>
              <a:ext cx="36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ru-RU" altLang="ru-RU"/>
                <a:t>хаб </a:t>
              </a:r>
            </a:p>
          </p:txBody>
        </p:sp>
        <p:pic>
          <p:nvPicPr>
            <p:cNvPr id="220172" name="Picture 12" descr="Компьютер-5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0" y="728"/>
              <a:ext cx="359" cy="4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0173" name="Picture 13" descr="Компьютер-5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7" y="723"/>
              <a:ext cx="359" cy="4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0602" name="Picture 442" descr="Компьютер-5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8" y="1178"/>
              <a:ext cx="359" cy="4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0613" name="Freeform 453"/>
            <p:cNvSpPr>
              <a:spLocks/>
            </p:cNvSpPr>
            <p:nvPr/>
          </p:nvSpPr>
          <p:spPr bwMode="auto">
            <a:xfrm>
              <a:off x="1289" y="980"/>
              <a:ext cx="641" cy="325"/>
            </a:xfrm>
            <a:custGeom>
              <a:avLst/>
              <a:gdLst>
                <a:gd name="T0" fmla="*/ 0 w 641"/>
                <a:gd name="T1" fmla="*/ 17 h 325"/>
                <a:gd name="T2" fmla="*/ 154 w 641"/>
                <a:gd name="T3" fmla="*/ 43 h 325"/>
                <a:gd name="T4" fmla="*/ 200 w 641"/>
                <a:gd name="T5" fmla="*/ 275 h 325"/>
                <a:gd name="T6" fmla="*/ 478 w 641"/>
                <a:gd name="T7" fmla="*/ 237 h 325"/>
                <a:gd name="T8" fmla="*/ 614 w 641"/>
                <a:gd name="T9" fmla="*/ 235 h 325"/>
                <a:gd name="T10" fmla="*/ 638 w 641"/>
                <a:gd name="T11" fmla="*/ 325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1" h="325">
                  <a:moveTo>
                    <a:pt x="0" y="17"/>
                  </a:moveTo>
                  <a:cubicBezTo>
                    <a:pt x="60" y="8"/>
                    <a:pt x="121" y="0"/>
                    <a:pt x="154" y="43"/>
                  </a:cubicBezTo>
                  <a:cubicBezTo>
                    <a:pt x="187" y="86"/>
                    <a:pt x="146" y="243"/>
                    <a:pt x="200" y="275"/>
                  </a:cubicBezTo>
                  <a:cubicBezTo>
                    <a:pt x="254" y="307"/>
                    <a:pt x="409" y="244"/>
                    <a:pt x="478" y="237"/>
                  </a:cubicBezTo>
                  <a:cubicBezTo>
                    <a:pt x="547" y="230"/>
                    <a:pt x="587" y="220"/>
                    <a:pt x="614" y="235"/>
                  </a:cubicBezTo>
                  <a:cubicBezTo>
                    <a:pt x="641" y="250"/>
                    <a:pt x="639" y="287"/>
                    <a:pt x="638" y="325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pic>
          <p:nvPicPr>
            <p:cNvPr id="220847" name="Picture 687" descr="Компьютер-5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44" y="1467"/>
              <a:ext cx="359" cy="4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20849" name="Rectangle 689"/>
          <p:cNvSpPr>
            <a:spLocks noChangeArrowheads="1"/>
          </p:cNvSpPr>
          <p:nvPr/>
        </p:nvSpPr>
        <p:spPr bwMode="auto">
          <a:xfrm>
            <a:off x="6700838" y="4743450"/>
            <a:ext cx="14539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ru-RU"/>
              <a:t>ADSL-</a:t>
            </a:r>
            <a:r>
              <a:rPr lang="ru-RU" altLang="ru-RU"/>
              <a:t>модем </a:t>
            </a:r>
          </a:p>
        </p:txBody>
      </p:sp>
      <p:sp>
        <p:nvSpPr>
          <p:cNvPr id="220862" name="Freeform 702"/>
          <p:cNvSpPr>
            <a:spLocks/>
          </p:cNvSpPr>
          <p:nvPr/>
        </p:nvSpPr>
        <p:spPr bwMode="auto">
          <a:xfrm>
            <a:off x="5845175" y="2841626"/>
            <a:ext cx="1498600" cy="993775"/>
          </a:xfrm>
          <a:custGeom>
            <a:avLst/>
            <a:gdLst>
              <a:gd name="T0" fmla="*/ 0 w 944"/>
              <a:gd name="T1" fmla="*/ 502 h 512"/>
              <a:gd name="T2" fmla="*/ 325 w 944"/>
              <a:gd name="T3" fmla="*/ 500 h 512"/>
              <a:gd name="T4" fmla="*/ 845 w 944"/>
              <a:gd name="T5" fmla="*/ 431 h 512"/>
              <a:gd name="T6" fmla="*/ 921 w 944"/>
              <a:gd name="T7" fmla="*/ 91 h 512"/>
              <a:gd name="T8" fmla="*/ 928 w 944"/>
              <a:gd name="T9" fmla="*/ 0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44" h="512">
                <a:moveTo>
                  <a:pt x="0" y="502"/>
                </a:moveTo>
                <a:cubicBezTo>
                  <a:pt x="54" y="502"/>
                  <a:pt x="184" y="512"/>
                  <a:pt x="325" y="500"/>
                </a:cubicBezTo>
                <a:cubicBezTo>
                  <a:pt x="466" y="488"/>
                  <a:pt x="746" y="499"/>
                  <a:pt x="845" y="431"/>
                </a:cubicBezTo>
                <a:cubicBezTo>
                  <a:pt x="944" y="363"/>
                  <a:pt x="907" y="163"/>
                  <a:pt x="921" y="91"/>
                </a:cubicBezTo>
                <a:cubicBezTo>
                  <a:pt x="935" y="19"/>
                  <a:pt x="927" y="19"/>
                  <a:pt x="928" y="0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ysDot"/>
            <a:round/>
            <a:headEnd type="none" w="med" len="med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20630" name="Rectangle 470"/>
          <p:cNvSpPr>
            <a:spLocks noChangeArrowheads="1"/>
          </p:cNvSpPr>
          <p:nvPr/>
        </p:nvSpPr>
        <p:spPr bwMode="auto">
          <a:xfrm>
            <a:off x="5522913" y="3690938"/>
            <a:ext cx="463550" cy="228600"/>
          </a:xfrm>
          <a:prstGeom prst="rect">
            <a:avLst/>
          </a:prstGeom>
          <a:solidFill>
            <a:srgbClr val="B2B2B2"/>
          </a:solidFill>
          <a:ln w="12700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grpSp>
        <p:nvGrpSpPr>
          <p:cNvPr id="220850" name="Group 690"/>
          <p:cNvGrpSpPr>
            <a:grpSpLocks/>
          </p:cNvGrpSpPr>
          <p:nvPr/>
        </p:nvGrpSpPr>
        <p:grpSpPr bwMode="auto">
          <a:xfrm>
            <a:off x="7037388" y="2430464"/>
            <a:ext cx="576262" cy="422275"/>
            <a:chOff x="2255" y="1955"/>
            <a:chExt cx="507" cy="380"/>
          </a:xfrm>
        </p:grpSpPr>
        <p:sp>
          <p:nvSpPr>
            <p:cNvPr id="220851" name="Freeform 691"/>
            <p:cNvSpPr>
              <a:spLocks/>
            </p:cNvSpPr>
            <p:nvPr/>
          </p:nvSpPr>
          <p:spPr bwMode="auto">
            <a:xfrm>
              <a:off x="2255" y="1955"/>
              <a:ext cx="507" cy="138"/>
            </a:xfrm>
            <a:custGeom>
              <a:avLst/>
              <a:gdLst>
                <a:gd name="T0" fmla="*/ 246 w 507"/>
                <a:gd name="T1" fmla="*/ 0 h 138"/>
                <a:gd name="T2" fmla="*/ 175 w 507"/>
                <a:gd name="T3" fmla="*/ 3 h 138"/>
                <a:gd name="T4" fmla="*/ 146 w 507"/>
                <a:gd name="T5" fmla="*/ 5 h 138"/>
                <a:gd name="T6" fmla="*/ 115 w 507"/>
                <a:gd name="T7" fmla="*/ 9 h 138"/>
                <a:gd name="T8" fmla="*/ 96 w 507"/>
                <a:gd name="T9" fmla="*/ 13 h 138"/>
                <a:gd name="T10" fmla="*/ 77 w 507"/>
                <a:gd name="T11" fmla="*/ 15 h 138"/>
                <a:gd name="T12" fmla="*/ 56 w 507"/>
                <a:gd name="T13" fmla="*/ 21 h 138"/>
                <a:gd name="T14" fmla="*/ 42 w 507"/>
                <a:gd name="T15" fmla="*/ 25 h 138"/>
                <a:gd name="T16" fmla="*/ 35 w 507"/>
                <a:gd name="T17" fmla="*/ 32 h 138"/>
                <a:gd name="T18" fmla="*/ 29 w 507"/>
                <a:gd name="T19" fmla="*/ 36 h 138"/>
                <a:gd name="T20" fmla="*/ 25 w 507"/>
                <a:gd name="T21" fmla="*/ 42 h 138"/>
                <a:gd name="T22" fmla="*/ 0 w 507"/>
                <a:gd name="T23" fmla="*/ 105 h 138"/>
                <a:gd name="T24" fmla="*/ 0 w 507"/>
                <a:gd name="T25" fmla="*/ 107 h 138"/>
                <a:gd name="T26" fmla="*/ 2 w 507"/>
                <a:gd name="T27" fmla="*/ 111 h 138"/>
                <a:gd name="T28" fmla="*/ 12 w 507"/>
                <a:gd name="T29" fmla="*/ 130 h 138"/>
                <a:gd name="T30" fmla="*/ 16 w 507"/>
                <a:gd name="T31" fmla="*/ 134 h 138"/>
                <a:gd name="T32" fmla="*/ 19 w 507"/>
                <a:gd name="T33" fmla="*/ 134 h 138"/>
                <a:gd name="T34" fmla="*/ 121 w 507"/>
                <a:gd name="T35" fmla="*/ 107 h 138"/>
                <a:gd name="T36" fmla="*/ 127 w 507"/>
                <a:gd name="T37" fmla="*/ 101 h 138"/>
                <a:gd name="T38" fmla="*/ 127 w 507"/>
                <a:gd name="T39" fmla="*/ 71 h 138"/>
                <a:gd name="T40" fmla="*/ 135 w 507"/>
                <a:gd name="T41" fmla="*/ 67 h 138"/>
                <a:gd name="T42" fmla="*/ 150 w 507"/>
                <a:gd name="T43" fmla="*/ 63 h 138"/>
                <a:gd name="T44" fmla="*/ 161 w 507"/>
                <a:gd name="T45" fmla="*/ 61 h 138"/>
                <a:gd name="T46" fmla="*/ 183 w 507"/>
                <a:gd name="T47" fmla="*/ 57 h 138"/>
                <a:gd name="T48" fmla="*/ 204 w 507"/>
                <a:gd name="T49" fmla="*/ 55 h 138"/>
                <a:gd name="T50" fmla="*/ 229 w 507"/>
                <a:gd name="T51" fmla="*/ 53 h 138"/>
                <a:gd name="T52" fmla="*/ 254 w 507"/>
                <a:gd name="T53" fmla="*/ 53 h 138"/>
                <a:gd name="T54" fmla="*/ 277 w 507"/>
                <a:gd name="T55" fmla="*/ 55 h 138"/>
                <a:gd name="T56" fmla="*/ 302 w 507"/>
                <a:gd name="T57" fmla="*/ 57 h 138"/>
                <a:gd name="T58" fmla="*/ 325 w 507"/>
                <a:gd name="T59" fmla="*/ 59 h 138"/>
                <a:gd name="T60" fmla="*/ 350 w 507"/>
                <a:gd name="T61" fmla="*/ 63 h 138"/>
                <a:gd name="T62" fmla="*/ 363 w 507"/>
                <a:gd name="T63" fmla="*/ 67 h 138"/>
                <a:gd name="T64" fmla="*/ 373 w 507"/>
                <a:gd name="T65" fmla="*/ 71 h 138"/>
                <a:gd name="T66" fmla="*/ 380 w 507"/>
                <a:gd name="T67" fmla="*/ 73 h 138"/>
                <a:gd name="T68" fmla="*/ 382 w 507"/>
                <a:gd name="T69" fmla="*/ 103 h 138"/>
                <a:gd name="T70" fmla="*/ 382 w 507"/>
                <a:gd name="T71" fmla="*/ 107 h 138"/>
                <a:gd name="T72" fmla="*/ 386 w 507"/>
                <a:gd name="T73" fmla="*/ 107 h 138"/>
                <a:gd name="T74" fmla="*/ 488 w 507"/>
                <a:gd name="T75" fmla="*/ 138 h 138"/>
                <a:gd name="T76" fmla="*/ 490 w 507"/>
                <a:gd name="T77" fmla="*/ 136 h 138"/>
                <a:gd name="T78" fmla="*/ 494 w 507"/>
                <a:gd name="T79" fmla="*/ 134 h 138"/>
                <a:gd name="T80" fmla="*/ 497 w 507"/>
                <a:gd name="T81" fmla="*/ 126 h 138"/>
                <a:gd name="T82" fmla="*/ 507 w 507"/>
                <a:gd name="T83" fmla="*/ 107 h 138"/>
                <a:gd name="T84" fmla="*/ 494 w 507"/>
                <a:gd name="T85" fmla="*/ 73 h 138"/>
                <a:gd name="T86" fmla="*/ 476 w 507"/>
                <a:gd name="T87" fmla="*/ 38 h 138"/>
                <a:gd name="T88" fmla="*/ 472 w 507"/>
                <a:gd name="T89" fmla="*/ 32 h 138"/>
                <a:gd name="T90" fmla="*/ 467 w 507"/>
                <a:gd name="T91" fmla="*/ 28 h 138"/>
                <a:gd name="T92" fmla="*/ 457 w 507"/>
                <a:gd name="T93" fmla="*/ 23 h 138"/>
                <a:gd name="T94" fmla="*/ 446 w 507"/>
                <a:gd name="T95" fmla="*/ 21 h 138"/>
                <a:gd name="T96" fmla="*/ 428 w 507"/>
                <a:gd name="T97" fmla="*/ 17 h 138"/>
                <a:gd name="T98" fmla="*/ 411 w 507"/>
                <a:gd name="T99" fmla="*/ 13 h 138"/>
                <a:gd name="T100" fmla="*/ 378 w 507"/>
                <a:gd name="T101" fmla="*/ 9 h 138"/>
                <a:gd name="T102" fmla="*/ 344 w 507"/>
                <a:gd name="T103" fmla="*/ 5 h 138"/>
                <a:gd name="T104" fmla="*/ 311 w 507"/>
                <a:gd name="T105" fmla="*/ 3 h 138"/>
                <a:gd name="T106" fmla="*/ 279 w 507"/>
                <a:gd name="T107" fmla="*/ 2 h 138"/>
                <a:gd name="T108" fmla="*/ 246 w 507"/>
                <a:gd name="T109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07" h="138">
                  <a:moveTo>
                    <a:pt x="246" y="0"/>
                  </a:moveTo>
                  <a:lnTo>
                    <a:pt x="175" y="3"/>
                  </a:lnTo>
                  <a:lnTo>
                    <a:pt x="146" y="5"/>
                  </a:lnTo>
                  <a:lnTo>
                    <a:pt x="115" y="9"/>
                  </a:lnTo>
                  <a:lnTo>
                    <a:pt x="96" y="13"/>
                  </a:lnTo>
                  <a:lnTo>
                    <a:pt x="77" y="15"/>
                  </a:lnTo>
                  <a:lnTo>
                    <a:pt x="56" y="21"/>
                  </a:lnTo>
                  <a:lnTo>
                    <a:pt x="42" y="25"/>
                  </a:lnTo>
                  <a:lnTo>
                    <a:pt x="35" y="32"/>
                  </a:lnTo>
                  <a:lnTo>
                    <a:pt x="29" y="36"/>
                  </a:lnTo>
                  <a:lnTo>
                    <a:pt x="25" y="42"/>
                  </a:lnTo>
                  <a:lnTo>
                    <a:pt x="0" y="105"/>
                  </a:lnTo>
                  <a:lnTo>
                    <a:pt x="0" y="107"/>
                  </a:lnTo>
                  <a:lnTo>
                    <a:pt x="2" y="111"/>
                  </a:lnTo>
                  <a:lnTo>
                    <a:pt x="12" y="130"/>
                  </a:lnTo>
                  <a:lnTo>
                    <a:pt x="16" y="134"/>
                  </a:lnTo>
                  <a:lnTo>
                    <a:pt x="19" y="134"/>
                  </a:lnTo>
                  <a:lnTo>
                    <a:pt x="121" y="107"/>
                  </a:lnTo>
                  <a:lnTo>
                    <a:pt x="127" y="101"/>
                  </a:lnTo>
                  <a:lnTo>
                    <a:pt x="127" y="71"/>
                  </a:lnTo>
                  <a:lnTo>
                    <a:pt x="135" y="67"/>
                  </a:lnTo>
                  <a:lnTo>
                    <a:pt x="150" y="63"/>
                  </a:lnTo>
                  <a:lnTo>
                    <a:pt x="161" y="61"/>
                  </a:lnTo>
                  <a:lnTo>
                    <a:pt x="183" y="57"/>
                  </a:lnTo>
                  <a:lnTo>
                    <a:pt x="204" y="55"/>
                  </a:lnTo>
                  <a:lnTo>
                    <a:pt x="229" y="53"/>
                  </a:lnTo>
                  <a:lnTo>
                    <a:pt x="254" y="53"/>
                  </a:lnTo>
                  <a:lnTo>
                    <a:pt x="277" y="55"/>
                  </a:lnTo>
                  <a:lnTo>
                    <a:pt x="302" y="57"/>
                  </a:lnTo>
                  <a:lnTo>
                    <a:pt x="325" y="59"/>
                  </a:lnTo>
                  <a:lnTo>
                    <a:pt x="350" y="63"/>
                  </a:lnTo>
                  <a:lnTo>
                    <a:pt x="363" y="67"/>
                  </a:lnTo>
                  <a:lnTo>
                    <a:pt x="373" y="71"/>
                  </a:lnTo>
                  <a:lnTo>
                    <a:pt x="380" y="73"/>
                  </a:lnTo>
                  <a:lnTo>
                    <a:pt x="382" y="103"/>
                  </a:lnTo>
                  <a:lnTo>
                    <a:pt x="382" y="107"/>
                  </a:lnTo>
                  <a:lnTo>
                    <a:pt x="386" y="107"/>
                  </a:lnTo>
                  <a:lnTo>
                    <a:pt x="488" y="138"/>
                  </a:lnTo>
                  <a:lnTo>
                    <a:pt x="490" y="136"/>
                  </a:lnTo>
                  <a:lnTo>
                    <a:pt x="494" y="134"/>
                  </a:lnTo>
                  <a:lnTo>
                    <a:pt x="497" y="126"/>
                  </a:lnTo>
                  <a:lnTo>
                    <a:pt x="507" y="107"/>
                  </a:lnTo>
                  <a:lnTo>
                    <a:pt x="494" y="73"/>
                  </a:lnTo>
                  <a:lnTo>
                    <a:pt x="476" y="38"/>
                  </a:lnTo>
                  <a:lnTo>
                    <a:pt x="472" y="32"/>
                  </a:lnTo>
                  <a:lnTo>
                    <a:pt x="467" y="28"/>
                  </a:lnTo>
                  <a:lnTo>
                    <a:pt x="457" y="23"/>
                  </a:lnTo>
                  <a:lnTo>
                    <a:pt x="446" y="21"/>
                  </a:lnTo>
                  <a:lnTo>
                    <a:pt x="428" y="17"/>
                  </a:lnTo>
                  <a:lnTo>
                    <a:pt x="411" y="13"/>
                  </a:lnTo>
                  <a:lnTo>
                    <a:pt x="378" y="9"/>
                  </a:lnTo>
                  <a:lnTo>
                    <a:pt x="344" y="5"/>
                  </a:lnTo>
                  <a:lnTo>
                    <a:pt x="311" y="3"/>
                  </a:lnTo>
                  <a:lnTo>
                    <a:pt x="279" y="2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B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852" name="Rectangle 692"/>
            <p:cNvSpPr>
              <a:spLocks noChangeArrowheads="1"/>
            </p:cNvSpPr>
            <p:nvPr/>
          </p:nvSpPr>
          <p:spPr bwMode="auto">
            <a:xfrm>
              <a:off x="2445" y="2118"/>
              <a:ext cx="33" cy="21"/>
            </a:xfrm>
            <a:prstGeom prst="rect">
              <a:avLst/>
            </a:prstGeom>
            <a:solidFill>
              <a:srgbClr val="B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853" name="Rectangle 693"/>
            <p:cNvSpPr>
              <a:spLocks noChangeArrowheads="1"/>
            </p:cNvSpPr>
            <p:nvPr/>
          </p:nvSpPr>
          <p:spPr bwMode="auto">
            <a:xfrm>
              <a:off x="2493" y="2118"/>
              <a:ext cx="33" cy="21"/>
            </a:xfrm>
            <a:prstGeom prst="rect">
              <a:avLst/>
            </a:prstGeom>
            <a:solidFill>
              <a:srgbClr val="B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854" name="Rectangle 694"/>
            <p:cNvSpPr>
              <a:spLocks noChangeArrowheads="1"/>
            </p:cNvSpPr>
            <p:nvPr/>
          </p:nvSpPr>
          <p:spPr bwMode="auto">
            <a:xfrm>
              <a:off x="2541" y="2118"/>
              <a:ext cx="33" cy="21"/>
            </a:xfrm>
            <a:prstGeom prst="rect">
              <a:avLst/>
            </a:prstGeom>
            <a:solidFill>
              <a:srgbClr val="B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855" name="Rectangle 695"/>
            <p:cNvSpPr>
              <a:spLocks noChangeArrowheads="1"/>
            </p:cNvSpPr>
            <p:nvPr/>
          </p:nvSpPr>
          <p:spPr bwMode="auto">
            <a:xfrm>
              <a:off x="2445" y="2156"/>
              <a:ext cx="33" cy="19"/>
            </a:xfrm>
            <a:prstGeom prst="rect">
              <a:avLst/>
            </a:prstGeom>
            <a:solidFill>
              <a:srgbClr val="B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856" name="Rectangle 696"/>
            <p:cNvSpPr>
              <a:spLocks noChangeArrowheads="1"/>
            </p:cNvSpPr>
            <p:nvPr/>
          </p:nvSpPr>
          <p:spPr bwMode="auto">
            <a:xfrm>
              <a:off x="2493" y="2156"/>
              <a:ext cx="33" cy="19"/>
            </a:xfrm>
            <a:prstGeom prst="rect">
              <a:avLst/>
            </a:prstGeom>
            <a:solidFill>
              <a:srgbClr val="B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857" name="Rectangle 697"/>
            <p:cNvSpPr>
              <a:spLocks noChangeArrowheads="1"/>
            </p:cNvSpPr>
            <p:nvPr/>
          </p:nvSpPr>
          <p:spPr bwMode="auto">
            <a:xfrm>
              <a:off x="2541" y="2156"/>
              <a:ext cx="33" cy="19"/>
            </a:xfrm>
            <a:prstGeom prst="rect">
              <a:avLst/>
            </a:prstGeom>
            <a:solidFill>
              <a:srgbClr val="B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858" name="Rectangle 698"/>
            <p:cNvSpPr>
              <a:spLocks noChangeArrowheads="1"/>
            </p:cNvSpPr>
            <p:nvPr/>
          </p:nvSpPr>
          <p:spPr bwMode="auto">
            <a:xfrm>
              <a:off x="2445" y="2191"/>
              <a:ext cx="33" cy="23"/>
            </a:xfrm>
            <a:prstGeom prst="rect">
              <a:avLst/>
            </a:prstGeom>
            <a:solidFill>
              <a:srgbClr val="B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859" name="Rectangle 699"/>
            <p:cNvSpPr>
              <a:spLocks noChangeArrowheads="1"/>
            </p:cNvSpPr>
            <p:nvPr/>
          </p:nvSpPr>
          <p:spPr bwMode="auto">
            <a:xfrm>
              <a:off x="2493" y="2191"/>
              <a:ext cx="33" cy="23"/>
            </a:xfrm>
            <a:prstGeom prst="rect">
              <a:avLst/>
            </a:prstGeom>
            <a:solidFill>
              <a:srgbClr val="B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860" name="Rectangle 700"/>
            <p:cNvSpPr>
              <a:spLocks noChangeArrowheads="1"/>
            </p:cNvSpPr>
            <p:nvPr/>
          </p:nvSpPr>
          <p:spPr bwMode="auto">
            <a:xfrm>
              <a:off x="2541" y="2191"/>
              <a:ext cx="33" cy="23"/>
            </a:xfrm>
            <a:prstGeom prst="rect">
              <a:avLst/>
            </a:prstGeom>
            <a:solidFill>
              <a:srgbClr val="B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0861" name="Freeform 701"/>
            <p:cNvSpPr>
              <a:spLocks/>
            </p:cNvSpPr>
            <p:nvPr/>
          </p:nvSpPr>
          <p:spPr bwMode="auto">
            <a:xfrm>
              <a:off x="2319" y="2035"/>
              <a:ext cx="380" cy="300"/>
            </a:xfrm>
            <a:custGeom>
              <a:avLst/>
              <a:gdLst>
                <a:gd name="T0" fmla="*/ 32 w 380"/>
                <a:gd name="T1" fmla="*/ 192 h 300"/>
                <a:gd name="T2" fmla="*/ 28 w 380"/>
                <a:gd name="T3" fmla="*/ 190 h 300"/>
                <a:gd name="T4" fmla="*/ 25 w 380"/>
                <a:gd name="T5" fmla="*/ 188 h 300"/>
                <a:gd name="T6" fmla="*/ 25 w 380"/>
                <a:gd name="T7" fmla="*/ 181 h 300"/>
                <a:gd name="T8" fmla="*/ 53 w 380"/>
                <a:gd name="T9" fmla="*/ 75 h 300"/>
                <a:gd name="T10" fmla="*/ 53 w 380"/>
                <a:gd name="T11" fmla="*/ 73 h 300"/>
                <a:gd name="T12" fmla="*/ 57 w 380"/>
                <a:gd name="T13" fmla="*/ 69 h 300"/>
                <a:gd name="T14" fmla="*/ 318 w 380"/>
                <a:gd name="T15" fmla="*/ 69 h 300"/>
                <a:gd name="T16" fmla="*/ 322 w 380"/>
                <a:gd name="T17" fmla="*/ 71 h 300"/>
                <a:gd name="T18" fmla="*/ 324 w 380"/>
                <a:gd name="T19" fmla="*/ 73 h 300"/>
                <a:gd name="T20" fmla="*/ 324 w 380"/>
                <a:gd name="T21" fmla="*/ 75 h 300"/>
                <a:gd name="T22" fmla="*/ 334 w 380"/>
                <a:gd name="T23" fmla="*/ 108 h 300"/>
                <a:gd name="T24" fmla="*/ 353 w 380"/>
                <a:gd name="T25" fmla="*/ 184 h 300"/>
                <a:gd name="T26" fmla="*/ 353 w 380"/>
                <a:gd name="T27" fmla="*/ 188 h 300"/>
                <a:gd name="T28" fmla="*/ 351 w 380"/>
                <a:gd name="T29" fmla="*/ 190 h 300"/>
                <a:gd name="T30" fmla="*/ 347 w 380"/>
                <a:gd name="T31" fmla="*/ 192 h 300"/>
                <a:gd name="T32" fmla="*/ 32 w 380"/>
                <a:gd name="T33" fmla="*/ 192 h 300"/>
                <a:gd name="T34" fmla="*/ 23 w 380"/>
                <a:gd name="T35" fmla="*/ 286 h 300"/>
                <a:gd name="T36" fmla="*/ 23 w 380"/>
                <a:gd name="T37" fmla="*/ 300 h 300"/>
                <a:gd name="T38" fmla="*/ 69 w 380"/>
                <a:gd name="T39" fmla="*/ 300 h 300"/>
                <a:gd name="T40" fmla="*/ 69 w 380"/>
                <a:gd name="T41" fmla="*/ 286 h 300"/>
                <a:gd name="T42" fmla="*/ 309 w 380"/>
                <a:gd name="T43" fmla="*/ 286 h 300"/>
                <a:gd name="T44" fmla="*/ 309 w 380"/>
                <a:gd name="T45" fmla="*/ 300 h 300"/>
                <a:gd name="T46" fmla="*/ 355 w 380"/>
                <a:gd name="T47" fmla="*/ 300 h 300"/>
                <a:gd name="T48" fmla="*/ 355 w 380"/>
                <a:gd name="T49" fmla="*/ 286 h 300"/>
                <a:gd name="T50" fmla="*/ 380 w 380"/>
                <a:gd name="T51" fmla="*/ 286 h 300"/>
                <a:gd name="T52" fmla="*/ 380 w 380"/>
                <a:gd name="T53" fmla="*/ 190 h 300"/>
                <a:gd name="T54" fmla="*/ 345 w 380"/>
                <a:gd name="T55" fmla="*/ 62 h 300"/>
                <a:gd name="T56" fmla="*/ 343 w 380"/>
                <a:gd name="T57" fmla="*/ 56 h 300"/>
                <a:gd name="T58" fmla="*/ 339 w 380"/>
                <a:gd name="T59" fmla="*/ 50 h 300"/>
                <a:gd name="T60" fmla="*/ 335 w 380"/>
                <a:gd name="T61" fmla="*/ 48 h 300"/>
                <a:gd name="T62" fmla="*/ 332 w 380"/>
                <a:gd name="T63" fmla="*/ 46 h 300"/>
                <a:gd name="T64" fmla="*/ 324 w 380"/>
                <a:gd name="T65" fmla="*/ 44 h 300"/>
                <a:gd name="T66" fmla="*/ 293 w 380"/>
                <a:gd name="T67" fmla="*/ 44 h 300"/>
                <a:gd name="T68" fmla="*/ 293 w 380"/>
                <a:gd name="T69" fmla="*/ 0 h 300"/>
                <a:gd name="T70" fmla="*/ 255 w 380"/>
                <a:gd name="T71" fmla="*/ 0 h 300"/>
                <a:gd name="T72" fmla="*/ 255 w 380"/>
                <a:gd name="T73" fmla="*/ 44 h 300"/>
                <a:gd name="T74" fmla="*/ 126 w 380"/>
                <a:gd name="T75" fmla="*/ 44 h 300"/>
                <a:gd name="T76" fmla="*/ 126 w 380"/>
                <a:gd name="T77" fmla="*/ 0 h 300"/>
                <a:gd name="T78" fmla="*/ 84 w 380"/>
                <a:gd name="T79" fmla="*/ 0 h 300"/>
                <a:gd name="T80" fmla="*/ 84 w 380"/>
                <a:gd name="T81" fmla="*/ 44 h 300"/>
                <a:gd name="T82" fmla="*/ 51 w 380"/>
                <a:gd name="T83" fmla="*/ 44 h 300"/>
                <a:gd name="T84" fmla="*/ 44 w 380"/>
                <a:gd name="T85" fmla="*/ 46 h 300"/>
                <a:gd name="T86" fmla="*/ 34 w 380"/>
                <a:gd name="T87" fmla="*/ 56 h 300"/>
                <a:gd name="T88" fmla="*/ 32 w 380"/>
                <a:gd name="T89" fmla="*/ 60 h 300"/>
                <a:gd name="T90" fmla="*/ 0 w 380"/>
                <a:gd name="T91" fmla="*/ 194 h 300"/>
                <a:gd name="T92" fmla="*/ 0 w 380"/>
                <a:gd name="T93" fmla="*/ 286 h 300"/>
                <a:gd name="T94" fmla="*/ 23 w 380"/>
                <a:gd name="T95" fmla="*/ 286 h 300"/>
                <a:gd name="T96" fmla="*/ 32 w 380"/>
                <a:gd name="T97" fmla="*/ 192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0" h="300">
                  <a:moveTo>
                    <a:pt x="32" y="192"/>
                  </a:moveTo>
                  <a:lnTo>
                    <a:pt x="28" y="190"/>
                  </a:lnTo>
                  <a:lnTo>
                    <a:pt x="25" y="188"/>
                  </a:lnTo>
                  <a:lnTo>
                    <a:pt x="25" y="181"/>
                  </a:lnTo>
                  <a:lnTo>
                    <a:pt x="53" y="75"/>
                  </a:lnTo>
                  <a:lnTo>
                    <a:pt x="53" y="73"/>
                  </a:lnTo>
                  <a:lnTo>
                    <a:pt x="57" y="69"/>
                  </a:lnTo>
                  <a:lnTo>
                    <a:pt x="318" y="69"/>
                  </a:lnTo>
                  <a:lnTo>
                    <a:pt x="322" y="71"/>
                  </a:lnTo>
                  <a:lnTo>
                    <a:pt x="324" y="73"/>
                  </a:lnTo>
                  <a:lnTo>
                    <a:pt x="324" y="75"/>
                  </a:lnTo>
                  <a:lnTo>
                    <a:pt x="334" y="108"/>
                  </a:lnTo>
                  <a:lnTo>
                    <a:pt x="353" y="184"/>
                  </a:lnTo>
                  <a:lnTo>
                    <a:pt x="353" y="188"/>
                  </a:lnTo>
                  <a:lnTo>
                    <a:pt x="351" y="190"/>
                  </a:lnTo>
                  <a:lnTo>
                    <a:pt x="347" y="192"/>
                  </a:lnTo>
                  <a:lnTo>
                    <a:pt x="32" y="192"/>
                  </a:lnTo>
                  <a:lnTo>
                    <a:pt x="23" y="286"/>
                  </a:lnTo>
                  <a:lnTo>
                    <a:pt x="23" y="300"/>
                  </a:lnTo>
                  <a:lnTo>
                    <a:pt x="69" y="300"/>
                  </a:lnTo>
                  <a:lnTo>
                    <a:pt x="69" y="286"/>
                  </a:lnTo>
                  <a:lnTo>
                    <a:pt x="309" y="286"/>
                  </a:lnTo>
                  <a:lnTo>
                    <a:pt x="309" y="300"/>
                  </a:lnTo>
                  <a:lnTo>
                    <a:pt x="355" y="300"/>
                  </a:lnTo>
                  <a:lnTo>
                    <a:pt x="355" y="286"/>
                  </a:lnTo>
                  <a:lnTo>
                    <a:pt x="380" y="286"/>
                  </a:lnTo>
                  <a:lnTo>
                    <a:pt x="380" y="190"/>
                  </a:lnTo>
                  <a:lnTo>
                    <a:pt x="345" y="62"/>
                  </a:lnTo>
                  <a:lnTo>
                    <a:pt x="343" y="56"/>
                  </a:lnTo>
                  <a:lnTo>
                    <a:pt x="339" y="50"/>
                  </a:lnTo>
                  <a:lnTo>
                    <a:pt x="335" y="48"/>
                  </a:lnTo>
                  <a:lnTo>
                    <a:pt x="332" y="46"/>
                  </a:lnTo>
                  <a:lnTo>
                    <a:pt x="324" y="44"/>
                  </a:lnTo>
                  <a:lnTo>
                    <a:pt x="293" y="44"/>
                  </a:lnTo>
                  <a:lnTo>
                    <a:pt x="293" y="0"/>
                  </a:lnTo>
                  <a:lnTo>
                    <a:pt x="255" y="0"/>
                  </a:lnTo>
                  <a:lnTo>
                    <a:pt x="255" y="44"/>
                  </a:lnTo>
                  <a:lnTo>
                    <a:pt x="126" y="44"/>
                  </a:lnTo>
                  <a:lnTo>
                    <a:pt x="126" y="0"/>
                  </a:lnTo>
                  <a:lnTo>
                    <a:pt x="84" y="0"/>
                  </a:lnTo>
                  <a:lnTo>
                    <a:pt x="84" y="44"/>
                  </a:lnTo>
                  <a:lnTo>
                    <a:pt x="51" y="44"/>
                  </a:lnTo>
                  <a:lnTo>
                    <a:pt x="44" y="46"/>
                  </a:lnTo>
                  <a:lnTo>
                    <a:pt x="34" y="56"/>
                  </a:lnTo>
                  <a:lnTo>
                    <a:pt x="32" y="60"/>
                  </a:lnTo>
                  <a:lnTo>
                    <a:pt x="0" y="194"/>
                  </a:lnTo>
                  <a:lnTo>
                    <a:pt x="0" y="286"/>
                  </a:lnTo>
                  <a:lnTo>
                    <a:pt x="23" y="286"/>
                  </a:lnTo>
                  <a:lnTo>
                    <a:pt x="32" y="192"/>
                  </a:lnTo>
                  <a:close/>
                </a:path>
              </a:pathLst>
            </a:custGeom>
            <a:solidFill>
              <a:srgbClr val="B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220867" name="Group 707"/>
          <p:cNvGrpSpPr>
            <a:grpSpLocks/>
          </p:cNvGrpSpPr>
          <p:nvPr/>
        </p:nvGrpSpPr>
        <p:grpSpPr bwMode="auto">
          <a:xfrm>
            <a:off x="1698625" y="866776"/>
            <a:ext cx="5157788" cy="2130425"/>
            <a:chOff x="110" y="546"/>
            <a:chExt cx="3249" cy="1342"/>
          </a:xfrm>
        </p:grpSpPr>
        <p:sp>
          <p:nvSpPr>
            <p:cNvPr id="220863" name="Rectangle 703"/>
            <p:cNvSpPr>
              <a:spLocks noChangeArrowheads="1"/>
            </p:cNvSpPr>
            <p:nvPr/>
          </p:nvSpPr>
          <p:spPr bwMode="auto">
            <a:xfrm>
              <a:off x="389" y="569"/>
              <a:ext cx="2970" cy="1319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20864" name="Rectangle 704"/>
            <p:cNvSpPr>
              <a:spLocks noChangeArrowheads="1"/>
            </p:cNvSpPr>
            <p:nvPr/>
          </p:nvSpPr>
          <p:spPr bwMode="auto">
            <a:xfrm>
              <a:off x="110" y="546"/>
              <a:ext cx="826" cy="233"/>
            </a:xfrm>
            <a:prstGeom prst="rect">
              <a:avLst/>
            </a:prstGeom>
            <a:solidFill>
              <a:srgbClr val="FFFFC1"/>
            </a:solidFill>
            <a:ln>
              <a:noFill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ru-RU" altLang="ru-RU">
                  <a:solidFill>
                    <a:schemeClr val="accent2"/>
                  </a:solidFill>
                </a:rPr>
                <a:t>провайдер</a:t>
              </a:r>
              <a:r>
                <a:rPr lang="ru-RU" altLang="ru-RU"/>
                <a:t> </a:t>
              </a:r>
            </a:p>
          </p:txBody>
        </p:sp>
      </p:grpSp>
      <p:sp>
        <p:nvSpPr>
          <p:cNvPr id="220871" name="Freeform 711"/>
          <p:cNvSpPr>
            <a:spLocks/>
          </p:cNvSpPr>
          <p:nvPr/>
        </p:nvSpPr>
        <p:spPr bwMode="auto">
          <a:xfrm>
            <a:off x="2543176" y="4205289"/>
            <a:ext cx="993775" cy="661987"/>
          </a:xfrm>
          <a:custGeom>
            <a:avLst/>
            <a:gdLst>
              <a:gd name="T0" fmla="*/ 0 w 626"/>
              <a:gd name="T1" fmla="*/ 399 h 417"/>
              <a:gd name="T2" fmla="*/ 300 w 626"/>
              <a:gd name="T3" fmla="*/ 375 h 417"/>
              <a:gd name="T4" fmla="*/ 360 w 626"/>
              <a:gd name="T5" fmla="*/ 144 h 417"/>
              <a:gd name="T6" fmla="*/ 585 w 626"/>
              <a:gd name="T7" fmla="*/ 99 h 417"/>
              <a:gd name="T8" fmla="*/ 609 w 626"/>
              <a:gd name="T9" fmla="*/ 0 h 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6" h="417">
                <a:moveTo>
                  <a:pt x="0" y="399"/>
                </a:moveTo>
                <a:cubicBezTo>
                  <a:pt x="50" y="395"/>
                  <a:pt x="240" y="417"/>
                  <a:pt x="300" y="375"/>
                </a:cubicBezTo>
                <a:cubicBezTo>
                  <a:pt x="360" y="333"/>
                  <a:pt x="313" y="190"/>
                  <a:pt x="360" y="144"/>
                </a:cubicBezTo>
                <a:cubicBezTo>
                  <a:pt x="407" y="98"/>
                  <a:pt x="544" y="123"/>
                  <a:pt x="585" y="99"/>
                </a:cubicBezTo>
                <a:cubicBezTo>
                  <a:pt x="626" y="75"/>
                  <a:pt x="604" y="21"/>
                  <a:pt x="609" y="0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20875" name="AutoShape 715"/>
          <p:cNvSpPr>
            <a:spLocks noChangeArrowheads="1"/>
          </p:cNvSpPr>
          <p:nvPr/>
        </p:nvSpPr>
        <p:spPr bwMode="auto">
          <a:xfrm>
            <a:off x="1854201" y="5013326"/>
            <a:ext cx="1146175" cy="384175"/>
          </a:xfrm>
          <a:prstGeom prst="wedgeRoundRectCallout">
            <a:avLst>
              <a:gd name="adj1" fmla="val 109005"/>
              <a:gd name="adj2" fmla="val 23556"/>
              <a:gd name="adj3" fmla="val 16667"/>
            </a:avLst>
          </a:prstGeom>
          <a:solidFill>
            <a:srgbClr val="FFFFC1"/>
          </a:solidFill>
          <a:ln>
            <a:noFill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/>
          <a:lstStyle/>
          <a:p>
            <a:pPr algn="ctr"/>
            <a:r>
              <a:rPr lang="en-US" altLang="ru-RU"/>
              <a:t>dial-up</a:t>
            </a:r>
            <a:endParaRPr lang="ru-RU" altLang="ru-RU"/>
          </a:p>
        </p:txBody>
      </p:sp>
      <p:sp>
        <p:nvSpPr>
          <p:cNvPr id="220876" name="AutoShape 716"/>
          <p:cNvSpPr>
            <a:spLocks noChangeArrowheads="1"/>
          </p:cNvSpPr>
          <p:nvPr/>
        </p:nvSpPr>
        <p:spPr bwMode="auto">
          <a:xfrm>
            <a:off x="7088189" y="6192839"/>
            <a:ext cx="1146175" cy="384175"/>
          </a:xfrm>
          <a:prstGeom prst="wedgeRoundRectCallout">
            <a:avLst>
              <a:gd name="adj1" fmla="val -55264"/>
              <a:gd name="adj2" fmla="val -200412"/>
              <a:gd name="adj3" fmla="val 16667"/>
            </a:avLst>
          </a:prstGeom>
          <a:solidFill>
            <a:srgbClr val="FFFFC1"/>
          </a:solidFill>
          <a:ln>
            <a:noFill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/>
          <a:lstStyle/>
          <a:p>
            <a:pPr algn="ctr"/>
            <a:r>
              <a:rPr lang="en-US" altLang="ru-RU"/>
              <a:t>ADSL</a:t>
            </a:r>
            <a:endParaRPr lang="ru-RU" altLang="ru-RU"/>
          </a:p>
        </p:txBody>
      </p:sp>
      <p:sp>
        <p:nvSpPr>
          <p:cNvPr id="220877" name="AutoShape 717"/>
          <p:cNvSpPr>
            <a:spLocks noChangeArrowheads="1"/>
          </p:cNvSpPr>
          <p:nvPr/>
        </p:nvSpPr>
        <p:spPr bwMode="auto">
          <a:xfrm>
            <a:off x="8774114" y="3338514"/>
            <a:ext cx="1652587" cy="727075"/>
          </a:xfrm>
          <a:prstGeom prst="wedgeRoundRectCallout">
            <a:avLst>
              <a:gd name="adj1" fmla="val -58838"/>
              <a:gd name="adj2" fmla="val 135588"/>
              <a:gd name="adj3" fmla="val 16667"/>
            </a:avLst>
          </a:prstGeom>
          <a:solidFill>
            <a:srgbClr val="FFFFC1"/>
          </a:solidFill>
          <a:ln>
            <a:noFill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/>
          <a:lstStyle/>
          <a:p>
            <a:pPr algn="ctr"/>
            <a:r>
              <a:rPr lang="ru-RU" altLang="ru-RU"/>
              <a:t>выделенная линия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73390" y="46654"/>
            <a:ext cx="5975465" cy="650874"/>
          </a:xfrm>
        </p:spPr>
        <p:txBody>
          <a:bodyPr>
            <a:normAutofit fontScale="90000"/>
          </a:bodyPr>
          <a:lstStyle/>
          <a:p>
            <a:r>
              <a:rPr lang="ru-RU" altLang="ru-RU" dirty="0" smtClean="0"/>
              <a:t>ПОДКЛЮЧЕНИЕ К ИНТЕРНЕТУ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46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0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0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20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20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20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20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20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20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20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20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20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20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20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20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8" dur="500"/>
                                        <p:tgtEl>
                                          <p:spTgt spid="2208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0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20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20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220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20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20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20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220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2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20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220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220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220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220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220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220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22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220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220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220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220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220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220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220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220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220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220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220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220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868" grpId="0" animBg="1"/>
      <p:bldP spid="220627" grpId="0" animBg="1"/>
      <p:bldP spid="220611" grpId="0" animBg="1"/>
      <p:bldP spid="220600" grpId="0" animBg="1"/>
      <p:bldP spid="220593" grpId="0" animBg="1"/>
      <p:bldP spid="220164" grpId="0" animBg="1"/>
      <p:bldP spid="220167" grpId="0"/>
      <p:bldP spid="220418" grpId="0" animBg="1"/>
      <p:bldP spid="220589" grpId="0"/>
      <p:bldP spid="220591" grpId="0" animBg="1"/>
      <p:bldP spid="220594" grpId="0" animBg="1"/>
      <p:bldP spid="220598" grpId="0"/>
      <p:bldP spid="220599" grpId="0" animBg="1"/>
      <p:bldP spid="220610" grpId="0" animBg="1"/>
      <p:bldP spid="220590" grpId="0"/>
      <p:bldP spid="220625" grpId="0" animBg="1"/>
      <p:bldP spid="220626" grpId="0" animBg="1"/>
      <p:bldP spid="220596" grpId="0" animBg="1"/>
      <p:bldP spid="220595" grpId="0" animBg="1"/>
      <p:bldP spid="220632" grpId="0" animBg="1"/>
      <p:bldP spid="220633" grpId="0" animBg="1"/>
      <p:bldP spid="220849" grpId="0"/>
      <p:bldP spid="220862" grpId="0" animBg="1"/>
      <p:bldP spid="220630" grpId="0" animBg="1"/>
      <p:bldP spid="220871" grpId="0" animBg="1"/>
      <p:bldP spid="220871" grpId="1" animBg="1"/>
      <p:bldP spid="220875" grpId="0" animBg="1"/>
      <p:bldP spid="220876" grpId="0" animBg="1"/>
      <p:bldP spid="22087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Line 2"/>
          <p:cNvSpPr>
            <a:spLocks noChangeShapeType="1"/>
          </p:cNvSpPr>
          <p:nvPr/>
        </p:nvSpPr>
        <p:spPr bwMode="auto">
          <a:xfrm>
            <a:off x="1900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16080" name="Rectangle 16"/>
          <p:cNvSpPr>
            <a:spLocks noChangeArrowheads="1"/>
          </p:cNvSpPr>
          <p:nvPr/>
        </p:nvSpPr>
        <p:spPr bwMode="auto">
          <a:xfrm>
            <a:off x="1909764" y="889001"/>
            <a:ext cx="8389937" cy="5635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28650" indent="-62865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001713" indent="-193675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8110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2000" b="1"/>
              <a:t>1958		</a:t>
            </a:r>
            <a:r>
              <a:rPr lang="ru-RU" altLang="ru-RU" sz="2000"/>
              <a:t>Создание </a:t>
            </a:r>
            <a:r>
              <a:rPr lang="en-US" altLang="ru-RU" sz="2000"/>
              <a:t>ARPA (</a:t>
            </a:r>
            <a:r>
              <a:rPr lang="ru-RU" altLang="ru-RU" sz="2000" i="1"/>
              <a:t>Advanced Research Project Agency</a:t>
            </a:r>
            <a:r>
              <a:rPr lang="en-US" altLang="ru-RU" sz="2000"/>
              <a:t>)</a:t>
            </a:r>
            <a:r>
              <a:rPr lang="ru-RU" altLang="ru-RU" sz="2000"/>
              <a:t> в США.</a:t>
            </a:r>
            <a:endParaRPr lang="en-US" altLang="ru-RU" sz="2000"/>
          </a:p>
          <a:p>
            <a:pPr>
              <a:spcBef>
                <a:spcPct val="20000"/>
              </a:spcBef>
            </a:pPr>
            <a:r>
              <a:rPr lang="ru-RU" altLang="ru-RU" sz="2000" b="1"/>
              <a:t>1960-е</a:t>
            </a:r>
            <a:r>
              <a:rPr lang="ru-RU" altLang="ru-RU" sz="2000"/>
              <a:t> Проект компьютерной сети </a:t>
            </a:r>
            <a:r>
              <a:rPr lang="en-US" altLang="ru-RU" sz="2000"/>
              <a:t>ARPANet</a:t>
            </a:r>
          </a:p>
          <a:p>
            <a:pPr lvl="1">
              <a:buFontTx/>
              <a:buChar char="•"/>
            </a:pPr>
            <a:r>
              <a:rPr lang="ru-RU" altLang="ru-RU" sz="2000"/>
              <a:t>в сети нет единого центра – живучесть; </a:t>
            </a:r>
            <a:endParaRPr lang="en-US" altLang="ru-RU" sz="2000"/>
          </a:p>
          <a:p>
            <a:pPr lvl="1">
              <a:buFontTx/>
              <a:buChar char="•"/>
            </a:pPr>
            <a:r>
              <a:rPr lang="ru-RU" altLang="ru-RU" sz="2000"/>
              <a:t>при подключении новой сети не требуется </a:t>
            </a:r>
            <a:r>
              <a:rPr lang="en-US" altLang="ru-RU" sz="2000"/>
              <a:t/>
            </a:r>
            <a:br>
              <a:rPr lang="en-US" altLang="ru-RU" sz="2000"/>
            </a:br>
            <a:r>
              <a:rPr lang="ru-RU" altLang="ru-RU" sz="2000"/>
              <a:t>ее переделка;</a:t>
            </a:r>
          </a:p>
          <a:p>
            <a:pPr lvl="1">
              <a:buFontTx/>
              <a:buChar char="•"/>
            </a:pPr>
            <a:r>
              <a:rPr lang="ru-RU" altLang="ru-RU" sz="2000"/>
              <a:t>связь между сетями через специальные узлы </a:t>
            </a:r>
            <a:r>
              <a:rPr lang="en-US" altLang="ru-RU" sz="2000"/>
              <a:t/>
            </a:r>
            <a:br>
              <a:rPr lang="en-US" altLang="ru-RU" sz="2000"/>
            </a:br>
            <a:r>
              <a:rPr lang="ru-RU" altLang="ru-RU" sz="2000"/>
              <a:t>– </a:t>
            </a:r>
            <a:r>
              <a:rPr lang="ru-RU" altLang="ru-RU" sz="2000" i="1"/>
              <a:t>шлюзы</a:t>
            </a:r>
            <a:r>
              <a:rPr lang="ru-RU" altLang="ru-RU" sz="2000"/>
              <a:t>;</a:t>
            </a:r>
          </a:p>
          <a:p>
            <a:pPr lvl="1">
              <a:buFontTx/>
              <a:buChar char="•"/>
            </a:pPr>
            <a:r>
              <a:rPr lang="ru-RU" altLang="ru-RU" sz="2000"/>
              <a:t>пакетный  обмен данными;</a:t>
            </a:r>
          </a:p>
          <a:p>
            <a:pPr>
              <a:spcBef>
                <a:spcPct val="20000"/>
              </a:spcBef>
            </a:pPr>
            <a:r>
              <a:rPr lang="ru-RU" altLang="ru-RU" sz="2000" b="1"/>
              <a:t>19</a:t>
            </a:r>
            <a:r>
              <a:rPr lang="en-US" altLang="ru-RU" sz="2000" b="1"/>
              <a:t>68</a:t>
            </a:r>
            <a:r>
              <a:rPr lang="ru-RU" altLang="ru-RU" sz="2000" b="1"/>
              <a:t> </a:t>
            </a:r>
            <a:r>
              <a:rPr lang="en-US" altLang="ru-RU" sz="2000" b="1"/>
              <a:t>	</a:t>
            </a:r>
            <a:r>
              <a:rPr lang="ru-RU" altLang="ru-RU" sz="2000"/>
              <a:t>Первая сеть нового типа из 4-х компьютеров.</a:t>
            </a:r>
          </a:p>
          <a:p>
            <a:pPr>
              <a:spcBef>
                <a:spcPct val="20000"/>
              </a:spcBef>
            </a:pPr>
            <a:r>
              <a:rPr lang="ru-RU" altLang="ru-RU" sz="2000" b="1"/>
              <a:t>1972 </a:t>
            </a:r>
            <a:r>
              <a:rPr lang="en-US" altLang="ru-RU" sz="2000" b="1"/>
              <a:t>	</a:t>
            </a:r>
            <a:r>
              <a:rPr lang="ru-RU" altLang="ru-RU" sz="2000"/>
              <a:t>В сети – 50 университетов и лабораторий.</a:t>
            </a:r>
          </a:p>
          <a:p>
            <a:pPr>
              <a:spcBef>
                <a:spcPct val="20000"/>
              </a:spcBef>
            </a:pPr>
            <a:r>
              <a:rPr lang="ru-RU" altLang="ru-RU" sz="2000" b="1"/>
              <a:t>1974 	</a:t>
            </a:r>
            <a:r>
              <a:rPr lang="ru-RU" altLang="ru-RU" sz="2000"/>
              <a:t>Разработка протокола обмена данными </a:t>
            </a:r>
            <a:r>
              <a:rPr lang="en-US" altLang="ru-RU" sz="2000" b="1"/>
              <a:t>TCP/IP</a:t>
            </a:r>
            <a:endParaRPr lang="ru-RU" altLang="ru-RU" sz="2000" b="1"/>
          </a:p>
          <a:p>
            <a:pPr>
              <a:spcBef>
                <a:spcPct val="50000"/>
              </a:spcBef>
            </a:pPr>
            <a:r>
              <a:rPr lang="ru-RU" altLang="ru-RU" sz="2000" b="1">
                <a:solidFill>
                  <a:schemeClr val="accent2"/>
                </a:solidFill>
              </a:rPr>
              <a:t>      Первые службы</a:t>
            </a:r>
            <a:r>
              <a:rPr lang="ru-RU" altLang="ru-RU" sz="2000"/>
              <a:t>: </a:t>
            </a:r>
          </a:p>
          <a:p>
            <a:pPr lvl="1">
              <a:buFontTx/>
              <a:buChar char="•"/>
            </a:pPr>
            <a:r>
              <a:rPr lang="en-US" altLang="ru-RU" sz="2000" b="1"/>
              <a:t>TelNet</a:t>
            </a:r>
            <a:r>
              <a:rPr lang="ru-RU" altLang="ru-RU" sz="2000" b="1"/>
              <a:t> </a:t>
            </a:r>
            <a:r>
              <a:rPr lang="ru-RU" altLang="ru-RU" sz="2000"/>
              <a:t>– удаленное управление компьютером в режиме командной строки</a:t>
            </a:r>
          </a:p>
          <a:p>
            <a:pPr lvl="1">
              <a:buFontTx/>
              <a:buChar char="•"/>
            </a:pPr>
            <a:r>
              <a:rPr lang="en-US" altLang="ru-RU" sz="2000" b="1"/>
              <a:t>FTP</a:t>
            </a:r>
            <a:r>
              <a:rPr lang="en-US" altLang="ru-RU" sz="2000"/>
              <a:t> </a:t>
            </a:r>
            <a:r>
              <a:rPr lang="en-US" altLang="ru-RU" sz="2000" i="1"/>
              <a:t>(File Transfer Protocol) – </a:t>
            </a:r>
            <a:r>
              <a:rPr lang="ru-RU" altLang="ru-RU" sz="2000"/>
              <a:t>прием и передача файлов</a:t>
            </a:r>
          </a:p>
          <a:p>
            <a:pPr lvl="1">
              <a:buFontTx/>
              <a:buChar char="•"/>
            </a:pPr>
            <a:r>
              <a:rPr lang="ru-RU" altLang="ru-RU" sz="2000" b="1"/>
              <a:t>Электронная почта</a:t>
            </a:r>
            <a:r>
              <a:rPr lang="ru-RU" altLang="ru-RU" sz="2000"/>
              <a:t> (</a:t>
            </a:r>
            <a:r>
              <a:rPr lang="en-US" altLang="ru-RU" sz="2000" i="1"/>
              <a:t>e-mail, electronic mail</a:t>
            </a:r>
            <a:r>
              <a:rPr lang="ru-RU" altLang="ru-RU" sz="2000"/>
              <a:t>)</a:t>
            </a:r>
            <a:r>
              <a:rPr lang="en-US" altLang="ru-RU" sz="2000"/>
              <a:t> – </a:t>
            </a:r>
            <a:r>
              <a:rPr lang="ru-RU" altLang="ru-RU" sz="2000"/>
              <a:t>обмен сообщениями</a:t>
            </a:r>
          </a:p>
        </p:txBody>
      </p:sp>
      <p:pic>
        <p:nvPicPr>
          <p:cNvPr id="216081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0176" y="1455739"/>
            <a:ext cx="1044575" cy="199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32443" y="49233"/>
            <a:ext cx="5975465" cy="909292"/>
          </a:xfrm>
        </p:spPr>
        <p:txBody>
          <a:bodyPr>
            <a:normAutofit/>
          </a:bodyPr>
          <a:lstStyle/>
          <a:p>
            <a:r>
              <a:rPr lang="ru-RU" altLang="ru-RU" sz="4000" dirty="0" smtClean="0"/>
              <a:t>КАК ВОЗНИК ИНТЕРНЕТ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027371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60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60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60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16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160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160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160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160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160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160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160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1608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1608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1608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80" grpId="0" build="p" bldLvl="2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Line 2"/>
          <p:cNvSpPr>
            <a:spLocks noChangeShapeType="1"/>
          </p:cNvSpPr>
          <p:nvPr/>
        </p:nvSpPr>
        <p:spPr bwMode="auto">
          <a:xfrm>
            <a:off x="1900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63172" name="Rectangle 4"/>
          <p:cNvSpPr>
            <a:spLocks noChangeArrowheads="1"/>
          </p:cNvSpPr>
          <p:nvPr/>
        </p:nvSpPr>
        <p:spPr bwMode="auto">
          <a:xfrm>
            <a:off x="1909764" y="889001"/>
            <a:ext cx="8537575" cy="5635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28650" indent="-62865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50938" indent="-34290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524000" indent="-34290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tabLst>
                <a:tab pos="628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ru-RU" altLang="ru-RU" sz="2400" b="1"/>
              <a:t>1982 </a:t>
            </a:r>
            <a:r>
              <a:rPr lang="ru-RU" altLang="ru-RU" sz="2400"/>
              <a:t> 	Европейская </a:t>
            </a:r>
            <a:r>
              <a:rPr lang="en-US" altLang="ru-RU" sz="2400"/>
              <a:t>UNIX-</a:t>
            </a:r>
            <a:r>
              <a:rPr lang="ru-RU" altLang="ru-RU" sz="2400"/>
              <a:t>сеть (до этого – США, Канада, </a:t>
            </a:r>
            <a:r>
              <a:rPr lang="en-US" altLang="ru-RU" sz="2400"/>
              <a:t/>
            </a:r>
            <a:br>
              <a:rPr lang="en-US" altLang="ru-RU" sz="2400"/>
            </a:br>
            <a:r>
              <a:rPr lang="en-US" altLang="ru-RU" sz="2400"/>
              <a:t>   </a:t>
            </a:r>
            <a:r>
              <a:rPr lang="ru-RU" altLang="ru-RU" sz="2400"/>
              <a:t>Англия)</a:t>
            </a:r>
          </a:p>
          <a:p>
            <a:pPr>
              <a:spcBef>
                <a:spcPct val="20000"/>
              </a:spcBef>
            </a:pPr>
            <a:r>
              <a:rPr lang="ru-RU" altLang="ru-RU" sz="2400" b="1"/>
              <a:t>1983 	</a:t>
            </a:r>
            <a:r>
              <a:rPr lang="ru-RU" altLang="ru-RU" sz="2400"/>
              <a:t>Сеть разделена на две части: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altLang="ru-RU" sz="2400" b="1"/>
              <a:t>MilNet </a:t>
            </a:r>
            <a:r>
              <a:rPr lang="en-US" altLang="ru-RU" sz="2400"/>
              <a:t>– </a:t>
            </a:r>
            <a:r>
              <a:rPr lang="ru-RU" altLang="ru-RU" sz="2400"/>
              <a:t>для военных целей США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altLang="ru-RU" sz="2400" b="1"/>
              <a:t>Internet </a:t>
            </a:r>
            <a:r>
              <a:rPr lang="en-US" altLang="ru-RU" sz="2400"/>
              <a:t>– </a:t>
            </a:r>
            <a:r>
              <a:rPr lang="ru-RU" altLang="ru-RU" sz="2400"/>
              <a:t>общедоступная сеть</a:t>
            </a:r>
          </a:p>
          <a:p>
            <a:pPr>
              <a:spcBef>
                <a:spcPct val="30000"/>
              </a:spcBef>
            </a:pPr>
            <a:r>
              <a:rPr lang="en-US" altLang="ru-RU" sz="2400" b="1"/>
              <a:t>1984</a:t>
            </a:r>
            <a:r>
              <a:rPr lang="en-US" altLang="ru-RU" sz="2400"/>
              <a:t> </a:t>
            </a:r>
            <a:r>
              <a:rPr lang="ru-RU" altLang="ru-RU" sz="2400"/>
              <a:t>Система доменных имен (</a:t>
            </a:r>
            <a:r>
              <a:rPr lang="en-US" altLang="ru-RU" sz="2400"/>
              <a:t>DNS</a:t>
            </a:r>
            <a:r>
              <a:rPr lang="ru-RU" altLang="ru-RU" sz="2400"/>
              <a:t>) </a:t>
            </a:r>
            <a:br>
              <a:rPr lang="ru-RU" altLang="ru-RU" sz="2400"/>
            </a:br>
            <a:r>
              <a:rPr lang="ru-RU" altLang="ru-RU" sz="2400"/>
              <a:t>  </a:t>
            </a:r>
            <a:r>
              <a:rPr lang="en-US" altLang="ru-RU" sz="2400"/>
              <a:t>(</a:t>
            </a:r>
            <a:r>
              <a:rPr lang="ru-RU" altLang="ru-RU" sz="2400"/>
              <a:t>адреса вида </a:t>
            </a:r>
            <a:r>
              <a:rPr lang="en-US" altLang="ru-RU" sz="2400"/>
              <a:t> </a:t>
            </a:r>
            <a:r>
              <a:rPr lang="en-US" altLang="ru-RU" sz="2400">
                <a:hlinkClick r:id="rId3"/>
              </a:rPr>
              <a:t>www.mail.ru</a:t>
            </a:r>
            <a:r>
              <a:rPr lang="en-US" altLang="ru-RU" sz="2400"/>
              <a:t>)</a:t>
            </a:r>
          </a:p>
          <a:p>
            <a:pPr>
              <a:spcBef>
                <a:spcPct val="30000"/>
              </a:spcBef>
            </a:pPr>
            <a:r>
              <a:rPr lang="ru-RU" altLang="ru-RU" sz="2400" b="1"/>
              <a:t>1989 </a:t>
            </a:r>
            <a:r>
              <a:rPr lang="ru-RU" altLang="ru-RU" sz="2400"/>
              <a:t>В Интернете 100 000 компьютеров.</a:t>
            </a:r>
            <a:endParaRPr lang="en-US" altLang="ru-RU" sz="2400"/>
          </a:p>
          <a:p>
            <a:pPr>
              <a:spcBef>
                <a:spcPct val="30000"/>
              </a:spcBef>
            </a:pPr>
            <a:r>
              <a:rPr lang="ru-RU" altLang="ru-RU" sz="2400" b="1"/>
              <a:t>199</a:t>
            </a:r>
            <a:r>
              <a:rPr lang="en-US" altLang="ru-RU" sz="2400" b="1"/>
              <a:t>1 </a:t>
            </a:r>
            <a:r>
              <a:rPr lang="ru-RU" altLang="ru-RU" sz="2400"/>
              <a:t>Разработка </a:t>
            </a:r>
            <a:r>
              <a:rPr lang="en-US" altLang="ru-RU" sz="2400"/>
              <a:t>WWW </a:t>
            </a:r>
            <a:r>
              <a:rPr lang="en-US" altLang="ru-RU" sz="2400" i="1"/>
              <a:t>(World Wide Web)</a:t>
            </a:r>
            <a:r>
              <a:rPr lang="ru-RU" altLang="ru-RU" sz="2400" i="1"/>
              <a:t> – Т. Бернес-Ли</a:t>
            </a:r>
            <a:r>
              <a:rPr lang="ru-RU" altLang="ru-RU" sz="2400"/>
              <a:t>, обмен информацией в виде гипертекста</a:t>
            </a:r>
          </a:p>
          <a:p>
            <a:pPr>
              <a:spcBef>
                <a:spcPct val="30000"/>
              </a:spcBef>
            </a:pPr>
            <a:r>
              <a:rPr lang="ru-RU" altLang="ru-RU" sz="2400" b="1"/>
              <a:t>199</a:t>
            </a:r>
            <a:r>
              <a:rPr lang="en-US" altLang="ru-RU" sz="2400" b="1"/>
              <a:t>1</a:t>
            </a:r>
            <a:r>
              <a:rPr lang="ru-RU" altLang="ru-RU" sz="2400" b="1"/>
              <a:t> </a:t>
            </a:r>
            <a:r>
              <a:rPr lang="ru-RU" altLang="ru-RU" sz="2400"/>
              <a:t>Россия подключилась к Интернету.</a:t>
            </a:r>
          </a:p>
          <a:p>
            <a:pPr>
              <a:spcBef>
                <a:spcPct val="30000"/>
              </a:spcBef>
            </a:pPr>
            <a:r>
              <a:rPr lang="ru-RU" altLang="ru-RU" sz="2400" b="1"/>
              <a:t>1994 </a:t>
            </a:r>
            <a:r>
              <a:rPr lang="ru-RU" altLang="ru-RU" sz="2400"/>
              <a:t>Первые Интернет-магазины.</a:t>
            </a:r>
          </a:p>
          <a:p>
            <a:pPr>
              <a:spcBef>
                <a:spcPct val="30000"/>
              </a:spcBef>
            </a:pPr>
            <a:r>
              <a:rPr lang="ru-RU" altLang="ru-RU" sz="2400" b="1"/>
              <a:t>2000 </a:t>
            </a:r>
            <a:r>
              <a:rPr lang="ru-RU" altLang="ru-RU" sz="2400"/>
              <a:t>Более 20 млн сайтов.</a:t>
            </a:r>
            <a:endParaRPr lang="ru-RU" altLang="ru-RU" sz="2400" b="1"/>
          </a:p>
          <a:p>
            <a:pPr>
              <a:spcBef>
                <a:spcPct val="30000"/>
              </a:spcBef>
            </a:pPr>
            <a:endParaRPr lang="ru-RU" altLang="ru-RU" sz="2400" b="1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6032443" y="49233"/>
            <a:ext cx="5975465" cy="909292"/>
          </a:xfrm>
        </p:spPr>
        <p:txBody>
          <a:bodyPr>
            <a:normAutofit/>
          </a:bodyPr>
          <a:lstStyle/>
          <a:p>
            <a:r>
              <a:rPr lang="ru-RU" altLang="ru-RU" sz="4000" dirty="0" smtClean="0"/>
              <a:t>КАК ВОЗНИК ИНТЕРНЕТ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792263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3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3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63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63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63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63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63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631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631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631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72" grpId="0" build="p" bldLvl="2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Line 2"/>
          <p:cNvSpPr>
            <a:spLocks noChangeShapeType="1"/>
          </p:cNvSpPr>
          <p:nvPr/>
        </p:nvSpPr>
        <p:spPr bwMode="auto">
          <a:xfrm>
            <a:off x="1900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22212" name="Rectangle 4"/>
          <p:cNvSpPr>
            <a:spLocks noChangeArrowheads="1"/>
          </p:cNvSpPr>
          <p:nvPr/>
        </p:nvSpPr>
        <p:spPr bwMode="auto">
          <a:xfrm>
            <a:off x="1909764" y="889001"/>
            <a:ext cx="8389937" cy="5635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63538" indent="-3635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863" indent="-2619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811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altLang="ru-RU" sz="2100" b="1"/>
              <a:t>WWW</a:t>
            </a:r>
            <a:r>
              <a:rPr lang="en-US" altLang="ru-RU" sz="2100"/>
              <a:t> (</a:t>
            </a:r>
            <a:r>
              <a:rPr lang="en-US" altLang="ru-RU" sz="2100" i="1"/>
              <a:t>World Wide Web) – </a:t>
            </a:r>
            <a:r>
              <a:rPr lang="ru-RU" altLang="ru-RU" sz="2100"/>
              <a:t>гипертекстовые документы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ru-RU" altLang="ru-RU" sz="2100" b="1"/>
              <a:t>Гипертекст </a:t>
            </a:r>
            <a:r>
              <a:rPr lang="ru-RU" altLang="ru-RU" sz="2100"/>
              <a:t>– это текст, в котором каждое слово или словосочетания может быть активной ссылкой на другой документ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ru-RU" altLang="ru-RU" sz="2100" b="1"/>
              <a:t>Гипермедиа </a:t>
            </a:r>
            <a:r>
              <a:rPr lang="ru-RU" altLang="ru-RU" sz="2100"/>
              <a:t>– документы с активными ссылками, содержащие текст, рисунки, звук, видео.</a:t>
            </a:r>
          </a:p>
          <a:p>
            <a:pPr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ru-RU" altLang="ru-RU" sz="2100" b="1"/>
              <a:t>Электронная почта</a:t>
            </a:r>
            <a:r>
              <a:rPr lang="ru-RU" altLang="ru-RU" sz="2100"/>
              <a:t> (</a:t>
            </a:r>
            <a:r>
              <a:rPr lang="en-US" altLang="ru-RU" sz="2100" b="1"/>
              <a:t>e-mail</a:t>
            </a:r>
            <a:r>
              <a:rPr lang="en-US" altLang="ru-RU" sz="2100"/>
              <a:t>)</a:t>
            </a:r>
          </a:p>
          <a:p>
            <a:pPr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en-US" altLang="ru-RU" sz="2100" b="1"/>
              <a:t>FTP</a:t>
            </a:r>
            <a:r>
              <a:rPr lang="en-US" altLang="ru-RU" sz="2100"/>
              <a:t> (</a:t>
            </a:r>
            <a:r>
              <a:rPr lang="ru-RU" altLang="ru-RU" sz="2100"/>
              <a:t>обмен файлами</a:t>
            </a:r>
            <a:r>
              <a:rPr lang="en-US" altLang="ru-RU" sz="2100"/>
              <a:t>)</a:t>
            </a:r>
            <a:endParaRPr lang="ru-RU" altLang="ru-RU" sz="2100"/>
          </a:p>
          <a:p>
            <a:pPr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ru-RU" altLang="ru-RU" sz="2100" b="1"/>
              <a:t>Форумы</a:t>
            </a:r>
            <a:r>
              <a:rPr lang="ru-RU" altLang="ru-RU" sz="2100"/>
              <a:t> (группы новостей, конференции, телеконференции)</a:t>
            </a:r>
          </a:p>
          <a:p>
            <a:pPr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ru-RU" altLang="ru-RU" sz="2100" b="1"/>
              <a:t>Подписка на новости</a:t>
            </a:r>
          </a:p>
          <a:p>
            <a:pPr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ru-RU" altLang="ru-RU" sz="2100" b="1"/>
              <a:t>Поисковые системы</a:t>
            </a:r>
            <a:endParaRPr lang="ru-RU" altLang="ru-RU" sz="2100"/>
          </a:p>
          <a:p>
            <a:pPr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ru-RU" altLang="ru-RU" sz="2100" b="1"/>
              <a:t>Чаты </a:t>
            </a:r>
            <a:r>
              <a:rPr lang="ru-RU" altLang="ru-RU" sz="2100" i="1"/>
              <a:t>(</a:t>
            </a:r>
            <a:r>
              <a:rPr lang="en-US" altLang="ru-RU" sz="2100" i="1"/>
              <a:t>chat </a:t>
            </a:r>
            <a:r>
              <a:rPr lang="en-US" altLang="ru-RU" sz="2100"/>
              <a:t>– </a:t>
            </a:r>
            <a:r>
              <a:rPr lang="ru-RU" altLang="ru-RU" sz="2100"/>
              <a:t>болтовня</a:t>
            </a:r>
            <a:r>
              <a:rPr lang="ru-RU" altLang="ru-RU" sz="2100" i="1"/>
              <a:t>)</a:t>
            </a:r>
          </a:p>
          <a:p>
            <a:pPr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ru-RU" altLang="ru-RU" sz="2100" b="1"/>
              <a:t>Личное общение в реальном времени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ru-RU" sz="2100"/>
              <a:t>ICQ </a:t>
            </a:r>
            <a:r>
              <a:rPr lang="en-US" altLang="ru-RU" sz="2100" i="1"/>
              <a:t>(I Seek You) – </a:t>
            </a:r>
            <a:r>
              <a:rPr lang="ru-RU" altLang="ru-RU" sz="2100"/>
              <a:t>разговор 1-1, в группе, обмен файлами</a:t>
            </a:r>
          </a:p>
          <a:p>
            <a:pPr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ru-RU" altLang="ru-RU" sz="2100" b="1"/>
              <a:t>Интернет-телефон</a:t>
            </a:r>
            <a:endParaRPr lang="ru-RU" altLang="ru-RU" sz="2100" b="1" i="1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ru-RU" sz="2100"/>
              <a:t>Skype + </a:t>
            </a:r>
            <a:r>
              <a:rPr lang="ru-RU" altLang="ru-RU" sz="2100"/>
              <a:t>колонки + микрофон</a:t>
            </a:r>
            <a:endParaRPr lang="en-US" altLang="ru-RU" sz="2100"/>
          </a:p>
          <a:p>
            <a:pPr>
              <a:buFont typeface="Wingdings" panose="05000000000000000000" pitchFamily="2" charset="2"/>
              <a:buChar char="q"/>
            </a:pPr>
            <a:endParaRPr lang="ru-RU" altLang="ru-RU" sz="210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52474" y="0"/>
            <a:ext cx="7439526" cy="889001"/>
          </a:xfrm>
        </p:spPr>
        <p:txBody>
          <a:bodyPr>
            <a:normAutofit/>
          </a:bodyPr>
          <a:lstStyle/>
          <a:p>
            <a:r>
              <a:rPr lang="ru-RU" altLang="ru-RU" sz="4000" dirty="0" smtClean="0"/>
              <a:t>СЛУЖБЫ И СЕРВИСЫ ИНТЕРНЕТА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797396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2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2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22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222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222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222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222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222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222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222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222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222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222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2" grpId="0" build="p" bldLvl="2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436" name="Group 12"/>
          <p:cNvGrpSpPr>
            <a:grpSpLocks/>
          </p:cNvGrpSpPr>
          <p:nvPr/>
        </p:nvGrpSpPr>
        <p:grpSpPr bwMode="auto">
          <a:xfrm>
            <a:off x="2362200" y="1828801"/>
            <a:ext cx="7467600" cy="2732088"/>
            <a:chOff x="432" y="1728"/>
            <a:chExt cx="4704" cy="1721"/>
          </a:xfrm>
        </p:grpSpPr>
        <p:pic>
          <p:nvPicPr>
            <p:cNvPr id="103428" name="Picture 4" descr="Computer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728"/>
              <a:ext cx="1200" cy="1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29" name="Picture 5" descr="Computer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36" y="1728"/>
              <a:ext cx="1200" cy="1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3430" name="Text Box 6"/>
            <p:cNvSpPr txBox="1">
              <a:spLocks noChangeArrowheads="1"/>
            </p:cNvSpPr>
            <p:nvPr/>
          </p:nvSpPr>
          <p:spPr bwMode="auto">
            <a:xfrm>
              <a:off x="528" y="3216"/>
              <a:ext cx="74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ru-RU" altLang="ru-RU" b="1">
                  <a:latin typeface="Times New Roman" panose="02020603050405020304" pitchFamily="18" charset="0"/>
                </a:rPr>
                <a:t>КЛИЕНТ</a:t>
              </a:r>
              <a:endParaRPr lang="ru-RU" altLang="ru-RU">
                <a:latin typeface="Times New Roman" panose="02020603050405020304" pitchFamily="18" charset="0"/>
              </a:endParaRPr>
            </a:p>
          </p:txBody>
        </p:sp>
        <p:sp>
          <p:nvSpPr>
            <p:cNvPr id="103431" name="Text Box 7"/>
            <p:cNvSpPr txBox="1">
              <a:spLocks noChangeArrowheads="1"/>
            </p:cNvSpPr>
            <p:nvPr/>
          </p:nvSpPr>
          <p:spPr bwMode="auto">
            <a:xfrm>
              <a:off x="4032" y="3216"/>
              <a:ext cx="69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ru-RU" altLang="ru-RU" b="1">
                  <a:latin typeface="Times New Roman" panose="02020603050405020304" pitchFamily="18" charset="0"/>
                </a:rPr>
                <a:t>СЕРВЕР</a:t>
              </a:r>
            </a:p>
          </p:txBody>
        </p:sp>
        <p:sp>
          <p:nvSpPr>
            <p:cNvPr id="103432" name="Line 8"/>
            <p:cNvSpPr>
              <a:spLocks noChangeShapeType="1"/>
            </p:cNvSpPr>
            <p:nvPr/>
          </p:nvSpPr>
          <p:spPr bwMode="auto">
            <a:xfrm>
              <a:off x="1632" y="2592"/>
              <a:ext cx="2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03433" name="Line 9"/>
            <p:cNvSpPr>
              <a:spLocks noChangeShapeType="1"/>
            </p:cNvSpPr>
            <p:nvPr/>
          </p:nvSpPr>
          <p:spPr bwMode="auto">
            <a:xfrm flipH="1">
              <a:off x="1632" y="2736"/>
              <a:ext cx="2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03434" name="Text Box 10"/>
            <p:cNvSpPr txBox="1">
              <a:spLocks noChangeArrowheads="1"/>
            </p:cNvSpPr>
            <p:nvPr/>
          </p:nvSpPr>
          <p:spPr bwMode="auto">
            <a:xfrm>
              <a:off x="2438" y="2234"/>
              <a:ext cx="56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ru-RU" altLang="ru-RU" b="1">
                  <a:latin typeface="Times New Roman" panose="02020603050405020304" pitchFamily="18" charset="0"/>
                </a:rPr>
                <a:t>Запрос</a:t>
              </a:r>
            </a:p>
          </p:txBody>
        </p:sp>
        <p:sp>
          <p:nvSpPr>
            <p:cNvPr id="103435" name="Text Box 11"/>
            <p:cNvSpPr txBox="1">
              <a:spLocks noChangeArrowheads="1"/>
            </p:cNvSpPr>
            <p:nvPr/>
          </p:nvSpPr>
          <p:spPr bwMode="auto">
            <a:xfrm>
              <a:off x="2448" y="2784"/>
              <a:ext cx="51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ru-RU" altLang="ru-RU" b="1">
                  <a:latin typeface="Times New Roman" panose="02020603050405020304" pitchFamily="18" charset="0"/>
                </a:rPr>
                <a:t>Ответ</a:t>
              </a:r>
            </a:p>
          </p:txBody>
        </p:sp>
      </p:grpSp>
      <p:sp>
        <p:nvSpPr>
          <p:cNvPr id="103439" name="Rectangle 15"/>
          <p:cNvSpPr>
            <a:spLocks noChangeArrowheads="1"/>
          </p:cNvSpPr>
          <p:nvPr/>
        </p:nvSpPr>
        <p:spPr bwMode="auto">
          <a:xfrm>
            <a:off x="1905000" y="4953000"/>
            <a:ext cx="83058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ru-RU" altLang="ru-RU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</a:rPr>
              <a:t>Протокол</a:t>
            </a:r>
            <a:r>
              <a:rPr lang="ru-RU" altLang="ru-RU" sz="3200" b="1" dirty="0">
                <a:latin typeface="Times New Roman" panose="02020603050405020304" pitchFamily="18" charset="0"/>
              </a:rPr>
              <a:t> </a:t>
            </a:r>
            <a:r>
              <a:rPr lang="ru-RU" altLang="ru-RU" sz="3200" dirty="0">
                <a:latin typeface="Times New Roman" panose="02020603050405020304" pitchFamily="18" charset="0"/>
              </a:rPr>
              <a:t>- это правила, определяющие взаимодействие между системами в рамках одного уровня.</a:t>
            </a:r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5889567" y="155681"/>
            <a:ext cx="5975465" cy="909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24A67A"/>
                </a:solidFill>
                <a:latin typeface="Franklin Gothic Medium Cond" panose="020B0606030402020204" pitchFamily="34" charset="0"/>
                <a:ea typeface="+mj-ea"/>
                <a:cs typeface="+mj-cs"/>
              </a:defRPr>
            </a:lvl1pPr>
          </a:lstStyle>
          <a:p>
            <a:r>
              <a:rPr lang="ru-RU" dirty="0" smtClean="0"/>
              <a:t>КЛИЕНТ И СЕРВЕР</a:t>
            </a:r>
            <a:endParaRPr lang="ru-RU" dirty="0"/>
          </a:p>
        </p:txBody>
      </p:sp>
      <p:sp>
        <p:nvSpPr>
          <p:cNvPr id="14" name="Line 2"/>
          <p:cNvSpPr>
            <a:spLocks noChangeShapeType="1"/>
          </p:cNvSpPr>
          <p:nvPr/>
        </p:nvSpPr>
        <p:spPr bwMode="auto">
          <a:xfrm>
            <a:off x="1919289" y="92075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71573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Line 2"/>
          <p:cNvSpPr>
            <a:spLocks noChangeShapeType="1"/>
          </p:cNvSpPr>
          <p:nvPr/>
        </p:nvSpPr>
        <p:spPr bwMode="auto">
          <a:xfrm>
            <a:off x="1900238" y="939706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30404" name="Text Box 4"/>
          <p:cNvSpPr txBox="1">
            <a:spLocks noChangeArrowheads="1"/>
          </p:cNvSpPr>
          <p:nvPr/>
        </p:nvSpPr>
        <p:spPr bwMode="auto">
          <a:xfrm>
            <a:off x="1916114" y="1520158"/>
            <a:ext cx="8639175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9388" indent="-1793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31825" indent="-2730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74738" indent="-2635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335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ru-RU" altLang="ru-RU" sz="2400" b="1" dirty="0">
                <a:solidFill>
                  <a:schemeClr val="accent3">
                    <a:lumMod val="50000"/>
                  </a:schemeClr>
                </a:solidFill>
              </a:rPr>
              <a:t>Протокол</a:t>
            </a:r>
            <a:r>
              <a:rPr lang="ru-RU" altLang="ru-RU" sz="2400" b="1" dirty="0">
                <a:solidFill>
                  <a:schemeClr val="accent2"/>
                </a:solidFill>
              </a:rPr>
              <a:t> </a:t>
            </a:r>
            <a:r>
              <a:rPr lang="ru-RU" altLang="ru-RU" sz="2400" dirty="0"/>
              <a:t>–</a:t>
            </a:r>
            <a:r>
              <a:rPr lang="en-US" altLang="ru-RU" sz="2400" dirty="0"/>
              <a:t> </a:t>
            </a:r>
            <a:r>
              <a:rPr lang="ru-RU" altLang="ru-RU" sz="2400" dirty="0"/>
              <a:t>это набор соглашений и правил, определяющих порядок обмена информацией в компьютерной сети.</a:t>
            </a: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ru-RU" altLang="ru-RU" sz="2400" b="1" dirty="0">
                <a:solidFill>
                  <a:schemeClr val="accent3">
                    <a:lumMod val="50000"/>
                  </a:schemeClr>
                </a:solidFill>
              </a:rPr>
              <a:t>Протокол </a:t>
            </a:r>
            <a:r>
              <a:rPr lang="en-US" altLang="ru-RU" sz="2400" b="1" dirty="0">
                <a:solidFill>
                  <a:schemeClr val="accent3">
                    <a:lumMod val="50000"/>
                  </a:schemeClr>
                </a:solidFill>
              </a:rPr>
              <a:t>TCP/IP (1974)</a:t>
            </a:r>
          </a:p>
          <a:p>
            <a:pPr lvl="1" eaLnBrk="0" hangingPunct="0">
              <a:spcBef>
                <a:spcPct val="30000"/>
              </a:spcBef>
              <a:buFont typeface="Wingdings" panose="05000000000000000000" pitchFamily="2" charset="2"/>
              <a:buChar char="q"/>
            </a:pPr>
            <a:r>
              <a:rPr lang="en-US" altLang="ru-RU" sz="2400" b="1" dirty="0"/>
              <a:t>TCP (</a:t>
            </a:r>
            <a:r>
              <a:rPr lang="en-US" altLang="ru-RU" sz="2400" b="1" i="1" dirty="0"/>
              <a:t>Transmission Control Protocol</a:t>
            </a:r>
            <a:r>
              <a:rPr lang="en-US" altLang="ru-RU" sz="2400" b="1" dirty="0"/>
              <a:t>)</a:t>
            </a:r>
          </a:p>
          <a:p>
            <a:pPr lvl="2" eaLnBrk="0" hangingPunct="0">
              <a:spcBef>
                <a:spcPct val="3000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/>
              <a:t>файл делится на пакеты размером не более 1</a:t>
            </a:r>
            <a:r>
              <a:rPr lang="en-US" altLang="ru-RU" sz="2400" dirty="0"/>
              <a:t>,5 </a:t>
            </a:r>
            <a:r>
              <a:rPr lang="ru-RU" altLang="ru-RU" sz="2400" dirty="0"/>
              <a:t>Кб</a:t>
            </a:r>
          </a:p>
          <a:p>
            <a:pPr lvl="2" eaLnBrk="0" hangingPunct="0">
              <a:spcBef>
                <a:spcPct val="3000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/>
              <a:t>пакеты передаются независимо друг от друга</a:t>
            </a:r>
          </a:p>
          <a:p>
            <a:pPr lvl="2" eaLnBrk="0" hangingPunct="0">
              <a:spcBef>
                <a:spcPct val="3000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/>
              <a:t>в месте назначения пакеты собираются в один файл</a:t>
            </a:r>
            <a:endParaRPr lang="en-US" altLang="ru-RU" sz="2400" dirty="0"/>
          </a:p>
          <a:p>
            <a:pPr lvl="1" eaLnBrk="0" hangingPunct="0">
              <a:spcBef>
                <a:spcPct val="30000"/>
              </a:spcBef>
              <a:buFont typeface="Wingdings" panose="05000000000000000000" pitchFamily="2" charset="2"/>
              <a:buChar char="q"/>
            </a:pPr>
            <a:r>
              <a:rPr lang="en-US" altLang="ru-RU" sz="2400" b="1" dirty="0"/>
              <a:t>IP (</a:t>
            </a:r>
            <a:r>
              <a:rPr lang="en-US" altLang="ru-RU" sz="2400" b="1" i="1" dirty="0"/>
              <a:t>Internet Protocol</a:t>
            </a:r>
            <a:r>
              <a:rPr lang="en-US" altLang="ru-RU" sz="2400" b="1" dirty="0"/>
              <a:t>)</a:t>
            </a:r>
            <a:r>
              <a:rPr lang="ru-RU" altLang="ru-RU" sz="2400" b="1" dirty="0"/>
              <a:t> </a:t>
            </a:r>
          </a:p>
          <a:p>
            <a:pPr lvl="2" eaLnBrk="0" hangingPunct="0">
              <a:spcBef>
                <a:spcPct val="3000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/>
              <a:t>определяет наилучший маршрут движения пакетов</a:t>
            </a:r>
            <a:endParaRPr lang="ru-RU" altLang="ru-RU" sz="2800" b="1" dirty="0">
              <a:solidFill>
                <a:schemeClr val="accent2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32513" y="84224"/>
            <a:ext cx="5975465" cy="909292"/>
          </a:xfrm>
        </p:spPr>
        <p:txBody>
          <a:bodyPr>
            <a:normAutofit/>
          </a:bodyPr>
          <a:lstStyle/>
          <a:p>
            <a:r>
              <a:rPr lang="ru-RU" sz="4000" dirty="0" smtClean="0"/>
              <a:t>ПРОТОКОЛЫ ИНТЕРНЕТА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633509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0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04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04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04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04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304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304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304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4" grpId="0" build="p" bldLvl="3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Line 2"/>
          <p:cNvSpPr>
            <a:spLocks noChangeShapeType="1"/>
          </p:cNvSpPr>
          <p:nvPr/>
        </p:nvSpPr>
        <p:spPr bwMode="auto">
          <a:xfrm>
            <a:off x="1919289" y="92075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34500" name="Text Box 4"/>
          <p:cNvSpPr txBox="1">
            <a:spLocks noChangeArrowheads="1"/>
          </p:cNvSpPr>
          <p:nvPr/>
        </p:nvSpPr>
        <p:spPr bwMode="auto">
          <a:xfrm>
            <a:off x="1897063" y="1240257"/>
            <a:ext cx="84328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58775" indent="-358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95350" indent="-357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433513" indent="-358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1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en-US" altLang="ru-RU" sz="2400" b="1" dirty="0"/>
              <a:t>HTTP (</a:t>
            </a:r>
            <a:r>
              <a:rPr lang="en-US" altLang="ru-RU" sz="2400" b="1" i="1" dirty="0" err="1"/>
              <a:t>HyperText</a:t>
            </a:r>
            <a:r>
              <a:rPr lang="en-US" altLang="ru-RU" sz="2400" b="1" i="1" dirty="0"/>
              <a:t> Transfer Protocol</a:t>
            </a:r>
            <a:r>
              <a:rPr lang="en-US" altLang="ru-RU" sz="2400" b="1" dirty="0"/>
              <a:t>) </a:t>
            </a:r>
            <a:r>
              <a:rPr lang="en-US" altLang="ru-RU" sz="2400" dirty="0"/>
              <a:t>– </a:t>
            </a:r>
            <a:r>
              <a:rPr lang="ru-RU" altLang="ru-RU" sz="2400" dirty="0"/>
              <a:t>служба </a:t>
            </a:r>
            <a:r>
              <a:rPr lang="en-US" altLang="ru-RU" sz="2400" dirty="0"/>
              <a:t>WWW</a:t>
            </a:r>
          </a:p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en-US" altLang="ru-RU" sz="2400" b="1" dirty="0"/>
              <a:t>FTP (</a:t>
            </a:r>
            <a:r>
              <a:rPr lang="en-US" altLang="ru-RU" sz="2400" b="1" i="1" dirty="0"/>
              <a:t>File Transfer Protocol</a:t>
            </a:r>
            <a:r>
              <a:rPr lang="en-US" altLang="ru-RU" sz="2400" b="1" dirty="0"/>
              <a:t>)</a:t>
            </a:r>
            <a:r>
              <a:rPr lang="en-US" altLang="ru-RU" sz="2400" dirty="0"/>
              <a:t> – </a:t>
            </a:r>
            <a:r>
              <a:rPr lang="ru-RU" altLang="ru-RU" sz="2400" dirty="0"/>
              <a:t>служба </a:t>
            </a:r>
            <a:r>
              <a:rPr lang="en-US" altLang="ru-RU" sz="2400" dirty="0"/>
              <a:t>FTP</a:t>
            </a:r>
            <a:endParaRPr lang="ru-RU" altLang="ru-RU" sz="2400" dirty="0"/>
          </a:p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en-US" altLang="ru-RU" sz="2400" b="1" dirty="0"/>
              <a:t>SMTP (</a:t>
            </a:r>
            <a:r>
              <a:rPr lang="en-US" altLang="ru-RU" sz="2400" b="1" i="1" dirty="0"/>
              <a:t>Simple Mail Transfer Protocol</a:t>
            </a:r>
            <a:r>
              <a:rPr lang="en-US" altLang="ru-RU" sz="2400" b="1" dirty="0"/>
              <a:t>)</a:t>
            </a:r>
            <a:r>
              <a:rPr lang="en-US" altLang="ru-RU" sz="2400" dirty="0"/>
              <a:t> – </a:t>
            </a:r>
            <a:r>
              <a:rPr lang="ru-RU" altLang="ru-RU" sz="2400" dirty="0"/>
              <a:t>отправка сообщений электронной почты</a:t>
            </a:r>
          </a:p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en-US" altLang="ru-RU" sz="2400" b="1" dirty="0"/>
              <a:t>POP3 (</a:t>
            </a:r>
            <a:r>
              <a:rPr lang="en-US" altLang="ru-RU" sz="2400" b="1" i="1" dirty="0"/>
              <a:t>Post Office Protocol</a:t>
            </a:r>
            <a:r>
              <a:rPr lang="en-US" altLang="ru-RU" sz="2400" b="1" dirty="0"/>
              <a:t>)</a:t>
            </a:r>
            <a:r>
              <a:rPr lang="en-US" altLang="ru-RU" sz="2400" dirty="0"/>
              <a:t> – </a:t>
            </a:r>
            <a:r>
              <a:rPr lang="ru-RU" altLang="ru-RU" sz="2400" dirty="0"/>
              <a:t>прием сообщений электронной почты (требуется пароль)</a:t>
            </a:r>
          </a:p>
        </p:txBody>
      </p:sp>
      <p:sp>
        <p:nvSpPr>
          <p:cNvPr id="234501" name="Rectangle 5"/>
          <p:cNvSpPr>
            <a:spLocks noChangeArrowheads="1"/>
          </p:cNvSpPr>
          <p:nvPr/>
        </p:nvSpPr>
        <p:spPr bwMode="auto">
          <a:xfrm>
            <a:off x="2778125" y="5019675"/>
            <a:ext cx="6605588" cy="4572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ru-RU" sz="2400" b="1">
                <a:solidFill>
                  <a:schemeClr val="accent2"/>
                </a:solidFill>
              </a:rPr>
              <a:t>TCP/IP</a:t>
            </a:r>
            <a:endParaRPr lang="ru-RU" altLang="ru-RU" sz="2400" b="1">
              <a:solidFill>
                <a:schemeClr val="accent2"/>
              </a:solidFill>
            </a:endParaRPr>
          </a:p>
        </p:txBody>
      </p:sp>
      <p:sp>
        <p:nvSpPr>
          <p:cNvPr id="234502" name="AutoShape 6"/>
          <p:cNvSpPr>
            <a:spLocks noChangeArrowheads="1"/>
          </p:cNvSpPr>
          <p:nvPr/>
        </p:nvSpPr>
        <p:spPr bwMode="auto">
          <a:xfrm>
            <a:off x="2757489" y="4365625"/>
            <a:ext cx="1527175" cy="527050"/>
          </a:xfrm>
          <a:prstGeom prst="roundRect">
            <a:avLst>
              <a:gd name="adj" fmla="val 16667"/>
            </a:avLst>
          </a:prstGeom>
          <a:solidFill>
            <a:srgbClr val="EAEA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altLang="ru-RU" sz="2400" b="1"/>
              <a:t>HTTP</a:t>
            </a:r>
            <a:endParaRPr lang="ru-RU" altLang="ru-RU" sz="2400" b="1"/>
          </a:p>
        </p:txBody>
      </p:sp>
      <p:sp>
        <p:nvSpPr>
          <p:cNvPr id="234503" name="AutoShape 7"/>
          <p:cNvSpPr>
            <a:spLocks noChangeArrowheads="1"/>
          </p:cNvSpPr>
          <p:nvPr/>
        </p:nvSpPr>
        <p:spPr bwMode="auto">
          <a:xfrm>
            <a:off x="4454526" y="4365625"/>
            <a:ext cx="1527175" cy="527050"/>
          </a:xfrm>
          <a:prstGeom prst="roundRect">
            <a:avLst>
              <a:gd name="adj" fmla="val 16667"/>
            </a:avLst>
          </a:prstGeom>
          <a:solidFill>
            <a:srgbClr val="EAEA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altLang="ru-RU" sz="2400" b="1"/>
              <a:t>FTP</a:t>
            </a:r>
            <a:endParaRPr lang="ru-RU" altLang="ru-RU" sz="2400" b="1"/>
          </a:p>
        </p:txBody>
      </p:sp>
      <p:sp>
        <p:nvSpPr>
          <p:cNvPr id="234504" name="AutoShape 8"/>
          <p:cNvSpPr>
            <a:spLocks noChangeArrowheads="1"/>
          </p:cNvSpPr>
          <p:nvPr/>
        </p:nvSpPr>
        <p:spPr bwMode="auto">
          <a:xfrm>
            <a:off x="6151564" y="4365625"/>
            <a:ext cx="1527175" cy="527050"/>
          </a:xfrm>
          <a:prstGeom prst="roundRect">
            <a:avLst>
              <a:gd name="adj" fmla="val 16667"/>
            </a:avLst>
          </a:prstGeom>
          <a:solidFill>
            <a:srgbClr val="EAEA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altLang="ru-RU" sz="2400" b="1"/>
              <a:t>SMTP</a:t>
            </a:r>
            <a:endParaRPr lang="ru-RU" altLang="ru-RU" sz="2400" b="1"/>
          </a:p>
        </p:txBody>
      </p:sp>
      <p:sp>
        <p:nvSpPr>
          <p:cNvPr id="234505" name="AutoShape 9"/>
          <p:cNvSpPr>
            <a:spLocks noChangeArrowheads="1"/>
          </p:cNvSpPr>
          <p:nvPr/>
        </p:nvSpPr>
        <p:spPr bwMode="auto">
          <a:xfrm>
            <a:off x="7848601" y="4365625"/>
            <a:ext cx="1527175" cy="527050"/>
          </a:xfrm>
          <a:prstGeom prst="roundRect">
            <a:avLst>
              <a:gd name="adj" fmla="val 16667"/>
            </a:avLst>
          </a:prstGeom>
          <a:solidFill>
            <a:srgbClr val="EAEA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altLang="ru-RU" sz="2400" b="1"/>
              <a:t>POP3</a:t>
            </a:r>
            <a:endParaRPr lang="ru-RU" altLang="ru-RU" sz="2400" b="1"/>
          </a:p>
        </p:txBody>
      </p:sp>
      <p:grpSp>
        <p:nvGrpSpPr>
          <p:cNvPr id="234510" name="Group 14"/>
          <p:cNvGrpSpPr>
            <a:grpSpLocks/>
          </p:cNvGrpSpPr>
          <p:nvPr/>
        </p:nvGrpSpPr>
        <p:grpSpPr bwMode="auto">
          <a:xfrm>
            <a:off x="2235200" y="5740401"/>
            <a:ext cx="7793038" cy="663575"/>
            <a:chOff x="448" y="3616"/>
            <a:chExt cx="4909" cy="418"/>
          </a:xfrm>
        </p:grpSpPr>
        <p:sp>
          <p:nvSpPr>
            <p:cNvPr id="234507" name="Text Box 11"/>
            <p:cNvSpPr txBox="1">
              <a:spLocks noChangeArrowheads="1"/>
            </p:cNvSpPr>
            <p:nvPr/>
          </p:nvSpPr>
          <p:spPr bwMode="auto">
            <a:xfrm>
              <a:off x="742" y="3683"/>
              <a:ext cx="4615" cy="288"/>
            </a:xfrm>
            <a:prstGeom prst="rect">
              <a:avLst/>
            </a:prstGeom>
            <a:solidFill>
              <a:srgbClr val="D1D1FF"/>
            </a:solidFill>
            <a:ln>
              <a:noFill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25400">
                  <a:solidFill>
                    <a:srgbClr val="00008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ru-RU" altLang="ru-RU" sz="2400" b="1"/>
                <a:t>    Все протоколы служб основаны на </a:t>
              </a:r>
              <a:r>
                <a:rPr lang="en-US" altLang="ru-RU" sz="2400" b="1"/>
                <a:t>TCP/IP!</a:t>
              </a:r>
              <a:endParaRPr lang="ru-RU" altLang="ru-RU" sz="2400" b="1"/>
            </a:p>
          </p:txBody>
        </p:sp>
        <p:sp>
          <p:nvSpPr>
            <p:cNvPr id="234508" name="Oval 12"/>
            <p:cNvSpPr>
              <a:spLocks noChangeArrowheads="1"/>
            </p:cNvSpPr>
            <p:nvPr/>
          </p:nvSpPr>
          <p:spPr bwMode="auto">
            <a:xfrm>
              <a:off x="448" y="3616"/>
              <a:ext cx="409" cy="418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 eaLnBrk="0" hangingPunct="0"/>
              <a:r>
                <a:rPr lang="ru-RU" altLang="ru-RU" sz="4400" b="1">
                  <a:solidFill>
                    <a:schemeClr val="bg1"/>
                  </a:solidFill>
                  <a:latin typeface="Arial Black" panose="020B0A04020102020204" pitchFamily="34" charset="0"/>
                </a:rPr>
                <a:t>!</a:t>
              </a:r>
            </a:p>
          </p:txBody>
        </p: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66085" y="107712"/>
            <a:ext cx="6722844" cy="909292"/>
          </a:xfrm>
        </p:spPr>
        <p:txBody>
          <a:bodyPr>
            <a:normAutofit fontScale="90000"/>
          </a:bodyPr>
          <a:lstStyle/>
          <a:p>
            <a:r>
              <a:rPr lang="ru-RU" altLang="ru-RU" dirty="0" smtClean="0"/>
              <a:t>ПРОТОКОЛЫ СЛУЖБ ИНТЕРНЕТА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6761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45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45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45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45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4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34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34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34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34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34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500" grpId="0" build="p" autoUpdateAnimBg="0"/>
      <p:bldP spid="234501" grpId="0" animBg="1"/>
      <p:bldP spid="234502" grpId="0" animBg="1"/>
      <p:bldP spid="234503" grpId="0" animBg="1"/>
      <p:bldP spid="234504" grpId="0" animBg="1"/>
      <p:bldP spid="23450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5" name="Rectangle 1027"/>
          <p:cNvSpPr>
            <a:spLocks noChangeArrowheads="1"/>
          </p:cNvSpPr>
          <p:nvPr/>
        </p:nvSpPr>
        <p:spPr bwMode="auto">
          <a:xfrm>
            <a:off x="1905000" y="2133600"/>
            <a:ext cx="8305800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ru-RU" altLang="ru-RU" sz="3200" b="1" dirty="0">
                <a:solidFill>
                  <a:schemeClr val="accent3">
                    <a:lumMod val="50000"/>
                  </a:schemeClr>
                </a:solidFill>
              </a:rPr>
              <a:t>Аппаратный адрес:</a:t>
            </a:r>
          </a:p>
          <a:p>
            <a:pPr lvl="1">
              <a:spcBef>
                <a:spcPts val="500"/>
              </a:spcBef>
              <a:spcAft>
                <a:spcPts val="500"/>
              </a:spcAft>
              <a:buFontTx/>
              <a:buChar char="–"/>
            </a:pPr>
            <a:r>
              <a:rPr lang="ru-RU" altLang="ru-RU" sz="2800" dirty="0"/>
              <a:t>00:E0:29:78:96:FF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ru-RU" altLang="ru-RU" sz="3200" b="1" dirty="0">
                <a:solidFill>
                  <a:schemeClr val="accent3">
                    <a:lumMod val="50000"/>
                  </a:schemeClr>
                </a:solidFill>
              </a:rPr>
              <a:t>Числовой составной адрес</a:t>
            </a:r>
            <a:r>
              <a:rPr lang="en-US" altLang="ru-RU" sz="3200" b="1" dirty="0">
                <a:solidFill>
                  <a:schemeClr val="accent3">
                    <a:lumMod val="50000"/>
                  </a:schemeClr>
                </a:solidFill>
              </a:rPr>
              <a:t> (IP - </a:t>
            </a:r>
            <a:r>
              <a:rPr lang="ru-RU" altLang="ru-RU" sz="3200" b="1" dirty="0">
                <a:solidFill>
                  <a:schemeClr val="accent3">
                    <a:lumMod val="50000"/>
                  </a:schemeClr>
                </a:solidFill>
              </a:rPr>
              <a:t>адрес):</a:t>
            </a:r>
          </a:p>
          <a:p>
            <a:pPr lvl="1">
              <a:spcBef>
                <a:spcPts val="500"/>
              </a:spcBef>
              <a:spcAft>
                <a:spcPts val="500"/>
              </a:spcAft>
              <a:buFontTx/>
              <a:buChar char="–"/>
            </a:pPr>
            <a:r>
              <a:rPr lang="ru-RU" altLang="ru-RU" sz="2800" dirty="0">
                <a:solidFill>
                  <a:srgbClr val="000000"/>
                </a:solidFill>
              </a:rPr>
              <a:t>194.85.160.050</a:t>
            </a:r>
            <a:endParaRPr lang="ru-RU" altLang="ru-RU" sz="2800" dirty="0"/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ru-RU" altLang="ru-RU" sz="3200" b="1" dirty="0">
                <a:solidFill>
                  <a:schemeClr val="accent3">
                    <a:lumMod val="50000"/>
                  </a:schemeClr>
                </a:solidFill>
              </a:rPr>
              <a:t>Символьный адрес (доменное имя):</a:t>
            </a:r>
          </a:p>
          <a:p>
            <a:pPr lvl="1">
              <a:spcBef>
                <a:spcPts val="500"/>
              </a:spcBef>
              <a:spcAft>
                <a:spcPts val="500"/>
              </a:spcAft>
              <a:buFontTx/>
              <a:buChar char="–"/>
            </a:pPr>
            <a:r>
              <a:rPr lang="ru-RU" altLang="ru-RU" sz="2800" dirty="0">
                <a:solidFill>
                  <a:srgbClr val="000000"/>
                </a:solidFill>
              </a:rPr>
              <a:t>de.ifmo.ru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44978" y="168439"/>
            <a:ext cx="7218951" cy="956762"/>
          </a:xfrm>
        </p:spPr>
        <p:txBody>
          <a:bodyPr>
            <a:normAutofit/>
          </a:bodyPr>
          <a:lstStyle/>
          <a:p>
            <a:r>
              <a:rPr lang="ru-RU" altLang="ru-RU" sz="4000" dirty="0" smtClean="0"/>
              <a:t>СПОСОБЫ АДРЕСАЦИИ В ИНТЕРНЕТ</a:t>
            </a:r>
            <a:endParaRPr lang="ru-RU" sz="4000" dirty="0"/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>
            <a:off x="1905000" y="1203742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0537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Line 2"/>
          <p:cNvSpPr>
            <a:spLocks noChangeShapeType="1"/>
          </p:cNvSpPr>
          <p:nvPr/>
        </p:nvSpPr>
        <p:spPr bwMode="auto">
          <a:xfrm>
            <a:off x="1900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24260" name="Rectangle 4"/>
          <p:cNvSpPr>
            <a:spLocks noChangeArrowheads="1"/>
          </p:cNvSpPr>
          <p:nvPr/>
        </p:nvSpPr>
        <p:spPr bwMode="auto">
          <a:xfrm>
            <a:off x="4649788" y="1676400"/>
            <a:ext cx="2747868" cy="523220"/>
          </a:xfrm>
          <a:prstGeom prst="rect">
            <a:avLst/>
          </a:prstGeom>
          <a:solidFill>
            <a:srgbClr val="FFFFC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2800" b="1"/>
              <a:t>193.162.230.115 </a:t>
            </a:r>
          </a:p>
        </p:txBody>
      </p:sp>
      <p:sp>
        <p:nvSpPr>
          <p:cNvPr id="224262" name="AutoShape 6"/>
          <p:cNvSpPr>
            <a:spLocks noChangeArrowheads="1"/>
          </p:cNvSpPr>
          <p:nvPr/>
        </p:nvSpPr>
        <p:spPr bwMode="auto">
          <a:xfrm>
            <a:off x="4367213" y="993776"/>
            <a:ext cx="804862" cy="408623"/>
          </a:xfrm>
          <a:prstGeom prst="wedgeRoundRectCallout">
            <a:avLst>
              <a:gd name="adj1" fmla="val 28699"/>
              <a:gd name="adj2" fmla="val 124310"/>
              <a:gd name="adj3" fmla="val 16667"/>
            </a:avLst>
          </a:prstGeom>
          <a:solidFill>
            <a:srgbClr val="EAEAEA"/>
          </a:solidFill>
          <a:ln>
            <a:noFill/>
          </a:ln>
          <a:effectLst>
            <a:outerShdw dist="40161" dir="4293903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54000" rIns="18000">
            <a:spAutoFit/>
          </a:bodyPr>
          <a:lstStyle/>
          <a:p>
            <a:pPr algn="ctr"/>
            <a:r>
              <a:rPr lang="ru-RU" altLang="ru-RU"/>
              <a:t>0..255</a:t>
            </a:r>
          </a:p>
        </p:txBody>
      </p:sp>
      <p:sp>
        <p:nvSpPr>
          <p:cNvPr id="224267" name="AutoShape 11"/>
          <p:cNvSpPr>
            <a:spLocks noChangeArrowheads="1"/>
          </p:cNvSpPr>
          <p:nvPr/>
        </p:nvSpPr>
        <p:spPr bwMode="auto">
          <a:xfrm>
            <a:off x="5248276" y="982664"/>
            <a:ext cx="804863" cy="408623"/>
          </a:xfrm>
          <a:prstGeom prst="wedgeRoundRectCallout">
            <a:avLst>
              <a:gd name="adj1" fmla="val 6806"/>
              <a:gd name="adj2" fmla="val 129843"/>
              <a:gd name="adj3" fmla="val 16667"/>
            </a:avLst>
          </a:prstGeom>
          <a:solidFill>
            <a:srgbClr val="EAEAEA"/>
          </a:solidFill>
          <a:ln>
            <a:noFill/>
          </a:ln>
          <a:effectLst>
            <a:outerShdw dist="40161" dir="4293903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54000" rIns="18000">
            <a:spAutoFit/>
          </a:bodyPr>
          <a:lstStyle/>
          <a:p>
            <a:pPr algn="ctr"/>
            <a:r>
              <a:rPr lang="ru-RU" altLang="ru-RU"/>
              <a:t>0..255</a:t>
            </a:r>
          </a:p>
        </p:txBody>
      </p:sp>
      <p:sp>
        <p:nvSpPr>
          <p:cNvPr id="224268" name="AutoShape 12"/>
          <p:cNvSpPr>
            <a:spLocks noChangeArrowheads="1"/>
          </p:cNvSpPr>
          <p:nvPr/>
        </p:nvSpPr>
        <p:spPr bwMode="auto">
          <a:xfrm>
            <a:off x="6118226" y="971551"/>
            <a:ext cx="804863" cy="408623"/>
          </a:xfrm>
          <a:prstGeom prst="wedgeRoundRectCallout">
            <a:avLst>
              <a:gd name="adj1" fmla="val -10944"/>
              <a:gd name="adj2" fmla="val 146046"/>
              <a:gd name="adj3" fmla="val 16667"/>
            </a:avLst>
          </a:prstGeom>
          <a:solidFill>
            <a:srgbClr val="EAEAEA"/>
          </a:solidFill>
          <a:ln>
            <a:noFill/>
          </a:ln>
          <a:effectLst>
            <a:outerShdw dist="40161" dir="4293903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54000" rIns="18000">
            <a:spAutoFit/>
          </a:bodyPr>
          <a:lstStyle/>
          <a:p>
            <a:pPr algn="ctr"/>
            <a:r>
              <a:rPr lang="ru-RU" altLang="ru-RU"/>
              <a:t>0..255</a:t>
            </a:r>
          </a:p>
        </p:txBody>
      </p:sp>
      <p:sp>
        <p:nvSpPr>
          <p:cNvPr id="224269" name="AutoShape 13"/>
          <p:cNvSpPr>
            <a:spLocks noChangeArrowheads="1"/>
          </p:cNvSpPr>
          <p:nvPr/>
        </p:nvSpPr>
        <p:spPr bwMode="auto">
          <a:xfrm>
            <a:off x="6999288" y="960439"/>
            <a:ext cx="804862" cy="408623"/>
          </a:xfrm>
          <a:prstGeom prst="wedgeRoundRectCallout">
            <a:avLst>
              <a:gd name="adj1" fmla="val -30079"/>
              <a:gd name="adj2" fmla="val 140907"/>
              <a:gd name="adj3" fmla="val 16667"/>
            </a:avLst>
          </a:prstGeom>
          <a:solidFill>
            <a:srgbClr val="EAEAEA"/>
          </a:solidFill>
          <a:ln>
            <a:noFill/>
          </a:ln>
          <a:effectLst>
            <a:outerShdw dist="40161" dir="4293903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54000" rIns="18000">
            <a:spAutoFit/>
          </a:bodyPr>
          <a:lstStyle/>
          <a:p>
            <a:pPr algn="ctr"/>
            <a:r>
              <a:rPr lang="ru-RU" altLang="ru-RU"/>
              <a:t>0..255</a:t>
            </a:r>
          </a:p>
        </p:txBody>
      </p:sp>
      <p:sp>
        <p:nvSpPr>
          <p:cNvPr id="224270" name="Rectangle 14"/>
          <p:cNvSpPr>
            <a:spLocks noChangeArrowheads="1"/>
          </p:cNvSpPr>
          <p:nvPr/>
        </p:nvSpPr>
        <p:spPr bwMode="auto">
          <a:xfrm>
            <a:off x="2447925" y="1677988"/>
            <a:ext cx="1905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ru-RU" sz="2800" b="1"/>
              <a:t>IP-</a:t>
            </a:r>
            <a:r>
              <a:rPr lang="ru-RU" altLang="ru-RU" sz="2800" b="1"/>
              <a:t>адрес: </a:t>
            </a:r>
          </a:p>
        </p:txBody>
      </p:sp>
      <p:sp>
        <p:nvSpPr>
          <p:cNvPr id="224271" name="Rectangle 15"/>
          <p:cNvSpPr>
            <a:spLocks noChangeArrowheads="1"/>
          </p:cNvSpPr>
          <p:nvPr/>
        </p:nvSpPr>
        <p:spPr bwMode="auto">
          <a:xfrm>
            <a:off x="5397501" y="2151063"/>
            <a:ext cx="124707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ru-RU" sz="2800" b="1"/>
              <a:t>w</a:t>
            </a:r>
            <a:r>
              <a:rPr lang="ru-RU" altLang="ru-RU" sz="2800" b="1"/>
              <a:t>.</a:t>
            </a:r>
            <a:r>
              <a:rPr lang="en-US" altLang="ru-RU" sz="2800" b="1"/>
              <a:t>x</a:t>
            </a:r>
            <a:r>
              <a:rPr lang="ru-RU" altLang="ru-RU" sz="2800" b="1"/>
              <a:t>.</a:t>
            </a:r>
            <a:r>
              <a:rPr lang="en-US" altLang="ru-RU" sz="2800" b="1"/>
              <a:t>y</a:t>
            </a:r>
            <a:r>
              <a:rPr lang="ru-RU" altLang="ru-RU" sz="2800" b="1"/>
              <a:t>.</a:t>
            </a:r>
            <a:r>
              <a:rPr lang="en-US" altLang="ru-RU" sz="2800" b="1"/>
              <a:t>z</a:t>
            </a:r>
            <a:r>
              <a:rPr lang="ru-RU" altLang="ru-RU" sz="2800" b="1"/>
              <a:t> </a:t>
            </a:r>
          </a:p>
        </p:txBody>
      </p:sp>
      <p:sp>
        <p:nvSpPr>
          <p:cNvPr id="224272" name="AutoShape 16"/>
          <p:cNvSpPr>
            <a:spLocks noChangeArrowheads="1"/>
          </p:cNvSpPr>
          <p:nvPr/>
        </p:nvSpPr>
        <p:spPr bwMode="auto">
          <a:xfrm>
            <a:off x="7826375" y="1928814"/>
            <a:ext cx="2635250" cy="715089"/>
          </a:xfrm>
          <a:prstGeom prst="wedgeRoundRectCallout">
            <a:avLst>
              <a:gd name="adj1" fmla="val -94037"/>
              <a:gd name="adj2" fmla="val 19477"/>
              <a:gd name="adj3" fmla="val 16667"/>
            </a:avLst>
          </a:prstGeom>
          <a:solidFill>
            <a:srgbClr val="EAEA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54000" rIns="18000">
            <a:spAutoFit/>
          </a:bodyPr>
          <a:lstStyle/>
          <a:p>
            <a:pPr algn="ctr"/>
            <a:r>
              <a:rPr lang="ru-RU" altLang="ru-RU"/>
              <a:t>номер сети + номер компьютера в сети</a:t>
            </a:r>
          </a:p>
        </p:txBody>
      </p:sp>
      <p:graphicFrame>
        <p:nvGraphicFramePr>
          <p:cNvPr id="224645" name="Group 389"/>
          <p:cNvGraphicFramePr>
            <a:graphicFrameLocks noGrp="1"/>
          </p:cNvGraphicFramePr>
          <p:nvPr/>
        </p:nvGraphicFramePr>
        <p:xfrm>
          <a:off x="1868489" y="3125789"/>
          <a:ext cx="8510587" cy="1989963"/>
        </p:xfrm>
        <a:graphic>
          <a:graphicData uri="http://schemas.openxmlformats.org/drawingml/2006/table">
            <a:tbl>
              <a:tblPr/>
              <a:tblGrid>
                <a:gridCol w="933450"/>
                <a:gridCol w="1147762"/>
                <a:gridCol w="1089025"/>
                <a:gridCol w="1619250"/>
                <a:gridCol w="1924050"/>
                <a:gridCol w="1797050"/>
              </a:tblGrid>
              <a:tr h="431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Класс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сети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  <a:endParaRPr kumimoji="0" lang="ru-RU" altLang="ru-RU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Номер сети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Номер компьютера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Число сетей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Число компьютеров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498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endParaRPr kumimoji="0" lang="ru-RU" altLang="ru-RU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1..126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w</a:t>
                      </a:r>
                      <a:endParaRPr kumimoji="0" lang="ru-RU" alt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x.y.z</a:t>
                      </a:r>
                      <a:endParaRPr kumimoji="0" lang="ru-RU" alt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126</a:t>
                      </a:r>
                      <a:endParaRPr kumimoji="0" lang="ru-RU" alt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16777214</a:t>
                      </a:r>
                      <a:endParaRPr kumimoji="0" lang="ru-RU" alt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31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endParaRPr kumimoji="0" lang="ru-RU" altLang="ru-RU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128-191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w.x</a:t>
                      </a:r>
                      <a:endParaRPr kumimoji="0" lang="ru-RU" alt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y.z</a:t>
                      </a:r>
                      <a:endParaRPr kumimoji="0" lang="ru-RU" alt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16384</a:t>
                      </a:r>
                      <a:endParaRPr kumimoji="0" lang="ru-RU" alt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65534</a:t>
                      </a:r>
                      <a:endParaRPr kumimoji="0" lang="ru-RU" alt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431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  <a:endParaRPr kumimoji="0" lang="ru-RU" altLang="ru-RU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192-223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w.x.y</a:t>
                      </a:r>
                      <a:endParaRPr kumimoji="0" lang="ru-RU" alt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kumimoji="0" lang="ru-RU" alt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2097151</a:t>
                      </a:r>
                      <a:endParaRPr kumimoji="0" lang="ru-RU" alt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254</a:t>
                      </a:r>
                      <a:endParaRPr kumimoji="0" lang="ru-RU" alt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224646" name="Rectangle 390"/>
          <p:cNvSpPr>
            <a:spLocks noChangeArrowheads="1"/>
          </p:cNvSpPr>
          <p:nvPr/>
        </p:nvSpPr>
        <p:spPr bwMode="auto">
          <a:xfrm>
            <a:off x="2330451" y="5661026"/>
            <a:ext cx="67041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2400"/>
              <a:t>Классы </a:t>
            </a:r>
            <a:r>
              <a:rPr lang="en-US" altLang="ru-RU" sz="2400" b="1"/>
              <a:t>D</a:t>
            </a:r>
            <a:r>
              <a:rPr lang="ru-RU" altLang="ru-RU" sz="2400"/>
              <a:t> и </a:t>
            </a:r>
            <a:r>
              <a:rPr lang="en-US" altLang="ru-RU" sz="2400" b="1"/>
              <a:t>E</a:t>
            </a:r>
            <a:r>
              <a:rPr lang="en-US" altLang="ru-RU" sz="2400"/>
              <a:t> </a:t>
            </a:r>
            <a:r>
              <a:rPr lang="ru-RU" altLang="ru-RU" sz="2400"/>
              <a:t>используются для служебных целей.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16535" y="23907"/>
            <a:ext cx="5975465" cy="726324"/>
          </a:xfrm>
        </p:spPr>
        <p:txBody>
          <a:bodyPr>
            <a:normAutofit/>
          </a:bodyPr>
          <a:lstStyle/>
          <a:p>
            <a:r>
              <a:rPr lang="en-US" altLang="ru-RU" dirty="0" smtClean="0"/>
              <a:t>IP-</a:t>
            </a:r>
            <a:r>
              <a:rPr lang="ru-RU" altLang="ru-RU" dirty="0" smtClean="0"/>
              <a:t>АДРЕСА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18181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4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24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24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24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24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24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24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24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24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24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60" grpId="0" animBg="1"/>
      <p:bldP spid="224262" grpId="0" animBg="1"/>
      <p:bldP spid="224267" grpId="0" animBg="1"/>
      <p:bldP spid="224268" grpId="0" animBg="1"/>
      <p:bldP spid="224269" grpId="0" animBg="1"/>
      <p:bldP spid="224270" grpId="0"/>
      <p:bldP spid="224271" grpId="0"/>
      <p:bldP spid="224272" grpId="0" animBg="1"/>
      <p:bldP spid="22464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Line 2"/>
          <p:cNvSpPr>
            <a:spLocks noChangeShapeType="1"/>
          </p:cNvSpPr>
          <p:nvPr/>
        </p:nvSpPr>
        <p:spPr bwMode="auto">
          <a:xfrm>
            <a:off x="1900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26308" name="Text Box 4"/>
          <p:cNvSpPr txBox="1">
            <a:spLocks noChangeArrowheads="1"/>
          </p:cNvSpPr>
          <p:nvPr/>
        </p:nvSpPr>
        <p:spPr bwMode="auto">
          <a:xfrm>
            <a:off x="2622884" y="822326"/>
            <a:ext cx="7443454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0850" indent="-4508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90600" indent="-360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99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ru-RU" altLang="ru-RU" sz="2000" b="1" dirty="0">
                <a:solidFill>
                  <a:schemeClr val="accent3">
                    <a:lumMod val="50000"/>
                  </a:schemeClr>
                </a:solidFill>
              </a:rPr>
              <a:t>Домен</a:t>
            </a:r>
            <a:r>
              <a:rPr lang="ru-RU" altLang="ru-RU" sz="2000" b="1" dirty="0">
                <a:solidFill>
                  <a:schemeClr val="accent2"/>
                </a:solidFill>
              </a:rPr>
              <a:t> </a:t>
            </a:r>
            <a:r>
              <a:rPr lang="ru-RU" altLang="ru-RU" sz="2000" dirty="0"/>
              <a:t>– это группа компьютеров, объединенных по некоторому признаку.</a:t>
            </a:r>
          </a:p>
        </p:txBody>
      </p:sp>
      <p:sp>
        <p:nvSpPr>
          <p:cNvPr id="226309" name="Rectangle 5"/>
          <p:cNvSpPr>
            <a:spLocks noChangeArrowheads="1"/>
          </p:cNvSpPr>
          <p:nvPr/>
        </p:nvSpPr>
        <p:spPr bwMode="auto">
          <a:xfrm>
            <a:off x="3905250" y="1409700"/>
            <a:ext cx="3659848" cy="523220"/>
          </a:xfrm>
          <a:prstGeom prst="rect">
            <a:avLst/>
          </a:prstGeom>
          <a:solidFill>
            <a:srgbClr val="FFFFC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ru-RU" sz="2800" b="1"/>
              <a:t>www.qqq.microsoft.ru</a:t>
            </a:r>
            <a:r>
              <a:rPr lang="ru-RU" altLang="ru-RU" sz="2800" b="1"/>
              <a:t> </a:t>
            </a:r>
          </a:p>
        </p:txBody>
      </p:sp>
      <p:sp>
        <p:nvSpPr>
          <p:cNvPr id="226310" name="AutoShape 6"/>
          <p:cNvSpPr>
            <a:spLocks noChangeArrowheads="1"/>
          </p:cNvSpPr>
          <p:nvPr/>
        </p:nvSpPr>
        <p:spPr bwMode="auto">
          <a:xfrm>
            <a:off x="8020050" y="2224088"/>
            <a:ext cx="1576388" cy="646986"/>
          </a:xfrm>
          <a:prstGeom prst="wedgeRoundRectCallout">
            <a:avLst>
              <a:gd name="adj1" fmla="val -77394"/>
              <a:gd name="adj2" fmla="val -110769"/>
              <a:gd name="adj3" fmla="val 16667"/>
            </a:avLst>
          </a:prstGeom>
          <a:solidFill>
            <a:srgbClr val="EAEAEA"/>
          </a:solidFill>
          <a:ln>
            <a:noFill/>
          </a:ln>
          <a:effectLst>
            <a:outerShdw dist="40161" dir="4293903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54000" rIns="18000">
            <a:spAutoFit/>
          </a:bodyPr>
          <a:lstStyle/>
          <a:p>
            <a:pPr algn="ctr"/>
            <a:r>
              <a:rPr lang="ru-RU" altLang="ru-RU" sz="1600"/>
              <a:t>домен 1-ого уровня</a:t>
            </a:r>
          </a:p>
        </p:txBody>
      </p:sp>
      <p:sp>
        <p:nvSpPr>
          <p:cNvPr id="226311" name="AutoShape 7"/>
          <p:cNvSpPr>
            <a:spLocks noChangeArrowheads="1"/>
          </p:cNvSpPr>
          <p:nvPr/>
        </p:nvSpPr>
        <p:spPr bwMode="auto">
          <a:xfrm>
            <a:off x="6146800" y="2224088"/>
            <a:ext cx="1576388" cy="646986"/>
          </a:xfrm>
          <a:prstGeom prst="wedgeRoundRectCallout">
            <a:avLst>
              <a:gd name="adj1" fmla="val -36204"/>
              <a:gd name="adj2" fmla="val -106153"/>
              <a:gd name="adj3" fmla="val 16667"/>
            </a:avLst>
          </a:prstGeom>
          <a:solidFill>
            <a:srgbClr val="EAEAEA"/>
          </a:solidFill>
          <a:ln>
            <a:noFill/>
          </a:ln>
          <a:effectLst>
            <a:outerShdw dist="40161" dir="4293903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54000" rIns="18000">
            <a:spAutoFit/>
          </a:bodyPr>
          <a:lstStyle/>
          <a:p>
            <a:pPr algn="ctr"/>
            <a:r>
              <a:rPr lang="ru-RU" altLang="ru-RU" sz="1600"/>
              <a:t>домен 2-ого уровня</a:t>
            </a:r>
          </a:p>
        </p:txBody>
      </p:sp>
      <p:sp>
        <p:nvSpPr>
          <p:cNvPr id="226312" name="AutoShape 8"/>
          <p:cNvSpPr>
            <a:spLocks noChangeArrowheads="1"/>
          </p:cNvSpPr>
          <p:nvPr/>
        </p:nvSpPr>
        <p:spPr bwMode="auto">
          <a:xfrm>
            <a:off x="4273550" y="2224088"/>
            <a:ext cx="1576388" cy="646986"/>
          </a:xfrm>
          <a:prstGeom prst="wedgeRoundRectCallout">
            <a:avLst>
              <a:gd name="adj1" fmla="val 3574"/>
              <a:gd name="adj2" fmla="val -102819"/>
              <a:gd name="adj3" fmla="val 16667"/>
            </a:avLst>
          </a:prstGeom>
          <a:solidFill>
            <a:srgbClr val="EAEAEA"/>
          </a:solidFill>
          <a:ln>
            <a:noFill/>
          </a:ln>
          <a:effectLst>
            <a:outerShdw dist="40161" dir="4293903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54000" rIns="18000">
            <a:spAutoFit/>
          </a:bodyPr>
          <a:lstStyle/>
          <a:p>
            <a:pPr algn="ctr"/>
            <a:r>
              <a:rPr lang="ru-RU" altLang="ru-RU" sz="1600"/>
              <a:t>домен 3-ого уровня</a:t>
            </a:r>
          </a:p>
        </p:txBody>
      </p:sp>
      <p:sp>
        <p:nvSpPr>
          <p:cNvPr id="226313" name="AutoShape 9"/>
          <p:cNvSpPr>
            <a:spLocks noChangeArrowheads="1"/>
          </p:cNvSpPr>
          <p:nvPr/>
        </p:nvSpPr>
        <p:spPr bwMode="auto">
          <a:xfrm>
            <a:off x="2400300" y="2224088"/>
            <a:ext cx="1576388" cy="646986"/>
          </a:xfrm>
          <a:prstGeom prst="wedgeRoundRectCallout">
            <a:avLst>
              <a:gd name="adj1" fmla="val 69333"/>
              <a:gd name="adj2" fmla="val -110255"/>
              <a:gd name="adj3" fmla="val 16667"/>
            </a:avLst>
          </a:prstGeom>
          <a:solidFill>
            <a:srgbClr val="EAEAEA"/>
          </a:solidFill>
          <a:ln>
            <a:noFill/>
          </a:ln>
          <a:effectLst>
            <a:outerShdw dist="40161" dir="4293903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54000" rIns="18000">
            <a:spAutoFit/>
          </a:bodyPr>
          <a:lstStyle/>
          <a:p>
            <a:pPr algn="ctr"/>
            <a:r>
              <a:rPr lang="ru-RU" altLang="ru-RU" sz="1600"/>
              <a:t>домен 4-ого уровня</a:t>
            </a:r>
          </a:p>
        </p:txBody>
      </p:sp>
      <p:sp>
        <p:nvSpPr>
          <p:cNvPr id="226314" name="Text Box 10"/>
          <p:cNvSpPr txBox="1">
            <a:spLocks noChangeArrowheads="1"/>
          </p:cNvSpPr>
          <p:nvPr/>
        </p:nvSpPr>
        <p:spPr bwMode="auto">
          <a:xfrm>
            <a:off x="1973263" y="3000376"/>
            <a:ext cx="81407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0850" indent="-4508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90600" indent="-360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99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ru-RU" altLang="ru-RU" sz="2000" b="1">
                <a:solidFill>
                  <a:schemeClr val="accent3">
                    <a:lumMod val="50000"/>
                  </a:schemeClr>
                </a:solidFill>
              </a:rPr>
              <a:t>Домены 1-ого уровня</a:t>
            </a:r>
            <a:r>
              <a:rPr lang="en-US" altLang="ru-RU" sz="2000" b="1">
                <a:solidFill>
                  <a:schemeClr val="accent3">
                    <a:lumMod val="50000"/>
                  </a:schemeClr>
                </a:solidFill>
              </a:rPr>
              <a:t> (</a:t>
            </a:r>
            <a:r>
              <a:rPr lang="ru-RU" altLang="ru-RU" sz="2000" b="1">
                <a:solidFill>
                  <a:schemeClr val="accent3">
                    <a:lumMod val="50000"/>
                  </a:schemeClr>
                </a:solidFill>
              </a:rPr>
              <a:t>доменные зоны</a:t>
            </a:r>
            <a:r>
              <a:rPr lang="en-US" altLang="ru-RU" sz="2000" b="1">
                <a:solidFill>
                  <a:schemeClr val="accent3">
                    <a:lumMod val="50000"/>
                  </a:schemeClr>
                </a:solidFill>
              </a:rPr>
              <a:t>)</a:t>
            </a:r>
            <a:endParaRPr lang="ru-RU" altLang="ru-RU" sz="2000">
              <a:solidFill>
                <a:schemeClr val="accent3">
                  <a:lumMod val="50000"/>
                </a:schemeClr>
              </a:solidFill>
            </a:endParaRPr>
          </a:p>
        </p:txBody>
      </p:sp>
      <p:graphicFrame>
        <p:nvGraphicFramePr>
          <p:cNvPr id="226384" name="Group 80"/>
          <p:cNvGraphicFramePr>
            <a:graphicFrameLocks noGrp="1"/>
          </p:cNvGraphicFramePr>
          <p:nvPr/>
        </p:nvGraphicFramePr>
        <p:xfrm>
          <a:off x="2079625" y="3508375"/>
          <a:ext cx="8243888" cy="2926080"/>
        </p:xfrm>
        <a:graphic>
          <a:graphicData uri="http://schemas.openxmlformats.org/drawingml/2006/table">
            <a:tbl>
              <a:tblPr/>
              <a:tblGrid>
                <a:gridCol w="4122738"/>
                <a:gridCol w="4121150"/>
              </a:tblGrid>
              <a:tr h="195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Вид организации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Страна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kumimoji="0" lang="en-US" altLang="ru-RU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com</a:t>
                      </a:r>
                      <a:r>
                        <a:rPr kumimoji="0" lang="en-US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 </a:t>
                      </a: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коммерческие организации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.ru   </a:t>
                      </a: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Россия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195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.edu</a:t>
                      </a:r>
                      <a:r>
                        <a:rPr kumimoji="0" lang="en-US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  </a:t>
                      </a: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образование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.ua</a:t>
                      </a:r>
                      <a:r>
                        <a:rPr kumimoji="0" lang="ru-RU" altLang="ru-RU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 </a:t>
                      </a: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Украина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193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.gov</a:t>
                      </a:r>
                      <a:r>
                        <a:rPr kumimoji="0" lang="en-US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  </a:t>
                      </a: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правительство США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.by</a:t>
                      </a:r>
                      <a:r>
                        <a:rPr kumimoji="0" lang="ru-RU" altLang="ru-RU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 </a:t>
                      </a: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Белоруссия</a:t>
                      </a:r>
                      <a:endParaRPr kumimoji="0" lang="ru-RU" altLang="ru-RU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195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.mil     </a:t>
                      </a: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военные ведомства США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.uk</a:t>
                      </a:r>
                      <a:r>
                        <a:rPr kumimoji="0" lang="ru-RU" altLang="ru-RU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 </a:t>
                      </a: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Великобритания</a:t>
                      </a:r>
                      <a:endParaRPr kumimoji="0" lang="ru-RU" altLang="ru-RU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.org</a:t>
                      </a:r>
                      <a:r>
                        <a:rPr kumimoji="0" lang="en-US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kumimoji="0" lang="en-US" altLang="ru-RU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.net</a:t>
                      </a:r>
                      <a:r>
                        <a:rPr kumimoji="0" lang="en-US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  </a:t>
                      </a: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разные организации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.it</a:t>
                      </a:r>
                      <a:r>
                        <a:rPr kumimoji="0" lang="ru-RU" altLang="ru-RU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   </a:t>
                      </a: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Италия</a:t>
                      </a:r>
                      <a:endParaRPr kumimoji="0" lang="ru-RU" altLang="ru-RU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.info  </a:t>
                      </a:r>
                      <a:r>
                        <a:rPr kumimoji="0" lang="en-US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информационные сайты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.jp</a:t>
                      </a:r>
                      <a:r>
                        <a:rPr kumimoji="0" lang="ru-RU" altLang="ru-RU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  </a:t>
                      </a: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Япония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195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.biz     </a:t>
                      </a: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бизнес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.cn</a:t>
                      </a:r>
                      <a:r>
                        <a:rPr kumimoji="0" lang="ru-RU" altLang="ru-RU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 </a:t>
                      </a: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Китай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46800" y="54349"/>
            <a:ext cx="5975465" cy="638675"/>
          </a:xfrm>
        </p:spPr>
        <p:txBody>
          <a:bodyPr>
            <a:normAutofit fontScale="90000"/>
          </a:bodyPr>
          <a:lstStyle/>
          <a:p>
            <a:r>
              <a:rPr lang="ru-RU" altLang="ru-RU" sz="4000" dirty="0" smtClean="0"/>
              <a:t>ДОМЕННЫЕ АДРЕСА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449804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6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6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6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26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26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26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26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26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08" grpId="0" autoUpdateAnimBg="0"/>
      <p:bldP spid="226309" grpId="0" animBg="1" autoUpdateAnimBg="0"/>
      <p:bldP spid="226310" grpId="0" animBg="1" autoUpdateAnimBg="0"/>
      <p:bldP spid="226311" grpId="0" animBg="1" autoUpdateAnimBg="0"/>
      <p:bldP spid="226312" grpId="0" animBg="1" autoUpdateAnimBg="0"/>
      <p:bldP spid="226313" grpId="0" animBg="1" autoUpdateAnimBg="0"/>
      <p:bldP spid="226314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Line 2"/>
          <p:cNvSpPr>
            <a:spLocks noChangeShapeType="1"/>
          </p:cNvSpPr>
          <p:nvPr/>
        </p:nvSpPr>
        <p:spPr bwMode="auto">
          <a:xfrm>
            <a:off x="1900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28356" name="Text Box 4"/>
          <p:cNvSpPr txBox="1">
            <a:spLocks noChangeArrowheads="1"/>
          </p:cNvSpPr>
          <p:nvPr/>
        </p:nvSpPr>
        <p:spPr bwMode="auto">
          <a:xfrm>
            <a:off x="1925638" y="925514"/>
            <a:ext cx="81407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0850" indent="-4508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90600" indent="-360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99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ru-RU" sz="2400" b="1" dirty="0">
                <a:solidFill>
                  <a:schemeClr val="accent3">
                    <a:lumMod val="50000"/>
                  </a:schemeClr>
                </a:solidFill>
              </a:rPr>
              <a:t>DNS </a:t>
            </a:r>
            <a:r>
              <a:rPr lang="en-US" altLang="ru-RU" sz="2400" b="1" i="1" dirty="0">
                <a:solidFill>
                  <a:schemeClr val="accent3">
                    <a:lumMod val="50000"/>
                  </a:schemeClr>
                </a:solidFill>
              </a:rPr>
              <a:t>(Domain Name Service)</a:t>
            </a:r>
            <a:r>
              <a:rPr lang="ru-RU" altLang="ru-RU" sz="2400" b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ru-RU" altLang="ru-RU" sz="2400" dirty="0"/>
              <a:t>–</a:t>
            </a:r>
            <a:r>
              <a:rPr lang="en-US" altLang="ru-RU" sz="2400" dirty="0"/>
              <a:t> </a:t>
            </a:r>
            <a:r>
              <a:rPr lang="ru-RU" altLang="ru-RU" sz="2400" dirty="0"/>
              <a:t>служба доменных имен, которая преобразует доменный адрес в </a:t>
            </a:r>
            <a:r>
              <a:rPr lang="en-US" altLang="ru-RU" sz="2400" dirty="0"/>
              <a:t>IP-</a:t>
            </a:r>
            <a:r>
              <a:rPr lang="ru-RU" altLang="ru-RU" sz="2400" dirty="0"/>
              <a:t>адрес.</a:t>
            </a:r>
          </a:p>
        </p:txBody>
      </p:sp>
      <p:pic>
        <p:nvPicPr>
          <p:cNvPr id="22835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836738"/>
            <a:ext cx="432435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8360" name="AutoShape 8"/>
          <p:cNvSpPr>
            <a:spLocks noChangeArrowheads="1"/>
          </p:cNvSpPr>
          <p:nvPr/>
        </p:nvSpPr>
        <p:spPr bwMode="auto">
          <a:xfrm>
            <a:off x="3651251" y="2128839"/>
            <a:ext cx="2613025" cy="408623"/>
          </a:xfrm>
          <a:prstGeom prst="wedgeRoundRectCallout">
            <a:avLst>
              <a:gd name="adj1" fmla="val -57231"/>
              <a:gd name="adj2" fmla="val 85102"/>
              <a:gd name="adj3" fmla="val 16667"/>
            </a:avLst>
          </a:prstGeom>
          <a:solidFill>
            <a:srgbClr val="FFFFCC"/>
          </a:solidFill>
          <a:ln>
            <a:noFill/>
          </a:ln>
          <a:effectLst>
            <a:outerShdw dist="40161" dir="4293903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54000" rIns="18000">
            <a:spAutoFit/>
          </a:bodyPr>
          <a:lstStyle/>
          <a:p>
            <a:pPr algn="ctr"/>
            <a:r>
              <a:rPr lang="en-US" altLang="ru-RU"/>
              <a:t>www.google.com</a:t>
            </a:r>
            <a:endParaRPr lang="ru-RU" altLang="ru-RU"/>
          </a:p>
        </p:txBody>
      </p:sp>
      <p:sp>
        <p:nvSpPr>
          <p:cNvPr id="228361" name="Text Box 9"/>
          <p:cNvSpPr txBox="1">
            <a:spLocks noChangeArrowheads="1"/>
          </p:cNvSpPr>
          <p:nvPr/>
        </p:nvSpPr>
        <p:spPr bwMode="auto">
          <a:xfrm>
            <a:off x="1944688" y="4027489"/>
            <a:ext cx="4418012" cy="25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0850" indent="-4508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90600" indent="-360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99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ru-RU" altLang="ru-RU" sz="2000"/>
              <a:t>запрос серверу </a:t>
            </a:r>
            <a:r>
              <a:rPr lang="en-US" altLang="ru-RU" sz="2000"/>
              <a:t>DNS</a:t>
            </a:r>
            <a:r>
              <a:rPr lang="ru-RU" altLang="ru-RU" sz="2000"/>
              <a:t> для получения </a:t>
            </a:r>
            <a:r>
              <a:rPr lang="en-US" altLang="ru-RU" sz="2000"/>
              <a:t>IP-</a:t>
            </a:r>
            <a:r>
              <a:rPr lang="ru-RU" altLang="ru-RU" sz="2000"/>
              <a:t>адреса сайта </a:t>
            </a:r>
            <a:r>
              <a:rPr lang="en-US" altLang="ru-RU" sz="2000" b="1"/>
              <a:t>www.google.com</a:t>
            </a:r>
          </a:p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ru-RU" altLang="ru-RU" sz="2000"/>
              <a:t>ожидание ответа</a:t>
            </a:r>
          </a:p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ru-RU" altLang="ru-RU" sz="2000"/>
              <a:t>запрос </a:t>
            </a:r>
            <a:r>
              <a:rPr lang="en-US" altLang="ru-RU" sz="2000"/>
              <a:t>Web-</a:t>
            </a:r>
            <a:r>
              <a:rPr lang="ru-RU" altLang="ru-RU" sz="2000"/>
              <a:t>страницы по полученному </a:t>
            </a:r>
            <a:r>
              <a:rPr lang="en-US" altLang="ru-RU" sz="2000"/>
              <a:t>IP-</a:t>
            </a:r>
            <a:r>
              <a:rPr lang="ru-RU" altLang="ru-RU" sz="2000"/>
              <a:t>адресу</a:t>
            </a:r>
            <a:br>
              <a:rPr lang="ru-RU" altLang="ru-RU" sz="2000"/>
            </a:br>
            <a:r>
              <a:rPr lang="ru-RU" altLang="ru-RU" sz="2000" b="1"/>
              <a:t>66.102.9.47</a:t>
            </a:r>
            <a:r>
              <a:rPr lang="ru-RU" altLang="ru-RU" sz="2000"/>
              <a:t> </a:t>
            </a:r>
          </a:p>
        </p:txBody>
      </p:sp>
      <p:pic>
        <p:nvPicPr>
          <p:cNvPr id="228362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1926" y="2149475"/>
            <a:ext cx="3768725" cy="417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8367" name="AutoShape 15"/>
          <p:cNvSpPr>
            <a:spLocks noChangeArrowheads="1"/>
          </p:cNvSpPr>
          <p:nvPr/>
        </p:nvSpPr>
        <p:spPr bwMode="auto">
          <a:xfrm>
            <a:off x="5942014" y="3883026"/>
            <a:ext cx="2028825" cy="715089"/>
          </a:xfrm>
          <a:prstGeom prst="wedgeRoundRectCallout">
            <a:avLst>
              <a:gd name="adj1" fmla="val 75352"/>
              <a:gd name="adj2" fmla="val 109167"/>
              <a:gd name="adj3" fmla="val 16667"/>
            </a:avLst>
          </a:prstGeom>
          <a:solidFill>
            <a:srgbClr val="FFFFCC"/>
          </a:solidFill>
          <a:ln>
            <a:noFill/>
          </a:ln>
          <a:effectLst>
            <a:outerShdw dist="40161" dir="4293903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54000" rIns="18000">
            <a:spAutoFit/>
          </a:bodyPr>
          <a:lstStyle/>
          <a:p>
            <a:pPr algn="ctr"/>
            <a:r>
              <a:rPr lang="en-US" altLang="ru-RU"/>
              <a:t>DNS-</a:t>
            </a:r>
            <a:r>
              <a:rPr lang="ru-RU" altLang="ru-RU"/>
              <a:t>сервер</a:t>
            </a:r>
          </a:p>
          <a:p>
            <a:pPr algn="ctr"/>
            <a:r>
              <a:rPr lang="en-US" altLang="ru-RU"/>
              <a:t>193.124.85.210</a:t>
            </a:r>
            <a:endParaRPr lang="ru-RU" alt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63127" y="0"/>
            <a:ext cx="6344852" cy="861164"/>
          </a:xfrm>
        </p:spPr>
        <p:txBody>
          <a:bodyPr>
            <a:normAutofit/>
          </a:bodyPr>
          <a:lstStyle/>
          <a:p>
            <a:r>
              <a:rPr lang="ru-RU" altLang="ru-RU" sz="4000" dirty="0" smtClean="0"/>
              <a:t>ПРЕОБРАЗОВАНИЕ АДРЕСОВ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989569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8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8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28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28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283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283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28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28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6" grpId="0" autoUpdateAnimBg="0"/>
      <p:bldP spid="228360" grpId="0" animBg="1"/>
      <p:bldP spid="228361" grpId="0" build="p" autoUpdateAnimBg="0"/>
      <p:bldP spid="22836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Line 2"/>
          <p:cNvSpPr>
            <a:spLocks noChangeShapeType="1"/>
          </p:cNvSpPr>
          <p:nvPr/>
        </p:nvSpPr>
        <p:spPr bwMode="auto">
          <a:xfrm>
            <a:off x="1900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32452" name="Text Box 4"/>
          <p:cNvSpPr txBox="1">
            <a:spLocks noChangeArrowheads="1"/>
          </p:cNvSpPr>
          <p:nvPr/>
        </p:nvSpPr>
        <p:spPr bwMode="auto">
          <a:xfrm>
            <a:off x="1925638" y="925514"/>
            <a:ext cx="81407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0850" indent="-4508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90600" indent="-360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99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ru-RU" sz="2400" b="1" dirty="0">
                <a:solidFill>
                  <a:schemeClr val="accent3">
                    <a:lumMod val="50000"/>
                  </a:schemeClr>
                </a:solidFill>
              </a:rPr>
              <a:t>URL (</a:t>
            </a:r>
            <a:r>
              <a:rPr lang="en-US" altLang="ru-RU" sz="2400" b="1" i="1" dirty="0">
                <a:solidFill>
                  <a:schemeClr val="accent3">
                    <a:lumMod val="50000"/>
                  </a:schemeClr>
                </a:solidFill>
              </a:rPr>
              <a:t>Uniform Resource Locator</a:t>
            </a:r>
            <a:r>
              <a:rPr lang="en-US" altLang="ru-RU" sz="2400" b="1" dirty="0">
                <a:solidFill>
                  <a:schemeClr val="accent3">
                    <a:lumMod val="50000"/>
                  </a:schemeClr>
                </a:solidFill>
              </a:rPr>
              <a:t>)</a:t>
            </a:r>
            <a:r>
              <a:rPr lang="ru-RU" altLang="ru-RU" sz="2400" b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ru-RU" altLang="ru-RU" sz="2400" dirty="0"/>
              <a:t>–</a:t>
            </a:r>
            <a:r>
              <a:rPr lang="en-US" altLang="ru-RU" sz="2400" dirty="0"/>
              <a:t> </a:t>
            </a:r>
            <a:r>
              <a:rPr lang="ru-RU" altLang="ru-RU" sz="2400" dirty="0"/>
              <a:t>универсальный адрес документа в Интернете.</a:t>
            </a:r>
          </a:p>
        </p:txBody>
      </p:sp>
      <p:sp>
        <p:nvSpPr>
          <p:cNvPr id="232454" name="AutoShape 6"/>
          <p:cNvSpPr>
            <a:spLocks noChangeArrowheads="1"/>
          </p:cNvSpPr>
          <p:nvPr/>
        </p:nvSpPr>
        <p:spPr bwMode="auto">
          <a:xfrm>
            <a:off x="2757488" y="1998663"/>
            <a:ext cx="6496050" cy="64135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altLang="ru-RU" sz="2400" b="1"/>
              <a:t>http:</a:t>
            </a:r>
            <a:r>
              <a:rPr lang="ru-RU" altLang="ru-RU" sz="2400" b="1"/>
              <a:t> </a:t>
            </a:r>
            <a:r>
              <a:rPr lang="en-US" altLang="ru-RU" sz="2400" b="1"/>
              <a:t>//</a:t>
            </a:r>
            <a:r>
              <a:rPr lang="ru-RU" altLang="ru-RU" sz="2400" b="1"/>
              <a:t> </a:t>
            </a:r>
            <a:r>
              <a:rPr lang="en-US" altLang="ru-RU" sz="2400" b="1"/>
              <a:t>www.vasya.ru</a:t>
            </a:r>
            <a:r>
              <a:rPr lang="ru-RU" altLang="ru-RU" sz="2400" b="1"/>
              <a:t> </a:t>
            </a:r>
            <a:r>
              <a:rPr lang="en-US" altLang="ru-RU" sz="2400" b="1"/>
              <a:t>/</a:t>
            </a:r>
            <a:r>
              <a:rPr lang="ru-RU" altLang="ru-RU" sz="2400" b="1"/>
              <a:t> </a:t>
            </a:r>
            <a:r>
              <a:rPr lang="en-US" altLang="ru-RU" sz="2400" b="1"/>
              <a:t>images/new/</a:t>
            </a:r>
            <a:r>
              <a:rPr lang="ru-RU" altLang="ru-RU" sz="2400" b="1"/>
              <a:t> </a:t>
            </a:r>
            <a:r>
              <a:rPr lang="en-US" altLang="ru-RU" sz="2400" b="1"/>
              <a:t>qq.jpg</a:t>
            </a:r>
            <a:endParaRPr lang="ru-RU" altLang="ru-RU" sz="2400" b="1"/>
          </a:p>
        </p:txBody>
      </p:sp>
      <p:sp>
        <p:nvSpPr>
          <p:cNvPr id="232456" name="AutoShape 8"/>
          <p:cNvSpPr>
            <a:spLocks noChangeArrowheads="1"/>
          </p:cNvSpPr>
          <p:nvPr/>
        </p:nvSpPr>
        <p:spPr bwMode="auto">
          <a:xfrm>
            <a:off x="3037729" y="2036763"/>
            <a:ext cx="773112" cy="56515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FF00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32457" name="AutoShape 9"/>
          <p:cNvSpPr>
            <a:spLocks noChangeArrowheads="1"/>
          </p:cNvSpPr>
          <p:nvPr/>
        </p:nvSpPr>
        <p:spPr bwMode="auto">
          <a:xfrm>
            <a:off x="3861884" y="2027238"/>
            <a:ext cx="2340479" cy="56515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FF00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32458" name="AutoShape 10"/>
          <p:cNvSpPr>
            <a:spLocks noChangeArrowheads="1"/>
          </p:cNvSpPr>
          <p:nvPr/>
        </p:nvSpPr>
        <p:spPr bwMode="auto">
          <a:xfrm>
            <a:off x="6250493" y="2019300"/>
            <a:ext cx="1750508" cy="56515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FF00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32459" name="AutoShape 11"/>
          <p:cNvSpPr>
            <a:spLocks noChangeArrowheads="1"/>
          </p:cNvSpPr>
          <p:nvPr/>
        </p:nvSpPr>
        <p:spPr bwMode="auto">
          <a:xfrm>
            <a:off x="8049131" y="2028825"/>
            <a:ext cx="950407" cy="56515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FF00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32461" name="AutoShape 13"/>
          <p:cNvSpPr>
            <a:spLocks noChangeArrowheads="1"/>
          </p:cNvSpPr>
          <p:nvPr/>
        </p:nvSpPr>
        <p:spPr bwMode="auto">
          <a:xfrm>
            <a:off x="3940175" y="2897189"/>
            <a:ext cx="1943100" cy="408623"/>
          </a:xfrm>
          <a:prstGeom prst="wedgeRoundRectCallout">
            <a:avLst>
              <a:gd name="adj1" fmla="val 12255"/>
              <a:gd name="adj2" fmla="val -154491"/>
              <a:gd name="adj3" fmla="val 16667"/>
            </a:avLst>
          </a:prstGeom>
          <a:solidFill>
            <a:srgbClr val="EAEAEA"/>
          </a:solidFill>
          <a:ln>
            <a:noFill/>
          </a:ln>
          <a:effectLst>
            <a:outerShdw dist="40161" dir="4293903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54000" rIns="18000">
            <a:spAutoFit/>
          </a:bodyPr>
          <a:lstStyle/>
          <a:p>
            <a:pPr algn="ctr"/>
            <a:r>
              <a:rPr lang="ru-RU" altLang="ru-RU"/>
              <a:t>адрес сайта</a:t>
            </a:r>
          </a:p>
        </p:txBody>
      </p:sp>
      <p:sp>
        <p:nvSpPr>
          <p:cNvPr id="232462" name="AutoShape 14"/>
          <p:cNvSpPr>
            <a:spLocks noChangeArrowheads="1"/>
          </p:cNvSpPr>
          <p:nvPr/>
        </p:nvSpPr>
        <p:spPr bwMode="auto">
          <a:xfrm>
            <a:off x="6154738" y="2887664"/>
            <a:ext cx="1943100" cy="408623"/>
          </a:xfrm>
          <a:prstGeom prst="wedgeRoundRectCallout">
            <a:avLst>
              <a:gd name="adj1" fmla="val 12255"/>
              <a:gd name="adj2" fmla="val -154491"/>
              <a:gd name="adj3" fmla="val 16667"/>
            </a:avLst>
          </a:prstGeom>
          <a:solidFill>
            <a:srgbClr val="EAEAEA"/>
          </a:solidFill>
          <a:ln>
            <a:noFill/>
          </a:ln>
          <a:effectLst>
            <a:outerShdw dist="40161" dir="4293903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54000" rIns="18000">
            <a:spAutoFit/>
          </a:bodyPr>
          <a:lstStyle/>
          <a:p>
            <a:pPr algn="ctr"/>
            <a:r>
              <a:rPr lang="ru-RU" altLang="ru-RU"/>
              <a:t>каталог (папка)</a:t>
            </a:r>
          </a:p>
        </p:txBody>
      </p:sp>
      <p:sp>
        <p:nvSpPr>
          <p:cNvPr id="232463" name="AutoShape 15"/>
          <p:cNvSpPr>
            <a:spLocks noChangeArrowheads="1"/>
          </p:cNvSpPr>
          <p:nvPr/>
        </p:nvSpPr>
        <p:spPr bwMode="auto">
          <a:xfrm>
            <a:off x="8313738" y="2897189"/>
            <a:ext cx="1809750" cy="408623"/>
          </a:xfrm>
          <a:prstGeom prst="wedgeRoundRectCallout">
            <a:avLst>
              <a:gd name="adj1" fmla="val -18069"/>
              <a:gd name="adj2" fmla="val -154491"/>
              <a:gd name="adj3" fmla="val 16667"/>
            </a:avLst>
          </a:prstGeom>
          <a:solidFill>
            <a:srgbClr val="EAEAEA"/>
          </a:solidFill>
          <a:ln>
            <a:noFill/>
          </a:ln>
          <a:effectLst>
            <a:outerShdw dist="40161" dir="4293903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54000" rIns="18000">
            <a:spAutoFit/>
          </a:bodyPr>
          <a:lstStyle/>
          <a:p>
            <a:pPr algn="ctr"/>
            <a:r>
              <a:rPr lang="ru-RU" altLang="ru-RU" dirty="0"/>
              <a:t>имя файла</a:t>
            </a:r>
          </a:p>
        </p:txBody>
      </p:sp>
      <p:sp>
        <p:nvSpPr>
          <p:cNvPr id="232464" name="AutoShape 16"/>
          <p:cNvSpPr>
            <a:spLocks noChangeArrowheads="1"/>
          </p:cNvSpPr>
          <p:nvPr/>
        </p:nvSpPr>
        <p:spPr bwMode="auto">
          <a:xfrm>
            <a:off x="2238376" y="3676650"/>
            <a:ext cx="3279775" cy="64135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altLang="ru-RU" sz="2400" b="1"/>
              <a:t>http:</a:t>
            </a:r>
            <a:r>
              <a:rPr lang="ru-RU" altLang="ru-RU" sz="2400" b="1"/>
              <a:t> </a:t>
            </a:r>
            <a:r>
              <a:rPr lang="en-US" altLang="ru-RU" sz="2400" b="1"/>
              <a:t>//</a:t>
            </a:r>
            <a:r>
              <a:rPr lang="ru-RU" altLang="ru-RU" sz="2400" b="1"/>
              <a:t> </a:t>
            </a:r>
            <a:r>
              <a:rPr lang="en-US" altLang="ru-RU" sz="2400" b="1"/>
              <a:t>www.vasya.ru</a:t>
            </a:r>
            <a:endParaRPr lang="ru-RU" altLang="ru-RU" sz="2400" b="1"/>
          </a:p>
        </p:txBody>
      </p:sp>
      <p:sp>
        <p:nvSpPr>
          <p:cNvPr id="232465" name="AutoShape 17"/>
          <p:cNvSpPr>
            <a:spLocks noChangeArrowheads="1"/>
          </p:cNvSpPr>
          <p:nvPr/>
        </p:nvSpPr>
        <p:spPr bwMode="auto">
          <a:xfrm>
            <a:off x="6929438" y="3486151"/>
            <a:ext cx="2781300" cy="715089"/>
          </a:xfrm>
          <a:prstGeom prst="wedgeRoundRectCallout">
            <a:avLst>
              <a:gd name="adj1" fmla="val -97718"/>
              <a:gd name="adj2" fmla="val 2750"/>
              <a:gd name="adj3" fmla="val 16667"/>
            </a:avLst>
          </a:prstGeom>
          <a:solidFill>
            <a:srgbClr val="EAEAEA"/>
          </a:solidFill>
          <a:ln>
            <a:noFill/>
          </a:ln>
          <a:effectLst>
            <a:outerShdw dist="40161" dir="4293903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54000" rIns="18000">
            <a:spAutoFit/>
          </a:bodyPr>
          <a:lstStyle/>
          <a:p>
            <a:pPr algn="ctr"/>
            <a:r>
              <a:rPr lang="ru-RU" altLang="ru-RU"/>
              <a:t>главная страница сайта: </a:t>
            </a:r>
            <a:r>
              <a:rPr lang="en-US" altLang="ru-RU" b="1"/>
              <a:t>index.html, index.htm</a:t>
            </a:r>
            <a:endParaRPr lang="ru-RU" altLang="ru-RU" b="1"/>
          </a:p>
        </p:txBody>
      </p:sp>
      <p:sp>
        <p:nvSpPr>
          <p:cNvPr id="232466" name="AutoShape 18"/>
          <p:cNvSpPr>
            <a:spLocks noChangeArrowheads="1"/>
          </p:cNvSpPr>
          <p:nvPr/>
        </p:nvSpPr>
        <p:spPr bwMode="auto">
          <a:xfrm>
            <a:off x="2211388" y="4921250"/>
            <a:ext cx="6788150" cy="64135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altLang="ru-RU" sz="2400" b="1"/>
              <a:t>ftp:</a:t>
            </a:r>
            <a:r>
              <a:rPr lang="ru-RU" altLang="ru-RU" sz="2400" b="1"/>
              <a:t> </a:t>
            </a:r>
            <a:r>
              <a:rPr lang="en-US" altLang="ru-RU" sz="2400" b="1"/>
              <a:t>// files.vasya.ru</a:t>
            </a:r>
            <a:r>
              <a:rPr lang="ru-RU" altLang="ru-RU" sz="2400" b="1"/>
              <a:t> </a:t>
            </a:r>
            <a:r>
              <a:rPr lang="en-US" altLang="ru-RU" sz="2400" b="1"/>
              <a:t>/</a:t>
            </a:r>
            <a:r>
              <a:rPr lang="ru-RU" altLang="ru-RU" sz="2400" b="1"/>
              <a:t> </a:t>
            </a:r>
            <a:r>
              <a:rPr lang="en-US" altLang="ru-RU" sz="2400" b="1"/>
              <a:t>pub / download / qq.zip</a:t>
            </a:r>
            <a:endParaRPr lang="ru-RU" altLang="ru-RU" sz="2400" b="1"/>
          </a:p>
        </p:txBody>
      </p:sp>
      <p:sp>
        <p:nvSpPr>
          <p:cNvPr id="232467" name="AutoShape 19"/>
          <p:cNvSpPr>
            <a:spLocks noChangeArrowheads="1"/>
          </p:cNvSpPr>
          <p:nvPr/>
        </p:nvSpPr>
        <p:spPr bwMode="auto">
          <a:xfrm>
            <a:off x="7167563" y="5881689"/>
            <a:ext cx="2781300" cy="408623"/>
          </a:xfrm>
          <a:prstGeom prst="wedgeRoundRectCallout">
            <a:avLst>
              <a:gd name="adj1" fmla="val -11528"/>
              <a:gd name="adj2" fmla="val -164287"/>
              <a:gd name="adj3" fmla="val 16667"/>
            </a:avLst>
          </a:prstGeom>
          <a:solidFill>
            <a:srgbClr val="EAEAEA"/>
          </a:solidFill>
          <a:ln>
            <a:noFill/>
          </a:ln>
          <a:effectLst>
            <a:outerShdw dist="40161" dir="4293903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54000" rIns="18000">
            <a:spAutoFit/>
          </a:bodyPr>
          <a:lstStyle/>
          <a:p>
            <a:pPr algn="ctr"/>
            <a:r>
              <a:rPr lang="ru-RU" altLang="ru-RU"/>
              <a:t>файл на </a:t>
            </a:r>
            <a:r>
              <a:rPr lang="en-US" altLang="ru-RU"/>
              <a:t>FTP-</a:t>
            </a:r>
            <a:r>
              <a:rPr lang="ru-RU" altLang="ru-RU"/>
              <a:t>сервере</a:t>
            </a:r>
            <a:endParaRPr lang="ru-RU" altLang="ru-RU" b="1"/>
          </a:p>
        </p:txBody>
      </p:sp>
      <p:sp>
        <p:nvSpPr>
          <p:cNvPr id="232455" name="AutoShape 7"/>
          <p:cNvSpPr>
            <a:spLocks noChangeArrowheads="1"/>
          </p:cNvSpPr>
          <p:nvPr/>
        </p:nvSpPr>
        <p:spPr bwMode="auto">
          <a:xfrm>
            <a:off x="2130426" y="2870201"/>
            <a:ext cx="1463675" cy="408623"/>
          </a:xfrm>
          <a:prstGeom prst="wedgeRoundRectCallout">
            <a:avLst>
              <a:gd name="adj1" fmla="val 26245"/>
              <a:gd name="adj2" fmla="val -166736"/>
              <a:gd name="adj3" fmla="val 16667"/>
            </a:avLst>
          </a:prstGeom>
          <a:solidFill>
            <a:srgbClr val="EAEAEA"/>
          </a:solidFill>
          <a:ln>
            <a:noFill/>
          </a:ln>
          <a:effectLst>
            <a:outerShdw dist="40161" dir="4293903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54000" rIns="18000">
            <a:spAutoFit/>
          </a:bodyPr>
          <a:lstStyle/>
          <a:p>
            <a:pPr algn="ctr"/>
            <a:r>
              <a:rPr lang="ru-RU" altLang="ru-RU"/>
              <a:t>протокол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125453" y="-31906"/>
            <a:ext cx="7006589" cy="777081"/>
          </a:xfrm>
        </p:spPr>
        <p:txBody>
          <a:bodyPr>
            <a:normAutofit fontScale="90000"/>
          </a:bodyPr>
          <a:lstStyle/>
          <a:p>
            <a:r>
              <a:rPr lang="ru-RU" altLang="ru-RU" dirty="0" smtClean="0"/>
              <a:t>АДРЕС ДОКУМЕНТА В ИНТЕРНЕТЕ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5799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2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3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32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32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2324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3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32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" dur="500"/>
                                        <p:tgtEl>
                                          <p:spTgt spid="232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32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32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232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32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0" dur="500"/>
                                        <p:tgtEl>
                                          <p:spTgt spid="232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32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3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3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52" grpId="0" autoUpdateAnimBg="0"/>
      <p:bldP spid="232454" grpId="0" animBg="1"/>
      <p:bldP spid="232456" grpId="0" animBg="1"/>
      <p:bldP spid="232456" grpId="1" animBg="1"/>
      <p:bldP spid="232457" grpId="0" animBg="1"/>
      <p:bldP spid="232457" grpId="1" animBg="1"/>
      <p:bldP spid="232458" grpId="0" animBg="1"/>
      <p:bldP spid="232458" grpId="1" animBg="1"/>
      <p:bldP spid="232459" grpId="0" animBg="1"/>
      <p:bldP spid="232459" grpId="1" animBg="1"/>
      <p:bldP spid="232461" grpId="0" animBg="1"/>
      <p:bldP spid="232462" grpId="0" animBg="1"/>
      <p:bldP spid="232463" grpId="0" animBg="1"/>
      <p:bldP spid="232464" grpId="0" animBg="1"/>
      <p:bldP spid="232465" grpId="0" animBg="1"/>
      <p:bldP spid="232466" grpId="0" animBg="1"/>
      <p:bldP spid="232467" grpId="0" animBg="1"/>
      <p:bldP spid="23245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Line 2"/>
          <p:cNvSpPr>
            <a:spLocks noChangeShapeType="1"/>
          </p:cNvSpPr>
          <p:nvPr/>
        </p:nvSpPr>
        <p:spPr bwMode="auto">
          <a:xfrm>
            <a:off x="1925638" y="891592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36548" name="Text Box 4"/>
          <p:cNvSpPr txBox="1">
            <a:spLocks noChangeArrowheads="1"/>
          </p:cNvSpPr>
          <p:nvPr/>
        </p:nvSpPr>
        <p:spPr bwMode="auto">
          <a:xfrm>
            <a:off x="1925638" y="936625"/>
            <a:ext cx="8482012" cy="564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0850" indent="-4508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90600" indent="-360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99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ru-RU" sz="2000" b="1" dirty="0">
                <a:solidFill>
                  <a:schemeClr val="accent3">
                    <a:lumMod val="50000"/>
                  </a:schemeClr>
                </a:solidFill>
              </a:rPr>
              <a:t>WWW (</a:t>
            </a:r>
            <a:r>
              <a:rPr lang="en-US" altLang="ru-RU" sz="2000" b="1" i="1" dirty="0">
                <a:solidFill>
                  <a:schemeClr val="accent3">
                    <a:lumMod val="50000"/>
                  </a:schemeClr>
                </a:solidFill>
              </a:rPr>
              <a:t>World Wide Web</a:t>
            </a:r>
            <a:r>
              <a:rPr lang="en-US" altLang="ru-RU" sz="2000" b="1" dirty="0">
                <a:solidFill>
                  <a:schemeClr val="accent3">
                    <a:lumMod val="50000"/>
                  </a:schemeClr>
                </a:solidFill>
              </a:rPr>
              <a:t>)</a:t>
            </a:r>
            <a:r>
              <a:rPr lang="ru-RU" altLang="ru-RU" sz="2000" b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ru-RU" altLang="ru-RU" sz="2000" dirty="0"/>
              <a:t>–</a:t>
            </a:r>
            <a:r>
              <a:rPr lang="en-US" altLang="ru-RU" sz="2000" dirty="0"/>
              <a:t> </a:t>
            </a:r>
            <a:r>
              <a:rPr lang="ru-RU" altLang="ru-RU" sz="2000" dirty="0"/>
              <a:t>служба для обмена информацией в виде гипертекста.</a:t>
            </a:r>
          </a:p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ru-RU" altLang="ru-RU" sz="2000" b="1" dirty="0">
                <a:solidFill>
                  <a:srgbClr val="333399"/>
                </a:solidFill>
              </a:rPr>
              <a:t>Гипертекст</a:t>
            </a:r>
            <a:r>
              <a:rPr lang="ru-RU" altLang="ru-RU" sz="2000" dirty="0"/>
              <a:t> – текст, содержащий активные перекрестные ссылки на другие документы.</a:t>
            </a:r>
            <a:endParaRPr lang="en-US" altLang="ru-RU" sz="2000" dirty="0"/>
          </a:p>
          <a:p>
            <a:pPr eaLnBrk="0" hangingPunct="0">
              <a:spcBef>
                <a:spcPct val="280000"/>
              </a:spcBef>
              <a:buFont typeface="Wingdings" panose="05000000000000000000" pitchFamily="2" charset="2"/>
              <a:buNone/>
            </a:pPr>
            <a:r>
              <a:rPr lang="ru-RU" altLang="ru-RU" sz="2000" b="1" dirty="0">
                <a:solidFill>
                  <a:srgbClr val="333399"/>
                </a:solidFill>
              </a:rPr>
              <a:t>Гипермедиа</a:t>
            </a:r>
            <a:r>
              <a:rPr lang="ru-RU" altLang="ru-RU" sz="2000" dirty="0"/>
              <a:t> – документ, который включает текст, рисунки, звуки, видео и содержит активные перекрестные ссылки на другие документы.</a:t>
            </a:r>
          </a:p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ru-RU" altLang="ru-RU" sz="2000" b="1" dirty="0">
                <a:solidFill>
                  <a:srgbClr val="333399"/>
                </a:solidFill>
              </a:rPr>
              <a:t>Браузер (</a:t>
            </a:r>
            <a:r>
              <a:rPr lang="ru-RU" altLang="ru-RU" sz="2000" b="1" dirty="0" err="1">
                <a:solidFill>
                  <a:srgbClr val="333399"/>
                </a:solidFill>
              </a:rPr>
              <a:t>броузер</a:t>
            </a:r>
            <a:r>
              <a:rPr lang="ru-RU" altLang="ru-RU" sz="2000" b="1" dirty="0">
                <a:solidFill>
                  <a:srgbClr val="333399"/>
                </a:solidFill>
              </a:rPr>
              <a:t>, </a:t>
            </a:r>
            <a:r>
              <a:rPr lang="en-US" altLang="ru-RU" sz="2000" b="1" i="1" dirty="0">
                <a:solidFill>
                  <a:srgbClr val="333399"/>
                </a:solidFill>
              </a:rPr>
              <a:t>browser</a:t>
            </a:r>
            <a:r>
              <a:rPr lang="ru-RU" altLang="ru-RU" sz="2000" b="1" dirty="0">
                <a:solidFill>
                  <a:srgbClr val="333399"/>
                </a:solidFill>
              </a:rPr>
              <a:t>)</a:t>
            </a:r>
            <a:r>
              <a:rPr lang="ru-RU" altLang="ru-RU" sz="2000" dirty="0"/>
              <a:t> – программа для просмотра </a:t>
            </a:r>
            <a:r>
              <a:rPr lang="ru-RU" altLang="ru-RU" sz="2000" dirty="0" smtClean="0"/>
              <a:t/>
            </a:r>
            <a:br>
              <a:rPr lang="ru-RU" altLang="ru-RU" sz="2000" dirty="0" smtClean="0"/>
            </a:br>
            <a:r>
              <a:rPr lang="en-US" altLang="ru-RU" sz="2000" dirty="0" smtClean="0"/>
              <a:t>Web-</a:t>
            </a:r>
            <a:r>
              <a:rPr lang="ru-RU" altLang="ru-RU" sz="2000" dirty="0"/>
              <a:t>страниц на экране</a:t>
            </a:r>
            <a:r>
              <a:rPr lang="en-US" altLang="ru-RU" sz="2000" dirty="0"/>
              <a:t>:</a:t>
            </a:r>
          </a:p>
          <a:p>
            <a:pPr lvl="1" eaLnBrk="0" hangingPunct="0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ru-RU" altLang="ru-RU" i="1" dirty="0" err="1"/>
              <a:t>Mosaic</a:t>
            </a:r>
            <a:r>
              <a:rPr lang="en-US" altLang="ru-RU" dirty="0"/>
              <a:t> (1993</a:t>
            </a:r>
            <a:r>
              <a:rPr lang="ru-RU" altLang="ru-RU" dirty="0"/>
              <a:t>-1995</a:t>
            </a:r>
            <a:r>
              <a:rPr lang="en-US" altLang="ru-RU" dirty="0"/>
              <a:t>)</a:t>
            </a:r>
            <a:r>
              <a:rPr lang="ru-RU" altLang="ru-RU" dirty="0"/>
              <a:t>, Иллинойский университет, США</a:t>
            </a:r>
            <a:endParaRPr lang="en-US" altLang="ru-RU" dirty="0"/>
          </a:p>
          <a:p>
            <a:pPr lvl="1" eaLnBrk="0" hangingPunct="0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en-US" altLang="ru-RU" i="1" dirty="0"/>
              <a:t>Netscape Navigator</a:t>
            </a:r>
            <a:r>
              <a:rPr lang="ru-RU" altLang="ru-RU" i="1" dirty="0"/>
              <a:t> </a:t>
            </a:r>
            <a:r>
              <a:rPr lang="ru-RU" altLang="ru-RU" dirty="0"/>
              <a:t>(с 1995 по 2002)</a:t>
            </a:r>
            <a:endParaRPr lang="en-US" altLang="ru-RU" dirty="0"/>
          </a:p>
          <a:p>
            <a:pPr lvl="1" eaLnBrk="0" hangingPunct="0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en-US" altLang="ru-RU" i="1" dirty="0"/>
              <a:t>Internet Explorer</a:t>
            </a:r>
            <a:r>
              <a:rPr lang="en-US" altLang="ru-RU" dirty="0"/>
              <a:t> (</a:t>
            </a:r>
            <a:r>
              <a:rPr lang="ru-RU" altLang="ru-RU" dirty="0"/>
              <a:t>версии </a:t>
            </a:r>
            <a:r>
              <a:rPr lang="en-US" altLang="ru-RU" dirty="0"/>
              <a:t>6.0,. 7.0)</a:t>
            </a:r>
            <a:r>
              <a:rPr lang="ru-RU" altLang="ru-RU" dirty="0"/>
              <a:t>, в составе </a:t>
            </a:r>
            <a:r>
              <a:rPr lang="en-US" altLang="ru-RU" i="1" dirty="0"/>
              <a:t>Windows, </a:t>
            </a:r>
            <a:r>
              <a:rPr lang="en-US" altLang="ru-RU" dirty="0"/>
              <a:t>85%</a:t>
            </a:r>
            <a:endParaRPr lang="ru-RU" altLang="ru-RU" dirty="0"/>
          </a:p>
          <a:p>
            <a:pPr lvl="1" eaLnBrk="0" hangingPunct="0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en-US" altLang="ru-RU" i="1" dirty="0"/>
              <a:t>Mozilla </a:t>
            </a:r>
            <a:r>
              <a:rPr lang="en-US" altLang="ru-RU" i="1" dirty="0" err="1"/>
              <a:t>FireFox</a:t>
            </a:r>
            <a:r>
              <a:rPr lang="en-US" altLang="ru-RU" dirty="0"/>
              <a:t> </a:t>
            </a:r>
            <a:r>
              <a:rPr lang="ru-RU" altLang="ru-RU" dirty="0"/>
              <a:t>(версия </a:t>
            </a:r>
            <a:r>
              <a:rPr lang="en-US" altLang="ru-RU" dirty="0"/>
              <a:t>2.0</a:t>
            </a:r>
            <a:r>
              <a:rPr lang="ru-RU" altLang="ru-RU" dirty="0"/>
              <a:t>)</a:t>
            </a:r>
            <a:r>
              <a:rPr lang="en-US" altLang="ru-RU" dirty="0"/>
              <a:t>, </a:t>
            </a:r>
            <a:r>
              <a:rPr lang="en-US" altLang="ru-RU" dirty="0">
                <a:hlinkClick r:id="rId3"/>
              </a:rPr>
              <a:t>http://www.mozilla.org</a:t>
            </a:r>
            <a:r>
              <a:rPr lang="en-US" altLang="ru-RU" dirty="0"/>
              <a:t>, 8-10%</a:t>
            </a:r>
          </a:p>
          <a:p>
            <a:pPr lvl="1" eaLnBrk="0" hangingPunct="0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en-US" altLang="ru-RU" i="1" dirty="0"/>
              <a:t>Opera</a:t>
            </a:r>
            <a:r>
              <a:rPr lang="en-US" altLang="ru-RU" dirty="0"/>
              <a:t> </a:t>
            </a:r>
            <a:r>
              <a:rPr lang="ru-RU" altLang="ru-RU" dirty="0"/>
              <a:t>(версия </a:t>
            </a:r>
            <a:r>
              <a:rPr lang="en-US" altLang="ru-RU" dirty="0"/>
              <a:t>9.0</a:t>
            </a:r>
            <a:r>
              <a:rPr lang="ru-RU" altLang="ru-RU" dirty="0"/>
              <a:t>)</a:t>
            </a:r>
            <a:r>
              <a:rPr lang="en-US" altLang="ru-RU" dirty="0"/>
              <a:t>, </a:t>
            </a:r>
            <a:r>
              <a:rPr lang="en-US" altLang="ru-RU" dirty="0">
                <a:hlinkClick r:id="rId4"/>
              </a:rPr>
              <a:t>http://www.opera.com</a:t>
            </a:r>
            <a:r>
              <a:rPr lang="en-US" altLang="ru-RU" dirty="0"/>
              <a:t>, 2%</a:t>
            </a:r>
            <a:endParaRPr lang="ru-RU" altLang="ru-RU" dirty="0"/>
          </a:p>
        </p:txBody>
      </p:sp>
      <p:sp>
        <p:nvSpPr>
          <p:cNvPr id="236550" name="AutoShape 6"/>
          <p:cNvSpPr>
            <a:spLocks noChangeArrowheads="1"/>
          </p:cNvSpPr>
          <p:nvPr/>
        </p:nvSpPr>
        <p:spPr bwMode="auto">
          <a:xfrm>
            <a:off x="2282825" y="2444750"/>
            <a:ext cx="7742238" cy="64135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wrap="none" anchor="ctr"/>
          <a:lstStyle/>
          <a:p>
            <a:r>
              <a:rPr lang="ru-RU" altLang="ru-RU" sz="2000" b="1" dirty="0"/>
              <a:t>Подробности можно посмотреть </a:t>
            </a:r>
            <a:r>
              <a:rPr lang="ru-RU" altLang="ru-RU" sz="2000" b="1" dirty="0">
                <a:solidFill>
                  <a:srgbClr val="333399"/>
                </a:solidFill>
                <a:hlinkClick r:id="rId5"/>
              </a:rPr>
              <a:t>в следующем разделе</a:t>
            </a:r>
            <a:r>
              <a:rPr lang="ru-RU" altLang="ru-RU" sz="2000" b="1" dirty="0"/>
              <a:t>.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967881" y="27333"/>
            <a:ext cx="5975465" cy="768005"/>
          </a:xfrm>
        </p:spPr>
        <p:txBody>
          <a:bodyPr>
            <a:normAutofit/>
          </a:bodyPr>
          <a:lstStyle/>
          <a:p>
            <a:r>
              <a:rPr lang="ru-RU" altLang="ru-RU" dirty="0" smtClean="0"/>
              <a:t>СЛУЖБА </a:t>
            </a:r>
            <a:r>
              <a:rPr lang="en-US" altLang="ru-RU" dirty="0" smtClean="0"/>
              <a:t>WWW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320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6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65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6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65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65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365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365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365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365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365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48" grpId="0" build="p" autoUpdateAnimBg="0"/>
      <p:bldP spid="23655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Line 2"/>
          <p:cNvSpPr>
            <a:spLocks noChangeShapeType="1"/>
          </p:cNvSpPr>
          <p:nvPr/>
        </p:nvSpPr>
        <p:spPr bwMode="auto">
          <a:xfrm>
            <a:off x="1900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38596" name="Text Box 4"/>
          <p:cNvSpPr txBox="1">
            <a:spLocks noChangeArrowheads="1"/>
          </p:cNvSpPr>
          <p:nvPr/>
        </p:nvSpPr>
        <p:spPr bwMode="auto">
          <a:xfrm>
            <a:off x="1925638" y="936625"/>
            <a:ext cx="8482012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5963" indent="-3524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99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ru-RU" altLang="ru-RU" sz="2400" b="1" i="1" dirty="0">
                <a:solidFill>
                  <a:schemeClr val="accent3">
                    <a:lumMod val="50000"/>
                  </a:schemeClr>
                </a:solidFill>
              </a:rPr>
              <a:t>Возможности</a:t>
            </a:r>
            <a:endParaRPr lang="ru-RU" altLang="ru-RU" sz="2400" b="1" dirty="0">
              <a:solidFill>
                <a:schemeClr val="accent3">
                  <a:lumMod val="50000"/>
                </a:schemeClr>
              </a:solidFill>
            </a:endParaRPr>
          </a:p>
          <a:p>
            <a:pPr lvl="1" eaLnBrk="0" hangingPunct="0">
              <a:buFont typeface="Wingdings" panose="05000000000000000000" pitchFamily="2" charset="2"/>
              <a:buChar char="q"/>
            </a:pPr>
            <a:r>
              <a:rPr lang="ru-RU" altLang="ru-RU" sz="2000" dirty="0"/>
              <a:t>скачивание файлов </a:t>
            </a:r>
            <a:r>
              <a:rPr lang="en-US" altLang="ru-RU" sz="2000" dirty="0"/>
              <a:t>c </a:t>
            </a:r>
            <a:r>
              <a:rPr lang="ru-RU" altLang="ru-RU" sz="2000" dirty="0"/>
              <a:t>сервера (</a:t>
            </a:r>
            <a:r>
              <a:rPr lang="en-US" altLang="ru-RU" sz="2000" i="1" dirty="0"/>
              <a:t>download</a:t>
            </a:r>
            <a:r>
              <a:rPr lang="en-US" altLang="ru-RU" sz="2000" dirty="0"/>
              <a:t>)</a:t>
            </a:r>
            <a:endParaRPr lang="ru-RU" altLang="ru-RU" sz="2000" dirty="0"/>
          </a:p>
          <a:p>
            <a:pPr lvl="1" eaLnBrk="0" hangingPunct="0">
              <a:buFont typeface="Wingdings" panose="05000000000000000000" pitchFamily="2" charset="2"/>
              <a:buChar char="q"/>
            </a:pPr>
            <a:r>
              <a:rPr lang="ru-RU" altLang="ru-RU" sz="2000" dirty="0"/>
              <a:t>загрузка файлов на сервер (</a:t>
            </a:r>
            <a:r>
              <a:rPr lang="en-US" altLang="ru-RU" sz="2000" i="1" dirty="0"/>
              <a:t>upload</a:t>
            </a:r>
            <a:r>
              <a:rPr lang="ru-RU" altLang="ru-RU" sz="2000" dirty="0"/>
              <a:t>), в том числе </a:t>
            </a:r>
            <a:r>
              <a:rPr lang="en-US" altLang="ru-RU" sz="2000" dirty="0"/>
              <a:t>Web-</a:t>
            </a:r>
            <a:r>
              <a:rPr lang="ru-RU" altLang="ru-RU" sz="2000" dirty="0"/>
              <a:t>сайты</a:t>
            </a:r>
          </a:p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ru-RU" altLang="ru-RU" sz="2400" b="1" dirty="0">
                <a:solidFill>
                  <a:schemeClr val="accent3">
                    <a:lumMod val="50000"/>
                  </a:schemeClr>
                </a:solidFill>
              </a:rPr>
              <a:t>Права доступа</a:t>
            </a:r>
            <a:endParaRPr lang="ru-RU" altLang="ru-RU" sz="2400" dirty="0">
              <a:solidFill>
                <a:schemeClr val="accent3">
                  <a:lumMod val="50000"/>
                </a:schemeClr>
              </a:solidFill>
            </a:endParaRPr>
          </a:p>
          <a:p>
            <a:pPr lvl="1" eaLnBrk="0" hangingPunct="0">
              <a:buFont typeface="Wingdings" panose="05000000000000000000" pitchFamily="2" charset="2"/>
              <a:buChar char="q"/>
            </a:pPr>
            <a:r>
              <a:rPr lang="en-US" altLang="ru-RU" sz="2000" b="1" i="1" dirty="0"/>
              <a:t>login</a:t>
            </a:r>
            <a:r>
              <a:rPr lang="en-US" altLang="ru-RU" sz="2000" dirty="0"/>
              <a:t>: </a:t>
            </a:r>
            <a:r>
              <a:rPr lang="ru-RU" altLang="ru-RU" sz="2000" dirty="0"/>
              <a:t>кодовое имя пользователя</a:t>
            </a:r>
            <a:endParaRPr lang="en-US" altLang="ru-RU" sz="2000" dirty="0"/>
          </a:p>
          <a:p>
            <a:pPr lvl="1" eaLnBrk="0" hangingPunct="0">
              <a:buFont typeface="Wingdings" panose="05000000000000000000" pitchFamily="2" charset="2"/>
              <a:buChar char="q"/>
            </a:pPr>
            <a:r>
              <a:rPr lang="en-US" altLang="ru-RU" sz="2000" b="1" i="1" dirty="0"/>
              <a:t>        password</a:t>
            </a:r>
            <a:r>
              <a:rPr lang="en-US" altLang="ru-RU" sz="2000" b="1" dirty="0"/>
              <a:t>: </a:t>
            </a:r>
            <a:r>
              <a:rPr lang="ru-RU" altLang="ru-RU" sz="2000" dirty="0"/>
              <a:t>пароль</a:t>
            </a:r>
          </a:p>
          <a:p>
            <a:pPr eaLnBrk="0" hangingPunct="0">
              <a:spcBef>
                <a:spcPct val="350000"/>
              </a:spcBef>
              <a:buFont typeface="Wingdings" panose="05000000000000000000" pitchFamily="2" charset="2"/>
              <a:buNone/>
            </a:pPr>
            <a:r>
              <a:rPr lang="ru-RU" altLang="ru-RU" sz="2400" b="1" i="1" dirty="0">
                <a:solidFill>
                  <a:schemeClr val="accent3">
                    <a:lumMod val="50000"/>
                  </a:schemeClr>
                </a:solidFill>
              </a:rPr>
              <a:t>Анонимный вход </a:t>
            </a:r>
            <a:r>
              <a:rPr lang="ru-RU" altLang="ru-RU" sz="2400" dirty="0"/>
              <a:t>(в браузерах - автоматически)</a:t>
            </a:r>
          </a:p>
          <a:p>
            <a:pPr lvl="1" eaLnBrk="0" hangingPunct="0">
              <a:buFont typeface="Wingdings" panose="05000000000000000000" pitchFamily="2" charset="2"/>
              <a:buChar char="q"/>
            </a:pPr>
            <a:r>
              <a:rPr lang="en-US" altLang="ru-RU" sz="2000" b="1" i="1" dirty="0"/>
              <a:t>login</a:t>
            </a:r>
            <a:r>
              <a:rPr lang="en-US" altLang="ru-RU" sz="2000" dirty="0"/>
              <a:t>: </a:t>
            </a:r>
            <a:r>
              <a:rPr lang="ru-RU" altLang="ru-RU" sz="2000" i="1" dirty="0" err="1"/>
              <a:t>anonymous</a:t>
            </a:r>
            <a:r>
              <a:rPr lang="ru-RU" altLang="ru-RU" dirty="0"/>
              <a:t> </a:t>
            </a:r>
          </a:p>
          <a:p>
            <a:pPr lvl="1" eaLnBrk="0" hangingPunct="0">
              <a:buFont typeface="Wingdings" panose="05000000000000000000" pitchFamily="2" charset="2"/>
              <a:buChar char="q"/>
            </a:pPr>
            <a:r>
              <a:rPr lang="en-US" altLang="ru-RU" sz="2000" b="1" i="1" dirty="0"/>
              <a:t>password</a:t>
            </a:r>
            <a:r>
              <a:rPr lang="en-US" altLang="ru-RU" sz="2000" b="1" dirty="0"/>
              <a:t>: </a:t>
            </a:r>
            <a:r>
              <a:rPr lang="ru-RU" altLang="ru-RU" sz="2000" dirty="0"/>
              <a:t>любой</a:t>
            </a:r>
          </a:p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ru-RU" altLang="ru-RU" sz="2400" b="1" dirty="0">
                <a:solidFill>
                  <a:schemeClr val="accent3">
                    <a:lumMod val="50000"/>
                  </a:schemeClr>
                </a:solidFill>
              </a:rPr>
              <a:t>Поиск файла</a:t>
            </a:r>
            <a:r>
              <a:rPr lang="en-US" altLang="ru-RU" sz="2400" b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ru-RU" altLang="ru-RU" sz="2400" b="1" dirty="0">
                <a:solidFill>
                  <a:schemeClr val="accent3">
                    <a:lumMod val="50000"/>
                  </a:schemeClr>
                </a:solidFill>
              </a:rPr>
              <a:t>на </a:t>
            </a:r>
            <a:r>
              <a:rPr lang="en-US" altLang="ru-RU" sz="2400" b="1" dirty="0">
                <a:solidFill>
                  <a:schemeClr val="accent3">
                    <a:lumMod val="50000"/>
                  </a:schemeClr>
                </a:solidFill>
              </a:rPr>
              <a:t>FTP-</a:t>
            </a:r>
            <a:r>
              <a:rPr lang="ru-RU" altLang="ru-RU" sz="2400" b="1" dirty="0">
                <a:solidFill>
                  <a:schemeClr val="accent3">
                    <a:lumMod val="50000"/>
                  </a:schemeClr>
                </a:solidFill>
              </a:rPr>
              <a:t>сервере</a:t>
            </a:r>
            <a:endParaRPr lang="ru-RU" altLang="ru-RU" sz="2400" dirty="0">
              <a:solidFill>
                <a:schemeClr val="accent3">
                  <a:lumMod val="50000"/>
                </a:schemeClr>
              </a:solidFill>
            </a:endParaRPr>
          </a:p>
          <a:p>
            <a:pPr lvl="1" eaLnBrk="0" hangingPunct="0">
              <a:buFont typeface="Wingdings" panose="05000000000000000000" pitchFamily="2" charset="2"/>
              <a:buChar char="q"/>
            </a:pPr>
            <a:r>
              <a:rPr lang="en-US" altLang="ru-RU" sz="2000" b="1" dirty="0" err="1"/>
              <a:t>dirinfo</a:t>
            </a:r>
            <a:r>
              <a:rPr lang="en-US" altLang="ru-RU" sz="2000" b="1" dirty="0"/>
              <a:t>, readme, index</a:t>
            </a:r>
          </a:p>
          <a:p>
            <a:pPr lvl="1" eaLnBrk="0" hangingPunct="0">
              <a:buFont typeface="Wingdings" panose="05000000000000000000" pitchFamily="2" charset="2"/>
              <a:buChar char="q"/>
            </a:pPr>
            <a:r>
              <a:rPr lang="en-US" altLang="ru-RU" sz="2000" b="1" dirty="0"/>
              <a:t>ftpsearch.com</a:t>
            </a:r>
            <a:endParaRPr lang="ru-RU" altLang="ru-RU" sz="2000" b="1" dirty="0"/>
          </a:p>
        </p:txBody>
      </p:sp>
      <p:sp>
        <p:nvSpPr>
          <p:cNvPr id="238597" name="AutoShape 5"/>
          <p:cNvSpPr>
            <a:spLocks noChangeArrowheads="1"/>
          </p:cNvSpPr>
          <p:nvPr/>
        </p:nvSpPr>
        <p:spPr bwMode="auto">
          <a:xfrm>
            <a:off x="2200276" y="3455988"/>
            <a:ext cx="5102225" cy="64135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altLang="ru-RU" sz="2400" b="1"/>
              <a:t>ftp:// user : asd @ files.vasya.ru</a:t>
            </a:r>
            <a:endParaRPr lang="ru-RU" altLang="ru-RU" sz="2400" b="1"/>
          </a:p>
        </p:txBody>
      </p:sp>
      <p:sp>
        <p:nvSpPr>
          <p:cNvPr id="238598" name="AutoShape 6"/>
          <p:cNvSpPr>
            <a:spLocks noChangeArrowheads="1"/>
          </p:cNvSpPr>
          <p:nvPr/>
        </p:nvSpPr>
        <p:spPr bwMode="auto">
          <a:xfrm>
            <a:off x="5802314" y="4833939"/>
            <a:ext cx="3197225" cy="498475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altLang="ru-RU" sz="2400" b="1"/>
              <a:t>ftp:// files.vasya.ru</a:t>
            </a:r>
            <a:endParaRPr lang="ru-RU" altLang="ru-RU" sz="2400" b="1"/>
          </a:p>
        </p:txBody>
      </p:sp>
      <p:sp>
        <p:nvSpPr>
          <p:cNvPr id="238599" name="Freeform 7"/>
          <p:cNvSpPr>
            <a:spLocks/>
          </p:cNvSpPr>
          <p:nvPr/>
        </p:nvSpPr>
        <p:spPr bwMode="auto">
          <a:xfrm>
            <a:off x="2895601" y="2832100"/>
            <a:ext cx="390525" cy="749300"/>
          </a:xfrm>
          <a:custGeom>
            <a:avLst/>
            <a:gdLst>
              <a:gd name="T0" fmla="*/ 17 w 246"/>
              <a:gd name="T1" fmla="*/ 0 h 451"/>
              <a:gd name="T2" fmla="*/ 38 w 246"/>
              <a:gd name="T3" fmla="*/ 208 h 451"/>
              <a:gd name="T4" fmla="*/ 246 w 246"/>
              <a:gd name="T5" fmla="*/ 451 h 4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6" h="451">
                <a:moveTo>
                  <a:pt x="17" y="0"/>
                </a:moveTo>
                <a:cubicBezTo>
                  <a:pt x="8" y="66"/>
                  <a:pt x="0" y="133"/>
                  <a:pt x="38" y="208"/>
                </a:cubicBezTo>
                <a:cubicBezTo>
                  <a:pt x="76" y="283"/>
                  <a:pt x="161" y="367"/>
                  <a:pt x="246" y="451"/>
                </a:cubicBez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38600" name="Freeform 8"/>
          <p:cNvSpPr>
            <a:spLocks/>
          </p:cNvSpPr>
          <p:nvPr/>
        </p:nvSpPr>
        <p:spPr bwMode="auto">
          <a:xfrm>
            <a:off x="3954463" y="3097213"/>
            <a:ext cx="279400" cy="495300"/>
          </a:xfrm>
          <a:custGeom>
            <a:avLst/>
            <a:gdLst>
              <a:gd name="T0" fmla="*/ 17 w 246"/>
              <a:gd name="T1" fmla="*/ 0 h 451"/>
              <a:gd name="T2" fmla="*/ 38 w 246"/>
              <a:gd name="T3" fmla="*/ 208 h 451"/>
              <a:gd name="T4" fmla="*/ 246 w 246"/>
              <a:gd name="T5" fmla="*/ 451 h 4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6" h="451">
                <a:moveTo>
                  <a:pt x="17" y="0"/>
                </a:moveTo>
                <a:cubicBezTo>
                  <a:pt x="8" y="66"/>
                  <a:pt x="0" y="133"/>
                  <a:pt x="38" y="208"/>
                </a:cubicBezTo>
                <a:cubicBezTo>
                  <a:pt x="76" y="283"/>
                  <a:pt x="161" y="367"/>
                  <a:pt x="246" y="451"/>
                </a:cubicBez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161547" y="27333"/>
            <a:ext cx="6946431" cy="909292"/>
          </a:xfrm>
        </p:spPr>
        <p:txBody>
          <a:bodyPr>
            <a:normAutofit fontScale="90000"/>
          </a:bodyPr>
          <a:lstStyle/>
          <a:p>
            <a:r>
              <a:rPr lang="ru-RU" altLang="ru-RU" dirty="0" smtClean="0"/>
              <a:t>СЛУЖБА </a:t>
            </a:r>
            <a:r>
              <a:rPr lang="en-US" altLang="ru-RU" dirty="0" smtClean="0"/>
              <a:t>FTP (</a:t>
            </a:r>
            <a:r>
              <a:rPr lang="ru-RU" altLang="ru-RU" dirty="0" smtClean="0"/>
              <a:t>ФАЙЛОВЫЕ АРХИВЫ</a:t>
            </a:r>
            <a:r>
              <a:rPr lang="en-US" altLang="ru-RU" dirty="0" smtClean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4955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8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85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385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385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385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385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38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38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38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385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385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385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38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3859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3859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23859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596" grpId="0" build="p" autoUpdateAnimBg="0"/>
      <p:bldP spid="238597" grpId="0" animBg="1"/>
      <p:bldP spid="238598" grpId="0" animBg="1"/>
      <p:bldP spid="238599" grpId="0" animBg="1"/>
      <p:bldP spid="23860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Line 2"/>
          <p:cNvSpPr>
            <a:spLocks noChangeShapeType="1"/>
          </p:cNvSpPr>
          <p:nvPr/>
        </p:nvSpPr>
        <p:spPr bwMode="auto">
          <a:xfrm>
            <a:off x="1888206" y="1023942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61124" name="Text Box 4"/>
          <p:cNvSpPr txBox="1">
            <a:spLocks noChangeArrowheads="1"/>
          </p:cNvSpPr>
          <p:nvPr/>
        </p:nvSpPr>
        <p:spPr bwMode="auto">
          <a:xfrm>
            <a:off x="2623470" y="1441959"/>
            <a:ext cx="8482012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0850" indent="-4508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90600" indent="-360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99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en-US" altLang="ru-RU" sz="2400" b="1" i="1" dirty="0">
                <a:solidFill>
                  <a:schemeClr val="accent3">
                    <a:lumMod val="50000"/>
                  </a:schemeClr>
                </a:solidFill>
              </a:rPr>
              <a:t>freeware</a:t>
            </a:r>
            <a:r>
              <a:rPr lang="en-US" altLang="ru-RU" sz="2400" b="1" dirty="0"/>
              <a:t> – </a:t>
            </a:r>
            <a:r>
              <a:rPr lang="ru-RU" altLang="ru-RU" sz="2400" dirty="0"/>
              <a:t>бесплатные программы</a:t>
            </a:r>
          </a:p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en-US" altLang="ru-RU" sz="2400" b="1" i="1" dirty="0" err="1">
                <a:solidFill>
                  <a:schemeClr val="accent3">
                    <a:lumMod val="50000"/>
                  </a:schemeClr>
                </a:solidFill>
              </a:rPr>
              <a:t>registerware</a:t>
            </a:r>
            <a:r>
              <a:rPr lang="en-US" altLang="ru-RU" sz="2400" b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altLang="ru-RU" sz="2400" dirty="0">
                <a:solidFill>
                  <a:schemeClr val="accent2"/>
                </a:solidFill>
              </a:rPr>
              <a:t>– </a:t>
            </a:r>
            <a:r>
              <a:rPr lang="ru-RU" altLang="ru-RU" sz="2400" dirty="0"/>
              <a:t>бесплатная регистрация по электронной почте</a:t>
            </a:r>
          </a:p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en-US" altLang="ru-RU" sz="2400" b="1" i="1" dirty="0">
                <a:solidFill>
                  <a:schemeClr val="accent3">
                    <a:lumMod val="50000"/>
                  </a:schemeClr>
                </a:solidFill>
              </a:rPr>
              <a:t>shareware</a:t>
            </a:r>
            <a:r>
              <a:rPr lang="ru-RU" altLang="ru-RU" sz="2400" b="1" i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ru-RU" altLang="ru-RU" sz="2400" dirty="0">
                <a:solidFill>
                  <a:schemeClr val="accent3">
                    <a:lumMod val="50000"/>
                  </a:schemeClr>
                </a:solidFill>
              </a:rPr>
              <a:t>(</a:t>
            </a:r>
            <a:r>
              <a:rPr lang="en-US" altLang="ru-RU" sz="2400" i="1" dirty="0">
                <a:solidFill>
                  <a:schemeClr val="accent3">
                    <a:lumMod val="50000"/>
                  </a:schemeClr>
                </a:solidFill>
              </a:rPr>
              <a:t>try before you buy</a:t>
            </a:r>
            <a:r>
              <a:rPr lang="ru-RU" altLang="ru-RU" sz="2400" dirty="0">
                <a:solidFill>
                  <a:schemeClr val="accent3">
                    <a:lumMod val="50000"/>
                  </a:schemeClr>
                </a:solidFill>
              </a:rPr>
              <a:t>)</a:t>
            </a:r>
            <a:r>
              <a:rPr lang="en-US" altLang="ru-RU" sz="2400" b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altLang="ru-RU" sz="2400" dirty="0"/>
              <a:t>– </a:t>
            </a:r>
            <a:r>
              <a:rPr lang="ru-RU" altLang="ru-RU" sz="2400" dirty="0"/>
              <a:t>условно-бесплатные программы (ограничения по времени</a:t>
            </a:r>
            <a:r>
              <a:rPr lang="en-US" altLang="ru-RU" sz="2400" dirty="0"/>
              <a:t>, </a:t>
            </a:r>
            <a:r>
              <a:rPr lang="ru-RU" altLang="ru-RU" sz="2400" dirty="0"/>
              <a:t>раздражающие сообщения)</a:t>
            </a:r>
          </a:p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ru-RU" altLang="ru-RU" sz="2400" b="1" i="1" dirty="0" err="1">
                <a:solidFill>
                  <a:schemeClr val="accent3">
                    <a:lumMod val="50000"/>
                  </a:schemeClr>
                </a:solidFill>
              </a:rPr>
              <a:t>демо</a:t>
            </a:r>
            <a:r>
              <a:rPr lang="ru-RU" altLang="ru-RU" sz="2400" b="1" i="1" dirty="0">
                <a:solidFill>
                  <a:schemeClr val="accent3">
                    <a:lumMod val="50000"/>
                  </a:schemeClr>
                </a:solidFill>
              </a:rPr>
              <a:t>-версии</a:t>
            </a:r>
            <a:r>
              <a:rPr lang="ru-RU" altLang="ru-RU" sz="2400" b="1" i="1" dirty="0">
                <a:solidFill>
                  <a:schemeClr val="accent2"/>
                </a:solidFill>
              </a:rPr>
              <a:t> </a:t>
            </a:r>
            <a:r>
              <a:rPr lang="en-US" altLang="ru-RU" sz="2400" dirty="0"/>
              <a:t>– </a:t>
            </a:r>
            <a:r>
              <a:rPr lang="ru-RU" altLang="ru-RU" sz="2400" dirty="0"/>
              <a:t>демонстрация возможностей программ (ограничение функций)</a:t>
            </a:r>
          </a:p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ru-RU" altLang="ru-RU" sz="2400" b="1" i="1" dirty="0">
                <a:solidFill>
                  <a:schemeClr val="accent3">
                    <a:lumMod val="50000"/>
                  </a:schemeClr>
                </a:solidFill>
              </a:rPr>
              <a:t>бета-версии</a:t>
            </a:r>
            <a:r>
              <a:rPr lang="ru-RU" altLang="ru-RU" sz="2400" b="1" i="1" dirty="0">
                <a:solidFill>
                  <a:schemeClr val="accent2"/>
                </a:solidFill>
              </a:rPr>
              <a:t> </a:t>
            </a:r>
            <a:r>
              <a:rPr lang="en-US" altLang="ru-RU" sz="2400" dirty="0"/>
              <a:t>– </a:t>
            </a:r>
            <a:r>
              <a:rPr lang="ru-RU" altLang="ru-RU" sz="2400" dirty="0"/>
              <a:t>предварительные (отладочные) версии коммерческих программ, цель – нахождение ошибок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20916" y="39366"/>
            <a:ext cx="7271083" cy="909292"/>
          </a:xfrm>
        </p:spPr>
        <p:txBody>
          <a:bodyPr>
            <a:normAutofit fontScale="90000"/>
          </a:bodyPr>
          <a:lstStyle/>
          <a:p>
            <a:r>
              <a:rPr lang="ru-RU" altLang="ru-RU" dirty="0" smtClean="0"/>
              <a:t>РАСПРОСТРАНЕНИЕ  ПРОГРАММ ЧЕРЕЗ </a:t>
            </a:r>
            <a:r>
              <a:rPr lang="en-US" altLang="ru-RU" dirty="0" smtClean="0"/>
              <a:t>FTP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95535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1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1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61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61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61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24" grpId="0" build="p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Line 2"/>
          <p:cNvSpPr>
            <a:spLocks noChangeShapeType="1"/>
          </p:cNvSpPr>
          <p:nvPr/>
        </p:nvSpPr>
        <p:spPr bwMode="auto">
          <a:xfrm>
            <a:off x="1900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pic>
        <p:nvPicPr>
          <p:cNvPr id="240644" name="Picture 4" descr="Компьютерщик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5188" y="3144838"/>
            <a:ext cx="2025650" cy="147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0685" name="Group 45"/>
          <p:cNvGrpSpPr>
            <a:grpSpLocks/>
          </p:cNvGrpSpPr>
          <p:nvPr/>
        </p:nvGrpSpPr>
        <p:grpSpPr bwMode="auto">
          <a:xfrm>
            <a:off x="2065338" y="3092451"/>
            <a:ext cx="1993900" cy="1539875"/>
            <a:chOff x="2431" y="3247"/>
            <a:chExt cx="1256" cy="970"/>
          </a:xfrm>
        </p:grpSpPr>
        <p:sp>
          <p:nvSpPr>
            <p:cNvPr id="240645" name="Freeform 5" descr="Орех"/>
            <p:cNvSpPr>
              <a:spLocks/>
            </p:cNvSpPr>
            <p:nvPr/>
          </p:nvSpPr>
          <p:spPr bwMode="auto">
            <a:xfrm>
              <a:off x="2515" y="3459"/>
              <a:ext cx="1172" cy="758"/>
            </a:xfrm>
            <a:custGeom>
              <a:avLst/>
              <a:gdLst>
                <a:gd name="T0" fmla="*/ 0 w 1410"/>
                <a:gd name="T1" fmla="*/ 250 h 758"/>
                <a:gd name="T2" fmla="*/ 784 w 1410"/>
                <a:gd name="T3" fmla="*/ 0 h 758"/>
                <a:gd name="T4" fmla="*/ 1410 w 1410"/>
                <a:gd name="T5" fmla="*/ 232 h 758"/>
                <a:gd name="T6" fmla="*/ 578 w 1410"/>
                <a:gd name="T7" fmla="*/ 758 h 758"/>
                <a:gd name="T8" fmla="*/ 56 w 1410"/>
                <a:gd name="T9" fmla="*/ 340 h 758"/>
                <a:gd name="T10" fmla="*/ 0 w 1410"/>
                <a:gd name="T11" fmla="*/ 250 h 7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10" h="758">
                  <a:moveTo>
                    <a:pt x="0" y="250"/>
                  </a:moveTo>
                  <a:lnTo>
                    <a:pt x="784" y="0"/>
                  </a:lnTo>
                  <a:lnTo>
                    <a:pt x="1410" y="232"/>
                  </a:lnTo>
                  <a:lnTo>
                    <a:pt x="578" y="758"/>
                  </a:lnTo>
                  <a:lnTo>
                    <a:pt x="56" y="340"/>
                  </a:lnTo>
                  <a:lnTo>
                    <a:pt x="0" y="250"/>
                  </a:lnTo>
                  <a:close/>
                </a:path>
              </a:pathLst>
            </a:custGeom>
            <a:blipFill dpi="0" rotWithShape="1">
              <a:blip r:embed="rId4"/>
              <a:srcRect/>
              <a:tile tx="0" ty="0" sx="100000" sy="100000" flip="none" algn="tl"/>
            </a:blip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grpSp>
          <p:nvGrpSpPr>
            <p:cNvPr id="240646" name="Group 6"/>
            <p:cNvGrpSpPr>
              <a:grpSpLocks noChangeAspect="1"/>
            </p:cNvGrpSpPr>
            <p:nvPr/>
          </p:nvGrpSpPr>
          <p:grpSpPr bwMode="auto">
            <a:xfrm>
              <a:off x="2431" y="3247"/>
              <a:ext cx="923" cy="735"/>
              <a:chOff x="2215" y="2809"/>
              <a:chExt cx="1279" cy="1019"/>
            </a:xfrm>
          </p:grpSpPr>
          <p:sp>
            <p:nvSpPr>
              <p:cNvPr id="240647" name="AutoShape 7"/>
              <p:cNvSpPr>
                <a:spLocks noChangeAspect="1" noChangeArrowheads="1" noTextEdit="1"/>
              </p:cNvSpPr>
              <p:nvPr/>
            </p:nvSpPr>
            <p:spPr bwMode="auto">
              <a:xfrm>
                <a:off x="2215" y="2809"/>
                <a:ext cx="1279" cy="10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48" name="Freeform 8"/>
              <p:cNvSpPr>
                <a:spLocks/>
              </p:cNvSpPr>
              <p:nvPr/>
            </p:nvSpPr>
            <p:spPr bwMode="auto">
              <a:xfrm>
                <a:off x="2216" y="3086"/>
                <a:ext cx="523" cy="737"/>
              </a:xfrm>
              <a:custGeom>
                <a:avLst/>
                <a:gdLst>
                  <a:gd name="T0" fmla="*/ 135 w 523"/>
                  <a:gd name="T1" fmla="*/ 0 h 737"/>
                  <a:gd name="T2" fmla="*/ 159 w 523"/>
                  <a:gd name="T3" fmla="*/ 6 h 737"/>
                  <a:gd name="T4" fmla="*/ 186 w 523"/>
                  <a:gd name="T5" fmla="*/ 20 h 737"/>
                  <a:gd name="T6" fmla="*/ 213 w 523"/>
                  <a:gd name="T7" fmla="*/ 40 h 737"/>
                  <a:gd name="T8" fmla="*/ 238 w 523"/>
                  <a:gd name="T9" fmla="*/ 63 h 737"/>
                  <a:gd name="T10" fmla="*/ 259 w 523"/>
                  <a:gd name="T11" fmla="*/ 88 h 737"/>
                  <a:gd name="T12" fmla="*/ 278 w 523"/>
                  <a:gd name="T13" fmla="*/ 115 h 737"/>
                  <a:gd name="T14" fmla="*/ 293 w 523"/>
                  <a:gd name="T15" fmla="*/ 146 h 737"/>
                  <a:gd name="T16" fmla="*/ 292 w 523"/>
                  <a:gd name="T17" fmla="*/ 149 h 737"/>
                  <a:gd name="T18" fmla="*/ 292 w 523"/>
                  <a:gd name="T19" fmla="*/ 153 h 737"/>
                  <a:gd name="T20" fmla="*/ 307 w 523"/>
                  <a:gd name="T21" fmla="*/ 161 h 737"/>
                  <a:gd name="T22" fmla="*/ 328 w 523"/>
                  <a:gd name="T23" fmla="*/ 175 h 737"/>
                  <a:gd name="T24" fmla="*/ 347 w 523"/>
                  <a:gd name="T25" fmla="*/ 193 h 737"/>
                  <a:gd name="T26" fmla="*/ 356 w 523"/>
                  <a:gd name="T27" fmla="*/ 201 h 737"/>
                  <a:gd name="T28" fmla="*/ 362 w 523"/>
                  <a:gd name="T29" fmla="*/ 213 h 737"/>
                  <a:gd name="T30" fmla="*/ 364 w 523"/>
                  <a:gd name="T31" fmla="*/ 232 h 737"/>
                  <a:gd name="T32" fmla="*/ 366 w 523"/>
                  <a:gd name="T33" fmla="*/ 256 h 737"/>
                  <a:gd name="T34" fmla="*/ 375 w 523"/>
                  <a:gd name="T35" fmla="*/ 300 h 737"/>
                  <a:gd name="T36" fmla="*/ 385 w 523"/>
                  <a:gd name="T37" fmla="*/ 344 h 737"/>
                  <a:gd name="T38" fmla="*/ 400 w 523"/>
                  <a:gd name="T39" fmla="*/ 385 h 737"/>
                  <a:gd name="T40" fmla="*/ 404 w 523"/>
                  <a:gd name="T41" fmla="*/ 396 h 737"/>
                  <a:gd name="T42" fmla="*/ 396 w 523"/>
                  <a:gd name="T43" fmla="*/ 448 h 737"/>
                  <a:gd name="T44" fmla="*/ 396 w 523"/>
                  <a:gd name="T45" fmla="*/ 449 h 737"/>
                  <a:gd name="T46" fmla="*/ 395 w 523"/>
                  <a:gd name="T47" fmla="*/ 464 h 737"/>
                  <a:gd name="T48" fmla="*/ 386 w 523"/>
                  <a:gd name="T49" fmla="*/ 538 h 737"/>
                  <a:gd name="T50" fmla="*/ 386 w 523"/>
                  <a:gd name="T51" fmla="*/ 545 h 737"/>
                  <a:gd name="T52" fmla="*/ 395 w 523"/>
                  <a:gd name="T53" fmla="*/ 554 h 737"/>
                  <a:gd name="T54" fmla="*/ 441 w 523"/>
                  <a:gd name="T55" fmla="*/ 509 h 737"/>
                  <a:gd name="T56" fmla="*/ 457 w 523"/>
                  <a:gd name="T57" fmla="*/ 511 h 737"/>
                  <a:gd name="T58" fmla="*/ 476 w 523"/>
                  <a:gd name="T59" fmla="*/ 519 h 737"/>
                  <a:gd name="T60" fmla="*/ 494 w 523"/>
                  <a:gd name="T61" fmla="*/ 529 h 737"/>
                  <a:gd name="T62" fmla="*/ 508 w 523"/>
                  <a:gd name="T63" fmla="*/ 543 h 737"/>
                  <a:gd name="T64" fmla="*/ 519 w 523"/>
                  <a:gd name="T65" fmla="*/ 559 h 737"/>
                  <a:gd name="T66" fmla="*/ 522 w 523"/>
                  <a:gd name="T67" fmla="*/ 563 h 737"/>
                  <a:gd name="T68" fmla="*/ 523 w 523"/>
                  <a:gd name="T69" fmla="*/ 566 h 737"/>
                  <a:gd name="T70" fmla="*/ 523 w 523"/>
                  <a:gd name="T71" fmla="*/ 574 h 737"/>
                  <a:gd name="T72" fmla="*/ 520 w 523"/>
                  <a:gd name="T73" fmla="*/ 582 h 737"/>
                  <a:gd name="T74" fmla="*/ 507 w 523"/>
                  <a:gd name="T75" fmla="*/ 586 h 737"/>
                  <a:gd name="T76" fmla="*/ 508 w 523"/>
                  <a:gd name="T77" fmla="*/ 586 h 737"/>
                  <a:gd name="T78" fmla="*/ 491 w 523"/>
                  <a:gd name="T79" fmla="*/ 591 h 737"/>
                  <a:gd name="T80" fmla="*/ 488 w 523"/>
                  <a:gd name="T81" fmla="*/ 614 h 737"/>
                  <a:gd name="T82" fmla="*/ 484 w 523"/>
                  <a:gd name="T83" fmla="*/ 619 h 737"/>
                  <a:gd name="T84" fmla="*/ 458 w 523"/>
                  <a:gd name="T85" fmla="*/ 647 h 737"/>
                  <a:gd name="T86" fmla="*/ 432 w 523"/>
                  <a:gd name="T87" fmla="*/ 671 h 737"/>
                  <a:gd name="T88" fmla="*/ 401 w 523"/>
                  <a:gd name="T89" fmla="*/ 690 h 737"/>
                  <a:gd name="T90" fmla="*/ 370 w 523"/>
                  <a:gd name="T91" fmla="*/ 708 h 737"/>
                  <a:gd name="T92" fmla="*/ 335 w 523"/>
                  <a:gd name="T93" fmla="*/ 722 h 737"/>
                  <a:gd name="T94" fmla="*/ 300 w 523"/>
                  <a:gd name="T95" fmla="*/ 731 h 737"/>
                  <a:gd name="T96" fmla="*/ 300 w 523"/>
                  <a:gd name="T97" fmla="*/ 732 h 737"/>
                  <a:gd name="T98" fmla="*/ 286 w 523"/>
                  <a:gd name="T99" fmla="*/ 736 h 737"/>
                  <a:gd name="T100" fmla="*/ 273 w 523"/>
                  <a:gd name="T101" fmla="*/ 737 h 737"/>
                  <a:gd name="T102" fmla="*/ 0 w 523"/>
                  <a:gd name="T103" fmla="*/ 737 h 737"/>
                  <a:gd name="T104" fmla="*/ 0 w 523"/>
                  <a:gd name="T105" fmla="*/ 132 h 737"/>
                  <a:gd name="T106" fmla="*/ 8 w 523"/>
                  <a:gd name="T107" fmla="*/ 102 h 737"/>
                  <a:gd name="T108" fmla="*/ 28 w 523"/>
                  <a:gd name="T109" fmla="*/ 80 h 737"/>
                  <a:gd name="T110" fmla="*/ 40 w 523"/>
                  <a:gd name="T111" fmla="*/ 67 h 737"/>
                  <a:gd name="T112" fmla="*/ 51 w 523"/>
                  <a:gd name="T113" fmla="*/ 61 h 737"/>
                  <a:gd name="T114" fmla="*/ 62 w 523"/>
                  <a:gd name="T115" fmla="*/ 52 h 737"/>
                  <a:gd name="T116" fmla="*/ 79 w 523"/>
                  <a:gd name="T117" fmla="*/ 48 h 737"/>
                  <a:gd name="T118" fmla="*/ 109 w 523"/>
                  <a:gd name="T119" fmla="*/ 6 h 737"/>
                  <a:gd name="T120" fmla="*/ 116 w 523"/>
                  <a:gd name="T121" fmla="*/ 1 h 737"/>
                  <a:gd name="T122" fmla="*/ 131 w 523"/>
                  <a:gd name="T123" fmla="*/ 1 h 737"/>
                  <a:gd name="T124" fmla="*/ 135 w 523"/>
                  <a:gd name="T125" fmla="*/ 0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523" h="737">
                    <a:moveTo>
                      <a:pt x="135" y="0"/>
                    </a:moveTo>
                    <a:lnTo>
                      <a:pt x="159" y="6"/>
                    </a:lnTo>
                    <a:lnTo>
                      <a:pt x="186" y="20"/>
                    </a:lnTo>
                    <a:lnTo>
                      <a:pt x="213" y="40"/>
                    </a:lnTo>
                    <a:lnTo>
                      <a:pt x="238" y="63"/>
                    </a:lnTo>
                    <a:lnTo>
                      <a:pt x="259" y="88"/>
                    </a:lnTo>
                    <a:lnTo>
                      <a:pt x="278" y="115"/>
                    </a:lnTo>
                    <a:lnTo>
                      <a:pt x="293" y="146"/>
                    </a:lnTo>
                    <a:lnTo>
                      <a:pt x="292" y="149"/>
                    </a:lnTo>
                    <a:lnTo>
                      <a:pt x="292" y="153"/>
                    </a:lnTo>
                    <a:lnTo>
                      <a:pt x="307" y="161"/>
                    </a:lnTo>
                    <a:lnTo>
                      <a:pt x="328" y="175"/>
                    </a:lnTo>
                    <a:lnTo>
                      <a:pt x="347" y="193"/>
                    </a:lnTo>
                    <a:lnTo>
                      <a:pt x="356" y="201"/>
                    </a:lnTo>
                    <a:lnTo>
                      <a:pt x="362" y="213"/>
                    </a:lnTo>
                    <a:lnTo>
                      <a:pt x="364" y="232"/>
                    </a:lnTo>
                    <a:lnTo>
                      <a:pt x="366" y="256"/>
                    </a:lnTo>
                    <a:lnTo>
                      <a:pt x="375" y="300"/>
                    </a:lnTo>
                    <a:lnTo>
                      <a:pt x="385" y="344"/>
                    </a:lnTo>
                    <a:lnTo>
                      <a:pt x="400" y="385"/>
                    </a:lnTo>
                    <a:lnTo>
                      <a:pt x="404" y="396"/>
                    </a:lnTo>
                    <a:lnTo>
                      <a:pt x="396" y="448"/>
                    </a:lnTo>
                    <a:lnTo>
                      <a:pt x="396" y="449"/>
                    </a:lnTo>
                    <a:lnTo>
                      <a:pt x="395" y="464"/>
                    </a:lnTo>
                    <a:lnTo>
                      <a:pt x="386" y="538"/>
                    </a:lnTo>
                    <a:lnTo>
                      <a:pt x="386" y="545"/>
                    </a:lnTo>
                    <a:lnTo>
                      <a:pt x="395" y="554"/>
                    </a:lnTo>
                    <a:lnTo>
                      <a:pt x="441" y="509"/>
                    </a:lnTo>
                    <a:lnTo>
                      <a:pt x="457" y="511"/>
                    </a:lnTo>
                    <a:lnTo>
                      <a:pt x="476" y="519"/>
                    </a:lnTo>
                    <a:lnTo>
                      <a:pt x="494" y="529"/>
                    </a:lnTo>
                    <a:lnTo>
                      <a:pt x="508" y="543"/>
                    </a:lnTo>
                    <a:lnTo>
                      <a:pt x="519" y="559"/>
                    </a:lnTo>
                    <a:lnTo>
                      <a:pt x="522" y="563"/>
                    </a:lnTo>
                    <a:lnTo>
                      <a:pt x="523" y="566"/>
                    </a:lnTo>
                    <a:lnTo>
                      <a:pt x="523" y="574"/>
                    </a:lnTo>
                    <a:lnTo>
                      <a:pt x="520" y="582"/>
                    </a:lnTo>
                    <a:lnTo>
                      <a:pt x="507" y="586"/>
                    </a:lnTo>
                    <a:lnTo>
                      <a:pt x="508" y="586"/>
                    </a:lnTo>
                    <a:lnTo>
                      <a:pt x="491" y="591"/>
                    </a:lnTo>
                    <a:lnTo>
                      <a:pt x="488" y="614"/>
                    </a:lnTo>
                    <a:lnTo>
                      <a:pt x="484" y="619"/>
                    </a:lnTo>
                    <a:lnTo>
                      <a:pt x="458" y="647"/>
                    </a:lnTo>
                    <a:lnTo>
                      <a:pt x="432" y="671"/>
                    </a:lnTo>
                    <a:lnTo>
                      <a:pt x="401" y="690"/>
                    </a:lnTo>
                    <a:lnTo>
                      <a:pt x="370" y="708"/>
                    </a:lnTo>
                    <a:lnTo>
                      <a:pt x="335" y="722"/>
                    </a:lnTo>
                    <a:lnTo>
                      <a:pt x="300" y="731"/>
                    </a:lnTo>
                    <a:lnTo>
                      <a:pt x="300" y="732"/>
                    </a:lnTo>
                    <a:lnTo>
                      <a:pt x="286" y="736"/>
                    </a:lnTo>
                    <a:lnTo>
                      <a:pt x="273" y="737"/>
                    </a:lnTo>
                    <a:lnTo>
                      <a:pt x="0" y="737"/>
                    </a:lnTo>
                    <a:lnTo>
                      <a:pt x="0" y="132"/>
                    </a:lnTo>
                    <a:lnTo>
                      <a:pt x="8" y="102"/>
                    </a:lnTo>
                    <a:lnTo>
                      <a:pt x="28" y="80"/>
                    </a:lnTo>
                    <a:lnTo>
                      <a:pt x="40" y="67"/>
                    </a:lnTo>
                    <a:lnTo>
                      <a:pt x="51" y="61"/>
                    </a:lnTo>
                    <a:lnTo>
                      <a:pt x="62" y="52"/>
                    </a:lnTo>
                    <a:lnTo>
                      <a:pt x="79" y="48"/>
                    </a:lnTo>
                    <a:lnTo>
                      <a:pt x="109" y="6"/>
                    </a:lnTo>
                    <a:lnTo>
                      <a:pt x="116" y="1"/>
                    </a:lnTo>
                    <a:lnTo>
                      <a:pt x="131" y="1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99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49" name="Freeform 9"/>
              <p:cNvSpPr>
                <a:spLocks/>
              </p:cNvSpPr>
              <p:nvPr/>
            </p:nvSpPr>
            <p:spPr bwMode="auto">
              <a:xfrm>
                <a:off x="2334" y="2810"/>
                <a:ext cx="383" cy="269"/>
              </a:xfrm>
              <a:custGeom>
                <a:avLst/>
                <a:gdLst>
                  <a:gd name="T0" fmla="*/ 12 w 383"/>
                  <a:gd name="T1" fmla="*/ 268 h 269"/>
                  <a:gd name="T2" fmla="*/ 26 w 383"/>
                  <a:gd name="T3" fmla="*/ 262 h 269"/>
                  <a:gd name="T4" fmla="*/ 41 w 383"/>
                  <a:gd name="T5" fmla="*/ 258 h 269"/>
                  <a:gd name="T6" fmla="*/ 56 w 383"/>
                  <a:gd name="T7" fmla="*/ 258 h 269"/>
                  <a:gd name="T8" fmla="*/ 73 w 383"/>
                  <a:gd name="T9" fmla="*/ 262 h 269"/>
                  <a:gd name="T10" fmla="*/ 85 w 383"/>
                  <a:gd name="T11" fmla="*/ 269 h 269"/>
                  <a:gd name="T12" fmla="*/ 121 w 383"/>
                  <a:gd name="T13" fmla="*/ 239 h 269"/>
                  <a:gd name="T14" fmla="*/ 117 w 383"/>
                  <a:gd name="T15" fmla="*/ 230 h 269"/>
                  <a:gd name="T16" fmla="*/ 117 w 383"/>
                  <a:gd name="T17" fmla="*/ 222 h 269"/>
                  <a:gd name="T18" fmla="*/ 125 w 383"/>
                  <a:gd name="T19" fmla="*/ 188 h 269"/>
                  <a:gd name="T20" fmla="*/ 125 w 383"/>
                  <a:gd name="T21" fmla="*/ 186 h 269"/>
                  <a:gd name="T22" fmla="*/ 131 w 383"/>
                  <a:gd name="T23" fmla="*/ 177 h 269"/>
                  <a:gd name="T24" fmla="*/ 141 w 383"/>
                  <a:gd name="T25" fmla="*/ 170 h 269"/>
                  <a:gd name="T26" fmla="*/ 151 w 383"/>
                  <a:gd name="T27" fmla="*/ 168 h 269"/>
                  <a:gd name="T28" fmla="*/ 163 w 383"/>
                  <a:gd name="T29" fmla="*/ 169 h 269"/>
                  <a:gd name="T30" fmla="*/ 173 w 383"/>
                  <a:gd name="T31" fmla="*/ 174 h 269"/>
                  <a:gd name="T32" fmla="*/ 180 w 383"/>
                  <a:gd name="T33" fmla="*/ 183 h 269"/>
                  <a:gd name="T34" fmla="*/ 183 w 383"/>
                  <a:gd name="T35" fmla="*/ 193 h 269"/>
                  <a:gd name="T36" fmla="*/ 183 w 383"/>
                  <a:gd name="T37" fmla="*/ 205 h 269"/>
                  <a:gd name="T38" fmla="*/ 179 w 383"/>
                  <a:gd name="T39" fmla="*/ 216 h 269"/>
                  <a:gd name="T40" fmla="*/ 225 w 383"/>
                  <a:gd name="T41" fmla="*/ 235 h 269"/>
                  <a:gd name="T42" fmla="*/ 249 w 383"/>
                  <a:gd name="T43" fmla="*/ 179 h 269"/>
                  <a:gd name="T44" fmla="*/ 265 w 383"/>
                  <a:gd name="T45" fmla="*/ 168 h 269"/>
                  <a:gd name="T46" fmla="*/ 260 w 383"/>
                  <a:gd name="T47" fmla="*/ 149 h 269"/>
                  <a:gd name="T48" fmla="*/ 282 w 383"/>
                  <a:gd name="T49" fmla="*/ 154 h 269"/>
                  <a:gd name="T50" fmla="*/ 305 w 383"/>
                  <a:gd name="T51" fmla="*/ 156 h 269"/>
                  <a:gd name="T52" fmla="*/ 326 w 383"/>
                  <a:gd name="T53" fmla="*/ 154 h 269"/>
                  <a:gd name="T54" fmla="*/ 335 w 383"/>
                  <a:gd name="T55" fmla="*/ 151 h 269"/>
                  <a:gd name="T56" fmla="*/ 339 w 383"/>
                  <a:gd name="T57" fmla="*/ 154 h 269"/>
                  <a:gd name="T58" fmla="*/ 358 w 383"/>
                  <a:gd name="T59" fmla="*/ 158 h 269"/>
                  <a:gd name="T60" fmla="*/ 362 w 383"/>
                  <a:gd name="T61" fmla="*/ 158 h 269"/>
                  <a:gd name="T62" fmla="*/ 370 w 383"/>
                  <a:gd name="T63" fmla="*/ 156 h 269"/>
                  <a:gd name="T64" fmla="*/ 378 w 383"/>
                  <a:gd name="T65" fmla="*/ 151 h 269"/>
                  <a:gd name="T66" fmla="*/ 383 w 383"/>
                  <a:gd name="T67" fmla="*/ 141 h 269"/>
                  <a:gd name="T68" fmla="*/ 381 w 383"/>
                  <a:gd name="T69" fmla="*/ 136 h 269"/>
                  <a:gd name="T70" fmla="*/ 377 w 383"/>
                  <a:gd name="T71" fmla="*/ 128 h 269"/>
                  <a:gd name="T72" fmla="*/ 353 w 383"/>
                  <a:gd name="T73" fmla="*/ 101 h 269"/>
                  <a:gd name="T74" fmla="*/ 325 w 383"/>
                  <a:gd name="T75" fmla="*/ 75 h 269"/>
                  <a:gd name="T76" fmla="*/ 295 w 383"/>
                  <a:gd name="T77" fmla="*/ 55 h 269"/>
                  <a:gd name="T78" fmla="*/ 263 w 383"/>
                  <a:gd name="T79" fmla="*/ 36 h 269"/>
                  <a:gd name="T80" fmla="*/ 229 w 383"/>
                  <a:gd name="T81" fmla="*/ 21 h 269"/>
                  <a:gd name="T82" fmla="*/ 193 w 383"/>
                  <a:gd name="T83" fmla="*/ 10 h 269"/>
                  <a:gd name="T84" fmla="*/ 156 w 383"/>
                  <a:gd name="T85" fmla="*/ 3 h 269"/>
                  <a:gd name="T86" fmla="*/ 136 w 383"/>
                  <a:gd name="T87" fmla="*/ 0 h 269"/>
                  <a:gd name="T88" fmla="*/ 108 w 383"/>
                  <a:gd name="T89" fmla="*/ 15 h 269"/>
                  <a:gd name="T90" fmla="*/ 81 w 383"/>
                  <a:gd name="T91" fmla="*/ 33 h 269"/>
                  <a:gd name="T92" fmla="*/ 57 w 383"/>
                  <a:gd name="T93" fmla="*/ 55 h 269"/>
                  <a:gd name="T94" fmla="*/ 37 w 383"/>
                  <a:gd name="T95" fmla="*/ 79 h 269"/>
                  <a:gd name="T96" fmla="*/ 19 w 383"/>
                  <a:gd name="T97" fmla="*/ 106 h 269"/>
                  <a:gd name="T98" fmla="*/ 7 w 383"/>
                  <a:gd name="T99" fmla="*/ 132 h 269"/>
                  <a:gd name="T100" fmla="*/ 0 w 383"/>
                  <a:gd name="T101" fmla="*/ 151 h 269"/>
                  <a:gd name="T102" fmla="*/ 8 w 383"/>
                  <a:gd name="T103" fmla="*/ 173 h 269"/>
                  <a:gd name="T104" fmla="*/ 12 w 383"/>
                  <a:gd name="T105" fmla="*/ 194 h 269"/>
                  <a:gd name="T106" fmla="*/ 12 w 383"/>
                  <a:gd name="T107" fmla="*/ 216 h 269"/>
                  <a:gd name="T108" fmla="*/ 8 w 383"/>
                  <a:gd name="T109" fmla="*/ 238 h 269"/>
                  <a:gd name="T110" fmla="*/ 0 w 383"/>
                  <a:gd name="T111" fmla="*/ 258 h 269"/>
                  <a:gd name="T112" fmla="*/ 8 w 383"/>
                  <a:gd name="T113" fmla="*/ 265 h 269"/>
                  <a:gd name="T114" fmla="*/ 12 w 383"/>
                  <a:gd name="T115" fmla="*/ 268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383" h="269">
                    <a:moveTo>
                      <a:pt x="12" y="268"/>
                    </a:moveTo>
                    <a:lnTo>
                      <a:pt x="26" y="262"/>
                    </a:lnTo>
                    <a:lnTo>
                      <a:pt x="41" y="258"/>
                    </a:lnTo>
                    <a:lnTo>
                      <a:pt x="56" y="258"/>
                    </a:lnTo>
                    <a:lnTo>
                      <a:pt x="73" y="262"/>
                    </a:lnTo>
                    <a:lnTo>
                      <a:pt x="85" y="269"/>
                    </a:lnTo>
                    <a:lnTo>
                      <a:pt x="121" y="239"/>
                    </a:lnTo>
                    <a:lnTo>
                      <a:pt x="117" y="230"/>
                    </a:lnTo>
                    <a:lnTo>
                      <a:pt x="117" y="222"/>
                    </a:lnTo>
                    <a:lnTo>
                      <a:pt x="125" y="188"/>
                    </a:lnTo>
                    <a:lnTo>
                      <a:pt x="125" y="186"/>
                    </a:lnTo>
                    <a:lnTo>
                      <a:pt x="131" y="177"/>
                    </a:lnTo>
                    <a:lnTo>
                      <a:pt x="141" y="170"/>
                    </a:lnTo>
                    <a:lnTo>
                      <a:pt x="151" y="168"/>
                    </a:lnTo>
                    <a:lnTo>
                      <a:pt x="163" y="169"/>
                    </a:lnTo>
                    <a:lnTo>
                      <a:pt x="173" y="174"/>
                    </a:lnTo>
                    <a:lnTo>
                      <a:pt x="180" y="183"/>
                    </a:lnTo>
                    <a:lnTo>
                      <a:pt x="183" y="193"/>
                    </a:lnTo>
                    <a:lnTo>
                      <a:pt x="183" y="205"/>
                    </a:lnTo>
                    <a:lnTo>
                      <a:pt x="179" y="216"/>
                    </a:lnTo>
                    <a:lnTo>
                      <a:pt x="225" y="235"/>
                    </a:lnTo>
                    <a:lnTo>
                      <a:pt x="249" y="179"/>
                    </a:lnTo>
                    <a:lnTo>
                      <a:pt x="265" y="168"/>
                    </a:lnTo>
                    <a:lnTo>
                      <a:pt x="260" y="149"/>
                    </a:lnTo>
                    <a:lnTo>
                      <a:pt x="282" y="154"/>
                    </a:lnTo>
                    <a:lnTo>
                      <a:pt x="305" y="156"/>
                    </a:lnTo>
                    <a:lnTo>
                      <a:pt x="326" y="154"/>
                    </a:lnTo>
                    <a:lnTo>
                      <a:pt x="335" y="151"/>
                    </a:lnTo>
                    <a:lnTo>
                      <a:pt x="339" y="154"/>
                    </a:lnTo>
                    <a:lnTo>
                      <a:pt x="358" y="158"/>
                    </a:lnTo>
                    <a:lnTo>
                      <a:pt x="362" y="158"/>
                    </a:lnTo>
                    <a:lnTo>
                      <a:pt x="370" y="156"/>
                    </a:lnTo>
                    <a:lnTo>
                      <a:pt x="378" y="151"/>
                    </a:lnTo>
                    <a:lnTo>
                      <a:pt x="383" y="141"/>
                    </a:lnTo>
                    <a:lnTo>
                      <a:pt x="381" y="136"/>
                    </a:lnTo>
                    <a:lnTo>
                      <a:pt x="377" y="128"/>
                    </a:lnTo>
                    <a:lnTo>
                      <a:pt x="353" y="101"/>
                    </a:lnTo>
                    <a:lnTo>
                      <a:pt x="325" y="75"/>
                    </a:lnTo>
                    <a:lnTo>
                      <a:pt x="295" y="55"/>
                    </a:lnTo>
                    <a:lnTo>
                      <a:pt x="263" y="36"/>
                    </a:lnTo>
                    <a:lnTo>
                      <a:pt x="229" y="21"/>
                    </a:lnTo>
                    <a:lnTo>
                      <a:pt x="193" y="10"/>
                    </a:lnTo>
                    <a:lnTo>
                      <a:pt x="156" y="3"/>
                    </a:lnTo>
                    <a:lnTo>
                      <a:pt x="136" y="0"/>
                    </a:lnTo>
                    <a:lnTo>
                      <a:pt x="108" y="15"/>
                    </a:lnTo>
                    <a:lnTo>
                      <a:pt x="81" y="33"/>
                    </a:lnTo>
                    <a:lnTo>
                      <a:pt x="57" y="55"/>
                    </a:lnTo>
                    <a:lnTo>
                      <a:pt x="37" y="79"/>
                    </a:lnTo>
                    <a:lnTo>
                      <a:pt x="19" y="106"/>
                    </a:lnTo>
                    <a:lnTo>
                      <a:pt x="7" y="132"/>
                    </a:lnTo>
                    <a:lnTo>
                      <a:pt x="0" y="151"/>
                    </a:lnTo>
                    <a:lnTo>
                      <a:pt x="8" y="173"/>
                    </a:lnTo>
                    <a:lnTo>
                      <a:pt x="12" y="194"/>
                    </a:lnTo>
                    <a:lnTo>
                      <a:pt x="12" y="216"/>
                    </a:lnTo>
                    <a:lnTo>
                      <a:pt x="8" y="238"/>
                    </a:lnTo>
                    <a:lnTo>
                      <a:pt x="0" y="258"/>
                    </a:lnTo>
                    <a:lnTo>
                      <a:pt x="8" y="265"/>
                    </a:lnTo>
                    <a:lnTo>
                      <a:pt x="12" y="268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50" name="Freeform 10"/>
              <p:cNvSpPr>
                <a:spLocks/>
              </p:cNvSpPr>
              <p:nvPr/>
            </p:nvSpPr>
            <p:spPr bwMode="auto">
              <a:xfrm>
                <a:off x="2346" y="2959"/>
                <a:ext cx="346" cy="273"/>
              </a:xfrm>
              <a:custGeom>
                <a:avLst/>
                <a:gdLst>
                  <a:gd name="T0" fmla="*/ 346 w 346"/>
                  <a:gd name="T1" fmla="*/ 9 h 273"/>
                  <a:gd name="T2" fmla="*/ 327 w 346"/>
                  <a:gd name="T3" fmla="*/ 5 h 273"/>
                  <a:gd name="T4" fmla="*/ 323 w 346"/>
                  <a:gd name="T5" fmla="*/ 2 h 273"/>
                  <a:gd name="T6" fmla="*/ 314 w 346"/>
                  <a:gd name="T7" fmla="*/ 5 h 273"/>
                  <a:gd name="T8" fmla="*/ 293 w 346"/>
                  <a:gd name="T9" fmla="*/ 7 h 273"/>
                  <a:gd name="T10" fmla="*/ 270 w 346"/>
                  <a:gd name="T11" fmla="*/ 5 h 273"/>
                  <a:gd name="T12" fmla="*/ 248 w 346"/>
                  <a:gd name="T13" fmla="*/ 0 h 273"/>
                  <a:gd name="T14" fmla="*/ 253 w 346"/>
                  <a:gd name="T15" fmla="*/ 19 h 273"/>
                  <a:gd name="T16" fmla="*/ 237 w 346"/>
                  <a:gd name="T17" fmla="*/ 30 h 273"/>
                  <a:gd name="T18" fmla="*/ 213 w 346"/>
                  <a:gd name="T19" fmla="*/ 86 h 273"/>
                  <a:gd name="T20" fmla="*/ 167 w 346"/>
                  <a:gd name="T21" fmla="*/ 67 h 273"/>
                  <a:gd name="T22" fmla="*/ 171 w 346"/>
                  <a:gd name="T23" fmla="*/ 56 h 273"/>
                  <a:gd name="T24" fmla="*/ 171 w 346"/>
                  <a:gd name="T25" fmla="*/ 44 h 273"/>
                  <a:gd name="T26" fmla="*/ 168 w 346"/>
                  <a:gd name="T27" fmla="*/ 34 h 273"/>
                  <a:gd name="T28" fmla="*/ 161 w 346"/>
                  <a:gd name="T29" fmla="*/ 25 h 273"/>
                  <a:gd name="T30" fmla="*/ 151 w 346"/>
                  <a:gd name="T31" fmla="*/ 20 h 273"/>
                  <a:gd name="T32" fmla="*/ 139 w 346"/>
                  <a:gd name="T33" fmla="*/ 19 h 273"/>
                  <a:gd name="T34" fmla="*/ 129 w 346"/>
                  <a:gd name="T35" fmla="*/ 21 h 273"/>
                  <a:gd name="T36" fmla="*/ 119 w 346"/>
                  <a:gd name="T37" fmla="*/ 28 h 273"/>
                  <a:gd name="T38" fmla="*/ 113 w 346"/>
                  <a:gd name="T39" fmla="*/ 37 h 273"/>
                  <a:gd name="T40" fmla="*/ 113 w 346"/>
                  <a:gd name="T41" fmla="*/ 39 h 273"/>
                  <a:gd name="T42" fmla="*/ 105 w 346"/>
                  <a:gd name="T43" fmla="*/ 73 h 273"/>
                  <a:gd name="T44" fmla="*/ 105 w 346"/>
                  <a:gd name="T45" fmla="*/ 81 h 273"/>
                  <a:gd name="T46" fmla="*/ 109 w 346"/>
                  <a:gd name="T47" fmla="*/ 90 h 273"/>
                  <a:gd name="T48" fmla="*/ 73 w 346"/>
                  <a:gd name="T49" fmla="*/ 120 h 273"/>
                  <a:gd name="T50" fmla="*/ 61 w 346"/>
                  <a:gd name="T51" fmla="*/ 113 h 273"/>
                  <a:gd name="T52" fmla="*/ 44 w 346"/>
                  <a:gd name="T53" fmla="*/ 109 h 273"/>
                  <a:gd name="T54" fmla="*/ 29 w 346"/>
                  <a:gd name="T55" fmla="*/ 109 h 273"/>
                  <a:gd name="T56" fmla="*/ 14 w 346"/>
                  <a:gd name="T57" fmla="*/ 113 h 273"/>
                  <a:gd name="T58" fmla="*/ 0 w 346"/>
                  <a:gd name="T59" fmla="*/ 119 h 273"/>
                  <a:gd name="T60" fmla="*/ 5 w 346"/>
                  <a:gd name="T61" fmla="*/ 127 h 273"/>
                  <a:gd name="T62" fmla="*/ 29 w 346"/>
                  <a:gd name="T63" fmla="*/ 133 h 273"/>
                  <a:gd name="T64" fmla="*/ 56 w 346"/>
                  <a:gd name="T65" fmla="*/ 147 h 273"/>
                  <a:gd name="T66" fmla="*/ 83 w 346"/>
                  <a:gd name="T67" fmla="*/ 167 h 273"/>
                  <a:gd name="T68" fmla="*/ 108 w 346"/>
                  <a:gd name="T69" fmla="*/ 190 h 273"/>
                  <a:gd name="T70" fmla="*/ 129 w 346"/>
                  <a:gd name="T71" fmla="*/ 215 h 273"/>
                  <a:gd name="T72" fmla="*/ 148 w 346"/>
                  <a:gd name="T73" fmla="*/ 242 h 273"/>
                  <a:gd name="T74" fmla="*/ 163 w 346"/>
                  <a:gd name="T75" fmla="*/ 273 h 273"/>
                  <a:gd name="T76" fmla="*/ 175 w 346"/>
                  <a:gd name="T77" fmla="*/ 265 h 273"/>
                  <a:gd name="T78" fmla="*/ 260 w 346"/>
                  <a:gd name="T79" fmla="*/ 265 h 273"/>
                  <a:gd name="T80" fmla="*/ 269 w 346"/>
                  <a:gd name="T81" fmla="*/ 261 h 273"/>
                  <a:gd name="T82" fmla="*/ 276 w 346"/>
                  <a:gd name="T83" fmla="*/ 255 h 273"/>
                  <a:gd name="T84" fmla="*/ 278 w 346"/>
                  <a:gd name="T85" fmla="*/ 246 h 273"/>
                  <a:gd name="T86" fmla="*/ 278 w 346"/>
                  <a:gd name="T87" fmla="*/ 238 h 273"/>
                  <a:gd name="T88" fmla="*/ 276 w 346"/>
                  <a:gd name="T89" fmla="*/ 232 h 273"/>
                  <a:gd name="T90" fmla="*/ 292 w 346"/>
                  <a:gd name="T91" fmla="*/ 205 h 273"/>
                  <a:gd name="T92" fmla="*/ 283 w 346"/>
                  <a:gd name="T93" fmla="*/ 199 h 273"/>
                  <a:gd name="T94" fmla="*/ 269 w 346"/>
                  <a:gd name="T95" fmla="*/ 188 h 273"/>
                  <a:gd name="T96" fmla="*/ 262 w 346"/>
                  <a:gd name="T97" fmla="*/ 184 h 273"/>
                  <a:gd name="T98" fmla="*/ 266 w 346"/>
                  <a:gd name="T99" fmla="*/ 175 h 273"/>
                  <a:gd name="T100" fmla="*/ 288 w 346"/>
                  <a:gd name="T101" fmla="*/ 188 h 273"/>
                  <a:gd name="T102" fmla="*/ 295 w 346"/>
                  <a:gd name="T103" fmla="*/ 190 h 273"/>
                  <a:gd name="T104" fmla="*/ 302 w 346"/>
                  <a:gd name="T105" fmla="*/ 169 h 273"/>
                  <a:gd name="T106" fmla="*/ 304 w 346"/>
                  <a:gd name="T107" fmla="*/ 166 h 273"/>
                  <a:gd name="T108" fmla="*/ 331 w 346"/>
                  <a:gd name="T109" fmla="*/ 166 h 273"/>
                  <a:gd name="T110" fmla="*/ 332 w 346"/>
                  <a:gd name="T111" fmla="*/ 162 h 273"/>
                  <a:gd name="T112" fmla="*/ 327 w 346"/>
                  <a:gd name="T113" fmla="*/ 96 h 273"/>
                  <a:gd name="T114" fmla="*/ 333 w 346"/>
                  <a:gd name="T115" fmla="*/ 94 h 273"/>
                  <a:gd name="T116" fmla="*/ 338 w 346"/>
                  <a:gd name="T117" fmla="*/ 87 h 273"/>
                  <a:gd name="T118" fmla="*/ 340 w 346"/>
                  <a:gd name="T119" fmla="*/ 80 h 273"/>
                  <a:gd name="T120" fmla="*/ 340 w 346"/>
                  <a:gd name="T121" fmla="*/ 77 h 273"/>
                  <a:gd name="T122" fmla="*/ 346 w 346"/>
                  <a:gd name="T123" fmla="*/ 9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346" h="273">
                    <a:moveTo>
                      <a:pt x="346" y="9"/>
                    </a:moveTo>
                    <a:lnTo>
                      <a:pt x="327" y="5"/>
                    </a:lnTo>
                    <a:lnTo>
                      <a:pt x="323" y="2"/>
                    </a:lnTo>
                    <a:lnTo>
                      <a:pt x="314" y="5"/>
                    </a:lnTo>
                    <a:lnTo>
                      <a:pt x="293" y="7"/>
                    </a:lnTo>
                    <a:lnTo>
                      <a:pt x="270" y="5"/>
                    </a:lnTo>
                    <a:lnTo>
                      <a:pt x="248" y="0"/>
                    </a:lnTo>
                    <a:lnTo>
                      <a:pt x="253" y="19"/>
                    </a:lnTo>
                    <a:lnTo>
                      <a:pt x="237" y="30"/>
                    </a:lnTo>
                    <a:lnTo>
                      <a:pt x="213" y="86"/>
                    </a:lnTo>
                    <a:lnTo>
                      <a:pt x="167" y="67"/>
                    </a:lnTo>
                    <a:lnTo>
                      <a:pt x="171" y="56"/>
                    </a:lnTo>
                    <a:lnTo>
                      <a:pt x="171" y="44"/>
                    </a:lnTo>
                    <a:lnTo>
                      <a:pt x="168" y="34"/>
                    </a:lnTo>
                    <a:lnTo>
                      <a:pt x="161" y="25"/>
                    </a:lnTo>
                    <a:lnTo>
                      <a:pt x="151" y="20"/>
                    </a:lnTo>
                    <a:lnTo>
                      <a:pt x="139" y="19"/>
                    </a:lnTo>
                    <a:lnTo>
                      <a:pt x="129" y="21"/>
                    </a:lnTo>
                    <a:lnTo>
                      <a:pt x="119" y="28"/>
                    </a:lnTo>
                    <a:lnTo>
                      <a:pt x="113" y="37"/>
                    </a:lnTo>
                    <a:lnTo>
                      <a:pt x="113" y="39"/>
                    </a:lnTo>
                    <a:lnTo>
                      <a:pt x="105" y="73"/>
                    </a:lnTo>
                    <a:lnTo>
                      <a:pt x="105" y="81"/>
                    </a:lnTo>
                    <a:lnTo>
                      <a:pt x="109" y="90"/>
                    </a:lnTo>
                    <a:lnTo>
                      <a:pt x="73" y="120"/>
                    </a:lnTo>
                    <a:lnTo>
                      <a:pt x="61" y="113"/>
                    </a:lnTo>
                    <a:lnTo>
                      <a:pt x="44" y="109"/>
                    </a:lnTo>
                    <a:lnTo>
                      <a:pt x="29" y="109"/>
                    </a:lnTo>
                    <a:lnTo>
                      <a:pt x="14" y="113"/>
                    </a:lnTo>
                    <a:lnTo>
                      <a:pt x="0" y="119"/>
                    </a:lnTo>
                    <a:lnTo>
                      <a:pt x="5" y="127"/>
                    </a:lnTo>
                    <a:lnTo>
                      <a:pt x="29" y="133"/>
                    </a:lnTo>
                    <a:lnTo>
                      <a:pt x="56" y="147"/>
                    </a:lnTo>
                    <a:lnTo>
                      <a:pt x="83" y="167"/>
                    </a:lnTo>
                    <a:lnTo>
                      <a:pt x="108" y="190"/>
                    </a:lnTo>
                    <a:lnTo>
                      <a:pt x="129" y="215"/>
                    </a:lnTo>
                    <a:lnTo>
                      <a:pt x="148" y="242"/>
                    </a:lnTo>
                    <a:lnTo>
                      <a:pt x="163" y="273"/>
                    </a:lnTo>
                    <a:lnTo>
                      <a:pt x="175" y="265"/>
                    </a:lnTo>
                    <a:lnTo>
                      <a:pt x="260" y="265"/>
                    </a:lnTo>
                    <a:lnTo>
                      <a:pt x="269" y="261"/>
                    </a:lnTo>
                    <a:lnTo>
                      <a:pt x="276" y="255"/>
                    </a:lnTo>
                    <a:lnTo>
                      <a:pt x="278" y="246"/>
                    </a:lnTo>
                    <a:lnTo>
                      <a:pt x="278" y="238"/>
                    </a:lnTo>
                    <a:lnTo>
                      <a:pt x="276" y="232"/>
                    </a:lnTo>
                    <a:lnTo>
                      <a:pt x="292" y="205"/>
                    </a:lnTo>
                    <a:lnTo>
                      <a:pt x="283" y="199"/>
                    </a:lnTo>
                    <a:lnTo>
                      <a:pt x="269" y="188"/>
                    </a:lnTo>
                    <a:lnTo>
                      <a:pt x="262" y="184"/>
                    </a:lnTo>
                    <a:lnTo>
                      <a:pt x="266" y="175"/>
                    </a:lnTo>
                    <a:lnTo>
                      <a:pt x="288" y="188"/>
                    </a:lnTo>
                    <a:lnTo>
                      <a:pt x="295" y="190"/>
                    </a:lnTo>
                    <a:lnTo>
                      <a:pt x="302" y="169"/>
                    </a:lnTo>
                    <a:lnTo>
                      <a:pt x="304" y="166"/>
                    </a:lnTo>
                    <a:lnTo>
                      <a:pt x="331" y="166"/>
                    </a:lnTo>
                    <a:lnTo>
                      <a:pt x="332" y="162"/>
                    </a:lnTo>
                    <a:lnTo>
                      <a:pt x="327" y="96"/>
                    </a:lnTo>
                    <a:lnTo>
                      <a:pt x="333" y="94"/>
                    </a:lnTo>
                    <a:lnTo>
                      <a:pt x="338" y="87"/>
                    </a:lnTo>
                    <a:lnTo>
                      <a:pt x="340" y="80"/>
                    </a:lnTo>
                    <a:lnTo>
                      <a:pt x="340" y="77"/>
                    </a:lnTo>
                    <a:lnTo>
                      <a:pt x="346" y="9"/>
                    </a:lnTo>
                    <a:close/>
                  </a:path>
                </a:pathLst>
              </a:custGeom>
              <a:solidFill>
                <a:srgbClr val="FCE6CF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51" name="Freeform 11"/>
              <p:cNvSpPr>
                <a:spLocks/>
              </p:cNvSpPr>
              <p:nvPr/>
            </p:nvSpPr>
            <p:spPr bwMode="auto">
              <a:xfrm>
                <a:off x="2641" y="3103"/>
                <a:ext cx="4" cy="18"/>
              </a:xfrm>
              <a:custGeom>
                <a:avLst/>
                <a:gdLst>
                  <a:gd name="T0" fmla="*/ 3 w 4"/>
                  <a:gd name="T1" fmla="*/ 0 h 18"/>
                  <a:gd name="T2" fmla="*/ 2 w 4"/>
                  <a:gd name="T3" fmla="*/ 3 h 18"/>
                  <a:gd name="T4" fmla="*/ 0 w 4"/>
                  <a:gd name="T5" fmla="*/ 5 h 18"/>
                  <a:gd name="T6" fmla="*/ 0 w 4"/>
                  <a:gd name="T7" fmla="*/ 12 h 18"/>
                  <a:gd name="T8" fmla="*/ 2 w 4"/>
                  <a:gd name="T9" fmla="*/ 14 h 18"/>
                  <a:gd name="T10" fmla="*/ 4 w 4"/>
                  <a:gd name="T11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18">
                    <a:moveTo>
                      <a:pt x="3" y="0"/>
                    </a:moveTo>
                    <a:lnTo>
                      <a:pt x="2" y="3"/>
                    </a:lnTo>
                    <a:lnTo>
                      <a:pt x="0" y="5"/>
                    </a:lnTo>
                    <a:lnTo>
                      <a:pt x="0" y="12"/>
                    </a:lnTo>
                    <a:lnTo>
                      <a:pt x="2" y="14"/>
                    </a:lnTo>
                    <a:lnTo>
                      <a:pt x="4" y="18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52" name="Line 12"/>
              <p:cNvSpPr>
                <a:spLocks noChangeShapeType="1"/>
              </p:cNvSpPr>
              <p:nvPr/>
            </p:nvSpPr>
            <p:spPr bwMode="auto">
              <a:xfrm flipH="1">
                <a:off x="2591" y="3110"/>
                <a:ext cx="11" cy="3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53" name="Freeform 13"/>
              <p:cNvSpPr>
                <a:spLocks/>
              </p:cNvSpPr>
              <p:nvPr/>
            </p:nvSpPr>
            <p:spPr bwMode="auto">
              <a:xfrm>
                <a:off x="2454" y="3049"/>
                <a:ext cx="20" cy="26"/>
              </a:xfrm>
              <a:custGeom>
                <a:avLst/>
                <a:gdLst>
                  <a:gd name="T0" fmla="*/ 20 w 20"/>
                  <a:gd name="T1" fmla="*/ 26 h 26"/>
                  <a:gd name="T2" fmla="*/ 10 w 20"/>
                  <a:gd name="T3" fmla="*/ 18 h 26"/>
                  <a:gd name="T4" fmla="*/ 3 w 20"/>
                  <a:gd name="T5" fmla="*/ 6 h 26"/>
                  <a:gd name="T6" fmla="*/ 0 w 20"/>
                  <a:gd name="T7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" h="26">
                    <a:moveTo>
                      <a:pt x="20" y="26"/>
                    </a:moveTo>
                    <a:lnTo>
                      <a:pt x="10" y="18"/>
                    </a:lnTo>
                    <a:lnTo>
                      <a:pt x="3" y="6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54" name="Freeform 14"/>
              <p:cNvSpPr>
                <a:spLocks/>
              </p:cNvSpPr>
              <p:nvPr/>
            </p:nvSpPr>
            <p:spPr bwMode="auto">
              <a:xfrm>
                <a:off x="2622" y="3032"/>
                <a:ext cx="47" cy="23"/>
              </a:xfrm>
              <a:custGeom>
                <a:avLst/>
                <a:gdLst>
                  <a:gd name="T0" fmla="*/ 8 w 47"/>
                  <a:gd name="T1" fmla="*/ 0 h 23"/>
                  <a:gd name="T2" fmla="*/ 47 w 47"/>
                  <a:gd name="T3" fmla="*/ 13 h 23"/>
                  <a:gd name="T4" fmla="*/ 31 w 47"/>
                  <a:gd name="T5" fmla="*/ 23 h 23"/>
                  <a:gd name="T6" fmla="*/ 16 w 47"/>
                  <a:gd name="T7" fmla="*/ 21 h 23"/>
                  <a:gd name="T8" fmla="*/ 5 w 47"/>
                  <a:gd name="T9" fmla="*/ 17 h 23"/>
                  <a:gd name="T10" fmla="*/ 0 w 47"/>
                  <a:gd name="T11" fmla="*/ 16 h 23"/>
                  <a:gd name="T12" fmla="*/ 28 w 47"/>
                  <a:gd name="T13" fmla="*/ 21 h 23"/>
                  <a:gd name="T14" fmla="*/ 32 w 47"/>
                  <a:gd name="T15" fmla="*/ 16 h 23"/>
                  <a:gd name="T16" fmla="*/ 8 w 47"/>
                  <a:gd name="T17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" h="23">
                    <a:moveTo>
                      <a:pt x="8" y="0"/>
                    </a:moveTo>
                    <a:lnTo>
                      <a:pt x="47" y="13"/>
                    </a:lnTo>
                    <a:lnTo>
                      <a:pt x="31" y="23"/>
                    </a:lnTo>
                    <a:lnTo>
                      <a:pt x="16" y="21"/>
                    </a:lnTo>
                    <a:lnTo>
                      <a:pt x="5" y="17"/>
                    </a:lnTo>
                    <a:lnTo>
                      <a:pt x="0" y="16"/>
                    </a:lnTo>
                    <a:lnTo>
                      <a:pt x="28" y="21"/>
                    </a:lnTo>
                    <a:lnTo>
                      <a:pt x="32" y="16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55" name="Freeform 15"/>
              <p:cNvSpPr>
                <a:spLocks/>
              </p:cNvSpPr>
              <p:nvPr/>
            </p:nvSpPr>
            <p:spPr bwMode="auto">
              <a:xfrm>
                <a:off x="2626" y="3049"/>
                <a:ext cx="12" cy="15"/>
              </a:xfrm>
              <a:custGeom>
                <a:avLst/>
                <a:gdLst>
                  <a:gd name="T0" fmla="*/ 12 w 12"/>
                  <a:gd name="T1" fmla="*/ 4 h 15"/>
                  <a:gd name="T2" fmla="*/ 8 w 12"/>
                  <a:gd name="T3" fmla="*/ 15 h 15"/>
                  <a:gd name="T4" fmla="*/ 0 w 12"/>
                  <a:gd name="T5" fmla="*/ 15 h 15"/>
                  <a:gd name="T6" fmla="*/ 1 w 12"/>
                  <a:gd name="T7" fmla="*/ 0 h 15"/>
                  <a:gd name="T8" fmla="*/ 12 w 12"/>
                  <a:gd name="T9" fmla="*/ 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15">
                    <a:moveTo>
                      <a:pt x="12" y="4"/>
                    </a:moveTo>
                    <a:lnTo>
                      <a:pt x="8" y="15"/>
                    </a:lnTo>
                    <a:lnTo>
                      <a:pt x="0" y="15"/>
                    </a:lnTo>
                    <a:lnTo>
                      <a:pt x="1" y="0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56" name="Freeform 16"/>
              <p:cNvSpPr>
                <a:spLocks/>
              </p:cNvSpPr>
              <p:nvPr/>
            </p:nvSpPr>
            <p:spPr bwMode="auto">
              <a:xfrm>
                <a:off x="2474" y="3070"/>
                <a:ext cx="24" cy="13"/>
              </a:xfrm>
              <a:custGeom>
                <a:avLst/>
                <a:gdLst>
                  <a:gd name="T0" fmla="*/ 0 w 24"/>
                  <a:gd name="T1" fmla="*/ 5 h 13"/>
                  <a:gd name="T2" fmla="*/ 11 w 24"/>
                  <a:gd name="T3" fmla="*/ 13 h 13"/>
                  <a:gd name="T4" fmla="*/ 24 w 24"/>
                  <a:gd name="T5" fmla="*/ 13 h 13"/>
                  <a:gd name="T6" fmla="*/ 20 w 24"/>
                  <a:gd name="T7" fmla="*/ 0 h 13"/>
                  <a:gd name="T8" fmla="*/ 14 w 24"/>
                  <a:gd name="T9" fmla="*/ 4 h 13"/>
                  <a:gd name="T10" fmla="*/ 0 w 24"/>
                  <a:gd name="T11" fmla="*/ 5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" h="13">
                    <a:moveTo>
                      <a:pt x="0" y="5"/>
                    </a:moveTo>
                    <a:lnTo>
                      <a:pt x="11" y="13"/>
                    </a:lnTo>
                    <a:lnTo>
                      <a:pt x="24" y="13"/>
                    </a:lnTo>
                    <a:lnTo>
                      <a:pt x="20" y="0"/>
                    </a:lnTo>
                    <a:lnTo>
                      <a:pt x="14" y="4"/>
                    </a:lnTo>
                    <a:lnTo>
                      <a:pt x="0" y="5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57" name="Freeform 17"/>
              <p:cNvSpPr>
                <a:spLocks/>
              </p:cNvSpPr>
              <p:nvPr/>
            </p:nvSpPr>
            <p:spPr bwMode="auto">
              <a:xfrm>
                <a:off x="2645" y="3119"/>
                <a:ext cx="26" cy="6"/>
              </a:xfrm>
              <a:custGeom>
                <a:avLst/>
                <a:gdLst>
                  <a:gd name="T0" fmla="*/ 26 w 26"/>
                  <a:gd name="T1" fmla="*/ 6 h 6"/>
                  <a:gd name="T2" fmla="*/ 24 w 26"/>
                  <a:gd name="T3" fmla="*/ 0 h 6"/>
                  <a:gd name="T4" fmla="*/ 0 w 26"/>
                  <a:gd name="T5" fmla="*/ 2 h 6"/>
                  <a:gd name="T6" fmla="*/ 5 w 26"/>
                  <a:gd name="T7" fmla="*/ 6 h 6"/>
                  <a:gd name="T8" fmla="*/ 26 w 26"/>
                  <a:gd name="T9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6">
                    <a:moveTo>
                      <a:pt x="26" y="6"/>
                    </a:moveTo>
                    <a:lnTo>
                      <a:pt x="24" y="0"/>
                    </a:lnTo>
                    <a:lnTo>
                      <a:pt x="0" y="2"/>
                    </a:lnTo>
                    <a:lnTo>
                      <a:pt x="5" y="6"/>
                    </a:lnTo>
                    <a:lnTo>
                      <a:pt x="26" y="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58" name="Freeform 18"/>
              <p:cNvSpPr>
                <a:spLocks/>
              </p:cNvSpPr>
              <p:nvPr/>
            </p:nvSpPr>
            <p:spPr bwMode="auto">
              <a:xfrm>
                <a:off x="2608" y="3134"/>
                <a:ext cx="26" cy="24"/>
              </a:xfrm>
              <a:custGeom>
                <a:avLst/>
                <a:gdLst>
                  <a:gd name="T0" fmla="*/ 21 w 26"/>
                  <a:gd name="T1" fmla="*/ 24 h 24"/>
                  <a:gd name="T2" fmla="*/ 7 w 26"/>
                  <a:gd name="T3" fmla="*/ 13 h 24"/>
                  <a:gd name="T4" fmla="*/ 0 w 26"/>
                  <a:gd name="T5" fmla="*/ 9 h 24"/>
                  <a:gd name="T6" fmla="*/ 4 w 26"/>
                  <a:gd name="T7" fmla="*/ 0 h 24"/>
                  <a:gd name="T8" fmla="*/ 26 w 26"/>
                  <a:gd name="T9" fmla="*/ 13 h 24"/>
                  <a:gd name="T10" fmla="*/ 21 w 26"/>
                  <a:gd name="T11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6" h="24">
                    <a:moveTo>
                      <a:pt x="21" y="24"/>
                    </a:moveTo>
                    <a:lnTo>
                      <a:pt x="7" y="13"/>
                    </a:lnTo>
                    <a:lnTo>
                      <a:pt x="0" y="9"/>
                    </a:lnTo>
                    <a:lnTo>
                      <a:pt x="4" y="0"/>
                    </a:lnTo>
                    <a:lnTo>
                      <a:pt x="26" y="13"/>
                    </a:lnTo>
                    <a:lnTo>
                      <a:pt x="21" y="24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59" name="Line 19"/>
              <p:cNvSpPr>
                <a:spLocks noChangeShapeType="1"/>
              </p:cNvSpPr>
              <p:nvPr/>
            </p:nvSpPr>
            <p:spPr bwMode="auto">
              <a:xfrm flipH="1">
                <a:off x="2606" y="3143"/>
                <a:ext cx="2" cy="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60" name="Line 20"/>
              <p:cNvSpPr>
                <a:spLocks noChangeShapeType="1"/>
              </p:cNvSpPr>
              <p:nvPr/>
            </p:nvSpPr>
            <p:spPr bwMode="auto">
              <a:xfrm>
                <a:off x="2612" y="3130"/>
                <a:ext cx="1" cy="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61" name="Freeform 21"/>
              <p:cNvSpPr>
                <a:spLocks/>
              </p:cNvSpPr>
              <p:nvPr/>
            </p:nvSpPr>
            <p:spPr bwMode="auto">
              <a:xfrm>
                <a:off x="2657" y="3529"/>
                <a:ext cx="203" cy="120"/>
              </a:xfrm>
              <a:custGeom>
                <a:avLst/>
                <a:gdLst>
                  <a:gd name="T0" fmla="*/ 78 w 203"/>
                  <a:gd name="T1" fmla="*/ 116 h 120"/>
                  <a:gd name="T2" fmla="*/ 67 w 203"/>
                  <a:gd name="T3" fmla="*/ 100 h 120"/>
                  <a:gd name="T4" fmla="*/ 53 w 203"/>
                  <a:gd name="T5" fmla="*/ 86 h 120"/>
                  <a:gd name="T6" fmla="*/ 35 w 203"/>
                  <a:gd name="T7" fmla="*/ 76 h 120"/>
                  <a:gd name="T8" fmla="*/ 16 w 203"/>
                  <a:gd name="T9" fmla="*/ 68 h 120"/>
                  <a:gd name="T10" fmla="*/ 0 w 203"/>
                  <a:gd name="T11" fmla="*/ 66 h 120"/>
                  <a:gd name="T12" fmla="*/ 6 w 203"/>
                  <a:gd name="T13" fmla="*/ 53 h 120"/>
                  <a:gd name="T14" fmla="*/ 20 w 203"/>
                  <a:gd name="T15" fmla="*/ 34 h 120"/>
                  <a:gd name="T16" fmla="*/ 44 w 203"/>
                  <a:gd name="T17" fmla="*/ 11 h 120"/>
                  <a:gd name="T18" fmla="*/ 60 w 203"/>
                  <a:gd name="T19" fmla="*/ 2 h 120"/>
                  <a:gd name="T20" fmla="*/ 66 w 203"/>
                  <a:gd name="T21" fmla="*/ 1 h 120"/>
                  <a:gd name="T22" fmla="*/ 69 w 203"/>
                  <a:gd name="T23" fmla="*/ 0 h 120"/>
                  <a:gd name="T24" fmla="*/ 79 w 203"/>
                  <a:gd name="T25" fmla="*/ 0 h 120"/>
                  <a:gd name="T26" fmla="*/ 88 w 203"/>
                  <a:gd name="T27" fmla="*/ 1 h 120"/>
                  <a:gd name="T28" fmla="*/ 99 w 203"/>
                  <a:gd name="T29" fmla="*/ 6 h 120"/>
                  <a:gd name="T30" fmla="*/ 105 w 203"/>
                  <a:gd name="T31" fmla="*/ 12 h 120"/>
                  <a:gd name="T32" fmla="*/ 110 w 203"/>
                  <a:gd name="T33" fmla="*/ 20 h 120"/>
                  <a:gd name="T34" fmla="*/ 116 w 203"/>
                  <a:gd name="T35" fmla="*/ 29 h 120"/>
                  <a:gd name="T36" fmla="*/ 133 w 203"/>
                  <a:gd name="T37" fmla="*/ 26 h 120"/>
                  <a:gd name="T38" fmla="*/ 140 w 203"/>
                  <a:gd name="T39" fmla="*/ 25 h 120"/>
                  <a:gd name="T40" fmla="*/ 145 w 203"/>
                  <a:gd name="T41" fmla="*/ 22 h 120"/>
                  <a:gd name="T42" fmla="*/ 158 w 203"/>
                  <a:gd name="T43" fmla="*/ 24 h 120"/>
                  <a:gd name="T44" fmla="*/ 167 w 203"/>
                  <a:gd name="T45" fmla="*/ 29 h 120"/>
                  <a:gd name="T46" fmla="*/ 173 w 203"/>
                  <a:gd name="T47" fmla="*/ 38 h 120"/>
                  <a:gd name="T48" fmla="*/ 178 w 203"/>
                  <a:gd name="T49" fmla="*/ 44 h 120"/>
                  <a:gd name="T50" fmla="*/ 184 w 203"/>
                  <a:gd name="T51" fmla="*/ 62 h 120"/>
                  <a:gd name="T52" fmla="*/ 186 w 203"/>
                  <a:gd name="T53" fmla="*/ 64 h 120"/>
                  <a:gd name="T54" fmla="*/ 191 w 203"/>
                  <a:gd name="T55" fmla="*/ 67 h 120"/>
                  <a:gd name="T56" fmla="*/ 195 w 203"/>
                  <a:gd name="T57" fmla="*/ 69 h 120"/>
                  <a:gd name="T58" fmla="*/ 199 w 203"/>
                  <a:gd name="T59" fmla="*/ 76 h 120"/>
                  <a:gd name="T60" fmla="*/ 203 w 203"/>
                  <a:gd name="T61" fmla="*/ 85 h 120"/>
                  <a:gd name="T62" fmla="*/ 167 w 203"/>
                  <a:gd name="T63" fmla="*/ 85 h 120"/>
                  <a:gd name="T64" fmla="*/ 147 w 203"/>
                  <a:gd name="T65" fmla="*/ 88 h 120"/>
                  <a:gd name="T66" fmla="*/ 128 w 203"/>
                  <a:gd name="T67" fmla="*/ 95 h 120"/>
                  <a:gd name="T68" fmla="*/ 110 w 203"/>
                  <a:gd name="T69" fmla="*/ 106 h 120"/>
                  <a:gd name="T70" fmla="*/ 99 w 203"/>
                  <a:gd name="T71" fmla="*/ 116 h 120"/>
                  <a:gd name="T72" fmla="*/ 81 w 203"/>
                  <a:gd name="T73" fmla="*/ 120 h 120"/>
                  <a:gd name="T74" fmla="*/ 78 w 203"/>
                  <a:gd name="T75" fmla="*/ 116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03" h="120">
                    <a:moveTo>
                      <a:pt x="78" y="116"/>
                    </a:moveTo>
                    <a:lnTo>
                      <a:pt x="67" y="100"/>
                    </a:lnTo>
                    <a:lnTo>
                      <a:pt x="53" y="86"/>
                    </a:lnTo>
                    <a:lnTo>
                      <a:pt x="35" y="76"/>
                    </a:lnTo>
                    <a:lnTo>
                      <a:pt x="16" y="68"/>
                    </a:lnTo>
                    <a:lnTo>
                      <a:pt x="0" y="66"/>
                    </a:lnTo>
                    <a:lnTo>
                      <a:pt x="6" y="53"/>
                    </a:lnTo>
                    <a:lnTo>
                      <a:pt x="20" y="34"/>
                    </a:lnTo>
                    <a:lnTo>
                      <a:pt x="44" y="11"/>
                    </a:lnTo>
                    <a:lnTo>
                      <a:pt x="60" y="2"/>
                    </a:lnTo>
                    <a:lnTo>
                      <a:pt x="66" y="1"/>
                    </a:lnTo>
                    <a:lnTo>
                      <a:pt x="69" y="0"/>
                    </a:lnTo>
                    <a:lnTo>
                      <a:pt x="79" y="0"/>
                    </a:lnTo>
                    <a:lnTo>
                      <a:pt x="88" y="1"/>
                    </a:lnTo>
                    <a:lnTo>
                      <a:pt x="99" y="6"/>
                    </a:lnTo>
                    <a:lnTo>
                      <a:pt x="105" y="12"/>
                    </a:lnTo>
                    <a:lnTo>
                      <a:pt x="110" y="20"/>
                    </a:lnTo>
                    <a:lnTo>
                      <a:pt x="116" y="29"/>
                    </a:lnTo>
                    <a:lnTo>
                      <a:pt x="133" y="26"/>
                    </a:lnTo>
                    <a:lnTo>
                      <a:pt x="140" y="25"/>
                    </a:lnTo>
                    <a:lnTo>
                      <a:pt x="145" y="22"/>
                    </a:lnTo>
                    <a:lnTo>
                      <a:pt x="158" y="24"/>
                    </a:lnTo>
                    <a:lnTo>
                      <a:pt x="167" y="29"/>
                    </a:lnTo>
                    <a:lnTo>
                      <a:pt x="173" y="38"/>
                    </a:lnTo>
                    <a:lnTo>
                      <a:pt x="178" y="44"/>
                    </a:lnTo>
                    <a:lnTo>
                      <a:pt x="184" y="62"/>
                    </a:lnTo>
                    <a:lnTo>
                      <a:pt x="186" y="64"/>
                    </a:lnTo>
                    <a:lnTo>
                      <a:pt x="191" y="67"/>
                    </a:lnTo>
                    <a:lnTo>
                      <a:pt x="195" y="69"/>
                    </a:lnTo>
                    <a:lnTo>
                      <a:pt x="199" y="76"/>
                    </a:lnTo>
                    <a:lnTo>
                      <a:pt x="203" y="85"/>
                    </a:lnTo>
                    <a:lnTo>
                      <a:pt x="167" y="85"/>
                    </a:lnTo>
                    <a:lnTo>
                      <a:pt x="147" y="88"/>
                    </a:lnTo>
                    <a:lnTo>
                      <a:pt x="128" y="95"/>
                    </a:lnTo>
                    <a:lnTo>
                      <a:pt x="110" y="106"/>
                    </a:lnTo>
                    <a:lnTo>
                      <a:pt x="99" y="116"/>
                    </a:lnTo>
                    <a:lnTo>
                      <a:pt x="81" y="120"/>
                    </a:lnTo>
                    <a:lnTo>
                      <a:pt x="78" y="116"/>
                    </a:lnTo>
                    <a:close/>
                  </a:path>
                </a:pathLst>
              </a:custGeom>
              <a:solidFill>
                <a:srgbClr val="FCE6CF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62" name="Freeform 22"/>
              <p:cNvSpPr>
                <a:spLocks/>
              </p:cNvSpPr>
              <p:nvPr/>
            </p:nvSpPr>
            <p:spPr bwMode="auto">
              <a:xfrm>
                <a:off x="2800" y="3582"/>
                <a:ext cx="22" cy="7"/>
              </a:xfrm>
              <a:custGeom>
                <a:avLst/>
                <a:gdLst>
                  <a:gd name="T0" fmla="*/ 0 w 22"/>
                  <a:gd name="T1" fmla="*/ 6 h 7"/>
                  <a:gd name="T2" fmla="*/ 5 w 22"/>
                  <a:gd name="T3" fmla="*/ 5 h 7"/>
                  <a:gd name="T4" fmla="*/ 11 w 22"/>
                  <a:gd name="T5" fmla="*/ 1 h 7"/>
                  <a:gd name="T6" fmla="*/ 14 w 22"/>
                  <a:gd name="T7" fmla="*/ 0 h 7"/>
                  <a:gd name="T8" fmla="*/ 19 w 22"/>
                  <a:gd name="T9" fmla="*/ 1 h 7"/>
                  <a:gd name="T10" fmla="*/ 22 w 22"/>
                  <a:gd name="T11" fmla="*/ 6 h 7"/>
                  <a:gd name="T12" fmla="*/ 15 w 22"/>
                  <a:gd name="T13" fmla="*/ 6 h 7"/>
                  <a:gd name="T14" fmla="*/ 4 w 22"/>
                  <a:gd name="T15" fmla="*/ 7 h 7"/>
                  <a:gd name="T16" fmla="*/ 0 w 22"/>
                  <a:gd name="T17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" h="7">
                    <a:moveTo>
                      <a:pt x="0" y="6"/>
                    </a:moveTo>
                    <a:lnTo>
                      <a:pt x="5" y="5"/>
                    </a:lnTo>
                    <a:lnTo>
                      <a:pt x="11" y="1"/>
                    </a:lnTo>
                    <a:lnTo>
                      <a:pt x="14" y="0"/>
                    </a:lnTo>
                    <a:lnTo>
                      <a:pt x="19" y="1"/>
                    </a:lnTo>
                    <a:lnTo>
                      <a:pt x="22" y="6"/>
                    </a:lnTo>
                    <a:lnTo>
                      <a:pt x="15" y="6"/>
                    </a:lnTo>
                    <a:lnTo>
                      <a:pt x="4" y="7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63" name="Freeform 23"/>
              <p:cNvSpPr>
                <a:spLocks/>
              </p:cNvSpPr>
              <p:nvPr/>
            </p:nvSpPr>
            <p:spPr bwMode="auto">
              <a:xfrm>
                <a:off x="2611" y="3512"/>
                <a:ext cx="106" cy="38"/>
              </a:xfrm>
              <a:custGeom>
                <a:avLst/>
                <a:gdLst>
                  <a:gd name="T0" fmla="*/ 90 w 106"/>
                  <a:gd name="T1" fmla="*/ 28 h 38"/>
                  <a:gd name="T2" fmla="*/ 89 w 106"/>
                  <a:gd name="T3" fmla="*/ 27 h 38"/>
                  <a:gd name="T4" fmla="*/ 81 w 106"/>
                  <a:gd name="T5" fmla="*/ 24 h 38"/>
                  <a:gd name="T6" fmla="*/ 67 w 106"/>
                  <a:gd name="T7" fmla="*/ 20 h 38"/>
                  <a:gd name="T8" fmla="*/ 49 w 106"/>
                  <a:gd name="T9" fmla="*/ 20 h 38"/>
                  <a:gd name="T10" fmla="*/ 32 w 106"/>
                  <a:gd name="T11" fmla="*/ 24 h 38"/>
                  <a:gd name="T12" fmla="*/ 15 w 106"/>
                  <a:gd name="T13" fmla="*/ 29 h 38"/>
                  <a:gd name="T14" fmla="*/ 0 w 106"/>
                  <a:gd name="T15" fmla="*/ 37 h 38"/>
                  <a:gd name="T16" fmla="*/ 0 w 106"/>
                  <a:gd name="T17" fmla="*/ 38 h 38"/>
                  <a:gd name="T18" fmla="*/ 1 w 106"/>
                  <a:gd name="T19" fmla="*/ 23 h 38"/>
                  <a:gd name="T20" fmla="*/ 42 w 106"/>
                  <a:gd name="T21" fmla="*/ 0 h 38"/>
                  <a:gd name="T22" fmla="*/ 106 w 106"/>
                  <a:gd name="T23" fmla="*/ 19 h 38"/>
                  <a:gd name="T24" fmla="*/ 90 w 106"/>
                  <a:gd name="T25" fmla="*/ 28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6" h="38">
                    <a:moveTo>
                      <a:pt x="90" y="28"/>
                    </a:moveTo>
                    <a:lnTo>
                      <a:pt x="89" y="27"/>
                    </a:lnTo>
                    <a:lnTo>
                      <a:pt x="81" y="24"/>
                    </a:lnTo>
                    <a:lnTo>
                      <a:pt x="67" y="20"/>
                    </a:lnTo>
                    <a:lnTo>
                      <a:pt x="49" y="20"/>
                    </a:lnTo>
                    <a:lnTo>
                      <a:pt x="32" y="24"/>
                    </a:lnTo>
                    <a:lnTo>
                      <a:pt x="15" y="29"/>
                    </a:lnTo>
                    <a:lnTo>
                      <a:pt x="0" y="37"/>
                    </a:lnTo>
                    <a:lnTo>
                      <a:pt x="0" y="38"/>
                    </a:lnTo>
                    <a:lnTo>
                      <a:pt x="1" y="23"/>
                    </a:lnTo>
                    <a:lnTo>
                      <a:pt x="42" y="0"/>
                    </a:lnTo>
                    <a:lnTo>
                      <a:pt x="106" y="19"/>
                    </a:lnTo>
                    <a:lnTo>
                      <a:pt x="90" y="28"/>
                    </a:lnTo>
                    <a:close/>
                  </a:path>
                </a:pathLst>
              </a:custGeom>
              <a:solidFill>
                <a:srgbClr val="EAEAEA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64" name="Freeform 24"/>
              <p:cNvSpPr>
                <a:spLocks/>
              </p:cNvSpPr>
              <p:nvPr/>
            </p:nvSpPr>
            <p:spPr bwMode="auto">
              <a:xfrm>
                <a:off x="2602" y="3532"/>
                <a:ext cx="99" cy="98"/>
              </a:xfrm>
              <a:custGeom>
                <a:avLst/>
                <a:gdLst>
                  <a:gd name="T0" fmla="*/ 53 w 99"/>
                  <a:gd name="T1" fmla="*/ 64 h 98"/>
                  <a:gd name="T2" fmla="*/ 19 w 99"/>
                  <a:gd name="T3" fmla="*/ 98 h 98"/>
                  <a:gd name="T4" fmla="*/ 0 w 99"/>
                  <a:gd name="T5" fmla="*/ 92 h 98"/>
                  <a:gd name="T6" fmla="*/ 9 w 99"/>
                  <a:gd name="T7" fmla="*/ 18 h 98"/>
                  <a:gd name="T8" fmla="*/ 9 w 99"/>
                  <a:gd name="T9" fmla="*/ 17 h 98"/>
                  <a:gd name="T10" fmla="*/ 24 w 99"/>
                  <a:gd name="T11" fmla="*/ 9 h 98"/>
                  <a:gd name="T12" fmla="*/ 41 w 99"/>
                  <a:gd name="T13" fmla="*/ 4 h 98"/>
                  <a:gd name="T14" fmla="*/ 58 w 99"/>
                  <a:gd name="T15" fmla="*/ 0 h 98"/>
                  <a:gd name="T16" fmla="*/ 76 w 99"/>
                  <a:gd name="T17" fmla="*/ 0 h 98"/>
                  <a:gd name="T18" fmla="*/ 90 w 99"/>
                  <a:gd name="T19" fmla="*/ 4 h 98"/>
                  <a:gd name="T20" fmla="*/ 98 w 99"/>
                  <a:gd name="T21" fmla="*/ 7 h 98"/>
                  <a:gd name="T22" fmla="*/ 99 w 99"/>
                  <a:gd name="T23" fmla="*/ 8 h 98"/>
                  <a:gd name="T24" fmla="*/ 75 w 99"/>
                  <a:gd name="T25" fmla="*/ 31 h 98"/>
                  <a:gd name="T26" fmla="*/ 61 w 99"/>
                  <a:gd name="T27" fmla="*/ 50 h 98"/>
                  <a:gd name="T28" fmla="*/ 55 w 99"/>
                  <a:gd name="T29" fmla="*/ 63 h 98"/>
                  <a:gd name="T30" fmla="*/ 53 w 99"/>
                  <a:gd name="T31" fmla="*/ 6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99" h="98">
                    <a:moveTo>
                      <a:pt x="53" y="64"/>
                    </a:moveTo>
                    <a:lnTo>
                      <a:pt x="19" y="98"/>
                    </a:lnTo>
                    <a:lnTo>
                      <a:pt x="0" y="92"/>
                    </a:lnTo>
                    <a:lnTo>
                      <a:pt x="9" y="18"/>
                    </a:lnTo>
                    <a:lnTo>
                      <a:pt x="9" y="17"/>
                    </a:lnTo>
                    <a:lnTo>
                      <a:pt x="24" y="9"/>
                    </a:lnTo>
                    <a:lnTo>
                      <a:pt x="41" y="4"/>
                    </a:lnTo>
                    <a:lnTo>
                      <a:pt x="58" y="0"/>
                    </a:lnTo>
                    <a:lnTo>
                      <a:pt x="76" y="0"/>
                    </a:lnTo>
                    <a:lnTo>
                      <a:pt x="90" y="4"/>
                    </a:lnTo>
                    <a:lnTo>
                      <a:pt x="98" y="7"/>
                    </a:lnTo>
                    <a:lnTo>
                      <a:pt x="99" y="8"/>
                    </a:lnTo>
                    <a:lnTo>
                      <a:pt x="75" y="31"/>
                    </a:lnTo>
                    <a:lnTo>
                      <a:pt x="61" y="50"/>
                    </a:lnTo>
                    <a:lnTo>
                      <a:pt x="55" y="63"/>
                    </a:lnTo>
                    <a:lnTo>
                      <a:pt x="53" y="64"/>
                    </a:lnTo>
                    <a:close/>
                  </a:path>
                </a:pathLst>
              </a:custGeom>
              <a:solidFill>
                <a:srgbClr val="FCE6CF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65" name="Freeform 25"/>
              <p:cNvSpPr>
                <a:spLocks/>
              </p:cNvSpPr>
              <p:nvPr/>
            </p:nvSpPr>
            <p:spPr bwMode="auto">
              <a:xfrm>
                <a:off x="2602" y="3624"/>
                <a:ext cx="19" cy="16"/>
              </a:xfrm>
              <a:custGeom>
                <a:avLst/>
                <a:gdLst>
                  <a:gd name="T0" fmla="*/ 19 w 19"/>
                  <a:gd name="T1" fmla="*/ 6 h 16"/>
                  <a:gd name="T2" fmla="*/ 0 w 19"/>
                  <a:gd name="T3" fmla="*/ 0 h 16"/>
                  <a:gd name="T4" fmla="*/ 0 w 19"/>
                  <a:gd name="T5" fmla="*/ 7 h 16"/>
                  <a:gd name="T6" fmla="*/ 9 w 19"/>
                  <a:gd name="T7" fmla="*/ 16 h 16"/>
                  <a:gd name="T8" fmla="*/ 19 w 19"/>
                  <a:gd name="T9" fmla="*/ 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16">
                    <a:moveTo>
                      <a:pt x="19" y="6"/>
                    </a:moveTo>
                    <a:lnTo>
                      <a:pt x="0" y="0"/>
                    </a:lnTo>
                    <a:lnTo>
                      <a:pt x="0" y="7"/>
                    </a:lnTo>
                    <a:lnTo>
                      <a:pt x="9" y="16"/>
                    </a:lnTo>
                    <a:lnTo>
                      <a:pt x="19" y="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66" name="Freeform 26"/>
              <p:cNvSpPr>
                <a:spLocks/>
              </p:cNvSpPr>
              <p:nvPr/>
            </p:nvSpPr>
            <p:spPr bwMode="auto">
              <a:xfrm>
                <a:off x="2767" y="3549"/>
                <a:ext cx="23" cy="9"/>
              </a:xfrm>
              <a:custGeom>
                <a:avLst/>
                <a:gdLst>
                  <a:gd name="T0" fmla="*/ 0 w 23"/>
                  <a:gd name="T1" fmla="*/ 0 h 9"/>
                  <a:gd name="T2" fmla="*/ 6 w 23"/>
                  <a:gd name="T3" fmla="*/ 9 h 9"/>
                  <a:gd name="T4" fmla="*/ 23 w 23"/>
                  <a:gd name="T5" fmla="*/ 6 h 9"/>
                  <a:gd name="T6" fmla="*/ 0 w 23"/>
                  <a:gd name="T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3" h="9">
                    <a:moveTo>
                      <a:pt x="0" y="0"/>
                    </a:moveTo>
                    <a:lnTo>
                      <a:pt x="6" y="9"/>
                    </a:lnTo>
                    <a:lnTo>
                      <a:pt x="23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67" name="Freeform 27"/>
              <p:cNvSpPr>
                <a:spLocks/>
              </p:cNvSpPr>
              <p:nvPr/>
            </p:nvSpPr>
            <p:spPr bwMode="auto">
              <a:xfrm>
                <a:off x="2724" y="3567"/>
                <a:ext cx="295" cy="152"/>
              </a:xfrm>
              <a:custGeom>
                <a:avLst/>
                <a:gdLst>
                  <a:gd name="T0" fmla="*/ 14 w 295"/>
                  <a:gd name="T1" fmla="*/ 82 h 152"/>
                  <a:gd name="T2" fmla="*/ 32 w 295"/>
                  <a:gd name="T3" fmla="*/ 78 h 152"/>
                  <a:gd name="T4" fmla="*/ 43 w 295"/>
                  <a:gd name="T5" fmla="*/ 68 h 152"/>
                  <a:gd name="T6" fmla="*/ 61 w 295"/>
                  <a:gd name="T7" fmla="*/ 57 h 152"/>
                  <a:gd name="T8" fmla="*/ 80 w 295"/>
                  <a:gd name="T9" fmla="*/ 50 h 152"/>
                  <a:gd name="T10" fmla="*/ 100 w 295"/>
                  <a:gd name="T11" fmla="*/ 47 h 152"/>
                  <a:gd name="T12" fmla="*/ 136 w 295"/>
                  <a:gd name="T13" fmla="*/ 47 h 152"/>
                  <a:gd name="T14" fmla="*/ 132 w 295"/>
                  <a:gd name="T15" fmla="*/ 38 h 152"/>
                  <a:gd name="T16" fmla="*/ 128 w 295"/>
                  <a:gd name="T17" fmla="*/ 31 h 152"/>
                  <a:gd name="T18" fmla="*/ 124 w 295"/>
                  <a:gd name="T19" fmla="*/ 29 h 152"/>
                  <a:gd name="T20" fmla="*/ 119 w 295"/>
                  <a:gd name="T21" fmla="*/ 26 h 152"/>
                  <a:gd name="T22" fmla="*/ 117 w 295"/>
                  <a:gd name="T23" fmla="*/ 24 h 152"/>
                  <a:gd name="T24" fmla="*/ 111 w 295"/>
                  <a:gd name="T25" fmla="*/ 6 h 152"/>
                  <a:gd name="T26" fmla="*/ 106 w 295"/>
                  <a:gd name="T27" fmla="*/ 0 h 152"/>
                  <a:gd name="T28" fmla="*/ 292 w 295"/>
                  <a:gd name="T29" fmla="*/ 47 h 152"/>
                  <a:gd name="T30" fmla="*/ 295 w 295"/>
                  <a:gd name="T31" fmla="*/ 54 h 152"/>
                  <a:gd name="T32" fmla="*/ 295 w 295"/>
                  <a:gd name="T33" fmla="*/ 63 h 152"/>
                  <a:gd name="T34" fmla="*/ 292 w 295"/>
                  <a:gd name="T35" fmla="*/ 71 h 152"/>
                  <a:gd name="T36" fmla="*/ 147 w 295"/>
                  <a:gd name="T37" fmla="*/ 148 h 152"/>
                  <a:gd name="T38" fmla="*/ 137 w 295"/>
                  <a:gd name="T39" fmla="*/ 152 h 152"/>
                  <a:gd name="T40" fmla="*/ 128 w 295"/>
                  <a:gd name="T41" fmla="*/ 152 h 152"/>
                  <a:gd name="T42" fmla="*/ 0 w 295"/>
                  <a:gd name="T43" fmla="*/ 105 h 152"/>
                  <a:gd name="T44" fmla="*/ 12 w 295"/>
                  <a:gd name="T45" fmla="*/ 101 h 152"/>
                  <a:gd name="T46" fmla="*/ 15 w 295"/>
                  <a:gd name="T47" fmla="*/ 93 h 152"/>
                  <a:gd name="T48" fmla="*/ 15 w 295"/>
                  <a:gd name="T49" fmla="*/ 85 h 152"/>
                  <a:gd name="T50" fmla="*/ 14 w 295"/>
                  <a:gd name="T51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95" h="152">
                    <a:moveTo>
                      <a:pt x="14" y="82"/>
                    </a:moveTo>
                    <a:lnTo>
                      <a:pt x="32" y="78"/>
                    </a:lnTo>
                    <a:lnTo>
                      <a:pt x="43" y="68"/>
                    </a:lnTo>
                    <a:lnTo>
                      <a:pt x="61" y="57"/>
                    </a:lnTo>
                    <a:lnTo>
                      <a:pt x="80" y="50"/>
                    </a:lnTo>
                    <a:lnTo>
                      <a:pt x="100" y="47"/>
                    </a:lnTo>
                    <a:lnTo>
                      <a:pt x="136" y="47"/>
                    </a:lnTo>
                    <a:lnTo>
                      <a:pt x="132" y="38"/>
                    </a:lnTo>
                    <a:lnTo>
                      <a:pt x="128" y="31"/>
                    </a:lnTo>
                    <a:lnTo>
                      <a:pt x="124" y="29"/>
                    </a:lnTo>
                    <a:lnTo>
                      <a:pt x="119" y="26"/>
                    </a:lnTo>
                    <a:lnTo>
                      <a:pt x="117" y="24"/>
                    </a:lnTo>
                    <a:lnTo>
                      <a:pt x="111" y="6"/>
                    </a:lnTo>
                    <a:lnTo>
                      <a:pt x="106" y="0"/>
                    </a:lnTo>
                    <a:lnTo>
                      <a:pt x="292" y="47"/>
                    </a:lnTo>
                    <a:lnTo>
                      <a:pt x="295" y="54"/>
                    </a:lnTo>
                    <a:lnTo>
                      <a:pt x="295" y="63"/>
                    </a:lnTo>
                    <a:lnTo>
                      <a:pt x="292" y="71"/>
                    </a:lnTo>
                    <a:lnTo>
                      <a:pt x="147" y="148"/>
                    </a:lnTo>
                    <a:lnTo>
                      <a:pt x="137" y="152"/>
                    </a:lnTo>
                    <a:lnTo>
                      <a:pt x="128" y="152"/>
                    </a:lnTo>
                    <a:lnTo>
                      <a:pt x="0" y="105"/>
                    </a:lnTo>
                    <a:lnTo>
                      <a:pt x="12" y="101"/>
                    </a:lnTo>
                    <a:lnTo>
                      <a:pt x="15" y="93"/>
                    </a:lnTo>
                    <a:lnTo>
                      <a:pt x="15" y="85"/>
                    </a:lnTo>
                    <a:lnTo>
                      <a:pt x="14" y="82"/>
                    </a:lnTo>
                    <a:close/>
                  </a:path>
                </a:pathLst>
              </a:custGeom>
              <a:solidFill>
                <a:srgbClr val="EAEAEA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68" name="Freeform 28"/>
              <p:cNvSpPr>
                <a:spLocks/>
              </p:cNvSpPr>
              <p:nvPr/>
            </p:nvSpPr>
            <p:spPr bwMode="auto">
              <a:xfrm>
                <a:off x="2960" y="3210"/>
                <a:ext cx="465" cy="454"/>
              </a:xfrm>
              <a:custGeom>
                <a:avLst/>
                <a:gdLst>
                  <a:gd name="T0" fmla="*/ 240 w 465"/>
                  <a:gd name="T1" fmla="*/ 345 h 454"/>
                  <a:gd name="T2" fmla="*/ 373 w 465"/>
                  <a:gd name="T3" fmla="*/ 108 h 454"/>
                  <a:gd name="T4" fmla="*/ 339 w 465"/>
                  <a:gd name="T5" fmla="*/ 89 h 454"/>
                  <a:gd name="T6" fmla="*/ 339 w 465"/>
                  <a:gd name="T7" fmla="*/ 88 h 454"/>
                  <a:gd name="T8" fmla="*/ 180 w 465"/>
                  <a:gd name="T9" fmla="*/ 39 h 454"/>
                  <a:gd name="T10" fmla="*/ 177 w 465"/>
                  <a:gd name="T11" fmla="*/ 44 h 454"/>
                  <a:gd name="T12" fmla="*/ 110 w 465"/>
                  <a:gd name="T13" fmla="*/ 25 h 454"/>
                  <a:gd name="T14" fmla="*/ 16 w 465"/>
                  <a:gd name="T15" fmla="*/ 181 h 454"/>
                  <a:gd name="T16" fmla="*/ 0 w 465"/>
                  <a:gd name="T17" fmla="*/ 174 h 454"/>
                  <a:gd name="T18" fmla="*/ 42 w 465"/>
                  <a:gd name="T19" fmla="*/ 100 h 454"/>
                  <a:gd name="T20" fmla="*/ 63 w 465"/>
                  <a:gd name="T21" fmla="*/ 60 h 454"/>
                  <a:gd name="T22" fmla="*/ 76 w 465"/>
                  <a:gd name="T23" fmla="*/ 37 h 454"/>
                  <a:gd name="T24" fmla="*/ 98 w 465"/>
                  <a:gd name="T25" fmla="*/ 0 h 454"/>
                  <a:gd name="T26" fmla="*/ 118 w 465"/>
                  <a:gd name="T27" fmla="*/ 5 h 454"/>
                  <a:gd name="T28" fmla="*/ 169 w 465"/>
                  <a:gd name="T29" fmla="*/ 19 h 454"/>
                  <a:gd name="T30" fmla="*/ 358 w 465"/>
                  <a:gd name="T31" fmla="*/ 67 h 454"/>
                  <a:gd name="T32" fmla="*/ 453 w 465"/>
                  <a:gd name="T33" fmla="*/ 91 h 454"/>
                  <a:gd name="T34" fmla="*/ 326 w 465"/>
                  <a:gd name="T35" fmla="*/ 319 h 454"/>
                  <a:gd name="T36" fmla="*/ 465 w 465"/>
                  <a:gd name="T37" fmla="*/ 450 h 454"/>
                  <a:gd name="T38" fmla="*/ 465 w 465"/>
                  <a:gd name="T39" fmla="*/ 454 h 454"/>
                  <a:gd name="T40" fmla="*/ 240 w 465"/>
                  <a:gd name="T41" fmla="*/ 345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65" h="454">
                    <a:moveTo>
                      <a:pt x="240" y="345"/>
                    </a:moveTo>
                    <a:lnTo>
                      <a:pt x="373" y="108"/>
                    </a:lnTo>
                    <a:lnTo>
                      <a:pt x="339" y="89"/>
                    </a:lnTo>
                    <a:lnTo>
                      <a:pt x="339" y="88"/>
                    </a:lnTo>
                    <a:lnTo>
                      <a:pt x="180" y="39"/>
                    </a:lnTo>
                    <a:lnTo>
                      <a:pt x="177" y="44"/>
                    </a:lnTo>
                    <a:lnTo>
                      <a:pt x="110" y="25"/>
                    </a:lnTo>
                    <a:lnTo>
                      <a:pt x="16" y="181"/>
                    </a:lnTo>
                    <a:lnTo>
                      <a:pt x="0" y="174"/>
                    </a:lnTo>
                    <a:lnTo>
                      <a:pt x="42" y="100"/>
                    </a:lnTo>
                    <a:lnTo>
                      <a:pt x="63" y="60"/>
                    </a:lnTo>
                    <a:lnTo>
                      <a:pt x="76" y="37"/>
                    </a:lnTo>
                    <a:lnTo>
                      <a:pt x="98" y="0"/>
                    </a:lnTo>
                    <a:lnTo>
                      <a:pt x="118" y="5"/>
                    </a:lnTo>
                    <a:lnTo>
                      <a:pt x="169" y="19"/>
                    </a:lnTo>
                    <a:lnTo>
                      <a:pt x="358" y="67"/>
                    </a:lnTo>
                    <a:lnTo>
                      <a:pt x="453" y="91"/>
                    </a:lnTo>
                    <a:lnTo>
                      <a:pt x="326" y="319"/>
                    </a:lnTo>
                    <a:lnTo>
                      <a:pt x="465" y="450"/>
                    </a:lnTo>
                    <a:lnTo>
                      <a:pt x="465" y="454"/>
                    </a:lnTo>
                    <a:lnTo>
                      <a:pt x="240" y="345"/>
                    </a:lnTo>
                    <a:close/>
                  </a:path>
                </a:pathLst>
              </a:custGeom>
              <a:solidFill>
                <a:srgbClr val="FFFF8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69" name="Freeform 29"/>
              <p:cNvSpPr>
                <a:spLocks/>
              </p:cNvSpPr>
              <p:nvPr/>
            </p:nvSpPr>
            <p:spPr bwMode="auto">
              <a:xfrm>
                <a:off x="2907" y="3235"/>
                <a:ext cx="230" cy="324"/>
              </a:xfrm>
              <a:custGeom>
                <a:avLst/>
                <a:gdLst>
                  <a:gd name="T0" fmla="*/ 119 w 230"/>
                  <a:gd name="T1" fmla="*/ 182 h 324"/>
                  <a:gd name="T2" fmla="*/ 131 w 230"/>
                  <a:gd name="T3" fmla="*/ 189 h 324"/>
                  <a:gd name="T4" fmla="*/ 69 w 230"/>
                  <a:gd name="T5" fmla="*/ 297 h 324"/>
                  <a:gd name="T6" fmla="*/ 58 w 230"/>
                  <a:gd name="T7" fmla="*/ 290 h 324"/>
                  <a:gd name="T8" fmla="*/ 55 w 230"/>
                  <a:gd name="T9" fmla="*/ 290 h 324"/>
                  <a:gd name="T10" fmla="*/ 52 w 230"/>
                  <a:gd name="T11" fmla="*/ 291 h 324"/>
                  <a:gd name="T12" fmla="*/ 50 w 230"/>
                  <a:gd name="T13" fmla="*/ 294 h 324"/>
                  <a:gd name="T14" fmla="*/ 50 w 230"/>
                  <a:gd name="T15" fmla="*/ 299 h 324"/>
                  <a:gd name="T16" fmla="*/ 52 w 230"/>
                  <a:gd name="T17" fmla="*/ 301 h 324"/>
                  <a:gd name="T18" fmla="*/ 53 w 230"/>
                  <a:gd name="T19" fmla="*/ 304 h 324"/>
                  <a:gd name="T20" fmla="*/ 63 w 230"/>
                  <a:gd name="T21" fmla="*/ 310 h 324"/>
                  <a:gd name="T22" fmla="*/ 58 w 230"/>
                  <a:gd name="T23" fmla="*/ 324 h 324"/>
                  <a:gd name="T24" fmla="*/ 0 w 230"/>
                  <a:gd name="T25" fmla="*/ 274 h 324"/>
                  <a:gd name="T26" fmla="*/ 11 w 230"/>
                  <a:gd name="T27" fmla="*/ 254 h 324"/>
                  <a:gd name="T28" fmla="*/ 69 w 230"/>
                  <a:gd name="T29" fmla="*/ 156 h 324"/>
                  <a:gd name="T30" fmla="*/ 163 w 230"/>
                  <a:gd name="T31" fmla="*/ 0 h 324"/>
                  <a:gd name="T32" fmla="*/ 230 w 230"/>
                  <a:gd name="T33" fmla="*/ 19 h 324"/>
                  <a:gd name="T34" fmla="*/ 224 w 230"/>
                  <a:gd name="T35" fmla="*/ 33 h 324"/>
                  <a:gd name="T36" fmla="*/ 208 w 230"/>
                  <a:gd name="T37" fmla="*/ 27 h 324"/>
                  <a:gd name="T38" fmla="*/ 203 w 230"/>
                  <a:gd name="T39" fmla="*/ 28 h 324"/>
                  <a:gd name="T40" fmla="*/ 201 w 230"/>
                  <a:gd name="T41" fmla="*/ 30 h 324"/>
                  <a:gd name="T42" fmla="*/ 199 w 230"/>
                  <a:gd name="T43" fmla="*/ 33 h 324"/>
                  <a:gd name="T44" fmla="*/ 199 w 230"/>
                  <a:gd name="T45" fmla="*/ 35 h 324"/>
                  <a:gd name="T46" fmla="*/ 201 w 230"/>
                  <a:gd name="T47" fmla="*/ 36 h 324"/>
                  <a:gd name="T48" fmla="*/ 201 w 230"/>
                  <a:gd name="T49" fmla="*/ 38 h 324"/>
                  <a:gd name="T50" fmla="*/ 203 w 230"/>
                  <a:gd name="T51" fmla="*/ 41 h 324"/>
                  <a:gd name="T52" fmla="*/ 214 w 230"/>
                  <a:gd name="T53" fmla="*/ 45 h 324"/>
                  <a:gd name="T54" fmla="*/ 138 w 230"/>
                  <a:gd name="T55" fmla="*/ 177 h 324"/>
                  <a:gd name="T56" fmla="*/ 125 w 230"/>
                  <a:gd name="T57" fmla="*/ 170 h 324"/>
                  <a:gd name="T58" fmla="*/ 121 w 230"/>
                  <a:gd name="T59" fmla="*/ 172 h 324"/>
                  <a:gd name="T60" fmla="*/ 119 w 230"/>
                  <a:gd name="T61" fmla="*/ 173 h 324"/>
                  <a:gd name="T62" fmla="*/ 119 w 230"/>
                  <a:gd name="T63" fmla="*/ 176 h 324"/>
                  <a:gd name="T64" fmla="*/ 116 w 230"/>
                  <a:gd name="T65" fmla="*/ 177 h 324"/>
                  <a:gd name="T66" fmla="*/ 119 w 230"/>
                  <a:gd name="T67" fmla="*/ 181 h 324"/>
                  <a:gd name="T68" fmla="*/ 119 w 230"/>
                  <a:gd name="T69" fmla="*/ 182 h 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30" h="324">
                    <a:moveTo>
                      <a:pt x="119" y="182"/>
                    </a:moveTo>
                    <a:lnTo>
                      <a:pt x="131" y="189"/>
                    </a:lnTo>
                    <a:lnTo>
                      <a:pt x="69" y="297"/>
                    </a:lnTo>
                    <a:lnTo>
                      <a:pt x="58" y="290"/>
                    </a:lnTo>
                    <a:lnTo>
                      <a:pt x="55" y="290"/>
                    </a:lnTo>
                    <a:lnTo>
                      <a:pt x="52" y="291"/>
                    </a:lnTo>
                    <a:lnTo>
                      <a:pt x="50" y="294"/>
                    </a:lnTo>
                    <a:lnTo>
                      <a:pt x="50" y="299"/>
                    </a:lnTo>
                    <a:lnTo>
                      <a:pt x="52" y="301"/>
                    </a:lnTo>
                    <a:lnTo>
                      <a:pt x="53" y="304"/>
                    </a:lnTo>
                    <a:lnTo>
                      <a:pt x="63" y="310"/>
                    </a:lnTo>
                    <a:lnTo>
                      <a:pt x="58" y="324"/>
                    </a:lnTo>
                    <a:lnTo>
                      <a:pt x="0" y="274"/>
                    </a:lnTo>
                    <a:lnTo>
                      <a:pt x="11" y="254"/>
                    </a:lnTo>
                    <a:lnTo>
                      <a:pt x="69" y="156"/>
                    </a:lnTo>
                    <a:lnTo>
                      <a:pt x="163" y="0"/>
                    </a:lnTo>
                    <a:lnTo>
                      <a:pt x="230" y="19"/>
                    </a:lnTo>
                    <a:lnTo>
                      <a:pt x="224" y="33"/>
                    </a:lnTo>
                    <a:lnTo>
                      <a:pt x="208" y="27"/>
                    </a:lnTo>
                    <a:lnTo>
                      <a:pt x="203" y="28"/>
                    </a:lnTo>
                    <a:lnTo>
                      <a:pt x="201" y="30"/>
                    </a:lnTo>
                    <a:lnTo>
                      <a:pt x="199" y="33"/>
                    </a:lnTo>
                    <a:lnTo>
                      <a:pt x="199" y="35"/>
                    </a:lnTo>
                    <a:lnTo>
                      <a:pt x="201" y="36"/>
                    </a:lnTo>
                    <a:lnTo>
                      <a:pt x="201" y="38"/>
                    </a:lnTo>
                    <a:lnTo>
                      <a:pt x="203" y="41"/>
                    </a:lnTo>
                    <a:lnTo>
                      <a:pt x="214" y="45"/>
                    </a:lnTo>
                    <a:lnTo>
                      <a:pt x="138" y="177"/>
                    </a:lnTo>
                    <a:lnTo>
                      <a:pt x="125" y="170"/>
                    </a:lnTo>
                    <a:lnTo>
                      <a:pt x="121" y="172"/>
                    </a:lnTo>
                    <a:lnTo>
                      <a:pt x="119" y="173"/>
                    </a:lnTo>
                    <a:lnTo>
                      <a:pt x="119" y="176"/>
                    </a:lnTo>
                    <a:lnTo>
                      <a:pt x="116" y="177"/>
                    </a:lnTo>
                    <a:lnTo>
                      <a:pt x="119" y="181"/>
                    </a:lnTo>
                    <a:lnTo>
                      <a:pt x="119" y="182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70" name="Freeform 30"/>
              <p:cNvSpPr>
                <a:spLocks/>
              </p:cNvSpPr>
              <p:nvPr/>
            </p:nvSpPr>
            <p:spPr bwMode="auto">
              <a:xfrm>
                <a:off x="2965" y="3249"/>
                <a:ext cx="334" cy="413"/>
              </a:xfrm>
              <a:custGeom>
                <a:avLst/>
                <a:gdLst>
                  <a:gd name="T0" fmla="*/ 5 w 334"/>
                  <a:gd name="T1" fmla="*/ 296 h 413"/>
                  <a:gd name="T2" fmla="*/ 0 w 334"/>
                  <a:gd name="T3" fmla="*/ 310 h 413"/>
                  <a:gd name="T4" fmla="*/ 124 w 334"/>
                  <a:gd name="T5" fmla="*/ 413 h 413"/>
                  <a:gd name="T6" fmla="*/ 334 w 334"/>
                  <a:gd name="T7" fmla="*/ 49 h 413"/>
                  <a:gd name="T8" fmla="*/ 175 w 334"/>
                  <a:gd name="T9" fmla="*/ 0 h 413"/>
                  <a:gd name="T10" fmla="*/ 172 w 334"/>
                  <a:gd name="T11" fmla="*/ 5 h 413"/>
                  <a:gd name="T12" fmla="*/ 166 w 334"/>
                  <a:gd name="T13" fmla="*/ 19 h 413"/>
                  <a:gd name="T14" fmla="*/ 181 w 334"/>
                  <a:gd name="T15" fmla="*/ 24 h 413"/>
                  <a:gd name="T16" fmla="*/ 175 w 334"/>
                  <a:gd name="T17" fmla="*/ 36 h 413"/>
                  <a:gd name="T18" fmla="*/ 156 w 334"/>
                  <a:gd name="T19" fmla="*/ 31 h 413"/>
                  <a:gd name="T20" fmla="*/ 80 w 334"/>
                  <a:gd name="T21" fmla="*/ 163 h 413"/>
                  <a:gd name="T22" fmla="*/ 96 w 334"/>
                  <a:gd name="T23" fmla="*/ 172 h 413"/>
                  <a:gd name="T24" fmla="*/ 90 w 334"/>
                  <a:gd name="T25" fmla="*/ 183 h 413"/>
                  <a:gd name="T26" fmla="*/ 73 w 334"/>
                  <a:gd name="T27" fmla="*/ 175 h 413"/>
                  <a:gd name="T28" fmla="*/ 11 w 334"/>
                  <a:gd name="T29" fmla="*/ 283 h 413"/>
                  <a:gd name="T30" fmla="*/ 27 w 334"/>
                  <a:gd name="T31" fmla="*/ 293 h 413"/>
                  <a:gd name="T32" fmla="*/ 20 w 334"/>
                  <a:gd name="T33" fmla="*/ 306 h 413"/>
                  <a:gd name="T34" fmla="*/ 5 w 334"/>
                  <a:gd name="T35" fmla="*/ 296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34" h="413">
                    <a:moveTo>
                      <a:pt x="5" y="296"/>
                    </a:moveTo>
                    <a:lnTo>
                      <a:pt x="0" y="310"/>
                    </a:lnTo>
                    <a:lnTo>
                      <a:pt x="124" y="413"/>
                    </a:lnTo>
                    <a:lnTo>
                      <a:pt x="334" y="49"/>
                    </a:lnTo>
                    <a:lnTo>
                      <a:pt x="175" y="0"/>
                    </a:lnTo>
                    <a:lnTo>
                      <a:pt x="172" y="5"/>
                    </a:lnTo>
                    <a:lnTo>
                      <a:pt x="166" y="19"/>
                    </a:lnTo>
                    <a:lnTo>
                      <a:pt x="181" y="24"/>
                    </a:lnTo>
                    <a:lnTo>
                      <a:pt x="175" y="36"/>
                    </a:lnTo>
                    <a:lnTo>
                      <a:pt x="156" y="31"/>
                    </a:lnTo>
                    <a:lnTo>
                      <a:pt x="80" y="163"/>
                    </a:lnTo>
                    <a:lnTo>
                      <a:pt x="96" y="172"/>
                    </a:lnTo>
                    <a:lnTo>
                      <a:pt x="90" y="183"/>
                    </a:lnTo>
                    <a:lnTo>
                      <a:pt x="73" y="175"/>
                    </a:lnTo>
                    <a:lnTo>
                      <a:pt x="11" y="283"/>
                    </a:lnTo>
                    <a:lnTo>
                      <a:pt x="27" y="293"/>
                    </a:lnTo>
                    <a:lnTo>
                      <a:pt x="20" y="306"/>
                    </a:lnTo>
                    <a:lnTo>
                      <a:pt x="5" y="296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71" name="Freeform 31"/>
              <p:cNvSpPr>
                <a:spLocks/>
              </p:cNvSpPr>
              <p:nvPr/>
            </p:nvSpPr>
            <p:spPr bwMode="auto">
              <a:xfrm>
                <a:off x="3089" y="3298"/>
                <a:ext cx="244" cy="376"/>
              </a:xfrm>
              <a:custGeom>
                <a:avLst/>
                <a:gdLst>
                  <a:gd name="T0" fmla="*/ 210 w 244"/>
                  <a:gd name="T1" fmla="*/ 1 h 376"/>
                  <a:gd name="T2" fmla="*/ 244 w 244"/>
                  <a:gd name="T3" fmla="*/ 20 h 376"/>
                  <a:gd name="T4" fmla="*/ 111 w 244"/>
                  <a:gd name="T5" fmla="*/ 257 h 376"/>
                  <a:gd name="T6" fmla="*/ 42 w 244"/>
                  <a:gd name="T7" fmla="*/ 376 h 376"/>
                  <a:gd name="T8" fmla="*/ 0 w 244"/>
                  <a:gd name="T9" fmla="*/ 364 h 376"/>
                  <a:gd name="T10" fmla="*/ 210 w 244"/>
                  <a:gd name="T11" fmla="*/ 0 h 376"/>
                  <a:gd name="T12" fmla="*/ 210 w 244"/>
                  <a:gd name="T13" fmla="*/ 1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4" h="376">
                    <a:moveTo>
                      <a:pt x="210" y="1"/>
                    </a:moveTo>
                    <a:lnTo>
                      <a:pt x="244" y="20"/>
                    </a:lnTo>
                    <a:lnTo>
                      <a:pt x="111" y="257"/>
                    </a:lnTo>
                    <a:lnTo>
                      <a:pt x="42" y="376"/>
                    </a:lnTo>
                    <a:lnTo>
                      <a:pt x="0" y="364"/>
                    </a:lnTo>
                    <a:lnTo>
                      <a:pt x="210" y="0"/>
                    </a:lnTo>
                    <a:lnTo>
                      <a:pt x="210" y="1"/>
                    </a:lnTo>
                    <a:close/>
                  </a:path>
                </a:pathLst>
              </a:custGeom>
              <a:solidFill>
                <a:srgbClr val="E0E0E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72" name="Freeform 32"/>
              <p:cNvSpPr>
                <a:spLocks/>
              </p:cNvSpPr>
              <p:nvPr/>
            </p:nvSpPr>
            <p:spPr bwMode="auto">
              <a:xfrm>
                <a:off x="3106" y="3262"/>
                <a:ext cx="40" cy="23"/>
              </a:xfrm>
              <a:custGeom>
                <a:avLst/>
                <a:gdLst>
                  <a:gd name="T0" fmla="*/ 25 w 40"/>
                  <a:gd name="T1" fmla="*/ 6 h 23"/>
                  <a:gd name="T2" fmla="*/ 9 w 40"/>
                  <a:gd name="T3" fmla="*/ 0 h 23"/>
                  <a:gd name="T4" fmla="*/ 4 w 40"/>
                  <a:gd name="T5" fmla="*/ 1 h 23"/>
                  <a:gd name="T6" fmla="*/ 2 w 40"/>
                  <a:gd name="T7" fmla="*/ 3 h 23"/>
                  <a:gd name="T8" fmla="*/ 0 w 40"/>
                  <a:gd name="T9" fmla="*/ 6 h 23"/>
                  <a:gd name="T10" fmla="*/ 0 w 40"/>
                  <a:gd name="T11" fmla="*/ 8 h 23"/>
                  <a:gd name="T12" fmla="*/ 2 w 40"/>
                  <a:gd name="T13" fmla="*/ 9 h 23"/>
                  <a:gd name="T14" fmla="*/ 2 w 40"/>
                  <a:gd name="T15" fmla="*/ 11 h 23"/>
                  <a:gd name="T16" fmla="*/ 4 w 40"/>
                  <a:gd name="T17" fmla="*/ 14 h 23"/>
                  <a:gd name="T18" fmla="*/ 15 w 40"/>
                  <a:gd name="T19" fmla="*/ 18 h 23"/>
                  <a:gd name="T20" fmla="*/ 34 w 40"/>
                  <a:gd name="T21" fmla="*/ 23 h 23"/>
                  <a:gd name="T22" fmla="*/ 40 w 40"/>
                  <a:gd name="T23" fmla="*/ 11 h 23"/>
                  <a:gd name="T24" fmla="*/ 25 w 40"/>
                  <a:gd name="T25" fmla="*/ 6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0" h="23">
                    <a:moveTo>
                      <a:pt x="25" y="6"/>
                    </a:moveTo>
                    <a:lnTo>
                      <a:pt x="9" y="0"/>
                    </a:lnTo>
                    <a:lnTo>
                      <a:pt x="4" y="1"/>
                    </a:lnTo>
                    <a:lnTo>
                      <a:pt x="2" y="3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2" y="9"/>
                    </a:lnTo>
                    <a:lnTo>
                      <a:pt x="2" y="11"/>
                    </a:lnTo>
                    <a:lnTo>
                      <a:pt x="4" y="14"/>
                    </a:lnTo>
                    <a:lnTo>
                      <a:pt x="15" y="18"/>
                    </a:lnTo>
                    <a:lnTo>
                      <a:pt x="34" y="23"/>
                    </a:lnTo>
                    <a:lnTo>
                      <a:pt x="40" y="11"/>
                    </a:lnTo>
                    <a:lnTo>
                      <a:pt x="25" y="6"/>
                    </a:lnTo>
                    <a:close/>
                  </a:path>
                </a:pathLst>
              </a:custGeom>
              <a:solidFill>
                <a:srgbClr val="FFFF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73" name="Freeform 33"/>
              <p:cNvSpPr>
                <a:spLocks/>
              </p:cNvSpPr>
              <p:nvPr/>
            </p:nvSpPr>
            <p:spPr bwMode="auto">
              <a:xfrm>
                <a:off x="3023" y="3405"/>
                <a:ext cx="38" cy="27"/>
              </a:xfrm>
              <a:custGeom>
                <a:avLst/>
                <a:gdLst>
                  <a:gd name="T0" fmla="*/ 22 w 38"/>
                  <a:gd name="T1" fmla="*/ 7 h 27"/>
                  <a:gd name="T2" fmla="*/ 9 w 38"/>
                  <a:gd name="T3" fmla="*/ 0 h 27"/>
                  <a:gd name="T4" fmla="*/ 5 w 38"/>
                  <a:gd name="T5" fmla="*/ 2 h 27"/>
                  <a:gd name="T6" fmla="*/ 3 w 38"/>
                  <a:gd name="T7" fmla="*/ 3 h 27"/>
                  <a:gd name="T8" fmla="*/ 3 w 38"/>
                  <a:gd name="T9" fmla="*/ 6 h 27"/>
                  <a:gd name="T10" fmla="*/ 0 w 38"/>
                  <a:gd name="T11" fmla="*/ 7 h 27"/>
                  <a:gd name="T12" fmla="*/ 3 w 38"/>
                  <a:gd name="T13" fmla="*/ 11 h 27"/>
                  <a:gd name="T14" fmla="*/ 3 w 38"/>
                  <a:gd name="T15" fmla="*/ 12 h 27"/>
                  <a:gd name="T16" fmla="*/ 15 w 38"/>
                  <a:gd name="T17" fmla="*/ 19 h 27"/>
                  <a:gd name="T18" fmla="*/ 32 w 38"/>
                  <a:gd name="T19" fmla="*/ 27 h 27"/>
                  <a:gd name="T20" fmla="*/ 38 w 38"/>
                  <a:gd name="T21" fmla="*/ 16 h 27"/>
                  <a:gd name="T22" fmla="*/ 22 w 38"/>
                  <a:gd name="T23" fmla="*/ 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8" h="27">
                    <a:moveTo>
                      <a:pt x="22" y="7"/>
                    </a:moveTo>
                    <a:lnTo>
                      <a:pt x="9" y="0"/>
                    </a:lnTo>
                    <a:lnTo>
                      <a:pt x="5" y="2"/>
                    </a:lnTo>
                    <a:lnTo>
                      <a:pt x="3" y="3"/>
                    </a:lnTo>
                    <a:lnTo>
                      <a:pt x="3" y="6"/>
                    </a:lnTo>
                    <a:lnTo>
                      <a:pt x="0" y="7"/>
                    </a:lnTo>
                    <a:lnTo>
                      <a:pt x="3" y="11"/>
                    </a:lnTo>
                    <a:lnTo>
                      <a:pt x="3" y="12"/>
                    </a:lnTo>
                    <a:lnTo>
                      <a:pt x="15" y="19"/>
                    </a:lnTo>
                    <a:lnTo>
                      <a:pt x="32" y="27"/>
                    </a:lnTo>
                    <a:lnTo>
                      <a:pt x="38" y="16"/>
                    </a:lnTo>
                    <a:lnTo>
                      <a:pt x="22" y="7"/>
                    </a:lnTo>
                    <a:close/>
                  </a:path>
                </a:pathLst>
              </a:custGeom>
              <a:solidFill>
                <a:srgbClr val="FFFF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74" name="Freeform 34"/>
              <p:cNvSpPr>
                <a:spLocks/>
              </p:cNvSpPr>
              <p:nvPr/>
            </p:nvSpPr>
            <p:spPr bwMode="auto">
              <a:xfrm>
                <a:off x="2957" y="3525"/>
                <a:ext cx="35" cy="30"/>
              </a:xfrm>
              <a:custGeom>
                <a:avLst/>
                <a:gdLst>
                  <a:gd name="T0" fmla="*/ 13 w 35"/>
                  <a:gd name="T1" fmla="*/ 20 h 30"/>
                  <a:gd name="T2" fmla="*/ 3 w 35"/>
                  <a:gd name="T3" fmla="*/ 14 h 30"/>
                  <a:gd name="T4" fmla="*/ 2 w 35"/>
                  <a:gd name="T5" fmla="*/ 11 h 30"/>
                  <a:gd name="T6" fmla="*/ 0 w 35"/>
                  <a:gd name="T7" fmla="*/ 9 h 30"/>
                  <a:gd name="T8" fmla="*/ 0 w 35"/>
                  <a:gd name="T9" fmla="*/ 4 h 30"/>
                  <a:gd name="T10" fmla="*/ 2 w 35"/>
                  <a:gd name="T11" fmla="*/ 1 h 30"/>
                  <a:gd name="T12" fmla="*/ 5 w 35"/>
                  <a:gd name="T13" fmla="*/ 0 h 30"/>
                  <a:gd name="T14" fmla="*/ 8 w 35"/>
                  <a:gd name="T15" fmla="*/ 0 h 30"/>
                  <a:gd name="T16" fmla="*/ 19 w 35"/>
                  <a:gd name="T17" fmla="*/ 7 h 30"/>
                  <a:gd name="T18" fmla="*/ 35 w 35"/>
                  <a:gd name="T19" fmla="*/ 17 h 30"/>
                  <a:gd name="T20" fmla="*/ 28 w 35"/>
                  <a:gd name="T21" fmla="*/ 30 h 30"/>
                  <a:gd name="T22" fmla="*/ 13 w 35"/>
                  <a:gd name="T23" fmla="*/ 2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5" h="30">
                    <a:moveTo>
                      <a:pt x="13" y="20"/>
                    </a:moveTo>
                    <a:lnTo>
                      <a:pt x="3" y="14"/>
                    </a:lnTo>
                    <a:lnTo>
                      <a:pt x="2" y="11"/>
                    </a:lnTo>
                    <a:lnTo>
                      <a:pt x="0" y="9"/>
                    </a:lnTo>
                    <a:lnTo>
                      <a:pt x="0" y="4"/>
                    </a:lnTo>
                    <a:lnTo>
                      <a:pt x="2" y="1"/>
                    </a:lnTo>
                    <a:lnTo>
                      <a:pt x="5" y="0"/>
                    </a:lnTo>
                    <a:lnTo>
                      <a:pt x="8" y="0"/>
                    </a:lnTo>
                    <a:lnTo>
                      <a:pt x="19" y="7"/>
                    </a:lnTo>
                    <a:lnTo>
                      <a:pt x="35" y="17"/>
                    </a:lnTo>
                    <a:lnTo>
                      <a:pt x="28" y="30"/>
                    </a:lnTo>
                    <a:lnTo>
                      <a:pt x="13" y="20"/>
                    </a:lnTo>
                    <a:close/>
                  </a:path>
                </a:pathLst>
              </a:custGeom>
              <a:solidFill>
                <a:srgbClr val="FFFF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75" name="Freeform 35"/>
              <p:cNvSpPr>
                <a:spLocks/>
              </p:cNvSpPr>
              <p:nvPr/>
            </p:nvSpPr>
            <p:spPr bwMode="auto">
              <a:xfrm>
                <a:off x="3286" y="3258"/>
                <a:ext cx="203" cy="271"/>
              </a:xfrm>
              <a:custGeom>
                <a:avLst/>
                <a:gdLst>
                  <a:gd name="T0" fmla="*/ 192 w 203"/>
                  <a:gd name="T1" fmla="*/ 0 h 271"/>
                  <a:gd name="T2" fmla="*/ 193 w 203"/>
                  <a:gd name="T3" fmla="*/ 3 h 271"/>
                  <a:gd name="T4" fmla="*/ 199 w 203"/>
                  <a:gd name="T5" fmla="*/ 10 h 271"/>
                  <a:gd name="T6" fmla="*/ 203 w 203"/>
                  <a:gd name="T7" fmla="*/ 21 h 271"/>
                  <a:gd name="T8" fmla="*/ 203 w 203"/>
                  <a:gd name="T9" fmla="*/ 180 h 271"/>
                  <a:gd name="T10" fmla="*/ 202 w 203"/>
                  <a:gd name="T11" fmla="*/ 183 h 271"/>
                  <a:gd name="T12" fmla="*/ 199 w 203"/>
                  <a:gd name="T13" fmla="*/ 185 h 271"/>
                  <a:gd name="T14" fmla="*/ 197 w 203"/>
                  <a:gd name="T15" fmla="*/ 189 h 271"/>
                  <a:gd name="T16" fmla="*/ 0 w 203"/>
                  <a:gd name="T17" fmla="*/ 271 h 271"/>
                  <a:gd name="T18" fmla="*/ 127 w 203"/>
                  <a:gd name="T19" fmla="*/ 43 h 271"/>
                  <a:gd name="T20" fmla="*/ 32 w 203"/>
                  <a:gd name="T21" fmla="*/ 19 h 271"/>
                  <a:gd name="T22" fmla="*/ 108 w 203"/>
                  <a:gd name="T23" fmla="*/ 0 h 271"/>
                  <a:gd name="T24" fmla="*/ 192 w 203"/>
                  <a:gd name="T25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3" h="271">
                    <a:moveTo>
                      <a:pt x="192" y="0"/>
                    </a:moveTo>
                    <a:lnTo>
                      <a:pt x="193" y="3"/>
                    </a:lnTo>
                    <a:lnTo>
                      <a:pt x="199" y="10"/>
                    </a:lnTo>
                    <a:lnTo>
                      <a:pt x="203" y="21"/>
                    </a:lnTo>
                    <a:lnTo>
                      <a:pt x="203" y="180"/>
                    </a:lnTo>
                    <a:lnTo>
                      <a:pt x="202" y="183"/>
                    </a:lnTo>
                    <a:lnTo>
                      <a:pt x="199" y="185"/>
                    </a:lnTo>
                    <a:lnTo>
                      <a:pt x="197" y="189"/>
                    </a:lnTo>
                    <a:lnTo>
                      <a:pt x="0" y="271"/>
                    </a:lnTo>
                    <a:lnTo>
                      <a:pt x="127" y="43"/>
                    </a:lnTo>
                    <a:lnTo>
                      <a:pt x="32" y="19"/>
                    </a:lnTo>
                    <a:lnTo>
                      <a:pt x="108" y="0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rgbClr val="EAEAEA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76" name="Freeform 36"/>
              <p:cNvSpPr>
                <a:spLocks/>
              </p:cNvSpPr>
              <p:nvPr/>
            </p:nvSpPr>
            <p:spPr bwMode="auto">
              <a:xfrm>
                <a:off x="2766" y="3289"/>
                <a:ext cx="236" cy="204"/>
              </a:xfrm>
              <a:custGeom>
                <a:avLst/>
                <a:gdLst>
                  <a:gd name="T0" fmla="*/ 153 w 236"/>
                  <a:gd name="T1" fmla="*/ 199 h 204"/>
                  <a:gd name="T2" fmla="*/ 210 w 236"/>
                  <a:gd name="T3" fmla="*/ 102 h 204"/>
                  <a:gd name="T4" fmla="*/ 194 w 236"/>
                  <a:gd name="T5" fmla="*/ 95 h 204"/>
                  <a:gd name="T6" fmla="*/ 236 w 236"/>
                  <a:gd name="T7" fmla="*/ 21 h 204"/>
                  <a:gd name="T8" fmla="*/ 80 w 236"/>
                  <a:gd name="T9" fmla="*/ 0 h 204"/>
                  <a:gd name="T10" fmla="*/ 16 w 236"/>
                  <a:gd name="T11" fmla="*/ 7 h 204"/>
                  <a:gd name="T12" fmla="*/ 11 w 236"/>
                  <a:gd name="T13" fmla="*/ 9 h 204"/>
                  <a:gd name="T14" fmla="*/ 5 w 236"/>
                  <a:gd name="T15" fmla="*/ 10 h 204"/>
                  <a:gd name="T16" fmla="*/ 1 w 236"/>
                  <a:gd name="T17" fmla="*/ 14 h 204"/>
                  <a:gd name="T18" fmla="*/ 0 w 236"/>
                  <a:gd name="T19" fmla="*/ 20 h 204"/>
                  <a:gd name="T20" fmla="*/ 0 w 236"/>
                  <a:gd name="T21" fmla="*/ 138 h 204"/>
                  <a:gd name="T22" fmla="*/ 149 w 236"/>
                  <a:gd name="T23" fmla="*/ 204 h 204"/>
                  <a:gd name="T24" fmla="*/ 153 w 236"/>
                  <a:gd name="T25" fmla="*/ 199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36" h="204">
                    <a:moveTo>
                      <a:pt x="153" y="199"/>
                    </a:moveTo>
                    <a:lnTo>
                      <a:pt x="210" y="102"/>
                    </a:lnTo>
                    <a:lnTo>
                      <a:pt x="194" y="95"/>
                    </a:lnTo>
                    <a:lnTo>
                      <a:pt x="236" y="21"/>
                    </a:lnTo>
                    <a:lnTo>
                      <a:pt x="80" y="0"/>
                    </a:lnTo>
                    <a:lnTo>
                      <a:pt x="16" y="7"/>
                    </a:lnTo>
                    <a:lnTo>
                      <a:pt x="11" y="9"/>
                    </a:lnTo>
                    <a:lnTo>
                      <a:pt x="5" y="10"/>
                    </a:lnTo>
                    <a:lnTo>
                      <a:pt x="1" y="14"/>
                    </a:lnTo>
                    <a:lnTo>
                      <a:pt x="0" y="20"/>
                    </a:lnTo>
                    <a:lnTo>
                      <a:pt x="0" y="138"/>
                    </a:lnTo>
                    <a:lnTo>
                      <a:pt x="149" y="204"/>
                    </a:lnTo>
                    <a:lnTo>
                      <a:pt x="153" y="199"/>
                    </a:lnTo>
                    <a:close/>
                  </a:path>
                </a:pathLst>
              </a:custGeom>
              <a:solidFill>
                <a:srgbClr val="EAEAEA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77" name="Freeform 37"/>
              <p:cNvSpPr>
                <a:spLocks/>
              </p:cNvSpPr>
              <p:nvPr/>
            </p:nvSpPr>
            <p:spPr bwMode="auto">
              <a:xfrm>
                <a:off x="2794" y="2966"/>
                <a:ext cx="609" cy="344"/>
              </a:xfrm>
              <a:custGeom>
                <a:avLst/>
                <a:gdLst>
                  <a:gd name="T0" fmla="*/ 229 w 609"/>
                  <a:gd name="T1" fmla="*/ 304 h 344"/>
                  <a:gd name="T2" fmla="*/ 208 w 609"/>
                  <a:gd name="T3" fmla="*/ 344 h 344"/>
                  <a:gd name="T4" fmla="*/ 52 w 609"/>
                  <a:gd name="T5" fmla="*/ 323 h 344"/>
                  <a:gd name="T6" fmla="*/ 39 w 609"/>
                  <a:gd name="T7" fmla="*/ 320 h 344"/>
                  <a:gd name="T8" fmla="*/ 25 w 609"/>
                  <a:gd name="T9" fmla="*/ 319 h 344"/>
                  <a:gd name="T10" fmla="*/ 14 w 609"/>
                  <a:gd name="T11" fmla="*/ 311 h 344"/>
                  <a:gd name="T12" fmla="*/ 5 w 609"/>
                  <a:gd name="T13" fmla="*/ 301 h 344"/>
                  <a:gd name="T14" fmla="*/ 0 w 609"/>
                  <a:gd name="T15" fmla="*/ 288 h 344"/>
                  <a:gd name="T16" fmla="*/ 30 w 609"/>
                  <a:gd name="T17" fmla="*/ 36 h 344"/>
                  <a:gd name="T18" fmla="*/ 34 w 609"/>
                  <a:gd name="T19" fmla="*/ 23 h 344"/>
                  <a:gd name="T20" fmla="*/ 40 w 609"/>
                  <a:gd name="T21" fmla="*/ 13 h 344"/>
                  <a:gd name="T22" fmla="*/ 52 w 609"/>
                  <a:gd name="T23" fmla="*/ 4 h 344"/>
                  <a:gd name="T24" fmla="*/ 62 w 609"/>
                  <a:gd name="T25" fmla="*/ 0 h 344"/>
                  <a:gd name="T26" fmla="*/ 568 w 609"/>
                  <a:gd name="T27" fmla="*/ 9 h 344"/>
                  <a:gd name="T28" fmla="*/ 577 w 609"/>
                  <a:gd name="T29" fmla="*/ 11 h 344"/>
                  <a:gd name="T30" fmla="*/ 583 w 609"/>
                  <a:gd name="T31" fmla="*/ 14 h 344"/>
                  <a:gd name="T32" fmla="*/ 587 w 609"/>
                  <a:gd name="T33" fmla="*/ 22 h 344"/>
                  <a:gd name="T34" fmla="*/ 590 w 609"/>
                  <a:gd name="T35" fmla="*/ 32 h 344"/>
                  <a:gd name="T36" fmla="*/ 609 w 609"/>
                  <a:gd name="T37" fmla="*/ 280 h 344"/>
                  <a:gd name="T38" fmla="*/ 606 w 609"/>
                  <a:gd name="T39" fmla="*/ 287 h 344"/>
                  <a:gd name="T40" fmla="*/ 600 w 609"/>
                  <a:gd name="T41" fmla="*/ 292 h 344"/>
                  <a:gd name="T42" fmla="*/ 524 w 609"/>
                  <a:gd name="T43" fmla="*/ 311 h 344"/>
                  <a:gd name="T44" fmla="*/ 335 w 609"/>
                  <a:gd name="T45" fmla="*/ 263 h 344"/>
                  <a:gd name="T46" fmla="*/ 349 w 609"/>
                  <a:gd name="T47" fmla="*/ 63 h 344"/>
                  <a:gd name="T48" fmla="*/ 346 w 609"/>
                  <a:gd name="T49" fmla="*/ 54 h 344"/>
                  <a:gd name="T50" fmla="*/ 342 w 609"/>
                  <a:gd name="T51" fmla="*/ 46 h 344"/>
                  <a:gd name="T52" fmla="*/ 333 w 609"/>
                  <a:gd name="T53" fmla="*/ 38 h 344"/>
                  <a:gd name="T54" fmla="*/ 324 w 609"/>
                  <a:gd name="T55" fmla="*/ 37 h 344"/>
                  <a:gd name="T56" fmla="*/ 322 w 609"/>
                  <a:gd name="T57" fmla="*/ 36 h 344"/>
                  <a:gd name="T58" fmla="*/ 71 w 609"/>
                  <a:gd name="T59" fmla="*/ 32 h 344"/>
                  <a:gd name="T60" fmla="*/ 61 w 609"/>
                  <a:gd name="T61" fmla="*/ 41 h 344"/>
                  <a:gd name="T62" fmla="*/ 54 w 609"/>
                  <a:gd name="T63" fmla="*/ 51 h 344"/>
                  <a:gd name="T64" fmla="*/ 34 w 609"/>
                  <a:gd name="T65" fmla="*/ 281 h 344"/>
                  <a:gd name="T66" fmla="*/ 229 w 609"/>
                  <a:gd name="T67" fmla="*/ 304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609" h="344">
                    <a:moveTo>
                      <a:pt x="229" y="304"/>
                    </a:moveTo>
                    <a:lnTo>
                      <a:pt x="208" y="344"/>
                    </a:lnTo>
                    <a:lnTo>
                      <a:pt x="52" y="323"/>
                    </a:lnTo>
                    <a:lnTo>
                      <a:pt x="39" y="320"/>
                    </a:lnTo>
                    <a:lnTo>
                      <a:pt x="25" y="319"/>
                    </a:lnTo>
                    <a:lnTo>
                      <a:pt x="14" y="311"/>
                    </a:lnTo>
                    <a:lnTo>
                      <a:pt x="5" y="301"/>
                    </a:lnTo>
                    <a:lnTo>
                      <a:pt x="0" y="288"/>
                    </a:lnTo>
                    <a:lnTo>
                      <a:pt x="30" y="36"/>
                    </a:lnTo>
                    <a:lnTo>
                      <a:pt x="34" y="23"/>
                    </a:lnTo>
                    <a:lnTo>
                      <a:pt x="40" y="13"/>
                    </a:lnTo>
                    <a:lnTo>
                      <a:pt x="52" y="4"/>
                    </a:lnTo>
                    <a:lnTo>
                      <a:pt x="62" y="0"/>
                    </a:lnTo>
                    <a:lnTo>
                      <a:pt x="568" y="9"/>
                    </a:lnTo>
                    <a:lnTo>
                      <a:pt x="577" y="11"/>
                    </a:lnTo>
                    <a:lnTo>
                      <a:pt x="583" y="14"/>
                    </a:lnTo>
                    <a:lnTo>
                      <a:pt x="587" y="22"/>
                    </a:lnTo>
                    <a:lnTo>
                      <a:pt x="590" y="32"/>
                    </a:lnTo>
                    <a:lnTo>
                      <a:pt x="609" y="280"/>
                    </a:lnTo>
                    <a:lnTo>
                      <a:pt x="606" y="287"/>
                    </a:lnTo>
                    <a:lnTo>
                      <a:pt x="600" y="292"/>
                    </a:lnTo>
                    <a:lnTo>
                      <a:pt x="524" y="311"/>
                    </a:lnTo>
                    <a:lnTo>
                      <a:pt x="335" y="263"/>
                    </a:lnTo>
                    <a:lnTo>
                      <a:pt x="349" y="63"/>
                    </a:lnTo>
                    <a:lnTo>
                      <a:pt x="346" y="54"/>
                    </a:lnTo>
                    <a:lnTo>
                      <a:pt x="342" y="46"/>
                    </a:lnTo>
                    <a:lnTo>
                      <a:pt x="333" y="38"/>
                    </a:lnTo>
                    <a:lnTo>
                      <a:pt x="324" y="37"/>
                    </a:lnTo>
                    <a:lnTo>
                      <a:pt x="322" y="36"/>
                    </a:lnTo>
                    <a:lnTo>
                      <a:pt x="71" y="32"/>
                    </a:lnTo>
                    <a:lnTo>
                      <a:pt x="61" y="41"/>
                    </a:lnTo>
                    <a:lnTo>
                      <a:pt x="54" y="51"/>
                    </a:lnTo>
                    <a:lnTo>
                      <a:pt x="34" y="281"/>
                    </a:lnTo>
                    <a:lnTo>
                      <a:pt x="229" y="304"/>
                    </a:lnTo>
                    <a:close/>
                  </a:path>
                </a:pathLst>
              </a:custGeom>
              <a:solidFill>
                <a:srgbClr val="EAEAEA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78" name="Freeform 38"/>
              <p:cNvSpPr>
                <a:spLocks/>
              </p:cNvSpPr>
              <p:nvPr/>
            </p:nvSpPr>
            <p:spPr bwMode="auto">
              <a:xfrm>
                <a:off x="2828" y="2998"/>
                <a:ext cx="315" cy="272"/>
              </a:xfrm>
              <a:custGeom>
                <a:avLst/>
                <a:gdLst>
                  <a:gd name="T0" fmla="*/ 255 w 315"/>
                  <a:gd name="T1" fmla="*/ 28 h 272"/>
                  <a:gd name="T2" fmla="*/ 252 w 315"/>
                  <a:gd name="T3" fmla="*/ 25 h 272"/>
                  <a:gd name="T4" fmla="*/ 249 w 315"/>
                  <a:gd name="T5" fmla="*/ 23 h 272"/>
                  <a:gd name="T6" fmla="*/ 240 w 315"/>
                  <a:gd name="T7" fmla="*/ 23 h 272"/>
                  <a:gd name="T8" fmla="*/ 193 w 315"/>
                  <a:gd name="T9" fmla="*/ 22 h 272"/>
                  <a:gd name="T10" fmla="*/ 131 w 315"/>
                  <a:gd name="T11" fmla="*/ 22 h 272"/>
                  <a:gd name="T12" fmla="*/ 91 w 315"/>
                  <a:gd name="T13" fmla="*/ 25 h 272"/>
                  <a:gd name="T14" fmla="*/ 63 w 315"/>
                  <a:gd name="T15" fmla="*/ 25 h 272"/>
                  <a:gd name="T16" fmla="*/ 57 w 315"/>
                  <a:gd name="T17" fmla="*/ 29 h 272"/>
                  <a:gd name="T18" fmla="*/ 52 w 315"/>
                  <a:gd name="T19" fmla="*/ 36 h 272"/>
                  <a:gd name="T20" fmla="*/ 51 w 315"/>
                  <a:gd name="T21" fmla="*/ 38 h 272"/>
                  <a:gd name="T22" fmla="*/ 43 w 315"/>
                  <a:gd name="T23" fmla="*/ 112 h 272"/>
                  <a:gd name="T24" fmla="*/ 40 w 315"/>
                  <a:gd name="T25" fmla="*/ 184 h 272"/>
                  <a:gd name="T26" fmla="*/ 39 w 315"/>
                  <a:gd name="T27" fmla="*/ 215 h 272"/>
                  <a:gd name="T28" fmla="*/ 39 w 315"/>
                  <a:gd name="T29" fmla="*/ 226 h 272"/>
                  <a:gd name="T30" fmla="*/ 40 w 315"/>
                  <a:gd name="T31" fmla="*/ 231 h 272"/>
                  <a:gd name="T32" fmla="*/ 47 w 315"/>
                  <a:gd name="T33" fmla="*/ 234 h 272"/>
                  <a:gd name="T34" fmla="*/ 52 w 315"/>
                  <a:gd name="T35" fmla="*/ 234 h 272"/>
                  <a:gd name="T36" fmla="*/ 101 w 315"/>
                  <a:gd name="T37" fmla="*/ 241 h 272"/>
                  <a:gd name="T38" fmla="*/ 153 w 315"/>
                  <a:gd name="T39" fmla="*/ 248 h 272"/>
                  <a:gd name="T40" fmla="*/ 205 w 315"/>
                  <a:gd name="T41" fmla="*/ 249 h 272"/>
                  <a:gd name="T42" fmla="*/ 208 w 315"/>
                  <a:gd name="T43" fmla="*/ 249 h 272"/>
                  <a:gd name="T44" fmla="*/ 195 w 315"/>
                  <a:gd name="T45" fmla="*/ 272 h 272"/>
                  <a:gd name="T46" fmla="*/ 0 w 315"/>
                  <a:gd name="T47" fmla="*/ 249 h 272"/>
                  <a:gd name="T48" fmla="*/ 20 w 315"/>
                  <a:gd name="T49" fmla="*/ 19 h 272"/>
                  <a:gd name="T50" fmla="*/ 27 w 315"/>
                  <a:gd name="T51" fmla="*/ 9 h 272"/>
                  <a:gd name="T52" fmla="*/ 37 w 315"/>
                  <a:gd name="T53" fmla="*/ 0 h 272"/>
                  <a:gd name="T54" fmla="*/ 288 w 315"/>
                  <a:gd name="T55" fmla="*/ 4 h 272"/>
                  <a:gd name="T56" fmla="*/ 290 w 315"/>
                  <a:gd name="T57" fmla="*/ 5 h 272"/>
                  <a:gd name="T58" fmla="*/ 299 w 315"/>
                  <a:gd name="T59" fmla="*/ 6 h 272"/>
                  <a:gd name="T60" fmla="*/ 308 w 315"/>
                  <a:gd name="T61" fmla="*/ 14 h 272"/>
                  <a:gd name="T62" fmla="*/ 312 w 315"/>
                  <a:gd name="T63" fmla="*/ 22 h 272"/>
                  <a:gd name="T64" fmla="*/ 315 w 315"/>
                  <a:gd name="T65" fmla="*/ 31 h 272"/>
                  <a:gd name="T66" fmla="*/ 301 w 315"/>
                  <a:gd name="T67" fmla="*/ 231 h 272"/>
                  <a:gd name="T68" fmla="*/ 250 w 315"/>
                  <a:gd name="T69" fmla="*/ 217 h 272"/>
                  <a:gd name="T70" fmla="*/ 255 w 315"/>
                  <a:gd name="T71" fmla="*/ 28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15" h="272">
                    <a:moveTo>
                      <a:pt x="255" y="28"/>
                    </a:moveTo>
                    <a:lnTo>
                      <a:pt x="252" y="25"/>
                    </a:lnTo>
                    <a:lnTo>
                      <a:pt x="249" y="23"/>
                    </a:lnTo>
                    <a:lnTo>
                      <a:pt x="240" y="23"/>
                    </a:lnTo>
                    <a:lnTo>
                      <a:pt x="193" y="22"/>
                    </a:lnTo>
                    <a:lnTo>
                      <a:pt x="131" y="22"/>
                    </a:lnTo>
                    <a:lnTo>
                      <a:pt x="91" y="25"/>
                    </a:lnTo>
                    <a:lnTo>
                      <a:pt x="63" y="25"/>
                    </a:lnTo>
                    <a:lnTo>
                      <a:pt x="57" y="29"/>
                    </a:lnTo>
                    <a:lnTo>
                      <a:pt x="52" y="36"/>
                    </a:lnTo>
                    <a:lnTo>
                      <a:pt x="51" y="38"/>
                    </a:lnTo>
                    <a:lnTo>
                      <a:pt x="43" y="112"/>
                    </a:lnTo>
                    <a:lnTo>
                      <a:pt x="40" y="184"/>
                    </a:lnTo>
                    <a:lnTo>
                      <a:pt x="39" y="215"/>
                    </a:lnTo>
                    <a:lnTo>
                      <a:pt x="39" y="226"/>
                    </a:lnTo>
                    <a:lnTo>
                      <a:pt x="40" y="231"/>
                    </a:lnTo>
                    <a:lnTo>
                      <a:pt x="47" y="234"/>
                    </a:lnTo>
                    <a:lnTo>
                      <a:pt x="52" y="234"/>
                    </a:lnTo>
                    <a:lnTo>
                      <a:pt x="101" y="241"/>
                    </a:lnTo>
                    <a:lnTo>
                      <a:pt x="153" y="248"/>
                    </a:lnTo>
                    <a:lnTo>
                      <a:pt x="205" y="249"/>
                    </a:lnTo>
                    <a:lnTo>
                      <a:pt x="208" y="249"/>
                    </a:lnTo>
                    <a:lnTo>
                      <a:pt x="195" y="272"/>
                    </a:lnTo>
                    <a:lnTo>
                      <a:pt x="0" y="249"/>
                    </a:lnTo>
                    <a:lnTo>
                      <a:pt x="20" y="19"/>
                    </a:lnTo>
                    <a:lnTo>
                      <a:pt x="27" y="9"/>
                    </a:lnTo>
                    <a:lnTo>
                      <a:pt x="37" y="0"/>
                    </a:lnTo>
                    <a:lnTo>
                      <a:pt x="288" y="4"/>
                    </a:lnTo>
                    <a:lnTo>
                      <a:pt x="290" y="5"/>
                    </a:lnTo>
                    <a:lnTo>
                      <a:pt x="299" y="6"/>
                    </a:lnTo>
                    <a:lnTo>
                      <a:pt x="308" y="14"/>
                    </a:lnTo>
                    <a:lnTo>
                      <a:pt x="312" y="22"/>
                    </a:lnTo>
                    <a:lnTo>
                      <a:pt x="315" y="31"/>
                    </a:lnTo>
                    <a:lnTo>
                      <a:pt x="301" y="231"/>
                    </a:lnTo>
                    <a:lnTo>
                      <a:pt x="250" y="217"/>
                    </a:lnTo>
                    <a:lnTo>
                      <a:pt x="255" y="28"/>
                    </a:lnTo>
                    <a:close/>
                  </a:path>
                </a:pathLst>
              </a:custGeom>
              <a:solidFill>
                <a:srgbClr val="EAEAEA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79" name="Freeform 39"/>
              <p:cNvSpPr>
                <a:spLocks/>
              </p:cNvSpPr>
              <p:nvPr/>
            </p:nvSpPr>
            <p:spPr bwMode="auto">
              <a:xfrm>
                <a:off x="2867" y="3020"/>
                <a:ext cx="216" cy="227"/>
              </a:xfrm>
              <a:custGeom>
                <a:avLst/>
                <a:gdLst>
                  <a:gd name="T0" fmla="*/ 211 w 216"/>
                  <a:gd name="T1" fmla="*/ 195 h 227"/>
                  <a:gd name="T2" fmla="*/ 191 w 216"/>
                  <a:gd name="T3" fmla="*/ 190 h 227"/>
                  <a:gd name="T4" fmla="*/ 169 w 216"/>
                  <a:gd name="T5" fmla="*/ 227 h 227"/>
                  <a:gd name="T6" fmla="*/ 166 w 216"/>
                  <a:gd name="T7" fmla="*/ 227 h 227"/>
                  <a:gd name="T8" fmla="*/ 114 w 216"/>
                  <a:gd name="T9" fmla="*/ 226 h 227"/>
                  <a:gd name="T10" fmla="*/ 62 w 216"/>
                  <a:gd name="T11" fmla="*/ 219 h 227"/>
                  <a:gd name="T12" fmla="*/ 13 w 216"/>
                  <a:gd name="T13" fmla="*/ 212 h 227"/>
                  <a:gd name="T14" fmla="*/ 8 w 216"/>
                  <a:gd name="T15" fmla="*/ 212 h 227"/>
                  <a:gd name="T16" fmla="*/ 1 w 216"/>
                  <a:gd name="T17" fmla="*/ 209 h 227"/>
                  <a:gd name="T18" fmla="*/ 0 w 216"/>
                  <a:gd name="T19" fmla="*/ 204 h 227"/>
                  <a:gd name="T20" fmla="*/ 0 w 216"/>
                  <a:gd name="T21" fmla="*/ 193 h 227"/>
                  <a:gd name="T22" fmla="*/ 1 w 216"/>
                  <a:gd name="T23" fmla="*/ 162 h 227"/>
                  <a:gd name="T24" fmla="*/ 4 w 216"/>
                  <a:gd name="T25" fmla="*/ 90 h 227"/>
                  <a:gd name="T26" fmla="*/ 12 w 216"/>
                  <a:gd name="T27" fmla="*/ 16 h 227"/>
                  <a:gd name="T28" fmla="*/ 13 w 216"/>
                  <a:gd name="T29" fmla="*/ 14 h 227"/>
                  <a:gd name="T30" fmla="*/ 18 w 216"/>
                  <a:gd name="T31" fmla="*/ 7 h 227"/>
                  <a:gd name="T32" fmla="*/ 24 w 216"/>
                  <a:gd name="T33" fmla="*/ 3 h 227"/>
                  <a:gd name="T34" fmla="*/ 52 w 216"/>
                  <a:gd name="T35" fmla="*/ 3 h 227"/>
                  <a:gd name="T36" fmla="*/ 92 w 216"/>
                  <a:gd name="T37" fmla="*/ 0 h 227"/>
                  <a:gd name="T38" fmla="*/ 154 w 216"/>
                  <a:gd name="T39" fmla="*/ 0 h 227"/>
                  <a:gd name="T40" fmla="*/ 201 w 216"/>
                  <a:gd name="T41" fmla="*/ 1 h 227"/>
                  <a:gd name="T42" fmla="*/ 210 w 216"/>
                  <a:gd name="T43" fmla="*/ 1 h 227"/>
                  <a:gd name="T44" fmla="*/ 213 w 216"/>
                  <a:gd name="T45" fmla="*/ 3 h 227"/>
                  <a:gd name="T46" fmla="*/ 216 w 216"/>
                  <a:gd name="T47" fmla="*/ 6 h 227"/>
                  <a:gd name="T48" fmla="*/ 211 w 216"/>
                  <a:gd name="T49" fmla="*/ 195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16" h="227">
                    <a:moveTo>
                      <a:pt x="211" y="195"/>
                    </a:moveTo>
                    <a:lnTo>
                      <a:pt x="191" y="190"/>
                    </a:lnTo>
                    <a:lnTo>
                      <a:pt x="169" y="227"/>
                    </a:lnTo>
                    <a:lnTo>
                      <a:pt x="166" y="227"/>
                    </a:lnTo>
                    <a:lnTo>
                      <a:pt x="114" y="226"/>
                    </a:lnTo>
                    <a:lnTo>
                      <a:pt x="62" y="219"/>
                    </a:lnTo>
                    <a:lnTo>
                      <a:pt x="13" y="212"/>
                    </a:lnTo>
                    <a:lnTo>
                      <a:pt x="8" y="212"/>
                    </a:lnTo>
                    <a:lnTo>
                      <a:pt x="1" y="209"/>
                    </a:lnTo>
                    <a:lnTo>
                      <a:pt x="0" y="204"/>
                    </a:lnTo>
                    <a:lnTo>
                      <a:pt x="0" y="193"/>
                    </a:lnTo>
                    <a:lnTo>
                      <a:pt x="1" y="162"/>
                    </a:lnTo>
                    <a:lnTo>
                      <a:pt x="4" y="90"/>
                    </a:lnTo>
                    <a:lnTo>
                      <a:pt x="12" y="16"/>
                    </a:lnTo>
                    <a:lnTo>
                      <a:pt x="13" y="14"/>
                    </a:lnTo>
                    <a:lnTo>
                      <a:pt x="18" y="7"/>
                    </a:lnTo>
                    <a:lnTo>
                      <a:pt x="24" y="3"/>
                    </a:lnTo>
                    <a:lnTo>
                      <a:pt x="52" y="3"/>
                    </a:lnTo>
                    <a:lnTo>
                      <a:pt x="92" y="0"/>
                    </a:lnTo>
                    <a:lnTo>
                      <a:pt x="154" y="0"/>
                    </a:lnTo>
                    <a:lnTo>
                      <a:pt x="201" y="1"/>
                    </a:lnTo>
                    <a:lnTo>
                      <a:pt x="210" y="1"/>
                    </a:lnTo>
                    <a:lnTo>
                      <a:pt x="213" y="3"/>
                    </a:lnTo>
                    <a:lnTo>
                      <a:pt x="216" y="6"/>
                    </a:lnTo>
                    <a:lnTo>
                      <a:pt x="211" y="195"/>
                    </a:lnTo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80" name="Line 40"/>
              <p:cNvSpPr>
                <a:spLocks noChangeShapeType="1"/>
              </p:cNvSpPr>
              <p:nvPr/>
            </p:nvSpPr>
            <p:spPr bwMode="auto">
              <a:xfrm flipH="1">
                <a:off x="3110" y="3029"/>
                <a:ext cx="7" cy="19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81" name="Freeform 41"/>
              <p:cNvSpPr>
                <a:spLocks/>
              </p:cNvSpPr>
              <p:nvPr/>
            </p:nvSpPr>
            <p:spPr bwMode="auto">
              <a:xfrm>
                <a:off x="2367" y="3471"/>
                <a:ext cx="117" cy="352"/>
              </a:xfrm>
              <a:custGeom>
                <a:avLst/>
                <a:gdLst>
                  <a:gd name="T0" fmla="*/ 0 w 117"/>
                  <a:gd name="T1" fmla="*/ 0 h 352"/>
                  <a:gd name="T2" fmla="*/ 7 w 117"/>
                  <a:gd name="T3" fmla="*/ 64 h 352"/>
                  <a:gd name="T4" fmla="*/ 15 w 117"/>
                  <a:gd name="T5" fmla="*/ 126 h 352"/>
                  <a:gd name="T6" fmla="*/ 31 w 117"/>
                  <a:gd name="T7" fmla="*/ 188 h 352"/>
                  <a:gd name="T8" fmla="*/ 48 w 117"/>
                  <a:gd name="T9" fmla="*/ 248 h 352"/>
                  <a:gd name="T10" fmla="*/ 68 w 117"/>
                  <a:gd name="T11" fmla="*/ 297 h 352"/>
                  <a:gd name="T12" fmla="*/ 88 w 117"/>
                  <a:gd name="T13" fmla="*/ 333 h 352"/>
                  <a:gd name="T14" fmla="*/ 98 w 117"/>
                  <a:gd name="T15" fmla="*/ 344 h 352"/>
                  <a:gd name="T16" fmla="*/ 117 w 117"/>
                  <a:gd name="T17" fmla="*/ 352 h 3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7" h="352">
                    <a:moveTo>
                      <a:pt x="0" y="0"/>
                    </a:moveTo>
                    <a:lnTo>
                      <a:pt x="7" y="64"/>
                    </a:lnTo>
                    <a:lnTo>
                      <a:pt x="15" y="126"/>
                    </a:lnTo>
                    <a:lnTo>
                      <a:pt x="31" y="188"/>
                    </a:lnTo>
                    <a:lnTo>
                      <a:pt x="48" y="248"/>
                    </a:lnTo>
                    <a:lnTo>
                      <a:pt x="68" y="297"/>
                    </a:lnTo>
                    <a:lnTo>
                      <a:pt x="88" y="333"/>
                    </a:lnTo>
                    <a:lnTo>
                      <a:pt x="98" y="344"/>
                    </a:lnTo>
                    <a:lnTo>
                      <a:pt x="117" y="352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82" name="Line 42"/>
              <p:cNvSpPr>
                <a:spLocks noChangeShapeType="1"/>
              </p:cNvSpPr>
              <p:nvPr/>
            </p:nvSpPr>
            <p:spPr bwMode="auto">
              <a:xfrm>
                <a:off x="2611" y="3640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83" name="Line 43"/>
              <p:cNvSpPr>
                <a:spLocks noChangeShapeType="1"/>
              </p:cNvSpPr>
              <p:nvPr/>
            </p:nvSpPr>
            <p:spPr bwMode="auto">
              <a:xfrm flipH="1">
                <a:off x="2597" y="3631"/>
                <a:ext cx="5" cy="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684" name="Freeform 44"/>
              <p:cNvSpPr>
                <a:spLocks/>
              </p:cNvSpPr>
              <p:nvPr/>
            </p:nvSpPr>
            <p:spPr bwMode="auto">
              <a:xfrm>
                <a:off x="2438" y="3206"/>
                <a:ext cx="71" cy="33"/>
              </a:xfrm>
              <a:custGeom>
                <a:avLst/>
                <a:gdLst>
                  <a:gd name="T0" fmla="*/ 71 w 71"/>
                  <a:gd name="T1" fmla="*/ 33 h 33"/>
                  <a:gd name="T2" fmla="*/ 62 w 71"/>
                  <a:gd name="T3" fmla="*/ 27 h 33"/>
                  <a:gd name="T4" fmla="*/ 52 w 71"/>
                  <a:gd name="T5" fmla="*/ 20 h 33"/>
                  <a:gd name="T6" fmla="*/ 43 w 71"/>
                  <a:gd name="T7" fmla="*/ 15 h 33"/>
                  <a:gd name="T8" fmla="*/ 32 w 71"/>
                  <a:gd name="T9" fmla="*/ 12 h 33"/>
                  <a:gd name="T10" fmla="*/ 22 w 71"/>
                  <a:gd name="T11" fmla="*/ 7 h 33"/>
                  <a:gd name="T12" fmla="*/ 12 w 71"/>
                  <a:gd name="T13" fmla="*/ 4 h 33"/>
                  <a:gd name="T14" fmla="*/ 0 w 71"/>
                  <a:gd name="T1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33">
                    <a:moveTo>
                      <a:pt x="71" y="33"/>
                    </a:moveTo>
                    <a:lnTo>
                      <a:pt x="62" y="27"/>
                    </a:lnTo>
                    <a:lnTo>
                      <a:pt x="52" y="20"/>
                    </a:lnTo>
                    <a:lnTo>
                      <a:pt x="43" y="15"/>
                    </a:lnTo>
                    <a:lnTo>
                      <a:pt x="32" y="12"/>
                    </a:lnTo>
                    <a:lnTo>
                      <a:pt x="22" y="7"/>
                    </a:lnTo>
                    <a:lnTo>
                      <a:pt x="12" y="4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</p:grpSp>
      <p:sp>
        <p:nvSpPr>
          <p:cNvPr id="240686" name="Rectangle 46"/>
          <p:cNvSpPr>
            <a:spLocks noChangeArrowheads="1"/>
          </p:cNvSpPr>
          <p:nvPr/>
        </p:nvSpPr>
        <p:spPr bwMode="auto">
          <a:xfrm>
            <a:off x="1919289" y="4694239"/>
            <a:ext cx="2076787" cy="461665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ru-RU" sz="2400" b="1"/>
              <a:t>vasya@mail.ru</a:t>
            </a:r>
            <a:endParaRPr lang="ru-RU" altLang="ru-RU" sz="2400" b="1"/>
          </a:p>
        </p:txBody>
      </p:sp>
      <p:pic>
        <p:nvPicPr>
          <p:cNvPr id="240689" name="Picture 49" descr="Корпус-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614" y="1416050"/>
            <a:ext cx="733425" cy="1296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0690" name="Rectangle 50"/>
          <p:cNvSpPr>
            <a:spLocks noChangeArrowheads="1"/>
          </p:cNvSpPr>
          <p:nvPr/>
        </p:nvSpPr>
        <p:spPr bwMode="auto">
          <a:xfrm>
            <a:off x="4723551" y="4298276"/>
            <a:ext cx="2517869" cy="1323439"/>
          </a:xfrm>
          <a:prstGeom prst="rect">
            <a:avLst/>
          </a:prstGeom>
          <a:ln/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ru-RU" altLang="ru-RU" sz="2000" b="1" dirty="0">
                <a:solidFill>
                  <a:schemeClr val="accent3">
                    <a:lumMod val="50000"/>
                  </a:schemeClr>
                </a:solidFill>
              </a:rPr>
              <a:t>коммерческое «</a:t>
            </a:r>
            <a:r>
              <a:rPr lang="en-US" altLang="ru-RU" sz="2000" b="1" dirty="0">
                <a:solidFill>
                  <a:schemeClr val="accent3">
                    <a:lumMod val="50000"/>
                  </a:schemeClr>
                </a:solidFill>
              </a:rPr>
              <a:t>at</a:t>
            </a:r>
            <a:r>
              <a:rPr lang="ru-RU" altLang="ru-RU" sz="2000" b="1" dirty="0">
                <a:solidFill>
                  <a:schemeClr val="accent3">
                    <a:lumMod val="50000"/>
                  </a:schemeClr>
                </a:solidFill>
              </a:rPr>
              <a:t>»</a:t>
            </a:r>
          </a:p>
          <a:p>
            <a:r>
              <a:rPr lang="ru-RU" altLang="ru-RU" sz="2000" b="1" dirty="0">
                <a:solidFill>
                  <a:schemeClr val="accent3">
                    <a:lumMod val="50000"/>
                  </a:schemeClr>
                </a:solidFill>
              </a:rPr>
              <a:t>«собака» (Россия)</a:t>
            </a:r>
          </a:p>
          <a:p>
            <a:r>
              <a:rPr lang="ru-RU" altLang="ru-RU" sz="2000" b="1" dirty="0">
                <a:solidFill>
                  <a:schemeClr val="accent3">
                    <a:lumMod val="50000"/>
                  </a:schemeClr>
                </a:solidFill>
              </a:rPr>
              <a:t>«кошечка» (Польша)</a:t>
            </a:r>
          </a:p>
          <a:p>
            <a:r>
              <a:rPr lang="ru-RU" altLang="ru-RU" sz="2000" b="1" dirty="0">
                <a:solidFill>
                  <a:schemeClr val="accent3">
                    <a:lumMod val="50000"/>
                  </a:schemeClr>
                </a:solidFill>
              </a:rPr>
              <a:t>«роза» (Турция</a:t>
            </a:r>
            <a:r>
              <a:rPr lang="ru-RU" altLang="ru-RU" sz="2000" b="1" dirty="0" smtClean="0">
                <a:solidFill>
                  <a:schemeClr val="accent3">
                    <a:lumMod val="50000"/>
                  </a:schemeClr>
                </a:solidFill>
              </a:rPr>
              <a:t>)</a:t>
            </a:r>
            <a:endParaRPr lang="ru-RU" altLang="ru-RU" sz="20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40691" name="Rectangle 51"/>
          <p:cNvSpPr>
            <a:spLocks noChangeArrowheads="1"/>
          </p:cNvSpPr>
          <p:nvPr/>
        </p:nvSpPr>
        <p:spPr bwMode="auto">
          <a:xfrm>
            <a:off x="7793039" y="4729164"/>
            <a:ext cx="2448363" cy="461665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ru-RU" sz="2400" b="1"/>
              <a:t>john@yahoo.com</a:t>
            </a:r>
            <a:endParaRPr lang="ru-RU" altLang="ru-RU" sz="2400" b="1"/>
          </a:p>
        </p:txBody>
      </p:sp>
      <p:pic>
        <p:nvPicPr>
          <p:cNvPr id="240692" name="Picture 52" descr="Корпус-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851" y="1395414"/>
            <a:ext cx="733425" cy="1296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0693" name="Rectangle 53"/>
          <p:cNvSpPr>
            <a:spLocks noChangeArrowheads="1"/>
          </p:cNvSpPr>
          <p:nvPr/>
        </p:nvSpPr>
        <p:spPr bwMode="auto">
          <a:xfrm>
            <a:off x="6216651" y="906464"/>
            <a:ext cx="234179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ru-RU" sz="2400" b="1"/>
              <a:t>www.yahoo.com</a:t>
            </a:r>
            <a:endParaRPr lang="ru-RU" altLang="ru-RU" sz="2400" b="1"/>
          </a:p>
        </p:txBody>
      </p:sp>
      <p:sp>
        <p:nvSpPr>
          <p:cNvPr id="240694" name="Line 54"/>
          <p:cNvSpPr>
            <a:spLocks noChangeShapeType="1"/>
          </p:cNvSpPr>
          <p:nvPr/>
        </p:nvSpPr>
        <p:spPr bwMode="auto">
          <a:xfrm flipV="1">
            <a:off x="3541713" y="2368551"/>
            <a:ext cx="1001712" cy="1012825"/>
          </a:xfrm>
          <a:prstGeom prst="line">
            <a:avLst/>
          </a:prstGeom>
          <a:noFill/>
          <a:ln w="101600">
            <a:solidFill>
              <a:schemeClr val="accent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40695" name="Line 55"/>
          <p:cNvSpPr>
            <a:spLocks noChangeShapeType="1"/>
          </p:cNvSpPr>
          <p:nvPr/>
        </p:nvSpPr>
        <p:spPr bwMode="auto">
          <a:xfrm flipV="1">
            <a:off x="3652838" y="2678114"/>
            <a:ext cx="1001712" cy="1012825"/>
          </a:xfrm>
          <a:prstGeom prst="line">
            <a:avLst/>
          </a:prstGeom>
          <a:noFill/>
          <a:ln w="101600">
            <a:solidFill>
              <a:schemeClr val="accent2"/>
            </a:solidFill>
            <a:round/>
            <a:headEnd type="triangle" w="med" len="lg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40696" name="AutoShape 56"/>
          <p:cNvSpPr>
            <a:spLocks noChangeArrowheads="1"/>
          </p:cNvSpPr>
          <p:nvPr/>
        </p:nvSpPr>
        <p:spPr bwMode="auto">
          <a:xfrm>
            <a:off x="5478464" y="1949451"/>
            <a:ext cx="1277937" cy="441325"/>
          </a:xfrm>
          <a:prstGeom prst="leftRightArrow">
            <a:avLst>
              <a:gd name="adj1" fmla="val 50000"/>
              <a:gd name="adj2" fmla="val 57914"/>
            </a:avLst>
          </a:prstGeom>
          <a:solidFill>
            <a:srgbClr val="00FF00"/>
          </a:solidFill>
          <a:ln w="12700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40697" name="Line 57"/>
          <p:cNvSpPr>
            <a:spLocks noChangeShapeType="1"/>
          </p:cNvSpPr>
          <p:nvPr/>
        </p:nvSpPr>
        <p:spPr bwMode="auto">
          <a:xfrm flipH="1" flipV="1">
            <a:off x="7739063" y="2359026"/>
            <a:ext cx="1001712" cy="1012825"/>
          </a:xfrm>
          <a:prstGeom prst="line">
            <a:avLst/>
          </a:prstGeom>
          <a:noFill/>
          <a:ln w="101600">
            <a:solidFill>
              <a:schemeClr val="accent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40698" name="Line 58"/>
          <p:cNvSpPr>
            <a:spLocks noChangeShapeType="1"/>
          </p:cNvSpPr>
          <p:nvPr/>
        </p:nvSpPr>
        <p:spPr bwMode="auto">
          <a:xfrm flipH="1" flipV="1">
            <a:off x="7586663" y="2613026"/>
            <a:ext cx="1001712" cy="1012825"/>
          </a:xfrm>
          <a:prstGeom prst="line">
            <a:avLst/>
          </a:prstGeom>
          <a:noFill/>
          <a:ln w="101600">
            <a:solidFill>
              <a:schemeClr val="accent2"/>
            </a:solidFill>
            <a:round/>
            <a:headEnd type="triangle" w="med" len="lg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40700" name="Rectangle 60"/>
          <p:cNvSpPr>
            <a:spLocks noChangeArrowheads="1"/>
          </p:cNvSpPr>
          <p:nvPr/>
        </p:nvSpPr>
        <p:spPr bwMode="auto">
          <a:xfrm>
            <a:off x="3000376" y="2435226"/>
            <a:ext cx="9156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ru-RU" sz="2400" b="1"/>
              <a:t>SMTP</a:t>
            </a:r>
            <a:endParaRPr lang="ru-RU" altLang="ru-RU" sz="2400" b="1"/>
          </a:p>
        </p:txBody>
      </p:sp>
      <p:sp>
        <p:nvSpPr>
          <p:cNvPr id="240701" name="Rectangle 61"/>
          <p:cNvSpPr>
            <a:spLocks noChangeArrowheads="1"/>
          </p:cNvSpPr>
          <p:nvPr/>
        </p:nvSpPr>
        <p:spPr bwMode="auto">
          <a:xfrm>
            <a:off x="8332789" y="2413001"/>
            <a:ext cx="9156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ru-RU" sz="2400" b="1"/>
              <a:t>SMTP</a:t>
            </a:r>
            <a:endParaRPr lang="ru-RU" altLang="ru-RU" sz="2400" b="1"/>
          </a:p>
        </p:txBody>
      </p:sp>
      <p:sp>
        <p:nvSpPr>
          <p:cNvPr id="240702" name="Rectangle 62"/>
          <p:cNvSpPr>
            <a:spLocks noChangeArrowheads="1"/>
          </p:cNvSpPr>
          <p:nvPr/>
        </p:nvSpPr>
        <p:spPr bwMode="auto">
          <a:xfrm>
            <a:off x="6945314" y="3041651"/>
            <a:ext cx="87556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ru-RU" sz="2400" b="1"/>
              <a:t>POP3</a:t>
            </a:r>
            <a:endParaRPr lang="ru-RU" altLang="ru-RU" sz="2400" b="1"/>
          </a:p>
        </p:txBody>
      </p:sp>
      <p:sp>
        <p:nvSpPr>
          <p:cNvPr id="240703" name="Rectangle 63"/>
          <p:cNvSpPr>
            <a:spLocks noChangeArrowheads="1"/>
          </p:cNvSpPr>
          <p:nvPr/>
        </p:nvSpPr>
        <p:spPr bwMode="auto">
          <a:xfrm>
            <a:off x="4291014" y="3041651"/>
            <a:ext cx="87556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ru-RU" sz="2400" b="1"/>
              <a:t>POP3</a:t>
            </a:r>
            <a:endParaRPr lang="ru-RU" altLang="ru-RU" sz="2400" b="1"/>
          </a:p>
        </p:txBody>
      </p:sp>
      <p:sp>
        <p:nvSpPr>
          <p:cNvPr id="240705" name="AutoShape 65"/>
          <p:cNvSpPr>
            <a:spLocks noChangeArrowheads="1"/>
          </p:cNvSpPr>
          <p:nvPr/>
        </p:nvSpPr>
        <p:spPr bwMode="auto">
          <a:xfrm>
            <a:off x="3179763" y="5475289"/>
            <a:ext cx="1238250" cy="715089"/>
          </a:xfrm>
          <a:prstGeom prst="wedgeRoundRectCallout">
            <a:avLst>
              <a:gd name="adj1" fmla="val -10130"/>
              <a:gd name="adj2" fmla="val -105454"/>
              <a:gd name="adj3" fmla="val 16667"/>
            </a:avLst>
          </a:prstGeom>
          <a:solidFill>
            <a:srgbClr val="EAEAEA"/>
          </a:solidFill>
          <a:ln>
            <a:noFill/>
          </a:ln>
          <a:effectLst>
            <a:outerShdw dist="40161" dir="4293903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54000" rIns="18000">
            <a:spAutoFit/>
          </a:bodyPr>
          <a:lstStyle/>
          <a:p>
            <a:pPr algn="ctr"/>
            <a:r>
              <a:rPr lang="ru-RU" altLang="ru-RU" b="1" dirty="0">
                <a:solidFill>
                  <a:schemeClr val="accent3">
                    <a:lumMod val="50000"/>
                  </a:schemeClr>
                </a:solidFill>
              </a:rPr>
              <a:t>почтовый сервер</a:t>
            </a:r>
          </a:p>
        </p:txBody>
      </p:sp>
      <p:sp>
        <p:nvSpPr>
          <p:cNvPr id="240706" name="AutoShape 66"/>
          <p:cNvSpPr>
            <a:spLocks noChangeArrowheads="1"/>
          </p:cNvSpPr>
          <p:nvPr/>
        </p:nvSpPr>
        <p:spPr bwMode="auto">
          <a:xfrm>
            <a:off x="1822450" y="5491164"/>
            <a:ext cx="1220788" cy="715089"/>
          </a:xfrm>
          <a:prstGeom prst="wedgeRoundRectCallout">
            <a:avLst>
              <a:gd name="adj1" fmla="val -2014"/>
              <a:gd name="adj2" fmla="val -111949"/>
              <a:gd name="adj3" fmla="val 16667"/>
            </a:avLst>
          </a:prstGeom>
          <a:solidFill>
            <a:srgbClr val="EAEAEA"/>
          </a:solidFill>
          <a:ln>
            <a:noFill/>
          </a:ln>
          <a:effectLst>
            <a:outerShdw dist="40161" dir="4293903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54000" rIns="18000">
            <a:spAutoFit/>
          </a:bodyPr>
          <a:lstStyle/>
          <a:p>
            <a:pPr algn="ctr"/>
            <a:r>
              <a:rPr lang="ru-RU" altLang="ru-RU" b="1" dirty="0">
                <a:solidFill>
                  <a:schemeClr val="accent3">
                    <a:lumMod val="50000"/>
                  </a:schemeClr>
                </a:solidFill>
              </a:rPr>
              <a:t>почтовый ящик</a:t>
            </a:r>
          </a:p>
        </p:txBody>
      </p:sp>
      <p:sp>
        <p:nvSpPr>
          <p:cNvPr id="240707" name="AutoShape 67"/>
          <p:cNvSpPr>
            <a:spLocks noChangeArrowheads="1"/>
          </p:cNvSpPr>
          <p:nvPr/>
        </p:nvSpPr>
        <p:spPr bwMode="auto">
          <a:xfrm>
            <a:off x="8985250" y="5540376"/>
            <a:ext cx="1238250" cy="715089"/>
          </a:xfrm>
          <a:prstGeom prst="wedgeRoundRectCallout">
            <a:avLst>
              <a:gd name="adj1" fmla="val -10130"/>
              <a:gd name="adj2" fmla="val -105454"/>
              <a:gd name="adj3" fmla="val 16667"/>
            </a:avLst>
          </a:prstGeom>
          <a:solidFill>
            <a:srgbClr val="EAEAEA"/>
          </a:solidFill>
          <a:ln>
            <a:noFill/>
          </a:ln>
          <a:effectLst>
            <a:outerShdw dist="40161" dir="4293903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54000" rIns="18000">
            <a:spAutoFit/>
          </a:bodyPr>
          <a:lstStyle/>
          <a:p>
            <a:pPr algn="ctr"/>
            <a:r>
              <a:rPr lang="ru-RU" altLang="ru-RU" b="1" dirty="0">
                <a:solidFill>
                  <a:schemeClr val="accent3">
                    <a:lumMod val="50000"/>
                  </a:schemeClr>
                </a:solidFill>
              </a:rPr>
              <a:t>почтовый сервер</a:t>
            </a:r>
          </a:p>
        </p:txBody>
      </p:sp>
      <p:sp>
        <p:nvSpPr>
          <p:cNvPr id="240708" name="AutoShape 68"/>
          <p:cNvSpPr>
            <a:spLocks noChangeArrowheads="1"/>
          </p:cNvSpPr>
          <p:nvPr/>
        </p:nvSpPr>
        <p:spPr bwMode="auto">
          <a:xfrm>
            <a:off x="7627939" y="5556251"/>
            <a:ext cx="1220787" cy="715089"/>
          </a:xfrm>
          <a:prstGeom prst="wedgeRoundRectCallout">
            <a:avLst>
              <a:gd name="adj1" fmla="val -2014"/>
              <a:gd name="adj2" fmla="val -111949"/>
              <a:gd name="adj3" fmla="val 16667"/>
            </a:avLst>
          </a:prstGeom>
          <a:solidFill>
            <a:srgbClr val="EAEAEA"/>
          </a:solidFill>
          <a:ln>
            <a:noFill/>
          </a:ln>
          <a:effectLst>
            <a:outerShdw dist="40161" dir="4293903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54000" rIns="18000">
            <a:spAutoFit/>
          </a:bodyPr>
          <a:lstStyle/>
          <a:p>
            <a:pPr algn="ctr"/>
            <a:r>
              <a:rPr lang="ru-RU" altLang="ru-RU" b="1" dirty="0">
                <a:solidFill>
                  <a:schemeClr val="accent3">
                    <a:lumMod val="50000"/>
                  </a:schemeClr>
                </a:solidFill>
              </a:rPr>
              <a:t>почтовый ящик</a:t>
            </a:r>
          </a:p>
        </p:txBody>
      </p:sp>
      <p:sp>
        <p:nvSpPr>
          <p:cNvPr id="240710" name="Rectangle 70"/>
          <p:cNvSpPr>
            <a:spLocks noChangeArrowheads="1"/>
          </p:cNvSpPr>
          <p:nvPr/>
        </p:nvSpPr>
        <p:spPr bwMode="auto">
          <a:xfrm>
            <a:off x="5568951" y="3422651"/>
            <a:ext cx="646113" cy="701675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ru-RU" sz="4000" b="1"/>
              <a:t>@</a:t>
            </a:r>
            <a:endParaRPr lang="ru-RU" altLang="ru-RU" sz="4000" b="1"/>
          </a:p>
        </p:txBody>
      </p:sp>
      <p:sp>
        <p:nvSpPr>
          <p:cNvPr id="240711" name="Rectangle 71"/>
          <p:cNvSpPr>
            <a:spLocks noChangeArrowheads="1"/>
          </p:cNvSpPr>
          <p:nvPr/>
        </p:nvSpPr>
        <p:spPr bwMode="auto">
          <a:xfrm>
            <a:off x="3990976" y="927101"/>
            <a:ext cx="184871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ru-RU" sz="2400" b="1"/>
              <a:t>www.mail.ru</a:t>
            </a:r>
            <a:endParaRPr lang="ru-RU" altLang="ru-RU" sz="2400" b="1"/>
          </a:p>
        </p:txBody>
      </p:sp>
      <p:sp>
        <p:nvSpPr>
          <p:cNvPr id="240712" name="AutoShape 72"/>
          <p:cNvSpPr>
            <a:spLocks noChangeArrowheads="1"/>
          </p:cNvSpPr>
          <p:nvPr/>
        </p:nvSpPr>
        <p:spPr bwMode="auto">
          <a:xfrm>
            <a:off x="2154238" y="881064"/>
            <a:ext cx="1238250" cy="715089"/>
          </a:xfrm>
          <a:prstGeom prst="wedgeRoundRectCallout">
            <a:avLst>
              <a:gd name="adj1" fmla="val 142819"/>
              <a:gd name="adj2" fmla="val 97565"/>
              <a:gd name="adj3" fmla="val 16667"/>
            </a:avLst>
          </a:prstGeom>
          <a:solidFill>
            <a:srgbClr val="EAEAEA"/>
          </a:solidFill>
          <a:ln>
            <a:noFill/>
          </a:ln>
          <a:effectLst>
            <a:outerShdw dist="40161" dir="4293903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54000" rIns="18000">
            <a:spAutoFit/>
          </a:bodyPr>
          <a:lstStyle/>
          <a:p>
            <a:pPr algn="ctr"/>
            <a:r>
              <a:rPr lang="ru-RU" altLang="ru-RU" b="1" dirty="0">
                <a:solidFill>
                  <a:schemeClr val="accent3">
                    <a:lumMod val="50000"/>
                  </a:schemeClr>
                </a:solidFill>
              </a:rPr>
              <a:t>почтовый сервер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7432" y="47029"/>
            <a:ext cx="5975465" cy="909292"/>
          </a:xfrm>
        </p:spPr>
        <p:txBody>
          <a:bodyPr>
            <a:normAutofit fontScale="90000"/>
          </a:bodyPr>
          <a:lstStyle/>
          <a:p>
            <a:r>
              <a:rPr lang="ru-RU" altLang="ru-RU" sz="4000" dirty="0" smtClean="0"/>
              <a:t>ЭЛЕКТРОННАЯ ПОЧТА (</a:t>
            </a:r>
            <a:r>
              <a:rPr lang="en-US" altLang="ru-RU" sz="4000" dirty="0" smtClean="0"/>
              <a:t>E-MAIL</a:t>
            </a:r>
            <a:r>
              <a:rPr lang="ru-RU" altLang="ru-RU" sz="4000" dirty="0" smtClean="0"/>
              <a:t>)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59179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0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0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40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40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40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40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40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40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40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40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40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40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40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40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40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240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40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40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240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40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240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240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240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240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686" grpId="0" animBg="1"/>
      <p:bldP spid="240690" grpId="0" animBg="1"/>
      <p:bldP spid="240691" grpId="0" animBg="1"/>
      <p:bldP spid="240693" grpId="0"/>
      <p:bldP spid="240694" grpId="0" animBg="1"/>
      <p:bldP spid="240695" grpId="0" animBg="1"/>
      <p:bldP spid="240696" grpId="0" animBg="1"/>
      <p:bldP spid="240697" grpId="0" animBg="1"/>
      <p:bldP spid="240698" grpId="0" animBg="1"/>
      <p:bldP spid="240700" grpId="0"/>
      <p:bldP spid="240701" grpId="0"/>
      <p:bldP spid="240702" grpId="0"/>
      <p:bldP spid="240703" grpId="0"/>
      <p:bldP spid="240705" grpId="0" animBg="1"/>
      <p:bldP spid="240706" grpId="0" animBg="1"/>
      <p:bldP spid="240707" grpId="0" animBg="1"/>
      <p:bldP spid="240708" grpId="0" animBg="1"/>
      <p:bldP spid="240710" grpId="0" animBg="1"/>
      <p:bldP spid="240711" grpId="0"/>
      <p:bldP spid="24071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Line 2"/>
          <p:cNvSpPr>
            <a:spLocks noChangeShapeType="1"/>
          </p:cNvSpPr>
          <p:nvPr/>
        </p:nvSpPr>
        <p:spPr bwMode="auto">
          <a:xfrm>
            <a:off x="1900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42692" name="Text Box 4"/>
          <p:cNvSpPr txBox="1">
            <a:spLocks noChangeArrowheads="1"/>
          </p:cNvSpPr>
          <p:nvPr/>
        </p:nvSpPr>
        <p:spPr bwMode="auto">
          <a:xfrm>
            <a:off x="1925638" y="936625"/>
            <a:ext cx="8482012" cy="2006600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600325" algn="l"/>
                <a:tab pos="30511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5963" indent="-352425">
              <a:tabLst>
                <a:tab pos="2600325" algn="l"/>
                <a:tab pos="30511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9988">
              <a:tabLst>
                <a:tab pos="2600325" algn="l"/>
                <a:tab pos="30511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tabLst>
                <a:tab pos="2600325" algn="l"/>
                <a:tab pos="30511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tabLst>
                <a:tab pos="2600325" algn="l"/>
                <a:tab pos="30511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600325" algn="l"/>
                <a:tab pos="30511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600325" algn="l"/>
                <a:tab pos="30511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600325" algn="l"/>
                <a:tab pos="30511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600325" algn="l"/>
                <a:tab pos="30511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buFont typeface="Wingdings" panose="05000000000000000000" pitchFamily="2" charset="2"/>
              <a:buNone/>
            </a:pPr>
            <a:r>
              <a:rPr lang="en-US" altLang="ru-RU" sz="2000"/>
              <a:t>		</a:t>
            </a:r>
            <a:r>
              <a:rPr lang="en-US" altLang="ru-RU" sz="2000" b="1"/>
              <a:t>john@yahoo.com</a:t>
            </a:r>
          </a:p>
          <a:p>
            <a:pPr eaLnBrk="0" hangingPunct="0">
              <a:buFont typeface="Wingdings" panose="05000000000000000000" pitchFamily="2" charset="2"/>
              <a:buNone/>
            </a:pPr>
            <a:r>
              <a:rPr lang="en-US" altLang="ru-RU" sz="2000" b="1"/>
              <a:t>		vasya@mail.ru</a:t>
            </a:r>
            <a:endParaRPr lang="ru-RU" altLang="ru-RU" sz="2000" b="1"/>
          </a:p>
          <a:p>
            <a:pPr eaLnBrk="0" hangingPunct="0">
              <a:buFont typeface="Wingdings" panose="05000000000000000000" pitchFamily="2" charset="2"/>
              <a:buNone/>
            </a:pPr>
            <a:r>
              <a:rPr lang="en-US" altLang="ru-RU" sz="2000" b="1"/>
              <a:t>		vasya@mail.ru</a:t>
            </a:r>
            <a:endParaRPr lang="ru-RU" altLang="ru-RU" sz="2000" b="1"/>
          </a:p>
          <a:p>
            <a:pPr eaLnBrk="0" hangingPunct="0">
              <a:buFont typeface="Wingdings" panose="05000000000000000000" pitchFamily="2" charset="2"/>
              <a:buNone/>
            </a:pPr>
            <a:r>
              <a:rPr lang="en-US" altLang="ru-RU" sz="2000" b="1"/>
              <a:t>		boss@mail.ru</a:t>
            </a:r>
            <a:endParaRPr lang="ru-RU" altLang="ru-RU" sz="2000" b="1"/>
          </a:p>
          <a:p>
            <a:pPr eaLnBrk="0" hangingPunct="0">
              <a:buFont typeface="Wingdings" panose="05000000000000000000" pitchFamily="2" charset="2"/>
              <a:buNone/>
            </a:pPr>
            <a:r>
              <a:rPr lang="en-US" altLang="ru-RU" sz="2000" b="1"/>
              <a:t>		john2@yahoo.com</a:t>
            </a:r>
            <a:endParaRPr lang="ru-RU" altLang="ru-RU" sz="2000" b="1"/>
          </a:p>
          <a:p>
            <a:pPr eaLnBrk="0" hangingPunct="0">
              <a:buFont typeface="Wingdings" panose="05000000000000000000" pitchFamily="2" charset="2"/>
              <a:buNone/>
            </a:pPr>
            <a:r>
              <a:rPr lang="en-US" altLang="ru-RU" sz="2000" b="1"/>
              <a:t>		</a:t>
            </a:r>
            <a:r>
              <a:rPr lang="ru-RU" altLang="ru-RU" sz="2000" b="1"/>
              <a:t>О покупке слона</a:t>
            </a:r>
          </a:p>
        </p:txBody>
      </p:sp>
      <p:sp>
        <p:nvSpPr>
          <p:cNvPr id="242694" name="Rectangle 6"/>
          <p:cNvSpPr>
            <a:spLocks noChangeArrowheads="1"/>
          </p:cNvSpPr>
          <p:nvPr/>
        </p:nvSpPr>
        <p:spPr bwMode="auto">
          <a:xfrm>
            <a:off x="1933575" y="938214"/>
            <a:ext cx="2833688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 eaLnBrk="0" hangingPunct="0">
              <a:buFont typeface="Wingdings" panose="05000000000000000000" pitchFamily="2" charset="2"/>
              <a:buNone/>
            </a:pPr>
            <a:r>
              <a:rPr lang="ru-RU" altLang="ru-RU" sz="2000" b="1" dirty="0">
                <a:solidFill>
                  <a:schemeClr val="accent3">
                    <a:lumMod val="50000"/>
                  </a:schemeClr>
                </a:solidFill>
              </a:rPr>
              <a:t>Кому</a:t>
            </a:r>
            <a:r>
              <a:rPr lang="ru-RU" altLang="ru-RU" sz="2000" dirty="0">
                <a:solidFill>
                  <a:schemeClr val="accent3">
                    <a:lumMod val="50000"/>
                  </a:schemeClr>
                </a:solidFill>
              </a:rPr>
              <a:t> (</a:t>
            </a:r>
            <a:r>
              <a:rPr lang="en-US" altLang="ru-RU" sz="2000" dirty="0">
                <a:solidFill>
                  <a:schemeClr val="accent3">
                    <a:lumMod val="50000"/>
                  </a:schemeClr>
                </a:solidFill>
              </a:rPr>
              <a:t>To):            </a:t>
            </a:r>
          </a:p>
          <a:p>
            <a:pPr algn="r" eaLnBrk="0" hangingPunct="0">
              <a:buFont typeface="Wingdings" panose="05000000000000000000" pitchFamily="2" charset="2"/>
              <a:buNone/>
            </a:pPr>
            <a:r>
              <a:rPr lang="ru-RU" altLang="ru-RU" sz="2000" b="1" dirty="0">
                <a:solidFill>
                  <a:schemeClr val="accent3">
                    <a:lumMod val="50000"/>
                  </a:schemeClr>
                </a:solidFill>
              </a:rPr>
              <a:t>От кого</a:t>
            </a:r>
            <a:r>
              <a:rPr lang="ru-RU" altLang="ru-RU" sz="2000" dirty="0">
                <a:solidFill>
                  <a:schemeClr val="accent3">
                    <a:lumMod val="50000"/>
                  </a:schemeClr>
                </a:solidFill>
              </a:rPr>
              <a:t> (</a:t>
            </a:r>
            <a:r>
              <a:rPr lang="en-US" altLang="ru-RU" sz="2000" dirty="0">
                <a:solidFill>
                  <a:schemeClr val="accent3">
                    <a:lumMod val="50000"/>
                  </a:schemeClr>
                </a:solidFill>
              </a:rPr>
              <a:t>From</a:t>
            </a:r>
            <a:r>
              <a:rPr lang="ru-RU" altLang="ru-RU" sz="2000" dirty="0">
                <a:solidFill>
                  <a:schemeClr val="accent3">
                    <a:lumMod val="50000"/>
                  </a:schemeClr>
                </a:solidFill>
              </a:rPr>
              <a:t>)</a:t>
            </a:r>
            <a:r>
              <a:rPr lang="en-US" altLang="ru-RU" sz="2000" dirty="0">
                <a:solidFill>
                  <a:schemeClr val="accent3">
                    <a:lumMod val="50000"/>
                  </a:schemeClr>
                </a:solidFill>
              </a:rPr>
              <a:t>:</a:t>
            </a:r>
          </a:p>
          <a:p>
            <a:pPr algn="r" eaLnBrk="0" hangingPunct="0">
              <a:buFont typeface="Wingdings" panose="05000000000000000000" pitchFamily="2" charset="2"/>
              <a:buNone/>
            </a:pPr>
            <a:r>
              <a:rPr lang="ru-RU" altLang="ru-RU" sz="2000" b="1" dirty="0">
                <a:solidFill>
                  <a:schemeClr val="accent3">
                    <a:lumMod val="50000"/>
                  </a:schemeClr>
                </a:solidFill>
              </a:rPr>
              <a:t>Ответить</a:t>
            </a:r>
            <a:r>
              <a:rPr lang="ru-RU" altLang="ru-RU" sz="2000" dirty="0">
                <a:solidFill>
                  <a:schemeClr val="accent3">
                    <a:lumMod val="50000"/>
                  </a:schemeClr>
                </a:solidFill>
              </a:rPr>
              <a:t> (</a:t>
            </a:r>
            <a:r>
              <a:rPr lang="en-US" altLang="ru-RU" sz="2000" dirty="0">
                <a:solidFill>
                  <a:schemeClr val="accent3">
                    <a:lumMod val="50000"/>
                  </a:schemeClr>
                </a:solidFill>
              </a:rPr>
              <a:t>Reply To</a:t>
            </a:r>
            <a:r>
              <a:rPr lang="ru-RU" altLang="ru-RU" sz="2000" dirty="0">
                <a:solidFill>
                  <a:schemeClr val="accent3">
                    <a:lumMod val="50000"/>
                  </a:schemeClr>
                </a:solidFill>
              </a:rPr>
              <a:t>)</a:t>
            </a:r>
            <a:r>
              <a:rPr lang="en-US" altLang="ru-RU" sz="2000" dirty="0">
                <a:solidFill>
                  <a:schemeClr val="accent3">
                    <a:lumMod val="50000"/>
                  </a:schemeClr>
                </a:solidFill>
              </a:rPr>
              <a:t>:</a:t>
            </a:r>
          </a:p>
          <a:p>
            <a:pPr algn="r" eaLnBrk="0" hangingPunct="0">
              <a:buFont typeface="Wingdings" panose="05000000000000000000" pitchFamily="2" charset="2"/>
              <a:buNone/>
            </a:pPr>
            <a:r>
              <a:rPr lang="ru-RU" altLang="ru-RU" sz="2000" b="1" dirty="0">
                <a:solidFill>
                  <a:schemeClr val="accent3">
                    <a:lumMod val="50000"/>
                  </a:schemeClr>
                </a:solidFill>
              </a:rPr>
              <a:t>Копия</a:t>
            </a:r>
            <a:r>
              <a:rPr lang="ru-RU" altLang="ru-RU" sz="2000" dirty="0">
                <a:solidFill>
                  <a:schemeClr val="accent3">
                    <a:lumMod val="50000"/>
                  </a:schemeClr>
                </a:solidFill>
              </a:rPr>
              <a:t> (</a:t>
            </a:r>
            <a:r>
              <a:rPr lang="en-US" altLang="ru-RU" sz="2000" dirty="0">
                <a:solidFill>
                  <a:schemeClr val="accent3">
                    <a:lumMod val="50000"/>
                  </a:schemeClr>
                </a:solidFill>
              </a:rPr>
              <a:t>CC</a:t>
            </a:r>
            <a:r>
              <a:rPr lang="ru-RU" altLang="ru-RU" sz="2000" dirty="0">
                <a:solidFill>
                  <a:schemeClr val="accent3">
                    <a:lumMod val="50000"/>
                  </a:schemeClr>
                </a:solidFill>
              </a:rPr>
              <a:t>)</a:t>
            </a:r>
            <a:r>
              <a:rPr lang="en-US" altLang="ru-RU" sz="2000" dirty="0">
                <a:solidFill>
                  <a:schemeClr val="accent3">
                    <a:lumMod val="50000"/>
                  </a:schemeClr>
                </a:solidFill>
              </a:rPr>
              <a:t>:</a:t>
            </a:r>
          </a:p>
          <a:p>
            <a:pPr algn="r" eaLnBrk="0" hangingPunct="0">
              <a:buFont typeface="Wingdings" panose="05000000000000000000" pitchFamily="2" charset="2"/>
              <a:buNone/>
            </a:pPr>
            <a:r>
              <a:rPr lang="ru-RU" altLang="ru-RU" sz="2000" b="1" dirty="0">
                <a:solidFill>
                  <a:schemeClr val="accent3">
                    <a:lumMod val="50000"/>
                  </a:schemeClr>
                </a:solidFill>
              </a:rPr>
              <a:t>Скрытая копия</a:t>
            </a:r>
            <a:r>
              <a:rPr lang="ru-RU" altLang="ru-RU" sz="2000" dirty="0">
                <a:solidFill>
                  <a:schemeClr val="accent3">
                    <a:lumMod val="50000"/>
                  </a:schemeClr>
                </a:solidFill>
              </a:rPr>
              <a:t> (</a:t>
            </a:r>
            <a:r>
              <a:rPr lang="en-US" altLang="ru-RU" sz="2000" dirty="0">
                <a:solidFill>
                  <a:schemeClr val="accent3">
                    <a:lumMod val="50000"/>
                  </a:schemeClr>
                </a:solidFill>
              </a:rPr>
              <a:t>BC</a:t>
            </a:r>
            <a:r>
              <a:rPr lang="ru-RU" altLang="ru-RU" sz="2000" dirty="0">
                <a:solidFill>
                  <a:schemeClr val="accent3">
                    <a:lumMod val="50000"/>
                  </a:schemeClr>
                </a:solidFill>
              </a:rPr>
              <a:t>)</a:t>
            </a:r>
            <a:r>
              <a:rPr lang="en-US" altLang="ru-RU" sz="2000" dirty="0">
                <a:solidFill>
                  <a:schemeClr val="accent3">
                    <a:lumMod val="50000"/>
                  </a:schemeClr>
                </a:solidFill>
              </a:rPr>
              <a:t>:</a:t>
            </a:r>
          </a:p>
          <a:p>
            <a:pPr algn="r" eaLnBrk="0" hangingPunct="0">
              <a:buFont typeface="Wingdings" panose="05000000000000000000" pitchFamily="2" charset="2"/>
              <a:buNone/>
            </a:pPr>
            <a:r>
              <a:rPr lang="ru-RU" altLang="ru-RU" sz="2000" b="1" dirty="0">
                <a:solidFill>
                  <a:schemeClr val="accent3">
                    <a:lumMod val="50000"/>
                  </a:schemeClr>
                </a:solidFill>
              </a:rPr>
              <a:t>Тема</a:t>
            </a:r>
            <a:r>
              <a:rPr lang="ru-RU" altLang="ru-RU" sz="2000" dirty="0">
                <a:solidFill>
                  <a:schemeClr val="accent3">
                    <a:lumMod val="50000"/>
                  </a:schemeClr>
                </a:solidFill>
              </a:rPr>
              <a:t> (</a:t>
            </a:r>
            <a:r>
              <a:rPr lang="en-US" altLang="ru-RU" sz="2000" dirty="0">
                <a:solidFill>
                  <a:schemeClr val="accent3">
                    <a:lumMod val="50000"/>
                  </a:schemeClr>
                </a:solidFill>
              </a:rPr>
              <a:t>Subject</a:t>
            </a:r>
            <a:r>
              <a:rPr lang="ru-RU" altLang="ru-RU" sz="2000" dirty="0">
                <a:solidFill>
                  <a:schemeClr val="accent3">
                    <a:lumMod val="50000"/>
                  </a:schemeClr>
                </a:solidFill>
              </a:rPr>
              <a:t>):</a:t>
            </a:r>
          </a:p>
        </p:txBody>
      </p:sp>
      <p:sp>
        <p:nvSpPr>
          <p:cNvPr id="242695" name="AutoShape 7"/>
          <p:cNvSpPr>
            <a:spLocks noChangeArrowheads="1"/>
          </p:cNvSpPr>
          <p:nvPr/>
        </p:nvSpPr>
        <p:spPr bwMode="auto">
          <a:xfrm>
            <a:off x="8920163" y="1068389"/>
            <a:ext cx="1238250" cy="715089"/>
          </a:xfrm>
          <a:prstGeom prst="wedgeRoundRectCallout">
            <a:avLst>
              <a:gd name="adj1" fmla="val -127565"/>
              <a:gd name="adj2" fmla="val 86194"/>
              <a:gd name="adj3" fmla="val 16667"/>
            </a:avLst>
          </a:prstGeom>
          <a:solidFill>
            <a:srgbClr val="EAEAEA"/>
          </a:solidFill>
          <a:ln>
            <a:noFill/>
          </a:ln>
          <a:effectLst>
            <a:outerShdw dist="40161" dir="4293903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54000" rIns="18000">
            <a:spAutoFit/>
          </a:bodyPr>
          <a:lstStyle/>
          <a:p>
            <a:pPr algn="ctr"/>
            <a:r>
              <a:rPr lang="ru-RU" altLang="ru-RU"/>
              <a:t>заголовок письма</a:t>
            </a:r>
          </a:p>
        </p:txBody>
      </p:sp>
      <p:sp>
        <p:nvSpPr>
          <p:cNvPr id="242696" name="Text Box 8"/>
          <p:cNvSpPr txBox="1">
            <a:spLocks noChangeArrowheads="1"/>
          </p:cNvSpPr>
          <p:nvPr/>
        </p:nvSpPr>
        <p:spPr bwMode="auto">
          <a:xfrm>
            <a:off x="1927226" y="3084513"/>
            <a:ext cx="8482013" cy="3389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0850" indent="-4508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90600" indent="-360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99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ru-RU" altLang="ru-RU" b="1" i="1" dirty="0">
                <a:solidFill>
                  <a:schemeClr val="accent2"/>
                </a:solidFill>
              </a:rPr>
              <a:t>Здравствуй, Джон!</a:t>
            </a:r>
          </a:p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ru-RU" altLang="ru-RU" b="1" i="1" dirty="0">
                <a:solidFill>
                  <a:schemeClr val="accent2"/>
                </a:solidFill>
              </a:rPr>
              <a:t>Нет ли у тебя желания купить</a:t>
            </a:r>
          </a:p>
          <a:p>
            <a:pPr eaLnBrk="0" hangingPunct="0">
              <a:buFont typeface="Wingdings" panose="05000000000000000000" pitchFamily="2" charset="2"/>
              <a:buNone/>
            </a:pPr>
            <a:r>
              <a:rPr lang="ru-RU" altLang="ru-RU" b="1" i="1" dirty="0">
                <a:solidFill>
                  <a:schemeClr val="accent2"/>
                </a:solidFill>
              </a:rPr>
              <a:t>слона? </a:t>
            </a:r>
          </a:p>
          <a:p>
            <a:pPr eaLnBrk="0" hangingPunct="0">
              <a:buFont typeface="Wingdings" panose="05000000000000000000" pitchFamily="2" charset="2"/>
              <a:buNone/>
            </a:pPr>
            <a:endParaRPr lang="ru-RU" altLang="ru-RU" dirty="0">
              <a:solidFill>
                <a:schemeClr val="accent2"/>
              </a:solidFill>
            </a:endParaRPr>
          </a:p>
          <a:p>
            <a:pPr eaLnBrk="0" hangingPunct="0">
              <a:buFont typeface="Wingdings" panose="05000000000000000000" pitchFamily="2" charset="2"/>
              <a:buNone/>
            </a:pPr>
            <a:r>
              <a:rPr lang="ru-RU" altLang="ru-RU" b="1" i="1" dirty="0">
                <a:solidFill>
                  <a:schemeClr val="accent2"/>
                </a:solidFill>
              </a:rPr>
              <a:t>С уважением, Василий </a:t>
            </a:r>
            <a:r>
              <a:rPr lang="ru-RU" altLang="ru-RU" b="1" i="1" dirty="0" err="1">
                <a:solidFill>
                  <a:schemeClr val="accent2"/>
                </a:solidFill>
              </a:rPr>
              <a:t>Пупкин</a:t>
            </a:r>
            <a:r>
              <a:rPr lang="ru-RU" altLang="ru-RU" b="1" i="1" dirty="0">
                <a:solidFill>
                  <a:schemeClr val="accent2"/>
                </a:solidFill>
              </a:rPr>
              <a:t>, </a:t>
            </a:r>
          </a:p>
          <a:p>
            <a:pPr eaLnBrk="0" hangingPunct="0">
              <a:buFont typeface="Wingdings" panose="05000000000000000000" pitchFamily="2" charset="2"/>
              <a:buNone/>
            </a:pPr>
            <a:r>
              <a:rPr lang="ru-RU" altLang="ru-RU" b="1" i="1" dirty="0">
                <a:solidFill>
                  <a:schemeClr val="accent2"/>
                </a:solidFill>
              </a:rPr>
              <a:t>генеральный директор,</a:t>
            </a:r>
          </a:p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ru-RU" altLang="ru-RU" b="1" i="1" dirty="0">
                <a:solidFill>
                  <a:schemeClr val="accent2"/>
                </a:solidFill>
              </a:rPr>
              <a:t>ООО «Рога и копыта»</a:t>
            </a:r>
            <a:r>
              <a:rPr lang="en-US" altLang="ru-RU" b="1" i="1" dirty="0">
                <a:solidFill>
                  <a:schemeClr val="accent2"/>
                </a:solidFill>
              </a:rPr>
              <a:t>,</a:t>
            </a:r>
          </a:p>
          <a:p>
            <a:pPr eaLnBrk="0" hangingPunct="0">
              <a:buFont typeface="Wingdings" panose="05000000000000000000" pitchFamily="2" charset="2"/>
              <a:buNone/>
            </a:pPr>
            <a:r>
              <a:rPr lang="ru-RU" altLang="ru-RU" b="1" i="1" dirty="0">
                <a:solidFill>
                  <a:schemeClr val="accent2"/>
                </a:solidFill>
              </a:rPr>
              <a:t>Санкт-Петербург, ул. </a:t>
            </a:r>
            <a:r>
              <a:rPr lang="ru-RU" altLang="ru-RU" b="1" i="1" dirty="0" err="1">
                <a:solidFill>
                  <a:schemeClr val="accent2"/>
                </a:solidFill>
              </a:rPr>
              <a:t>Рогокопытная</a:t>
            </a:r>
            <a:r>
              <a:rPr lang="ru-RU" altLang="ru-RU" b="1" i="1" dirty="0">
                <a:solidFill>
                  <a:schemeClr val="accent2"/>
                </a:solidFill>
              </a:rPr>
              <a:t>, 2</a:t>
            </a:r>
          </a:p>
          <a:p>
            <a:pPr eaLnBrk="0" hangingPunct="0">
              <a:buFont typeface="Wingdings" panose="05000000000000000000" pitchFamily="2" charset="2"/>
              <a:buNone/>
            </a:pPr>
            <a:r>
              <a:rPr lang="ru-RU" altLang="ru-RU" b="1" i="1" dirty="0">
                <a:solidFill>
                  <a:schemeClr val="accent2"/>
                </a:solidFill>
              </a:rPr>
              <a:t>тел. +7 (812) 111-22-33</a:t>
            </a:r>
          </a:p>
          <a:p>
            <a:pPr eaLnBrk="0" hangingPunct="0">
              <a:buFont typeface="Wingdings" panose="05000000000000000000" pitchFamily="2" charset="2"/>
              <a:buNone/>
            </a:pPr>
            <a:r>
              <a:rPr lang="ru-RU" altLang="ru-RU" b="1" i="1" dirty="0">
                <a:solidFill>
                  <a:schemeClr val="accent2"/>
                </a:solidFill>
              </a:rPr>
              <a:t>факс +7 (812) 111-22-34</a:t>
            </a:r>
          </a:p>
          <a:p>
            <a:pPr eaLnBrk="0" hangingPunct="0">
              <a:buFont typeface="Wingdings" panose="05000000000000000000" pitchFamily="2" charset="2"/>
              <a:buNone/>
            </a:pPr>
            <a:r>
              <a:rPr lang="en-US" altLang="ru-RU" b="1" i="1" dirty="0">
                <a:solidFill>
                  <a:schemeClr val="accent2"/>
                </a:solidFill>
              </a:rPr>
              <a:t>http://rogakopyta.ru</a:t>
            </a:r>
            <a:endParaRPr lang="ru-RU" altLang="ru-RU" b="1" i="1" dirty="0">
              <a:solidFill>
                <a:schemeClr val="accent2"/>
              </a:solidFill>
            </a:endParaRPr>
          </a:p>
        </p:txBody>
      </p:sp>
      <p:sp>
        <p:nvSpPr>
          <p:cNvPr id="242699" name="AutoShape 11"/>
          <p:cNvSpPr>
            <a:spLocks noChangeArrowheads="1"/>
          </p:cNvSpPr>
          <p:nvPr/>
        </p:nvSpPr>
        <p:spPr bwMode="auto">
          <a:xfrm>
            <a:off x="5195888" y="3028951"/>
            <a:ext cx="1833562" cy="408623"/>
          </a:xfrm>
          <a:prstGeom prst="wedgeRoundRectCallout">
            <a:avLst>
              <a:gd name="adj1" fmla="val -98227"/>
              <a:gd name="adj2" fmla="val 18981"/>
              <a:gd name="adj3" fmla="val 16667"/>
            </a:avLst>
          </a:prstGeom>
          <a:solidFill>
            <a:srgbClr val="EAEAEA"/>
          </a:solidFill>
          <a:ln>
            <a:noFill/>
          </a:ln>
          <a:effectLst>
            <a:outerShdw dist="40161" dir="4293903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54000" rIns="18000">
            <a:spAutoFit/>
          </a:bodyPr>
          <a:lstStyle/>
          <a:p>
            <a:pPr algn="ctr"/>
            <a:r>
              <a:rPr lang="ru-RU" altLang="ru-RU"/>
              <a:t>приветствие</a:t>
            </a:r>
          </a:p>
        </p:txBody>
      </p:sp>
      <p:sp>
        <p:nvSpPr>
          <p:cNvPr id="242700" name="AutoShape 12"/>
          <p:cNvSpPr>
            <a:spLocks noChangeArrowheads="1"/>
          </p:cNvSpPr>
          <p:nvPr/>
        </p:nvSpPr>
        <p:spPr bwMode="auto">
          <a:xfrm>
            <a:off x="6605588" y="3513139"/>
            <a:ext cx="1898650" cy="408623"/>
          </a:xfrm>
          <a:prstGeom prst="wedgeRoundRectCallout">
            <a:avLst>
              <a:gd name="adj1" fmla="val -98329"/>
              <a:gd name="adj2" fmla="val -6329"/>
              <a:gd name="adj3" fmla="val 16667"/>
            </a:avLst>
          </a:prstGeom>
          <a:solidFill>
            <a:srgbClr val="EAEAEA"/>
          </a:solidFill>
          <a:ln>
            <a:noFill/>
          </a:ln>
          <a:effectLst>
            <a:outerShdw dist="40161" dir="4293903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54000" rIns="18000">
            <a:spAutoFit/>
          </a:bodyPr>
          <a:lstStyle/>
          <a:p>
            <a:pPr algn="ctr"/>
            <a:r>
              <a:rPr lang="ru-RU" altLang="ru-RU"/>
              <a:t>основной текст</a:t>
            </a:r>
          </a:p>
        </p:txBody>
      </p:sp>
      <p:sp>
        <p:nvSpPr>
          <p:cNvPr id="242701" name="AutoShape 13"/>
          <p:cNvSpPr>
            <a:spLocks noChangeArrowheads="1"/>
          </p:cNvSpPr>
          <p:nvPr/>
        </p:nvSpPr>
        <p:spPr bwMode="auto">
          <a:xfrm>
            <a:off x="4864101" y="3932239"/>
            <a:ext cx="1127125" cy="408623"/>
          </a:xfrm>
          <a:prstGeom prst="wedgeRoundRectCallout">
            <a:avLst>
              <a:gd name="adj1" fmla="val -96199"/>
              <a:gd name="adj2" fmla="val 67144"/>
              <a:gd name="adj3" fmla="val 16667"/>
            </a:avLst>
          </a:prstGeom>
          <a:solidFill>
            <a:srgbClr val="EAEAEA"/>
          </a:solidFill>
          <a:ln>
            <a:noFill/>
          </a:ln>
          <a:effectLst>
            <a:outerShdw dist="40161" dir="4293903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54000" rIns="18000">
            <a:spAutoFit/>
          </a:bodyPr>
          <a:lstStyle/>
          <a:p>
            <a:pPr algn="ctr"/>
            <a:r>
              <a:rPr lang="ru-RU" altLang="ru-RU"/>
              <a:t>подпись</a:t>
            </a:r>
          </a:p>
        </p:txBody>
      </p:sp>
      <p:sp>
        <p:nvSpPr>
          <p:cNvPr id="242702" name="AutoShape 14"/>
          <p:cNvSpPr>
            <a:spLocks noChangeArrowheads="1"/>
          </p:cNvSpPr>
          <p:nvPr/>
        </p:nvSpPr>
        <p:spPr bwMode="auto">
          <a:xfrm>
            <a:off x="4953001" y="5870576"/>
            <a:ext cx="1998663" cy="408623"/>
          </a:xfrm>
          <a:prstGeom prst="wedgeRoundRectCallout">
            <a:avLst>
              <a:gd name="adj1" fmla="val -68981"/>
              <a:gd name="adj2" fmla="val -53250"/>
              <a:gd name="adj3" fmla="val 16667"/>
            </a:avLst>
          </a:prstGeom>
          <a:solidFill>
            <a:srgbClr val="EAEAEA"/>
          </a:solidFill>
          <a:ln>
            <a:noFill/>
          </a:ln>
          <a:effectLst>
            <a:outerShdw dist="40161" dir="4293903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54000" rIns="18000">
            <a:spAutoFit/>
          </a:bodyPr>
          <a:lstStyle/>
          <a:p>
            <a:pPr algn="ctr"/>
            <a:r>
              <a:rPr lang="ru-RU" altLang="ru-RU"/>
              <a:t>реквизиты фирмы</a:t>
            </a:r>
          </a:p>
        </p:txBody>
      </p:sp>
      <p:grpSp>
        <p:nvGrpSpPr>
          <p:cNvPr id="242706" name="Group 18"/>
          <p:cNvGrpSpPr>
            <a:grpSpLocks/>
          </p:cNvGrpSpPr>
          <p:nvPr/>
        </p:nvGrpSpPr>
        <p:grpSpPr bwMode="auto">
          <a:xfrm>
            <a:off x="7219950" y="3997325"/>
            <a:ext cx="3181350" cy="2636838"/>
            <a:chOff x="3588" y="2518"/>
            <a:chExt cx="2004" cy="1661"/>
          </a:xfrm>
        </p:grpSpPr>
        <p:sp>
          <p:nvSpPr>
            <p:cNvPr id="242703" name="Text Box 15"/>
            <p:cNvSpPr txBox="1">
              <a:spLocks noChangeArrowheads="1"/>
            </p:cNvSpPr>
            <p:nvPr/>
          </p:nvSpPr>
          <p:spPr bwMode="auto">
            <a:xfrm>
              <a:off x="3692" y="3158"/>
              <a:ext cx="1900" cy="102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tabLst>
                  <a:tab pos="2600325" algn="l"/>
                  <a:tab pos="30511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15963" indent="-352425">
                <a:tabLst>
                  <a:tab pos="2600325" algn="l"/>
                  <a:tab pos="30511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69988">
                <a:tabLst>
                  <a:tab pos="2600325" algn="l"/>
                  <a:tab pos="30511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2600325" algn="l"/>
                  <a:tab pos="30511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2600325" algn="l"/>
                  <a:tab pos="30511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2600325" algn="l"/>
                  <a:tab pos="30511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2600325" algn="l"/>
                  <a:tab pos="30511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2600325" algn="l"/>
                  <a:tab pos="30511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2600325" algn="l"/>
                  <a:tab pos="30511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hangingPunct="0">
                <a:buFont typeface="Wingdings" panose="05000000000000000000" pitchFamily="2" charset="2"/>
                <a:buNone/>
              </a:pPr>
              <a:endParaRPr lang="ru-RU" altLang="ru-RU" sz="2000" b="1"/>
            </a:p>
          </p:txBody>
        </p:sp>
        <p:sp>
          <p:nvSpPr>
            <p:cNvPr id="242704" name="AutoShape 16"/>
            <p:cNvSpPr>
              <a:spLocks noChangeArrowheads="1"/>
            </p:cNvSpPr>
            <p:nvPr/>
          </p:nvSpPr>
          <p:spPr bwMode="auto">
            <a:xfrm>
              <a:off x="3588" y="2518"/>
              <a:ext cx="1994" cy="450"/>
            </a:xfrm>
            <a:prstGeom prst="wedgeRoundRectCallout">
              <a:avLst>
                <a:gd name="adj1" fmla="val -30190"/>
                <a:gd name="adj2" fmla="val 99190"/>
                <a:gd name="adj3" fmla="val 16667"/>
              </a:avLst>
            </a:prstGeom>
            <a:solidFill>
              <a:srgbClr val="EAEAEA"/>
            </a:solidFill>
            <a:ln>
              <a:noFill/>
            </a:ln>
            <a:effectLst>
              <a:outerShdw dist="40161" dir="4293903" algn="ctr" rotWithShape="0">
                <a:schemeClr val="bg2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54000" rIns="18000">
              <a:spAutoFit/>
            </a:bodyPr>
            <a:lstStyle/>
            <a:p>
              <a:pPr algn="ctr"/>
              <a:r>
                <a:rPr lang="ru-RU" altLang="ru-RU"/>
                <a:t>присоединенные файлы</a:t>
              </a:r>
            </a:p>
            <a:p>
              <a:pPr algn="ctr"/>
              <a:r>
                <a:rPr lang="ru-RU" altLang="ru-RU"/>
                <a:t>(</a:t>
              </a:r>
              <a:r>
                <a:rPr lang="en-US" altLang="ru-RU"/>
                <a:t>attachments</a:t>
              </a:r>
              <a:r>
                <a:rPr lang="ru-RU" altLang="ru-RU"/>
                <a:t>)</a:t>
              </a:r>
            </a:p>
          </p:txBody>
        </p:sp>
        <p:pic>
          <p:nvPicPr>
            <p:cNvPr id="242705" name="Picture 17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800080"/>
                </a:clrFrom>
                <a:clrTo>
                  <a:srgbClr val="80008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4" y="3265"/>
              <a:ext cx="1641" cy="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67263" y="28293"/>
            <a:ext cx="7320872" cy="909292"/>
          </a:xfrm>
        </p:spPr>
        <p:txBody>
          <a:bodyPr>
            <a:normAutofit fontScale="90000"/>
          </a:bodyPr>
          <a:lstStyle/>
          <a:p>
            <a:r>
              <a:rPr lang="ru-RU" altLang="ru-RU" dirty="0" smtClean="0"/>
              <a:t>СООБЩЕНИЕ ЭЛЕКТРОННОЙ ПОЧТЫ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5158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269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42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426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42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426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426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426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426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426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426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426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426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426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426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426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42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426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2426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42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426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2426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242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242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2426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2426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2426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24269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24269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24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692" grpId="0" build="p" animBg="1"/>
      <p:bldP spid="242694" grpId="0" build="p"/>
      <p:bldP spid="242695" grpId="0" animBg="1"/>
      <p:bldP spid="242696" grpId="0" build="p"/>
      <p:bldP spid="242699" grpId="0" animBg="1"/>
      <p:bldP spid="242700" grpId="0" animBg="1"/>
      <p:bldP spid="242701" grpId="0" animBg="1"/>
      <p:bldP spid="24270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Line 2"/>
          <p:cNvSpPr>
            <a:spLocks noChangeShapeType="1"/>
          </p:cNvSpPr>
          <p:nvPr/>
        </p:nvSpPr>
        <p:spPr bwMode="auto">
          <a:xfrm>
            <a:off x="1900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44740" name="Text Box 4"/>
          <p:cNvSpPr txBox="1">
            <a:spLocks noChangeArrowheads="1"/>
          </p:cNvSpPr>
          <p:nvPr/>
        </p:nvSpPr>
        <p:spPr bwMode="auto">
          <a:xfrm>
            <a:off x="1925638" y="936625"/>
            <a:ext cx="8482012" cy="4487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0850" indent="-4508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90600" indent="-360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99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en-US" altLang="ru-RU" sz="2400" b="1" i="1" dirty="0">
                <a:solidFill>
                  <a:schemeClr val="accent2"/>
                </a:solidFill>
              </a:rPr>
              <a:t>Outlook Express</a:t>
            </a:r>
            <a:r>
              <a:rPr lang="en-US" altLang="ru-RU" sz="2400" b="1" dirty="0"/>
              <a:t> – </a:t>
            </a:r>
            <a:r>
              <a:rPr lang="ru-RU" altLang="ru-RU" sz="2400" dirty="0"/>
              <a:t>в составе </a:t>
            </a:r>
            <a:r>
              <a:rPr lang="en-US" altLang="ru-RU" sz="2400" i="1" dirty="0"/>
              <a:t>Windows</a:t>
            </a: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en-US" altLang="ru-RU" sz="2400" b="1" i="1" dirty="0">
                <a:solidFill>
                  <a:schemeClr val="accent2"/>
                </a:solidFill>
              </a:rPr>
              <a:t>Outlook</a:t>
            </a:r>
            <a:r>
              <a:rPr lang="en-US" altLang="ru-RU" sz="2400" b="1" dirty="0"/>
              <a:t> – </a:t>
            </a:r>
            <a:r>
              <a:rPr lang="ru-RU" altLang="ru-RU" sz="2400" dirty="0"/>
              <a:t>в составе </a:t>
            </a:r>
            <a:r>
              <a:rPr lang="en-US" altLang="ru-RU" sz="2400" i="1" dirty="0"/>
              <a:t>Microsoft Office</a:t>
            </a: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en-US" altLang="ru-RU" sz="2400" b="1" i="1" dirty="0" err="1">
                <a:solidFill>
                  <a:schemeClr val="accent2"/>
                </a:solidFill>
              </a:rPr>
              <a:t>TheBat</a:t>
            </a:r>
            <a:r>
              <a:rPr lang="en-US" altLang="ru-RU" sz="2400" b="1" dirty="0"/>
              <a:t> </a:t>
            </a:r>
            <a:r>
              <a:rPr lang="ru-RU" altLang="ru-RU" sz="2400" b="1" dirty="0"/>
              <a:t> (</a:t>
            </a:r>
            <a:r>
              <a:rPr lang="en-US" altLang="ru-RU" sz="2400" b="1" dirty="0">
                <a:hlinkClick r:id="rId3"/>
              </a:rPr>
              <a:t>http://www.ritlabs.com</a:t>
            </a:r>
            <a:r>
              <a:rPr lang="ru-RU" altLang="ru-RU" sz="2400" b="1" dirty="0"/>
              <a:t>)</a:t>
            </a:r>
            <a:endParaRPr lang="en-US" altLang="ru-RU" sz="2400" b="1" dirty="0"/>
          </a:p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ru-RU" altLang="ru-RU" sz="2400" b="1" dirty="0">
                <a:solidFill>
                  <a:schemeClr val="accent3">
                    <a:lumMod val="50000"/>
                  </a:schemeClr>
                </a:solidFill>
              </a:rPr>
              <a:t>Возможности:</a:t>
            </a:r>
          </a:p>
          <a:p>
            <a:pPr lvl="1" eaLnBrk="0" hangingPunct="0">
              <a:buFont typeface="Wingdings" panose="05000000000000000000" pitchFamily="2" charset="2"/>
              <a:buChar char="§"/>
            </a:pPr>
            <a:r>
              <a:rPr lang="ru-RU" altLang="ru-RU" sz="2400" dirty="0"/>
              <a:t>создание сообщений, присоединение файлов</a:t>
            </a:r>
          </a:p>
          <a:p>
            <a:pPr lvl="1" eaLnBrk="0" hangingPunct="0">
              <a:buFont typeface="Wingdings" panose="05000000000000000000" pitchFamily="2" charset="2"/>
              <a:buChar char="§"/>
            </a:pPr>
            <a:r>
              <a:rPr lang="ru-RU" altLang="ru-RU" sz="2400" dirty="0"/>
              <a:t>прием и отправка сообщений</a:t>
            </a:r>
          </a:p>
          <a:p>
            <a:pPr lvl="1" eaLnBrk="0" hangingPunct="0">
              <a:buFont typeface="Wingdings" panose="05000000000000000000" pitchFamily="2" charset="2"/>
              <a:buChar char="§"/>
            </a:pPr>
            <a:r>
              <a:rPr lang="ru-RU" altLang="ru-RU" sz="2400" dirty="0"/>
              <a:t>пересылка сообщений (</a:t>
            </a:r>
            <a:r>
              <a:rPr lang="en-US" altLang="ru-RU" sz="2400" i="1" dirty="0"/>
              <a:t>forward</a:t>
            </a:r>
            <a:r>
              <a:rPr lang="ru-RU" altLang="ru-RU" sz="2400" dirty="0"/>
              <a:t>)</a:t>
            </a:r>
          </a:p>
          <a:p>
            <a:pPr lvl="1" eaLnBrk="0" hangingPunct="0">
              <a:buFont typeface="Wingdings" panose="05000000000000000000" pitchFamily="2" charset="2"/>
              <a:buChar char="§"/>
            </a:pPr>
            <a:r>
              <a:rPr lang="ru-RU" altLang="ru-RU" sz="2400" dirty="0"/>
              <a:t>автоматическая проверка почты через заданный интервал</a:t>
            </a:r>
          </a:p>
          <a:p>
            <a:pPr lvl="1" eaLnBrk="0" hangingPunct="0">
              <a:buFont typeface="Wingdings" panose="05000000000000000000" pitchFamily="2" charset="2"/>
              <a:buChar char="§"/>
            </a:pPr>
            <a:r>
              <a:rPr lang="ru-RU" altLang="ru-RU" sz="2400" dirty="0"/>
              <a:t>адресная книга</a:t>
            </a:r>
            <a:r>
              <a:rPr lang="en-US" altLang="ru-RU" sz="2400" dirty="0"/>
              <a:t> (</a:t>
            </a:r>
            <a:r>
              <a:rPr lang="ru-RU" altLang="ru-RU" sz="2400" dirty="0"/>
              <a:t>список контактов</a:t>
            </a:r>
            <a:r>
              <a:rPr lang="en-US" altLang="ru-RU" sz="2400" dirty="0"/>
              <a:t>)</a:t>
            </a:r>
            <a:endParaRPr lang="ru-RU" altLang="ru-RU" sz="2400" dirty="0"/>
          </a:p>
          <a:p>
            <a:pPr lvl="1" eaLnBrk="0" hangingPunct="0">
              <a:buFont typeface="Wingdings" panose="05000000000000000000" pitchFamily="2" charset="2"/>
              <a:buChar char="§"/>
            </a:pPr>
            <a:r>
              <a:rPr lang="ru-RU" altLang="ru-RU" sz="2400" dirty="0"/>
              <a:t>сортировка сообщений по папкам</a:t>
            </a:r>
          </a:p>
        </p:txBody>
      </p:sp>
      <p:grpSp>
        <p:nvGrpSpPr>
          <p:cNvPr id="244741" name="Group 5"/>
          <p:cNvGrpSpPr>
            <a:grpSpLocks/>
          </p:cNvGrpSpPr>
          <p:nvPr/>
        </p:nvGrpSpPr>
        <p:grpSpPr bwMode="auto">
          <a:xfrm>
            <a:off x="2112964" y="5499103"/>
            <a:ext cx="7793037" cy="936626"/>
            <a:chOff x="448" y="3616"/>
            <a:chExt cx="4909" cy="590"/>
          </a:xfrm>
        </p:grpSpPr>
        <p:sp>
          <p:nvSpPr>
            <p:cNvPr id="244742" name="Text Box 6"/>
            <p:cNvSpPr txBox="1">
              <a:spLocks noChangeArrowheads="1"/>
            </p:cNvSpPr>
            <p:nvPr/>
          </p:nvSpPr>
          <p:spPr bwMode="auto">
            <a:xfrm>
              <a:off x="742" y="3683"/>
              <a:ext cx="4615" cy="523"/>
            </a:xfrm>
            <a:prstGeom prst="rect">
              <a:avLst/>
            </a:prstGeom>
            <a:solidFill>
              <a:srgbClr val="D1D1FF"/>
            </a:solidFill>
            <a:ln>
              <a:noFill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25400">
                  <a:solidFill>
                    <a:srgbClr val="00008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ru-RU" altLang="ru-RU" sz="2400" b="1"/>
                <a:t>   На многих серверах можно работать с  </a:t>
              </a:r>
              <a:br>
                <a:rPr lang="ru-RU" altLang="ru-RU" sz="2400" b="1"/>
              </a:br>
              <a:r>
                <a:rPr lang="ru-RU" altLang="ru-RU" sz="2400" b="1"/>
                <a:t>   почтой через </a:t>
              </a:r>
              <a:r>
                <a:rPr lang="en-US" altLang="ru-RU" sz="2400" b="1" i="1"/>
                <a:t>Web</a:t>
              </a:r>
              <a:r>
                <a:rPr lang="en-US" altLang="ru-RU" sz="2400" b="1"/>
                <a:t>-</a:t>
              </a:r>
              <a:r>
                <a:rPr lang="ru-RU" altLang="ru-RU" sz="2400" b="1"/>
                <a:t>сайт (</a:t>
              </a:r>
              <a:r>
                <a:rPr lang="en-US" altLang="ru-RU" sz="2400" b="1" i="1"/>
                <a:t>Web-</a:t>
              </a:r>
              <a:r>
                <a:rPr lang="ru-RU" altLang="ru-RU" sz="2400" b="1"/>
                <a:t>интерфейс)</a:t>
              </a:r>
              <a:r>
                <a:rPr lang="en-US" altLang="ru-RU" sz="2400" b="1"/>
                <a:t>!</a:t>
              </a:r>
              <a:endParaRPr lang="ru-RU" altLang="ru-RU" sz="2400" b="1"/>
            </a:p>
          </p:txBody>
        </p:sp>
        <p:sp>
          <p:nvSpPr>
            <p:cNvPr id="244743" name="Oval 7"/>
            <p:cNvSpPr>
              <a:spLocks noChangeArrowheads="1"/>
            </p:cNvSpPr>
            <p:nvPr/>
          </p:nvSpPr>
          <p:spPr bwMode="auto">
            <a:xfrm>
              <a:off x="448" y="3616"/>
              <a:ext cx="409" cy="418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 eaLnBrk="0" hangingPunct="0"/>
              <a:r>
                <a:rPr lang="ru-RU" altLang="ru-RU" sz="4400" b="1">
                  <a:solidFill>
                    <a:schemeClr val="bg1"/>
                  </a:solidFill>
                  <a:latin typeface="Arial Black" panose="020B0A04020102020204" pitchFamily="34" charset="0"/>
                </a:rPr>
                <a:t>!</a:t>
              </a:r>
            </a:p>
          </p:txBody>
        </p: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40070" y="27333"/>
            <a:ext cx="5975465" cy="909292"/>
          </a:xfrm>
        </p:spPr>
        <p:txBody>
          <a:bodyPr>
            <a:normAutofit/>
          </a:bodyPr>
          <a:lstStyle/>
          <a:p>
            <a:r>
              <a:rPr lang="ru-RU" altLang="ru-RU" sz="4000" dirty="0" smtClean="0"/>
              <a:t>ПОЧТОВЫЕ ПРОГРАММЫ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3487113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4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47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447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447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447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447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447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447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447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447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44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40" grpId="0" build="p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Line 2"/>
          <p:cNvSpPr>
            <a:spLocks noChangeShapeType="1"/>
          </p:cNvSpPr>
          <p:nvPr/>
        </p:nvSpPr>
        <p:spPr bwMode="auto">
          <a:xfrm>
            <a:off x="1900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46788" name="Text Box 4"/>
          <p:cNvSpPr txBox="1">
            <a:spLocks noChangeArrowheads="1"/>
          </p:cNvSpPr>
          <p:nvPr/>
        </p:nvSpPr>
        <p:spPr bwMode="auto">
          <a:xfrm>
            <a:off x="1925638" y="842964"/>
            <a:ext cx="4633912" cy="332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0850" indent="-4508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90600" indent="-360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99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ru-RU" altLang="ru-RU" sz="2000" b="1" dirty="0">
                <a:solidFill>
                  <a:schemeClr val="accent3">
                    <a:lumMod val="50000"/>
                  </a:schemeClr>
                </a:solidFill>
              </a:rPr>
              <a:t>Телеконференции (конференции, группы новостей)</a:t>
            </a:r>
            <a:r>
              <a:rPr lang="en-US" altLang="ru-RU" sz="2000" b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altLang="ru-RU" sz="2000" b="1" dirty="0"/>
              <a:t>– </a:t>
            </a:r>
            <a:r>
              <a:rPr lang="ru-RU" altLang="ru-RU" sz="2000" dirty="0"/>
              <a:t>это дискуссии в форме обмена сообщениями. </a:t>
            </a:r>
            <a:endParaRPr lang="en-US" altLang="ru-RU" sz="2000" dirty="0"/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ru-RU" altLang="ru-RU" sz="2000" b="1" dirty="0">
                <a:solidFill>
                  <a:schemeClr val="accent3">
                    <a:lumMod val="50000"/>
                  </a:schemeClr>
                </a:solidFill>
              </a:rPr>
              <a:t>Модератор (администратор</a:t>
            </a:r>
            <a:r>
              <a:rPr lang="ru-RU" altLang="ru-RU" sz="2000" b="1" dirty="0">
                <a:solidFill>
                  <a:schemeClr val="accent2"/>
                </a:solidFill>
              </a:rPr>
              <a:t>)</a:t>
            </a:r>
            <a:r>
              <a:rPr lang="ru-RU" altLang="ru-RU" sz="2000" dirty="0"/>
              <a:t> – </a:t>
            </a:r>
            <a:r>
              <a:rPr lang="ru-RU" altLang="ru-RU" dirty="0"/>
              <a:t>участник конференции, который имеет право удалять сообщения за:</a:t>
            </a:r>
            <a:endParaRPr lang="en-US" altLang="ru-RU" dirty="0"/>
          </a:p>
          <a:p>
            <a:pPr lvl="1" eaLnBrk="0" hangingPunct="0">
              <a:buFont typeface="Wingdings" panose="05000000000000000000" pitchFamily="2" charset="2"/>
              <a:buChar char="§"/>
            </a:pPr>
            <a:r>
              <a:rPr lang="en-US" altLang="ru-RU" i="1" dirty="0"/>
              <a:t>off</a:t>
            </a:r>
            <a:r>
              <a:rPr lang="ru-RU" altLang="ru-RU" i="1" dirty="0"/>
              <a:t>-</a:t>
            </a:r>
            <a:r>
              <a:rPr lang="en-US" altLang="ru-RU" i="1" dirty="0"/>
              <a:t>topic</a:t>
            </a:r>
            <a:r>
              <a:rPr lang="ru-RU" altLang="ru-RU" dirty="0"/>
              <a:t> (посторонние сообщения, реклама)</a:t>
            </a:r>
            <a:endParaRPr lang="en-US" altLang="ru-RU" i="1" dirty="0"/>
          </a:p>
          <a:p>
            <a:pPr lvl="1" eaLnBrk="0" hangingPunct="0">
              <a:buFont typeface="Wingdings" panose="05000000000000000000" pitchFamily="2" charset="2"/>
              <a:buChar char="§"/>
            </a:pPr>
            <a:r>
              <a:rPr lang="ru-RU" altLang="ru-RU" dirty="0"/>
              <a:t>оскорбление участников</a:t>
            </a:r>
          </a:p>
          <a:p>
            <a:pPr lvl="1" eaLnBrk="0" hangingPunct="0">
              <a:buFont typeface="Wingdings" panose="05000000000000000000" pitchFamily="2" charset="2"/>
              <a:buChar char="§"/>
            </a:pPr>
            <a:r>
              <a:rPr lang="ru-RU" altLang="ru-RU" dirty="0"/>
              <a:t>нецензурную брань</a:t>
            </a:r>
          </a:p>
        </p:txBody>
      </p:sp>
      <p:pic>
        <p:nvPicPr>
          <p:cNvPr id="24678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7825" y="1030289"/>
            <a:ext cx="3348038" cy="3716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6790" name="Text Box 6"/>
          <p:cNvSpPr txBox="1">
            <a:spLocks noChangeArrowheads="1"/>
          </p:cNvSpPr>
          <p:nvPr/>
        </p:nvSpPr>
        <p:spPr bwMode="auto">
          <a:xfrm>
            <a:off x="1998664" y="5072064"/>
            <a:ext cx="8027987" cy="152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0850" indent="-4508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90600" indent="-360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99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ru-RU" b="1" dirty="0">
                <a:solidFill>
                  <a:schemeClr val="accent3">
                    <a:lumMod val="50000"/>
                  </a:schemeClr>
                </a:solidFill>
              </a:rPr>
              <a:t>FAQ</a:t>
            </a:r>
            <a:r>
              <a:rPr lang="ru-RU" altLang="ru-RU" b="1" dirty="0">
                <a:solidFill>
                  <a:schemeClr val="accent3">
                    <a:lumMod val="50000"/>
                  </a:schemeClr>
                </a:solidFill>
              </a:rPr>
              <a:t> (</a:t>
            </a:r>
            <a:r>
              <a:rPr lang="en-US" altLang="ru-RU" b="1" i="1" dirty="0">
                <a:solidFill>
                  <a:schemeClr val="accent3">
                    <a:lumMod val="50000"/>
                  </a:schemeClr>
                </a:solidFill>
              </a:rPr>
              <a:t>Frequently Asked Questions</a:t>
            </a:r>
            <a:r>
              <a:rPr lang="ru-RU" altLang="ru-RU" b="1" dirty="0">
                <a:solidFill>
                  <a:schemeClr val="accent3">
                    <a:lumMod val="50000"/>
                  </a:schemeClr>
                </a:solidFill>
              </a:rPr>
              <a:t>)</a:t>
            </a:r>
            <a:endParaRPr lang="en-US" altLang="ru-RU" b="1" dirty="0">
              <a:solidFill>
                <a:schemeClr val="accent3">
                  <a:lumMod val="50000"/>
                </a:schemeClr>
              </a:solidFill>
            </a:endParaRPr>
          </a:p>
          <a:p>
            <a:pPr eaLnBrk="0" hangingPunct="0">
              <a:buFont typeface="Wingdings" panose="05000000000000000000" pitchFamily="2" charset="2"/>
              <a:buNone/>
            </a:pPr>
            <a:r>
              <a:rPr lang="ru-RU" altLang="ru-RU" b="1" dirty="0" err="1">
                <a:solidFill>
                  <a:schemeClr val="accent3">
                    <a:lumMod val="50000"/>
                  </a:schemeClr>
                </a:solidFill>
              </a:rPr>
              <a:t>ЧаВо</a:t>
            </a:r>
            <a:r>
              <a:rPr lang="ru-RU" altLang="ru-RU" b="1" dirty="0">
                <a:solidFill>
                  <a:schemeClr val="accent3">
                    <a:lumMod val="50000"/>
                  </a:schemeClr>
                </a:solidFill>
              </a:rPr>
              <a:t> (</a:t>
            </a:r>
            <a:r>
              <a:rPr lang="ru-RU" altLang="ru-RU" b="1" i="1" dirty="0">
                <a:solidFill>
                  <a:schemeClr val="accent3">
                    <a:lumMod val="50000"/>
                  </a:schemeClr>
                </a:solidFill>
              </a:rPr>
              <a:t>Часто задаваемые вопросы</a:t>
            </a:r>
            <a:r>
              <a:rPr lang="ru-RU" altLang="ru-RU" b="1" dirty="0">
                <a:solidFill>
                  <a:schemeClr val="accent3">
                    <a:lumMod val="50000"/>
                  </a:schemeClr>
                </a:solidFill>
              </a:rPr>
              <a:t>)</a:t>
            </a:r>
            <a:r>
              <a:rPr lang="ru-RU" altLang="ru-RU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ru-RU" altLang="ru-RU" dirty="0"/>
              <a:t>– список самых частых вопросов новичков и ответы на них.</a:t>
            </a: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ru-RU" altLang="ru-RU" b="1" dirty="0" err="1">
                <a:solidFill>
                  <a:schemeClr val="accent3">
                    <a:lumMod val="50000"/>
                  </a:schemeClr>
                </a:solidFill>
              </a:rPr>
              <a:t>Тред</a:t>
            </a:r>
            <a:r>
              <a:rPr lang="ru-RU" altLang="ru-RU" b="1" dirty="0">
                <a:solidFill>
                  <a:schemeClr val="accent3">
                    <a:lumMod val="50000"/>
                  </a:schemeClr>
                </a:solidFill>
              </a:rPr>
              <a:t> (нить, </a:t>
            </a:r>
            <a:r>
              <a:rPr lang="en-US" altLang="ru-RU" b="1" i="1" dirty="0">
                <a:solidFill>
                  <a:schemeClr val="accent3">
                    <a:lumMod val="50000"/>
                  </a:schemeClr>
                </a:solidFill>
              </a:rPr>
              <a:t>thread</a:t>
            </a:r>
            <a:r>
              <a:rPr lang="ru-RU" altLang="ru-RU" b="1" dirty="0">
                <a:solidFill>
                  <a:schemeClr val="accent3">
                    <a:lumMod val="50000"/>
                  </a:schemeClr>
                </a:solidFill>
              </a:rPr>
              <a:t>)</a:t>
            </a:r>
            <a:r>
              <a:rPr lang="en-US" altLang="ru-RU" b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ru-RU" altLang="ru-RU" dirty="0"/>
              <a:t>цепочка связанных сообщений, которая содержит вопрос, ответы на него и комментарии.</a:t>
            </a:r>
            <a:endParaRPr lang="ru-RU" altLang="ru-RU" b="1" dirty="0">
              <a:solidFill>
                <a:schemeClr val="accent2"/>
              </a:solidFill>
            </a:endParaRPr>
          </a:p>
        </p:txBody>
      </p:sp>
      <p:sp>
        <p:nvSpPr>
          <p:cNvPr id="246791" name="AutoShape 7"/>
          <p:cNvSpPr>
            <a:spLocks noChangeArrowheads="1"/>
          </p:cNvSpPr>
          <p:nvPr/>
        </p:nvSpPr>
        <p:spPr bwMode="auto">
          <a:xfrm>
            <a:off x="6630988" y="869951"/>
            <a:ext cx="1238250" cy="408623"/>
          </a:xfrm>
          <a:prstGeom prst="wedgeRoundRectCallout">
            <a:avLst>
              <a:gd name="adj1" fmla="val -514"/>
              <a:gd name="adj2" fmla="val 184287"/>
              <a:gd name="adj3" fmla="val 16667"/>
            </a:avLst>
          </a:prstGeom>
          <a:solidFill>
            <a:srgbClr val="FFFFC1"/>
          </a:solidFill>
          <a:ln>
            <a:noFill/>
          </a:ln>
          <a:effectLst>
            <a:outerShdw dist="40161" dir="4293903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54000" rIns="18000">
            <a:spAutoFit/>
          </a:bodyPr>
          <a:lstStyle/>
          <a:p>
            <a:pPr algn="ctr"/>
            <a:r>
              <a:rPr lang="ru-RU" altLang="ru-RU"/>
              <a:t>аватар</a:t>
            </a:r>
          </a:p>
        </p:txBody>
      </p:sp>
      <p:sp>
        <p:nvSpPr>
          <p:cNvPr id="246792" name="AutoShape 8"/>
          <p:cNvSpPr>
            <a:spLocks noChangeArrowheads="1"/>
          </p:cNvSpPr>
          <p:nvPr/>
        </p:nvSpPr>
        <p:spPr bwMode="auto">
          <a:xfrm>
            <a:off x="8355013" y="860426"/>
            <a:ext cx="2057400" cy="408623"/>
          </a:xfrm>
          <a:prstGeom prst="wedgeRoundRectCallout">
            <a:avLst>
              <a:gd name="adj1" fmla="val -83486"/>
              <a:gd name="adj2" fmla="val 189157"/>
              <a:gd name="adj3" fmla="val 16667"/>
            </a:avLst>
          </a:prstGeom>
          <a:solidFill>
            <a:srgbClr val="FFFFC1"/>
          </a:solidFill>
          <a:ln>
            <a:noFill/>
          </a:ln>
          <a:effectLst>
            <a:outerShdw dist="40161" dir="4293903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54000" rIns="18000">
            <a:spAutoFit/>
          </a:bodyPr>
          <a:lstStyle/>
          <a:p>
            <a:pPr algn="ctr"/>
            <a:r>
              <a:rPr lang="ru-RU" altLang="ru-RU"/>
              <a:t>ник (псевдоним)</a:t>
            </a:r>
          </a:p>
        </p:txBody>
      </p:sp>
      <p:sp>
        <p:nvSpPr>
          <p:cNvPr id="246793" name="AutoShape 9"/>
          <p:cNvSpPr>
            <a:spLocks noChangeArrowheads="1"/>
          </p:cNvSpPr>
          <p:nvPr/>
        </p:nvSpPr>
        <p:spPr bwMode="auto">
          <a:xfrm>
            <a:off x="7997825" y="2520951"/>
            <a:ext cx="2057400" cy="408623"/>
          </a:xfrm>
          <a:prstGeom prst="wedgeRoundRectCallout">
            <a:avLst>
              <a:gd name="adj1" fmla="val -68829"/>
              <a:gd name="adj2" fmla="val 254491"/>
              <a:gd name="adj3" fmla="val 16667"/>
            </a:avLst>
          </a:prstGeom>
          <a:solidFill>
            <a:srgbClr val="FFFFC1"/>
          </a:solidFill>
          <a:ln>
            <a:noFill/>
          </a:ln>
          <a:effectLst>
            <a:outerShdw dist="40161" dir="4293903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54000" rIns="18000">
            <a:spAutoFit/>
          </a:bodyPr>
          <a:lstStyle/>
          <a:p>
            <a:pPr algn="ctr"/>
            <a:r>
              <a:rPr lang="ru-RU" altLang="ru-RU"/>
              <a:t>цитата</a:t>
            </a:r>
          </a:p>
        </p:txBody>
      </p:sp>
      <p:sp>
        <p:nvSpPr>
          <p:cNvPr id="246794" name="Rectangle 10"/>
          <p:cNvSpPr>
            <a:spLocks noChangeArrowheads="1"/>
          </p:cNvSpPr>
          <p:nvPr/>
        </p:nvSpPr>
        <p:spPr bwMode="auto">
          <a:xfrm>
            <a:off x="2008189" y="4395788"/>
            <a:ext cx="5259387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b="1" dirty="0">
                <a:solidFill>
                  <a:schemeClr val="accent3">
                    <a:lumMod val="50000"/>
                  </a:schemeClr>
                </a:solidFill>
              </a:rPr>
              <a:t>Ник</a:t>
            </a:r>
            <a:r>
              <a:rPr lang="ru-RU" altLang="ru-RU" dirty="0"/>
              <a:t> (англ. </a:t>
            </a:r>
            <a:r>
              <a:rPr lang="en-US" altLang="ru-RU" i="1" dirty="0"/>
              <a:t>nickname</a:t>
            </a:r>
            <a:r>
              <a:rPr lang="ru-RU" altLang="ru-RU" dirty="0"/>
              <a:t>)</a:t>
            </a:r>
            <a:r>
              <a:rPr lang="en-US" altLang="ru-RU" dirty="0"/>
              <a:t> – </a:t>
            </a:r>
            <a:r>
              <a:rPr lang="ru-RU" altLang="ru-RU" dirty="0"/>
              <a:t>прозвище, </a:t>
            </a:r>
            <a:br>
              <a:rPr lang="ru-RU" altLang="ru-RU" dirty="0"/>
            </a:br>
            <a:r>
              <a:rPr lang="ru-RU" altLang="ru-RU" dirty="0"/>
              <a:t>                                 псевдоним.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113421" y="70990"/>
            <a:ext cx="6994557" cy="909292"/>
          </a:xfrm>
        </p:spPr>
        <p:txBody>
          <a:bodyPr>
            <a:normAutofit/>
          </a:bodyPr>
          <a:lstStyle/>
          <a:p>
            <a:r>
              <a:rPr lang="ru-RU" altLang="ru-RU" dirty="0" smtClean="0"/>
              <a:t>ТЕЛЕКОНФЕРЕНЦИИ, ФОРУМЫ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6370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67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67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467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467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467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46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46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46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46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46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467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467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467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8" grpId="0" build="p" bldLvl="2" autoUpdateAnimBg="0"/>
      <p:bldP spid="246790" grpId="0" build="p" bldLvl="2" autoUpdateAnimBg="0"/>
      <p:bldP spid="246791" grpId="0" animBg="1"/>
      <p:bldP spid="246792" grpId="0" animBg="1"/>
      <p:bldP spid="246793" grpId="0" animBg="1"/>
      <p:bldP spid="24679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Line 2"/>
          <p:cNvSpPr>
            <a:spLocks noChangeShapeType="1"/>
          </p:cNvSpPr>
          <p:nvPr/>
        </p:nvSpPr>
        <p:spPr bwMode="auto">
          <a:xfrm>
            <a:off x="1900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50884" name="Text Box 4"/>
          <p:cNvSpPr txBox="1">
            <a:spLocks noChangeArrowheads="1"/>
          </p:cNvSpPr>
          <p:nvPr/>
        </p:nvSpPr>
        <p:spPr bwMode="auto">
          <a:xfrm>
            <a:off x="1925638" y="936626"/>
            <a:ext cx="84820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0850" indent="-4508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90600" indent="-360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99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ru-RU" altLang="ru-RU" sz="2400" b="1" dirty="0">
                <a:solidFill>
                  <a:schemeClr val="accent3">
                    <a:lumMod val="50000"/>
                  </a:schemeClr>
                </a:solidFill>
              </a:rPr>
              <a:t>Индексы</a:t>
            </a:r>
            <a:r>
              <a:rPr lang="en-US" altLang="ru-RU" sz="2400" b="1" dirty="0"/>
              <a:t> – </a:t>
            </a:r>
            <a:r>
              <a:rPr lang="ru-RU" altLang="ru-RU" sz="2400" dirty="0"/>
              <a:t>программы-роботы, которые постоянно обследуют Интернет и заполняют базы данных.</a:t>
            </a:r>
            <a:endParaRPr lang="ru-RU" altLang="ru-RU" sz="2200" dirty="0"/>
          </a:p>
        </p:txBody>
      </p:sp>
      <p:sp>
        <p:nvSpPr>
          <p:cNvPr id="250885" name="Text Box 5"/>
          <p:cNvSpPr txBox="1">
            <a:spLocks noChangeArrowheads="1"/>
          </p:cNvSpPr>
          <p:nvPr/>
        </p:nvSpPr>
        <p:spPr bwMode="auto">
          <a:xfrm>
            <a:off x="1978026" y="3394076"/>
            <a:ext cx="848201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0850" indent="-4508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90600" indent="-360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99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ru-RU" altLang="ru-RU" sz="2400" b="1" dirty="0">
                <a:solidFill>
                  <a:schemeClr val="accent3">
                    <a:lumMod val="50000"/>
                  </a:schemeClr>
                </a:solidFill>
              </a:rPr>
              <a:t>Каталоги </a:t>
            </a:r>
            <a:r>
              <a:rPr lang="ru-RU" altLang="ru-RU" sz="2400" dirty="0"/>
              <a:t>– базы данных, которые заполняются вручную людьми-экспертами (гидами).</a:t>
            </a:r>
            <a:endParaRPr lang="ru-RU" altLang="ru-RU" sz="2200" dirty="0"/>
          </a:p>
        </p:txBody>
      </p:sp>
      <p:grpSp>
        <p:nvGrpSpPr>
          <p:cNvPr id="250886" name="Group 6"/>
          <p:cNvGrpSpPr>
            <a:grpSpLocks noChangeAspect="1"/>
          </p:cNvGrpSpPr>
          <p:nvPr/>
        </p:nvGrpSpPr>
        <p:grpSpPr bwMode="auto">
          <a:xfrm>
            <a:off x="2362201" y="1771651"/>
            <a:ext cx="385763" cy="385763"/>
            <a:chOff x="2816" y="2458"/>
            <a:chExt cx="1728" cy="1728"/>
          </a:xfrm>
        </p:grpSpPr>
        <p:sp>
          <p:nvSpPr>
            <p:cNvPr id="250887" name="Oval 7"/>
            <p:cNvSpPr>
              <a:spLocks noChangeAspect="1" noChangeArrowheads="1"/>
            </p:cNvSpPr>
            <p:nvPr/>
          </p:nvSpPr>
          <p:spPr bwMode="auto">
            <a:xfrm>
              <a:off x="2816" y="2458"/>
              <a:ext cx="1728" cy="172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grpSp>
          <p:nvGrpSpPr>
            <p:cNvPr id="250888" name="Group 8"/>
            <p:cNvGrpSpPr>
              <a:grpSpLocks noChangeAspect="1"/>
            </p:cNvGrpSpPr>
            <p:nvPr/>
          </p:nvGrpSpPr>
          <p:grpSpPr bwMode="auto">
            <a:xfrm>
              <a:off x="3051" y="2667"/>
              <a:ext cx="1299" cy="1299"/>
              <a:chOff x="3051" y="2667"/>
              <a:chExt cx="1299" cy="1299"/>
            </a:xfrm>
          </p:grpSpPr>
          <p:sp>
            <p:nvSpPr>
              <p:cNvPr id="250889" name="Rectangle 9"/>
              <p:cNvSpPr>
                <a:spLocks noChangeAspect="1" noChangeArrowheads="1"/>
              </p:cNvSpPr>
              <p:nvPr/>
            </p:nvSpPr>
            <p:spPr bwMode="auto">
              <a:xfrm>
                <a:off x="3051" y="3105"/>
                <a:ext cx="1299" cy="42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250890" name="Rectangle 10"/>
              <p:cNvSpPr>
                <a:spLocks noChangeAspect="1" noChangeArrowheads="1"/>
              </p:cNvSpPr>
              <p:nvPr/>
            </p:nvSpPr>
            <p:spPr bwMode="auto">
              <a:xfrm rot="-5400000">
                <a:off x="3057" y="3105"/>
                <a:ext cx="1299" cy="42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</p:grpSp>
        <p:sp>
          <p:nvSpPr>
            <p:cNvPr id="250891" name="Freeform 11"/>
            <p:cNvSpPr>
              <a:spLocks noChangeAspect="1"/>
            </p:cNvSpPr>
            <p:nvPr/>
          </p:nvSpPr>
          <p:spPr bwMode="auto">
            <a:xfrm>
              <a:off x="3048" y="2664"/>
              <a:ext cx="1302" cy="1299"/>
            </a:xfrm>
            <a:custGeom>
              <a:avLst/>
              <a:gdLst>
                <a:gd name="T0" fmla="*/ 3 w 1302"/>
                <a:gd name="T1" fmla="*/ 438 h 1299"/>
                <a:gd name="T2" fmla="*/ 444 w 1302"/>
                <a:gd name="T3" fmla="*/ 438 h 1299"/>
                <a:gd name="T4" fmla="*/ 444 w 1302"/>
                <a:gd name="T5" fmla="*/ 0 h 1299"/>
                <a:gd name="T6" fmla="*/ 870 w 1302"/>
                <a:gd name="T7" fmla="*/ 0 h 1299"/>
                <a:gd name="T8" fmla="*/ 870 w 1302"/>
                <a:gd name="T9" fmla="*/ 441 h 1299"/>
                <a:gd name="T10" fmla="*/ 1302 w 1302"/>
                <a:gd name="T11" fmla="*/ 441 h 1299"/>
                <a:gd name="T12" fmla="*/ 1302 w 1302"/>
                <a:gd name="T13" fmla="*/ 864 h 1299"/>
                <a:gd name="T14" fmla="*/ 870 w 1302"/>
                <a:gd name="T15" fmla="*/ 864 h 1299"/>
                <a:gd name="T16" fmla="*/ 870 w 1302"/>
                <a:gd name="T17" fmla="*/ 1299 h 1299"/>
                <a:gd name="T18" fmla="*/ 447 w 1302"/>
                <a:gd name="T19" fmla="*/ 1299 h 1299"/>
                <a:gd name="T20" fmla="*/ 447 w 1302"/>
                <a:gd name="T21" fmla="*/ 867 h 1299"/>
                <a:gd name="T22" fmla="*/ 0 w 1302"/>
                <a:gd name="T23" fmla="*/ 867 h 1299"/>
                <a:gd name="T24" fmla="*/ 3 w 1302"/>
                <a:gd name="T25" fmla="*/ 438 h 1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02" h="1299">
                  <a:moveTo>
                    <a:pt x="3" y="438"/>
                  </a:moveTo>
                  <a:lnTo>
                    <a:pt x="444" y="438"/>
                  </a:lnTo>
                  <a:lnTo>
                    <a:pt x="444" y="0"/>
                  </a:lnTo>
                  <a:lnTo>
                    <a:pt x="870" y="0"/>
                  </a:lnTo>
                  <a:lnTo>
                    <a:pt x="870" y="441"/>
                  </a:lnTo>
                  <a:lnTo>
                    <a:pt x="1302" y="441"/>
                  </a:lnTo>
                  <a:lnTo>
                    <a:pt x="1302" y="864"/>
                  </a:lnTo>
                  <a:lnTo>
                    <a:pt x="870" y="864"/>
                  </a:lnTo>
                  <a:lnTo>
                    <a:pt x="870" y="1299"/>
                  </a:lnTo>
                  <a:lnTo>
                    <a:pt x="447" y="1299"/>
                  </a:lnTo>
                  <a:lnTo>
                    <a:pt x="447" y="867"/>
                  </a:lnTo>
                  <a:lnTo>
                    <a:pt x="0" y="867"/>
                  </a:lnTo>
                  <a:lnTo>
                    <a:pt x="3" y="438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50892" name="Rectangle 12"/>
          <p:cNvSpPr>
            <a:spLocks noChangeArrowheads="1"/>
          </p:cNvSpPr>
          <p:nvPr/>
        </p:nvSpPr>
        <p:spPr bwMode="auto">
          <a:xfrm>
            <a:off x="2833689" y="1817689"/>
            <a:ext cx="40544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2000"/>
              <a:t>выдают много ссылок</a:t>
            </a:r>
          </a:p>
        </p:txBody>
      </p:sp>
      <p:grpSp>
        <p:nvGrpSpPr>
          <p:cNvPr id="250893" name="Group 13"/>
          <p:cNvGrpSpPr>
            <a:grpSpLocks noChangeAspect="1"/>
          </p:cNvGrpSpPr>
          <p:nvPr/>
        </p:nvGrpSpPr>
        <p:grpSpPr bwMode="auto">
          <a:xfrm>
            <a:off x="2354264" y="2271714"/>
            <a:ext cx="395287" cy="395287"/>
            <a:chOff x="552" y="2523"/>
            <a:chExt cx="1728" cy="1728"/>
          </a:xfrm>
        </p:grpSpPr>
        <p:sp>
          <p:nvSpPr>
            <p:cNvPr id="250894" name="Oval 14"/>
            <p:cNvSpPr>
              <a:spLocks noChangeAspect="1" noChangeArrowheads="1"/>
            </p:cNvSpPr>
            <p:nvPr/>
          </p:nvSpPr>
          <p:spPr bwMode="auto">
            <a:xfrm>
              <a:off x="552" y="2523"/>
              <a:ext cx="1728" cy="172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50895" name="Rectangle 15"/>
            <p:cNvSpPr>
              <a:spLocks noChangeAspect="1" noChangeArrowheads="1"/>
            </p:cNvSpPr>
            <p:nvPr/>
          </p:nvSpPr>
          <p:spPr bwMode="auto">
            <a:xfrm>
              <a:off x="774" y="3183"/>
              <a:ext cx="1299" cy="4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</p:grpSp>
      <p:sp>
        <p:nvSpPr>
          <p:cNvPr id="250897" name="Rectangle 17"/>
          <p:cNvSpPr>
            <a:spLocks noChangeArrowheads="1"/>
          </p:cNvSpPr>
          <p:nvPr/>
        </p:nvSpPr>
        <p:spPr bwMode="auto">
          <a:xfrm>
            <a:off x="2822575" y="2293938"/>
            <a:ext cx="6929438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AutoNum type="arabicParenR"/>
            </a:pPr>
            <a:r>
              <a:rPr lang="ru-RU" altLang="ru-RU" sz="2000"/>
              <a:t>некоторые ссылки не соответствуют теме</a:t>
            </a:r>
          </a:p>
          <a:p>
            <a:pPr>
              <a:buFontTx/>
              <a:buAutoNum type="arabicParenR"/>
            </a:pPr>
            <a:r>
              <a:rPr lang="ru-RU" altLang="ru-RU" sz="2000"/>
              <a:t>сложно отобрать нужное</a:t>
            </a:r>
          </a:p>
        </p:txBody>
      </p:sp>
      <p:grpSp>
        <p:nvGrpSpPr>
          <p:cNvPr id="250898" name="Group 18"/>
          <p:cNvGrpSpPr>
            <a:grpSpLocks noChangeAspect="1"/>
          </p:cNvGrpSpPr>
          <p:nvPr/>
        </p:nvGrpSpPr>
        <p:grpSpPr bwMode="auto">
          <a:xfrm>
            <a:off x="2390776" y="4298951"/>
            <a:ext cx="385763" cy="385763"/>
            <a:chOff x="2816" y="2458"/>
            <a:chExt cx="1728" cy="1728"/>
          </a:xfrm>
        </p:grpSpPr>
        <p:sp>
          <p:nvSpPr>
            <p:cNvPr id="250899" name="Oval 19"/>
            <p:cNvSpPr>
              <a:spLocks noChangeAspect="1" noChangeArrowheads="1"/>
            </p:cNvSpPr>
            <p:nvPr/>
          </p:nvSpPr>
          <p:spPr bwMode="auto">
            <a:xfrm>
              <a:off x="2816" y="2458"/>
              <a:ext cx="1728" cy="172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grpSp>
          <p:nvGrpSpPr>
            <p:cNvPr id="250900" name="Group 20"/>
            <p:cNvGrpSpPr>
              <a:grpSpLocks noChangeAspect="1"/>
            </p:cNvGrpSpPr>
            <p:nvPr/>
          </p:nvGrpSpPr>
          <p:grpSpPr bwMode="auto">
            <a:xfrm>
              <a:off x="3051" y="2667"/>
              <a:ext cx="1299" cy="1299"/>
              <a:chOff x="3051" y="2667"/>
              <a:chExt cx="1299" cy="1299"/>
            </a:xfrm>
          </p:grpSpPr>
          <p:sp>
            <p:nvSpPr>
              <p:cNvPr id="250901" name="Rectangle 21"/>
              <p:cNvSpPr>
                <a:spLocks noChangeAspect="1" noChangeArrowheads="1"/>
              </p:cNvSpPr>
              <p:nvPr/>
            </p:nvSpPr>
            <p:spPr bwMode="auto">
              <a:xfrm>
                <a:off x="3051" y="3105"/>
                <a:ext cx="1299" cy="42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250902" name="Rectangle 22"/>
              <p:cNvSpPr>
                <a:spLocks noChangeAspect="1" noChangeArrowheads="1"/>
              </p:cNvSpPr>
              <p:nvPr/>
            </p:nvSpPr>
            <p:spPr bwMode="auto">
              <a:xfrm rot="-5400000">
                <a:off x="3057" y="3105"/>
                <a:ext cx="1299" cy="42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</p:grpSp>
        <p:sp>
          <p:nvSpPr>
            <p:cNvPr id="250903" name="Freeform 23"/>
            <p:cNvSpPr>
              <a:spLocks noChangeAspect="1"/>
            </p:cNvSpPr>
            <p:nvPr/>
          </p:nvSpPr>
          <p:spPr bwMode="auto">
            <a:xfrm>
              <a:off x="3048" y="2664"/>
              <a:ext cx="1302" cy="1299"/>
            </a:xfrm>
            <a:custGeom>
              <a:avLst/>
              <a:gdLst>
                <a:gd name="T0" fmla="*/ 3 w 1302"/>
                <a:gd name="T1" fmla="*/ 438 h 1299"/>
                <a:gd name="T2" fmla="*/ 444 w 1302"/>
                <a:gd name="T3" fmla="*/ 438 h 1299"/>
                <a:gd name="T4" fmla="*/ 444 w 1302"/>
                <a:gd name="T5" fmla="*/ 0 h 1299"/>
                <a:gd name="T6" fmla="*/ 870 w 1302"/>
                <a:gd name="T7" fmla="*/ 0 h 1299"/>
                <a:gd name="T8" fmla="*/ 870 w 1302"/>
                <a:gd name="T9" fmla="*/ 441 h 1299"/>
                <a:gd name="T10" fmla="*/ 1302 w 1302"/>
                <a:gd name="T11" fmla="*/ 441 h 1299"/>
                <a:gd name="T12" fmla="*/ 1302 w 1302"/>
                <a:gd name="T13" fmla="*/ 864 h 1299"/>
                <a:gd name="T14" fmla="*/ 870 w 1302"/>
                <a:gd name="T15" fmla="*/ 864 h 1299"/>
                <a:gd name="T16" fmla="*/ 870 w 1302"/>
                <a:gd name="T17" fmla="*/ 1299 h 1299"/>
                <a:gd name="T18" fmla="*/ 447 w 1302"/>
                <a:gd name="T19" fmla="*/ 1299 h 1299"/>
                <a:gd name="T20" fmla="*/ 447 w 1302"/>
                <a:gd name="T21" fmla="*/ 867 h 1299"/>
                <a:gd name="T22" fmla="*/ 0 w 1302"/>
                <a:gd name="T23" fmla="*/ 867 h 1299"/>
                <a:gd name="T24" fmla="*/ 3 w 1302"/>
                <a:gd name="T25" fmla="*/ 438 h 1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02" h="1299">
                  <a:moveTo>
                    <a:pt x="3" y="438"/>
                  </a:moveTo>
                  <a:lnTo>
                    <a:pt x="444" y="438"/>
                  </a:lnTo>
                  <a:lnTo>
                    <a:pt x="444" y="0"/>
                  </a:lnTo>
                  <a:lnTo>
                    <a:pt x="870" y="0"/>
                  </a:lnTo>
                  <a:lnTo>
                    <a:pt x="870" y="441"/>
                  </a:lnTo>
                  <a:lnTo>
                    <a:pt x="1302" y="441"/>
                  </a:lnTo>
                  <a:lnTo>
                    <a:pt x="1302" y="864"/>
                  </a:lnTo>
                  <a:lnTo>
                    <a:pt x="870" y="864"/>
                  </a:lnTo>
                  <a:lnTo>
                    <a:pt x="870" y="1299"/>
                  </a:lnTo>
                  <a:lnTo>
                    <a:pt x="447" y="1299"/>
                  </a:lnTo>
                  <a:lnTo>
                    <a:pt x="447" y="867"/>
                  </a:lnTo>
                  <a:lnTo>
                    <a:pt x="0" y="867"/>
                  </a:lnTo>
                  <a:lnTo>
                    <a:pt x="3" y="438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50904" name="Rectangle 24"/>
          <p:cNvSpPr>
            <a:spLocks noChangeArrowheads="1"/>
          </p:cNvSpPr>
          <p:nvPr/>
        </p:nvSpPr>
        <p:spPr bwMode="auto">
          <a:xfrm>
            <a:off x="2862264" y="4279900"/>
            <a:ext cx="537527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2000"/>
              <a:t>ссылки соответствуют рубрикам каталога</a:t>
            </a:r>
          </a:p>
        </p:txBody>
      </p:sp>
      <p:grpSp>
        <p:nvGrpSpPr>
          <p:cNvPr id="250905" name="Group 25"/>
          <p:cNvGrpSpPr>
            <a:grpSpLocks noChangeAspect="1"/>
          </p:cNvGrpSpPr>
          <p:nvPr/>
        </p:nvGrpSpPr>
        <p:grpSpPr bwMode="auto">
          <a:xfrm>
            <a:off x="2392364" y="4762500"/>
            <a:ext cx="395287" cy="395288"/>
            <a:chOff x="552" y="2523"/>
            <a:chExt cx="1728" cy="1728"/>
          </a:xfrm>
        </p:grpSpPr>
        <p:sp>
          <p:nvSpPr>
            <p:cNvPr id="250906" name="Oval 26"/>
            <p:cNvSpPr>
              <a:spLocks noChangeAspect="1" noChangeArrowheads="1"/>
            </p:cNvSpPr>
            <p:nvPr/>
          </p:nvSpPr>
          <p:spPr bwMode="auto">
            <a:xfrm>
              <a:off x="552" y="2523"/>
              <a:ext cx="1728" cy="172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50907" name="Rectangle 27"/>
            <p:cNvSpPr>
              <a:spLocks noChangeAspect="1" noChangeArrowheads="1"/>
            </p:cNvSpPr>
            <p:nvPr/>
          </p:nvSpPr>
          <p:spPr bwMode="auto">
            <a:xfrm>
              <a:off x="774" y="3183"/>
              <a:ext cx="1299" cy="4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</p:grpSp>
      <p:sp>
        <p:nvSpPr>
          <p:cNvPr id="250908" name="Rectangle 28"/>
          <p:cNvSpPr>
            <a:spLocks noChangeArrowheads="1"/>
          </p:cNvSpPr>
          <p:nvPr/>
        </p:nvSpPr>
        <p:spPr bwMode="auto">
          <a:xfrm>
            <a:off x="2879725" y="4783138"/>
            <a:ext cx="6929438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2000"/>
              <a:t>меньшее число ссылок</a:t>
            </a:r>
          </a:p>
        </p:txBody>
      </p:sp>
      <p:sp>
        <p:nvSpPr>
          <p:cNvPr id="250909" name="Rectangle 29"/>
          <p:cNvSpPr>
            <a:spLocks noChangeArrowheads="1"/>
          </p:cNvSpPr>
          <p:nvPr/>
        </p:nvSpPr>
        <p:spPr bwMode="auto">
          <a:xfrm>
            <a:off x="2597150" y="2878139"/>
            <a:ext cx="68936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ru-RU" sz="2400" b="1">
                <a:hlinkClick r:id="rId3"/>
              </a:rPr>
              <a:t>www.google.com</a:t>
            </a:r>
            <a:r>
              <a:rPr lang="en-US" altLang="ru-RU" sz="2400" b="1"/>
              <a:t>, </a:t>
            </a:r>
            <a:r>
              <a:rPr lang="en-US" altLang="ru-RU" sz="2400" b="1">
                <a:hlinkClick r:id="rId4"/>
              </a:rPr>
              <a:t>www.yandex.ru</a:t>
            </a:r>
            <a:r>
              <a:rPr lang="en-US" altLang="ru-RU" sz="2400" b="1"/>
              <a:t>, </a:t>
            </a:r>
            <a:r>
              <a:rPr lang="en-US" altLang="ru-RU" sz="2400" b="1">
                <a:hlinkClick r:id="rId5"/>
              </a:rPr>
              <a:t>www.rambler.ru</a:t>
            </a:r>
            <a:r>
              <a:rPr lang="en-US" altLang="ru-RU" sz="2400" b="1"/>
              <a:t> </a:t>
            </a:r>
            <a:endParaRPr lang="ru-RU" altLang="ru-RU" sz="2400" b="1"/>
          </a:p>
        </p:txBody>
      </p:sp>
      <p:sp>
        <p:nvSpPr>
          <p:cNvPr id="250910" name="Rectangle 30"/>
          <p:cNvSpPr>
            <a:spLocks noChangeArrowheads="1"/>
          </p:cNvSpPr>
          <p:nvPr/>
        </p:nvSpPr>
        <p:spPr bwMode="auto">
          <a:xfrm>
            <a:off x="2540001" y="5180014"/>
            <a:ext cx="639014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ru-RU" sz="2400" b="1">
                <a:hlinkClick r:id="rId6"/>
              </a:rPr>
              <a:t>www.yahoo.com</a:t>
            </a:r>
            <a:r>
              <a:rPr lang="en-US" altLang="ru-RU" sz="2400" b="1"/>
              <a:t>, </a:t>
            </a:r>
            <a:r>
              <a:rPr lang="en-US" altLang="ru-RU" sz="2400" b="1">
                <a:hlinkClick r:id="rId3"/>
              </a:rPr>
              <a:t>www.google.com</a:t>
            </a:r>
            <a:r>
              <a:rPr lang="ru-RU" altLang="ru-RU" sz="2400" b="1"/>
              <a:t>,</a:t>
            </a:r>
            <a:r>
              <a:rPr lang="en-US" altLang="ru-RU" sz="2400" b="1"/>
              <a:t> </a:t>
            </a:r>
            <a:r>
              <a:rPr lang="en-US" altLang="ru-RU" sz="2400" b="1">
                <a:hlinkClick r:id="rId7"/>
              </a:rPr>
              <a:t>list.mail.ru</a:t>
            </a:r>
            <a:r>
              <a:rPr lang="en-US" altLang="ru-RU" sz="2400" b="1"/>
              <a:t>, </a:t>
            </a:r>
            <a:r>
              <a:rPr lang="ru-RU" altLang="ru-RU" sz="2400" b="1"/>
              <a:t/>
            </a:r>
            <a:br>
              <a:rPr lang="ru-RU" altLang="ru-RU" sz="2400" b="1"/>
            </a:br>
            <a:r>
              <a:rPr lang="en-US" altLang="ru-RU" sz="2400" b="1">
                <a:hlinkClick r:id="rId4"/>
              </a:rPr>
              <a:t>www.yandex.ru</a:t>
            </a:r>
            <a:r>
              <a:rPr lang="en-US" altLang="ru-RU" sz="2400" b="1"/>
              <a:t> </a:t>
            </a:r>
            <a:endParaRPr lang="ru-RU" altLang="ru-RU" sz="2400" b="1"/>
          </a:p>
        </p:txBody>
      </p:sp>
      <p:sp>
        <p:nvSpPr>
          <p:cNvPr id="250911" name="Text Box 31"/>
          <p:cNvSpPr txBox="1">
            <a:spLocks noChangeArrowheads="1"/>
          </p:cNvSpPr>
          <p:nvPr/>
        </p:nvSpPr>
        <p:spPr bwMode="auto">
          <a:xfrm>
            <a:off x="2051051" y="6045200"/>
            <a:ext cx="6672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0850" indent="-4508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90600" indent="-360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99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ru-RU" altLang="ru-RU" sz="2400" b="1" dirty="0">
                <a:solidFill>
                  <a:schemeClr val="accent3">
                    <a:lumMod val="50000"/>
                  </a:schemeClr>
                </a:solidFill>
              </a:rPr>
              <a:t>Гибридные системы </a:t>
            </a:r>
            <a:r>
              <a:rPr lang="ru-RU" altLang="ru-RU" sz="2400" dirty="0"/>
              <a:t>– индекс + каталог.</a:t>
            </a:r>
            <a:endParaRPr lang="ru-RU" altLang="ru-RU" sz="220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66644" y="43677"/>
            <a:ext cx="5975465" cy="909292"/>
          </a:xfrm>
        </p:spPr>
        <p:txBody>
          <a:bodyPr>
            <a:normAutofit/>
          </a:bodyPr>
          <a:lstStyle/>
          <a:p>
            <a:r>
              <a:rPr lang="ru-RU" altLang="ru-RU" sz="4000" dirty="0" smtClean="0"/>
              <a:t>ПОИСКОВЫЕ СИСТЕМЫ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557367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0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0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50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50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50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50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508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50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50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50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50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50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509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4" grpId="0" build="p" autoUpdateAnimBg="0"/>
      <p:bldP spid="250885" grpId="0" build="p" autoUpdateAnimBg="0"/>
      <p:bldP spid="250892" grpId="0"/>
      <p:bldP spid="250897" grpId="0"/>
      <p:bldP spid="250904" grpId="0"/>
      <p:bldP spid="250908" grpId="0"/>
      <p:bldP spid="250909" grpId="0"/>
      <p:bldP spid="250910" grpId="0"/>
      <p:bldP spid="250911" grpId="0" build="p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Line 2"/>
          <p:cNvSpPr>
            <a:spLocks noChangeShapeType="1"/>
          </p:cNvSpPr>
          <p:nvPr/>
        </p:nvSpPr>
        <p:spPr bwMode="auto">
          <a:xfrm>
            <a:off x="1900238" y="101190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48836" name="Text Box 4"/>
          <p:cNvSpPr txBox="1">
            <a:spLocks noChangeArrowheads="1"/>
          </p:cNvSpPr>
          <p:nvPr/>
        </p:nvSpPr>
        <p:spPr bwMode="auto">
          <a:xfrm>
            <a:off x="1933576" y="1197249"/>
            <a:ext cx="8482012" cy="1982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0850" indent="-4508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90600" indent="-360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99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ru-RU" altLang="ru-RU" sz="2400" b="1" dirty="0">
                <a:solidFill>
                  <a:schemeClr val="accent3">
                    <a:lumMod val="50000"/>
                  </a:schemeClr>
                </a:solidFill>
              </a:rPr>
              <a:t>Чаты</a:t>
            </a:r>
            <a:r>
              <a:rPr lang="en-US" altLang="ru-RU" sz="2400" b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ru-RU" altLang="ru-RU" sz="2400" b="1" dirty="0"/>
              <a:t>(англ. </a:t>
            </a:r>
            <a:r>
              <a:rPr lang="en-US" altLang="ru-RU" sz="2400" b="1" i="1" dirty="0"/>
              <a:t>chat </a:t>
            </a:r>
            <a:r>
              <a:rPr lang="en-US" altLang="ru-RU" sz="2400" b="1" dirty="0"/>
              <a:t>– </a:t>
            </a:r>
            <a:r>
              <a:rPr lang="ru-RU" altLang="ru-RU" sz="2400" b="1" dirty="0"/>
              <a:t>болтовня) обмен текстовыми сообщениями в реальном времени</a:t>
            </a:r>
          </a:p>
          <a:p>
            <a:pPr lvl="1" eaLnBrk="0" hangingPunct="0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en-US" altLang="ru-RU" sz="2200" dirty="0"/>
              <a:t>Web-</a:t>
            </a:r>
            <a:r>
              <a:rPr lang="ru-RU" altLang="ru-RU" sz="2200" dirty="0"/>
              <a:t>чаты (на </a:t>
            </a:r>
            <a:r>
              <a:rPr lang="en-US" altLang="ru-RU" sz="2200" dirty="0"/>
              <a:t>Web</a:t>
            </a:r>
            <a:r>
              <a:rPr lang="ru-RU" altLang="ru-RU" sz="2200" dirty="0"/>
              <a:t>-страницах</a:t>
            </a:r>
            <a:r>
              <a:rPr lang="en-US" altLang="ru-RU" sz="2200" dirty="0"/>
              <a:t>)</a:t>
            </a:r>
            <a:r>
              <a:rPr lang="ru-RU" altLang="ru-RU" sz="2200" dirty="0"/>
              <a:t>: все равноправны</a:t>
            </a:r>
            <a:endParaRPr lang="en-US" altLang="ru-RU" sz="2200" dirty="0"/>
          </a:p>
          <a:p>
            <a:pPr lvl="1" eaLnBrk="0" hangingPunct="0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en-US" altLang="ru-RU" sz="2200" dirty="0"/>
              <a:t>IRC-</a:t>
            </a:r>
            <a:r>
              <a:rPr lang="ru-RU" altLang="ru-RU" sz="2200" dirty="0"/>
              <a:t>чаты (</a:t>
            </a:r>
            <a:r>
              <a:rPr lang="en-US" altLang="ru-RU" sz="2200" i="1" dirty="0"/>
              <a:t>Internet relay Chat, </a:t>
            </a:r>
            <a:r>
              <a:rPr lang="ru-RU" altLang="ru-RU" sz="2200" dirty="0"/>
              <a:t>1988) «разговор» на каналах, есть операторы канала с привилегиями</a:t>
            </a:r>
          </a:p>
        </p:txBody>
      </p:sp>
      <p:pic>
        <p:nvPicPr>
          <p:cNvPr id="248840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4956" y="3179330"/>
            <a:ext cx="6615113" cy="3121025"/>
          </a:xfrm>
          <a:prstGeom prst="rect">
            <a:avLst/>
          </a:prstGeom>
          <a:noFill/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74582" y="42456"/>
            <a:ext cx="5847348" cy="909292"/>
          </a:xfrm>
        </p:spPr>
        <p:txBody>
          <a:bodyPr>
            <a:noAutofit/>
          </a:bodyPr>
          <a:lstStyle/>
          <a:p>
            <a:r>
              <a:rPr lang="ru-RU" altLang="ru-RU" sz="3600" dirty="0" smtClean="0"/>
              <a:t>ОБЩЕНИЕ В РЕАЛЬНОМ ВРЕМЕНИ (</a:t>
            </a:r>
            <a:r>
              <a:rPr lang="en-US" altLang="ru-RU" sz="3600" i="1" dirty="0" smtClean="0"/>
              <a:t>ONLINE</a:t>
            </a:r>
            <a:r>
              <a:rPr lang="ru-RU" altLang="ru-RU" sz="3600" dirty="0" smtClean="0"/>
              <a:t>)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387066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8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88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488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48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36" grpId="0" build="p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022" name="Freeform 94"/>
          <p:cNvSpPr>
            <a:spLocks/>
          </p:cNvSpPr>
          <p:nvPr/>
        </p:nvSpPr>
        <p:spPr bwMode="auto">
          <a:xfrm>
            <a:off x="7264401" y="2670176"/>
            <a:ext cx="396875" cy="676275"/>
          </a:xfrm>
          <a:custGeom>
            <a:avLst/>
            <a:gdLst>
              <a:gd name="T0" fmla="*/ 0 w 250"/>
              <a:gd name="T1" fmla="*/ 4 h 426"/>
              <a:gd name="T2" fmla="*/ 208 w 250"/>
              <a:gd name="T3" fmla="*/ 70 h 426"/>
              <a:gd name="T4" fmla="*/ 250 w 250"/>
              <a:gd name="T5" fmla="*/ 426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50" h="426">
                <a:moveTo>
                  <a:pt x="0" y="4"/>
                </a:moveTo>
                <a:cubicBezTo>
                  <a:pt x="83" y="2"/>
                  <a:pt x="166" y="0"/>
                  <a:pt x="208" y="70"/>
                </a:cubicBezTo>
                <a:cubicBezTo>
                  <a:pt x="250" y="140"/>
                  <a:pt x="243" y="367"/>
                  <a:pt x="250" y="426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53018" name="Freeform 90"/>
          <p:cNvSpPr>
            <a:spLocks/>
          </p:cNvSpPr>
          <p:nvPr/>
        </p:nvSpPr>
        <p:spPr bwMode="auto">
          <a:xfrm>
            <a:off x="3305176" y="2640014"/>
            <a:ext cx="1235075" cy="376237"/>
          </a:xfrm>
          <a:custGeom>
            <a:avLst/>
            <a:gdLst>
              <a:gd name="T0" fmla="*/ 0 w 778"/>
              <a:gd name="T1" fmla="*/ 237 h 237"/>
              <a:gd name="T2" fmla="*/ 333 w 778"/>
              <a:gd name="T3" fmla="*/ 196 h 237"/>
              <a:gd name="T4" fmla="*/ 529 w 778"/>
              <a:gd name="T5" fmla="*/ 35 h 237"/>
              <a:gd name="T6" fmla="*/ 778 w 778"/>
              <a:gd name="T7" fmla="*/ 0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8" h="237">
                <a:moveTo>
                  <a:pt x="0" y="237"/>
                </a:moveTo>
                <a:cubicBezTo>
                  <a:pt x="122" y="233"/>
                  <a:pt x="245" y="230"/>
                  <a:pt x="333" y="196"/>
                </a:cubicBezTo>
                <a:cubicBezTo>
                  <a:pt x="421" y="162"/>
                  <a:pt x="455" y="68"/>
                  <a:pt x="529" y="35"/>
                </a:cubicBezTo>
                <a:cubicBezTo>
                  <a:pt x="603" y="2"/>
                  <a:pt x="690" y="1"/>
                  <a:pt x="778" y="0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53019" name="Freeform 91"/>
          <p:cNvSpPr>
            <a:spLocks/>
          </p:cNvSpPr>
          <p:nvPr/>
        </p:nvSpPr>
        <p:spPr bwMode="auto">
          <a:xfrm>
            <a:off x="7199313" y="2041526"/>
            <a:ext cx="1187450" cy="371475"/>
          </a:xfrm>
          <a:custGeom>
            <a:avLst/>
            <a:gdLst>
              <a:gd name="T0" fmla="*/ 748 w 748"/>
              <a:gd name="T1" fmla="*/ 163 h 234"/>
              <a:gd name="T2" fmla="*/ 427 w 748"/>
              <a:gd name="T3" fmla="*/ 5 h 234"/>
              <a:gd name="T4" fmla="*/ 208 w 748"/>
              <a:gd name="T5" fmla="*/ 133 h 234"/>
              <a:gd name="T6" fmla="*/ 0 w 748"/>
              <a:gd name="T7" fmla="*/ 234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48" h="234">
                <a:moveTo>
                  <a:pt x="748" y="163"/>
                </a:moveTo>
                <a:cubicBezTo>
                  <a:pt x="695" y="137"/>
                  <a:pt x="517" y="10"/>
                  <a:pt x="427" y="5"/>
                </a:cubicBezTo>
                <a:cubicBezTo>
                  <a:pt x="337" y="0"/>
                  <a:pt x="279" y="95"/>
                  <a:pt x="208" y="133"/>
                </a:cubicBezTo>
                <a:cubicBezTo>
                  <a:pt x="137" y="171"/>
                  <a:pt x="43" y="213"/>
                  <a:pt x="0" y="234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52930" name="Line 2"/>
          <p:cNvSpPr>
            <a:spLocks noChangeShapeType="1"/>
          </p:cNvSpPr>
          <p:nvPr/>
        </p:nvSpPr>
        <p:spPr bwMode="auto">
          <a:xfrm>
            <a:off x="1900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52932" name="Text Box 4"/>
          <p:cNvSpPr txBox="1">
            <a:spLocks noChangeArrowheads="1"/>
          </p:cNvSpPr>
          <p:nvPr/>
        </p:nvSpPr>
        <p:spPr bwMode="auto">
          <a:xfrm>
            <a:off x="1925638" y="936625"/>
            <a:ext cx="8482012" cy="1237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0850" indent="-4508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90600" indent="-360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99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ru-RU" sz="2400" b="1">
                <a:solidFill>
                  <a:schemeClr val="accent2"/>
                </a:solidFill>
              </a:rPr>
              <a:t>Skype</a:t>
            </a:r>
            <a:r>
              <a:rPr lang="en-US" altLang="ru-RU" sz="2400" b="1"/>
              <a:t> </a:t>
            </a:r>
            <a:r>
              <a:rPr lang="ru-RU" altLang="ru-RU" sz="2400" b="1"/>
              <a:t>(</a:t>
            </a:r>
            <a:r>
              <a:rPr lang="en-US" altLang="ru-RU" sz="2400">
                <a:hlinkClick r:id="rId3"/>
              </a:rPr>
              <a:t>www.skype.com</a:t>
            </a:r>
            <a:r>
              <a:rPr lang="ru-RU" altLang="ru-RU" sz="2400"/>
              <a:t>, </a:t>
            </a:r>
            <a:r>
              <a:rPr lang="en-US" altLang="ru-RU" sz="2400">
                <a:hlinkClick r:id="rId4"/>
              </a:rPr>
              <a:t>www.skype.ru</a:t>
            </a:r>
            <a:r>
              <a:rPr lang="ru-RU" altLang="ru-RU" sz="2400" b="1"/>
              <a:t>) разговор в реальном времени</a:t>
            </a:r>
          </a:p>
          <a:p>
            <a:pPr lvl="1" eaLnBrk="0" hangingPunct="0">
              <a:spcBef>
                <a:spcPct val="20000"/>
              </a:spcBef>
              <a:buFont typeface="Wingdings" panose="05000000000000000000" pitchFamily="2" charset="2"/>
              <a:buChar char="q"/>
            </a:pPr>
            <a:endParaRPr lang="ru-RU" altLang="ru-RU" sz="2200"/>
          </a:p>
        </p:txBody>
      </p:sp>
      <p:pic>
        <p:nvPicPr>
          <p:cNvPr id="252935" name="Picture 7" descr="Корпус-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7988" y="1846264"/>
            <a:ext cx="577850" cy="135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936" name="Picture 8" descr="Корпус-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1827214"/>
            <a:ext cx="577850" cy="135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3051" name="Group 123"/>
          <p:cNvGrpSpPr>
            <a:grpSpLocks/>
          </p:cNvGrpSpPr>
          <p:nvPr/>
        </p:nvGrpSpPr>
        <p:grpSpPr bwMode="auto">
          <a:xfrm>
            <a:off x="7443788" y="3033714"/>
            <a:ext cx="2667000" cy="649287"/>
            <a:chOff x="3729" y="1911"/>
            <a:chExt cx="1680" cy="409"/>
          </a:xfrm>
        </p:grpSpPr>
        <p:sp>
          <p:nvSpPr>
            <p:cNvPr id="253023" name="Line 95"/>
            <p:cNvSpPr>
              <a:spLocks noChangeShapeType="1"/>
            </p:cNvSpPr>
            <p:nvPr/>
          </p:nvSpPr>
          <p:spPr bwMode="auto">
            <a:xfrm>
              <a:off x="4690" y="2143"/>
              <a:ext cx="42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grpSp>
          <p:nvGrpSpPr>
            <p:cNvPr id="252939" name="Group 11"/>
            <p:cNvGrpSpPr>
              <a:grpSpLocks/>
            </p:cNvGrpSpPr>
            <p:nvPr/>
          </p:nvGrpSpPr>
          <p:grpSpPr bwMode="auto">
            <a:xfrm>
              <a:off x="5046" y="1935"/>
              <a:ext cx="363" cy="266"/>
              <a:chOff x="2255" y="1955"/>
              <a:chExt cx="507" cy="380"/>
            </a:xfrm>
          </p:grpSpPr>
          <p:sp>
            <p:nvSpPr>
              <p:cNvPr id="252940" name="Freeform 12"/>
              <p:cNvSpPr>
                <a:spLocks/>
              </p:cNvSpPr>
              <p:nvPr/>
            </p:nvSpPr>
            <p:spPr bwMode="auto">
              <a:xfrm>
                <a:off x="2255" y="1955"/>
                <a:ext cx="507" cy="138"/>
              </a:xfrm>
              <a:custGeom>
                <a:avLst/>
                <a:gdLst>
                  <a:gd name="T0" fmla="*/ 246 w 507"/>
                  <a:gd name="T1" fmla="*/ 0 h 138"/>
                  <a:gd name="T2" fmla="*/ 175 w 507"/>
                  <a:gd name="T3" fmla="*/ 3 h 138"/>
                  <a:gd name="T4" fmla="*/ 146 w 507"/>
                  <a:gd name="T5" fmla="*/ 5 h 138"/>
                  <a:gd name="T6" fmla="*/ 115 w 507"/>
                  <a:gd name="T7" fmla="*/ 9 h 138"/>
                  <a:gd name="T8" fmla="*/ 96 w 507"/>
                  <a:gd name="T9" fmla="*/ 13 h 138"/>
                  <a:gd name="T10" fmla="*/ 77 w 507"/>
                  <a:gd name="T11" fmla="*/ 15 h 138"/>
                  <a:gd name="T12" fmla="*/ 56 w 507"/>
                  <a:gd name="T13" fmla="*/ 21 h 138"/>
                  <a:gd name="T14" fmla="*/ 42 w 507"/>
                  <a:gd name="T15" fmla="*/ 25 h 138"/>
                  <a:gd name="T16" fmla="*/ 35 w 507"/>
                  <a:gd name="T17" fmla="*/ 32 h 138"/>
                  <a:gd name="T18" fmla="*/ 29 w 507"/>
                  <a:gd name="T19" fmla="*/ 36 h 138"/>
                  <a:gd name="T20" fmla="*/ 25 w 507"/>
                  <a:gd name="T21" fmla="*/ 42 h 138"/>
                  <a:gd name="T22" fmla="*/ 0 w 507"/>
                  <a:gd name="T23" fmla="*/ 105 h 138"/>
                  <a:gd name="T24" fmla="*/ 0 w 507"/>
                  <a:gd name="T25" fmla="*/ 107 h 138"/>
                  <a:gd name="T26" fmla="*/ 2 w 507"/>
                  <a:gd name="T27" fmla="*/ 111 h 138"/>
                  <a:gd name="T28" fmla="*/ 12 w 507"/>
                  <a:gd name="T29" fmla="*/ 130 h 138"/>
                  <a:gd name="T30" fmla="*/ 16 w 507"/>
                  <a:gd name="T31" fmla="*/ 134 h 138"/>
                  <a:gd name="T32" fmla="*/ 19 w 507"/>
                  <a:gd name="T33" fmla="*/ 134 h 138"/>
                  <a:gd name="T34" fmla="*/ 121 w 507"/>
                  <a:gd name="T35" fmla="*/ 107 h 138"/>
                  <a:gd name="T36" fmla="*/ 127 w 507"/>
                  <a:gd name="T37" fmla="*/ 101 h 138"/>
                  <a:gd name="T38" fmla="*/ 127 w 507"/>
                  <a:gd name="T39" fmla="*/ 71 h 138"/>
                  <a:gd name="T40" fmla="*/ 135 w 507"/>
                  <a:gd name="T41" fmla="*/ 67 h 138"/>
                  <a:gd name="T42" fmla="*/ 150 w 507"/>
                  <a:gd name="T43" fmla="*/ 63 h 138"/>
                  <a:gd name="T44" fmla="*/ 161 w 507"/>
                  <a:gd name="T45" fmla="*/ 61 h 138"/>
                  <a:gd name="T46" fmla="*/ 183 w 507"/>
                  <a:gd name="T47" fmla="*/ 57 h 138"/>
                  <a:gd name="T48" fmla="*/ 204 w 507"/>
                  <a:gd name="T49" fmla="*/ 55 h 138"/>
                  <a:gd name="T50" fmla="*/ 229 w 507"/>
                  <a:gd name="T51" fmla="*/ 53 h 138"/>
                  <a:gd name="T52" fmla="*/ 254 w 507"/>
                  <a:gd name="T53" fmla="*/ 53 h 138"/>
                  <a:gd name="T54" fmla="*/ 277 w 507"/>
                  <a:gd name="T55" fmla="*/ 55 h 138"/>
                  <a:gd name="T56" fmla="*/ 302 w 507"/>
                  <a:gd name="T57" fmla="*/ 57 h 138"/>
                  <a:gd name="T58" fmla="*/ 325 w 507"/>
                  <a:gd name="T59" fmla="*/ 59 h 138"/>
                  <a:gd name="T60" fmla="*/ 350 w 507"/>
                  <a:gd name="T61" fmla="*/ 63 h 138"/>
                  <a:gd name="T62" fmla="*/ 363 w 507"/>
                  <a:gd name="T63" fmla="*/ 67 h 138"/>
                  <a:gd name="T64" fmla="*/ 373 w 507"/>
                  <a:gd name="T65" fmla="*/ 71 h 138"/>
                  <a:gd name="T66" fmla="*/ 380 w 507"/>
                  <a:gd name="T67" fmla="*/ 73 h 138"/>
                  <a:gd name="T68" fmla="*/ 382 w 507"/>
                  <a:gd name="T69" fmla="*/ 103 h 138"/>
                  <a:gd name="T70" fmla="*/ 382 w 507"/>
                  <a:gd name="T71" fmla="*/ 107 h 138"/>
                  <a:gd name="T72" fmla="*/ 386 w 507"/>
                  <a:gd name="T73" fmla="*/ 107 h 138"/>
                  <a:gd name="T74" fmla="*/ 488 w 507"/>
                  <a:gd name="T75" fmla="*/ 138 h 138"/>
                  <a:gd name="T76" fmla="*/ 490 w 507"/>
                  <a:gd name="T77" fmla="*/ 136 h 138"/>
                  <a:gd name="T78" fmla="*/ 494 w 507"/>
                  <a:gd name="T79" fmla="*/ 134 h 138"/>
                  <a:gd name="T80" fmla="*/ 497 w 507"/>
                  <a:gd name="T81" fmla="*/ 126 h 138"/>
                  <a:gd name="T82" fmla="*/ 507 w 507"/>
                  <a:gd name="T83" fmla="*/ 107 h 138"/>
                  <a:gd name="T84" fmla="*/ 494 w 507"/>
                  <a:gd name="T85" fmla="*/ 73 h 138"/>
                  <a:gd name="T86" fmla="*/ 476 w 507"/>
                  <a:gd name="T87" fmla="*/ 38 h 138"/>
                  <a:gd name="T88" fmla="*/ 472 w 507"/>
                  <a:gd name="T89" fmla="*/ 32 h 138"/>
                  <a:gd name="T90" fmla="*/ 467 w 507"/>
                  <a:gd name="T91" fmla="*/ 28 h 138"/>
                  <a:gd name="T92" fmla="*/ 457 w 507"/>
                  <a:gd name="T93" fmla="*/ 23 h 138"/>
                  <a:gd name="T94" fmla="*/ 446 w 507"/>
                  <a:gd name="T95" fmla="*/ 21 h 138"/>
                  <a:gd name="T96" fmla="*/ 428 w 507"/>
                  <a:gd name="T97" fmla="*/ 17 h 138"/>
                  <a:gd name="T98" fmla="*/ 411 w 507"/>
                  <a:gd name="T99" fmla="*/ 13 h 138"/>
                  <a:gd name="T100" fmla="*/ 378 w 507"/>
                  <a:gd name="T101" fmla="*/ 9 h 138"/>
                  <a:gd name="T102" fmla="*/ 344 w 507"/>
                  <a:gd name="T103" fmla="*/ 5 h 138"/>
                  <a:gd name="T104" fmla="*/ 311 w 507"/>
                  <a:gd name="T105" fmla="*/ 3 h 138"/>
                  <a:gd name="T106" fmla="*/ 279 w 507"/>
                  <a:gd name="T107" fmla="*/ 2 h 138"/>
                  <a:gd name="T108" fmla="*/ 246 w 507"/>
                  <a:gd name="T109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507" h="138">
                    <a:moveTo>
                      <a:pt x="246" y="0"/>
                    </a:moveTo>
                    <a:lnTo>
                      <a:pt x="175" y="3"/>
                    </a:lnTo>
                    <a:lnTo>
                      <a:pt x="146" y="5"/>
                    </a:lnTo>
                    <a:lnTo>
                      <a:pt x="115" y="9"/>
                    </a:lnTo>
                    <a:lnTo>
                      <a:pt x="96" y="13"/>
                    </a:lnTo>
                    <a:lnTo>
                      <a:pt x="77" y="15"/>
                    </a:lnTo>
                    <a:lnTo>
                      <a:pt x="56" y="21"/>
                    </a:lnTo>
                    <a:lnTo>
                      <a:pt x="42" y="25"/>
                    </a:lnTo>
                    <a:lnTo>
                      <a:pt x="35" y="32"/>
                    </a:lnTo>
                    <a:lnTo>
                      <a:pt x="29" y="36"/>
                    </a:lnTo>
                    <a:lnTo>
                      <a:pt x="25" y="42"/>
                    </a:lnTo>
                    <a:lnTo>
                      <a:pt x="0" y="105"/>
                    </a:lnTo>
                    <a:lnTo>
                      <a:pt x="0" y="107"/>
                    </a:lnTo>
                    <a:lnTo>
                      <a:pt x="2" y="111"/>
                    </a:lnTo>
                    <a:lnTo>
                      <a:pt x="12" y="130"/>
                    </a:lnTo>
                    <a:lnTo>
                      <a:pt x="16" y="134"/>
                    </a:lnTo>
                    <a:lnTo>
                      <a:pt x="19" y="134"/>
                    </a:lnTo>
                    <a:lnTo>
                      <a:pt x="121" y="107"/>
                    </a:lnTo>
                    <a:lnTo>
                      <a:pt x="127" y="101"/>
                    </a:lnTo>
                    <a:lnTo>
                      <a:pt x="127" y="71"/>
                    </a:lnTo>
                    <a:lnTo>
                      <a:pt x="135" y="67"/>
                    </a:lnTo>
                    <a:lnTo>
                      <a:pt x="150" y="63"/>
                    </a:lnTo>
                    <a:lnTo>
                      <a:pt x="161" y="61"/>
                    </a:lnTo>
                    <a:lnTo>
                      <a:pt x="183" y="57"/>
                    </a:lnTo>
                    <a:lnTo>
                      <a:pt x="204" y="55"/>
                    </a:lnTo>
                    <a:lnTo>
                      <a:pt x="229" y="53"/>
                    </a:lnTo>
                    <a:lnTo>
                      <a:pt x="254" y="53"/>
                    </a:lnTo>
                    <a:lnTo>
                      <a:pt x="277" y="55"/>
                    </a:lnTo>
                    <a:lnTo>
                      <a:pt x="302" y="57"/>
                    </a:lnTo>
                    <a:lnTo>
                      <a:pt x="325" y="59"/>
                    </a:lnTo>
                    <a:lnTo>
                      <a:pt x="350" y="63"/>
                    </a:lnTo>
                    <a:lnTo>
                      <a:pt x="363" y="67"/>
                    </a:lnTo>
                    <a:lnTo>
                      <a:pt x="373" y="71"/>
                    </a:lnTo>
                    <a:lnTo>
                      <a:pt x="380" y="73"/>
                    </a:lnTo>
                    <a:lnTo>
                      <a:pt x="382" y="103"/>
                    </a:lnTo>
                    <a:lnTo>
                      <a:pt x="382" y="107"/>
                    </a:lnTo>
                    <a:lnTo>
                      <a:pt x="386" y="107"/>
                    </a:lnTo>
                    <a:lnTo>
                      <a:pt x="488" y="138"/>
                    </a:lnTo>
                    <a:lnTo>
                      <a:pt x="490" y="136"/>
                    </a:lnTo>
                    <a:lnTo>
                      <a:pt x="494" y="134"/>
                    </a:lnTo>
                    <a:lnTo>
                      <a:pt x="497" y="126"/>
                    </a:lnTo>
                    <a:lnTo>
                      <a:pt x="507" y="107"/>
                    </a:lnTo>
                    <a:lnTo>
                      <a:pt x="494" y="73"/>
                    </a:lnTo>
                    <a:lnTo>
                      <a:pt x="476" y="38"/>
                    </a:lnTo>
                    <a:lnTo>
                      <a:pt x="472" y="32"/>
                    </a:lnTo>
                    <a:lnTo>
                      <a:pt x="467" y="28"/>
                    </a:lnTo>
                    <a:lnTo>
                      <a:pt x="457" y="23"/>
                    </a:lnTo>
                    <a:lnTo>
                      <a:pt x="446" y="21"/>
                    </a:lnTo>
                    <a:lnTo>
                      <a:pt x="428" y="17"/>
                    </a:lnTo>
                    <a:lnTo>
                      <a:pt x="411" y="13"/>
                    </a:lnTo>
                    <a:lnTo>
                      <a:pt x="378" y="9"/>
                    </a:lnTo>
                    <a:lnTo>
                      <a:pt x="344" y="5"/>
                    </a:lnTo>
                    <a:lnTo>
                      <a:pt x="311" y="3"/>
                    </a:lnTo>
                    <a:lnTo>
                      <a:pt x="279" y="2"/>
                    </a:lnTo>
                    <a:lnTo>
                      <a:pt x="246" y="0"/>
                    </a:lnTo>
                    <a:close/>
                  </a:path>
                </a:pathLst>
              </a:custGeom>
              <a:solidFill>
                <a:srgbClr val="B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52941" name="Rectangle 13"/>
              <p:cNvSpPr>
                <a:spLocks noChangeArrowheads="1"/>
              </p:cNvSpPr>
              <p:nvPr/>
            </p:nvSpPr>
            <p:spPr bwMode="auto">
              <a:xfrm>
                <a:off x="2445" y="2118"/>
                <a:ext cx="33" cy="21"/>
              </a:xfrm>
              <a:prstGeom prst="rect">
                <a:avLst/>
              </a:prstGeom>
              <a:solidFill>
                <a:srgbClr val="B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52942" name="Rectangle 14"/>
              <p:cNvSpPr>
                <a:spLocks noChangeArrowheads="1"/>
              </p:cNvSpPr>
              <p:nvPr/>
            </p:nvSpPr>
            <p:spPr bwMode="auto">
              <a:xfrm>
                <a:off x="2493" y="2118"/>
                <a:ext cx="33" cy="21"/>
              </a:xfrm>
              <a:prstGeom prst="rect">
                <a:avLst/>
              </a:prstGeom>
              <a:solidFill>
                <a:srgbClr val="B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52943" name="Rectangle 15"/>
              <p:cNvSpPr>
                <a:spLocks noChangeArrowheads="1"/>
              </p:cNvSpPr>
              <p:nvPr/>
            </p:nvSpPr>
            <p:spPr bwMode="auto">
              <a:xfrm>
                <a:off x="2541" y="2118"/>
                <a:ext cx="33" cy="21"/>
              </a:xfrm>
              <a:prstGeom prst="rect">
                <a:avLst/>
              </a:prstGeom>
              <a:solidFill>
                <a:srgbClr val="B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52944" name="Rectangle 16"/>
              <p:cNvSpPr>
                <a:spLocks noChangeArrowheads="1"/>
              </p:cNvSpPr>
              <p:nvPr/>
            </p:nvSpPr>
            <p:spPr bwMode="auto">
              <a:xfrm>
                <a:off x="2445" y="2156"/>
                <a:ext cx="33" cy="19"/>
              </a:xfrm>
              <a:prstGeom prst="rect">
                <a:avLst/>
              </a:prstGeom>
              <a:solidFill>
                <a:srgbClr val="B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52945" name="Rectangle 17"/>
              <p:cNvSpPr>
                <a:spLocks noChangeArrowheads="1"/>
              </p:cNvSpPr>
              <p:nvPr/>
            </p:nvSpPr>
            <p:spPr bwMode="auto">
              <a:xfrm>
                <a:off x="2493" y="2156"/>
                <a:ext cx="33" cy="19"/>
              </a:xfrm>
              <a:prstGeom prst="rect">
                <a:avLst/>
              </a:prstGeom>
              <a:solidFill>
                <a:srgbClr val="B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52946" name="Rectangle 18"/>
              <p:cNvSpPr>
                <a:spLocks noChangeArrowheads="1"/>
              </p:cNvSpPr>
              <p:nvPr/>
            </p:nvSpPr>
            <p:spPr bwMode="auto">
              <a:xfrm>
                <a:off x="2541" y="2156"/>
                <a:ext cx="33" cy="19"/>
              </a:xfrm>
              <a:prstGeom prst="rect">
                <a:avLst/>
              </a:prstGeom>
              <a:solidFill>
                <a:srgbClr val="B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52947" name="Rectangle 19"/>
              <p:cNvSpPr>
                <a:spLocks noChangeArrowheads="1"/>
              </p:cNvSpPr>
              <p:nvPr/>
            </p:nvSpPr>
            <p:spPr bwMode="auto">
              <a:xfrm>
                <a:off x="2445" y="2191"/>
                <a:ext cx="33" cy="23"/>
              </a:xfrm>
              <a:prstGeom prst="rect">
                <a:avLst/>
              </a:prstGeom>
              <a:solidFill>
                <a:srgbClr val="B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52948" name="Rectangle 20"/>
              <p:cNvSpPr>
                <a:spLocks noChangeArrowheads="1"/>
              </p:cNvSpPr>
              <p:nvPr/>
            </p:nvSpPr>
            <p:spPr bwMode="auto">
              <a:xfrm>
                <a:off x="2493" y="2191"/>
                <a:ext cx="33" cy="23"/>
              </a:xfrm>
              <a:prstGeom prst="rect">
                <a:avLst/>
              </a:prstGeom>
              <a:solidFill>
                <a:srgbClr val="B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52949" name="Rectangle 21"/>
              <p:cNvSpPr>
                <a:spLocks noChangeArrowheads="1"/>
              </p:cNvSpPr>
              <p:nvPr/>
            </p:nvSpPr>
            <p:spPr bwMode="auto">
              <a:xfrm>
                <a:off x="2541" y="2191"/>
                <a:ext cx="33" cy="23"/>
              </a:xfrm>
              <a:prstGeom prst="rect">
                <a:avLst/>
              </a:prstGeom>
              <a:solidFill>
                <a:srgbClr val="B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52950" name="Freeform 22"/>
              <p:cNvSpPr>
                <a:spLocks/>
              </p:cNvSpPr>
              <p:nvPr/>
            </p:nvSpPr>
            <p:spPr bwMode="auto">
              <a:xfrm>
                <a:off x="2319" y="2035"/>
                <a:ext cx="380" cy="300"/>
              </a:xfrm>
              <a:custGeom>
                <a:avLst/>
                <a:gdLst>
                  <a:gd name="T0" fmla="*/ 32 w 380"/>
                  <a:gd name="T1" fmla="*/ 192 h 300"/>
                  <a:gd name="T2" fmla="*/ 28 w 380"/>
                  <a:gd name="T3" fmla="*/ 190 h 300"/>
                  <a:gd name="T4" fmla="*/ 25 w 380"/>
                  <a:gd name="T5" fmla="*/ 188 h 300"/>
                  <a:gd name="T6" fmla="*/ 25 w 380"/>
                  <a:gd name="T7" fmla="*/ 181 h 300"/>
                  <a:gd name="T8" fmla="*/ 53 w 380"/>
                  <a:gd name="T9" fmla="*/ 75 h 300"/>
                  <a:gd name="T10" fmla="*/ 53 w 380"/>
                  <a:gd name="T11" fmla="*/ 73 h 300"/>
                  <a:gd name="T12" fmla="*/ 57 w 380"/>
                  <a:gd name="T13" fmla="*/ 69 h 300"/>
                  <a:gd name="T14" fmla="*/ 318 w 380"/>
                  <a:gd name="T15" fmla="*/ 69 h 300"/>
                  <a:gd name="T16" fmla="*/ 322 w 380"/>
                  <a:gd name="T17" fmla="*/ 71 h 300"/>
                  <a:gd name="T18" fmla="*/ 324 w 380"/>
                  <a:gd name="T19" fmla="*/ 73 h 300"/>
                  <a:gd name="T20" fmla="*/ 324 w 380"/>
                  <a:gd name="T21" fmla="*/ 75 h 300"/>
                  <a:gd name="T22" fmla="*/ 334 w 380"/>
                  <a:gd name="T23" fmla="*/ 108 h 300"/>
                  <a:gd name="T24" fmla="*/ 353 w 380"/>
                  <a:gd name="T25" fmla="*/ 184 h 300"/>
                  <a:gd name="T26" fmla="*/ 353 w 380"/>
                  <a:gd name="T27" fmla="*/ 188 h 300"/>
                  <a:gd name="T28" fmla="*/ 351 w 380"/>
                  <a:gd name="T29" fmla="*/ 190 h 300"/>
                  <a:gd name="T30" fmla="*/ 347 w 380"/>
                  <a:gd name="T31" fmla="*/ 192 h 300"/>
                  <a:gd name="T32" fmla="*/ 32 w 380"/>
                  <a:gd name="T33" fmla="*/ 192 h 300"/>
                  <a:gd name="T34" fmla="*/ 23 w 380"/>
                  <a:gd name="T35" fmla="*/ 286 h 300"/>
                  <a:gd name="T36" fmla="*/ 23 w 380"/>
                  <a:gd name="T37" fmla="*/ 300 h 300"/>
                  <a:gd name="T38" fmla="*/ 69 w 380"/>
                  <a:gd name="T39" fmla="*/ 300 h 300"/>
                  <a:gd name="T40" fmla="*/ 69 w 380"/>
                  <a:gd name="T41" fmla="*/ 286 h 300"/>
                  <a:gd name="T42" fmla="*/ 309 w 380"/>
                  <a:gd name="T43" fmla="*/ 286 h 300"/>
                  <a:gd name="T44" fmla="*/ 309 w 380"/>
                  <a:gd name="T45" fmla="*/ 300 h 300"/>
                  <a:gd name="T46" fmla="*/ 355 w 380"/>
                  <a:gd name="T47" fmla="*/ 300 h 300"/>
                  <a:gd name="T48" fmla="*/ 355 w 380"/>
                  <a:gd name="T49" fmla="*/ 286 h 300"/>
                  <a:gd name="T50" fmla="*/ 380 w 380"/>
                  <a:gd name="T51" fmla="*/ 286 h 300"/>
                  <a:gd name="T52" fmla="*/ 380 w 380"/>
                  <a:gd name="T53" fmla="*/ 190 h 300"/>
                  <a:gd name="T54" fmla="*/ 345 w 380"/>
                  <a:gd name="T55" fmla="*/ 62 h 300"/>
                  <a:gd name="T56" fmla="*/ 343 w 380"/>
                  <a:gd name="T57" fmla="*/ 56 h 300"/>
                  <a:gd name="T58" fmla="*/ 339 w 380"/>
                  <a:gd name="T59" fmla="*/ 50 h 300"/>
                  <a:gd name="T60" fmla="*/ 335 w 380"/>
                  <a:gd name="T61" fmla="*/ 48 h 300"/>
                  <a:gd name="T62" fmla="*/ 332 w 380"/>
                  <a:gd name="T63" fmla="*/ 46 h 300"/>
                  <a:gd name="T64" fmla="*/ 324 w 380"/>
                  <a:gd name="T65" fmla="*/ 44 h 300"/>
                  <a:gd name="T66" fmla="*/ 293 w 380"/>
                  <a:gd name="T67" fmla="*/ 44 h 300"/>
                  <a:gd name="T68" fmla="*/ 293 w 380"/>
                  <a:gd name="T69" fmla="*/ 0 h 300"/>
                  <a:gd name="T70" fmla="*/ 255 w 380"/>
                  <a:gd name="T71" fmla="*/ 0 h 300"/>
                  <a:gd name="T72" fmla="*/ 255 w 380"/>
                  <a:gd name="T73" fmla="*/ 44 h 300"/>
                  <a:gd name="T74" fmla="*/ 126 w 380"/>
                  <a:gd name="T75" fmla="*/ 44 h 300"/>
                  <a:gd name="T76" fmla="*/ 126 w 380"/>
                  <a:gd name="T77" fmla="*/ 0 h 300"/>
                  <a:gd name="T78" fmla="*/ 84 w 380"/>
                  <a:gd name="T79" fmla="*/ 0 h 300"/>
                  <a:gd name="T80" fmla="*/ 84 w 380"/>
                  <a:gd name="T81" fmla="*/ 44 h 300"/>
                  <a:gd name="T82" fmla="*/ 51 w 380"/>
                  <a:gd name="T83" fmla="*/ 44 h 300"/>
                  <a:gd name="T84" fmla="*/ 44 w 380"/>
                  <a:gd name="T85" fmla="*/ 46 h 300"/>
                  <a:gd name="T86" fmla="*/ 34 w 380"/>
                  <a:gd name="T87" fmla="*/ 56 h 300"/>
                  <a:gd name="T88" fmla="*/ 32 w 380"/>
                  <a:gd name="T89" fmla="*/ 60 h 300"/>
                  <a:gd name="T90" fmla="*/ 0 w 380"/>
                  <a:gd name="T91" fmla="*/ 194 h 300"/>
                  <a:gd name="T92" fmla="*/ 0 w 380"/>
                  <a:gd name="T93" fmla="*/ 286 h 300"/>
                  <a:gd name="T94" fmla="*/ 23 w 380"/>
                  <a:gd name="T95" fmla="*/ 286 h 300"/>
                  <a:gd name="T96" fmla="*/ 32 w 380"/>
                  <a:gd name="T97" fmla="*/ 192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380" h="300">
                    <a:moveTo>
                      <a:pt x="32" y="192"/>
                    </a:moveTo>
                    <a:lnTo>
                      <a:pt x="28" y="190"/>
                    </a:lnTo>
                    <a:lnTo>
                      <a:pt x="25" y="188"/>
                    </a:lnTo>
                    <a:lnTo>
                      <a:pt x="25" y="181"/>
                    </a:lnTo>
                    <a:lnTo>
                      <a:pt x="53" y="75"/>
                    </a:lnTo>
                    <a:lnTo>
                      <a:pt x="53" y="73"/>
                    </a:lnTo>
                    <a:lnTo>
                      <a:pt x="57" y="69"/>
                    </a:lnTo>
                    <a:lnTo>
                      <a:pt x="318" y="69"/>
                    </a:lnTo>
                    <a:lnTo>
                      <a:pt x="322" y="71"/>
                    </a:lnTo>
                    <a:lnTo>
                      <a:pt x="324" y="73"/>
                    </a:lnTo>
                    <a:lnTo>
                      <a:pt x="324" y="75"/>
                    </a:lnTo>
                    <a:lnTo>
                      <a:pt x="334" y="108"/>
                    </a:lnTo>
                    <a:lnTo>
                      <a:pt x="353" y="184"/>
                    </a:lnTo>
                    <a:lnTo>
                      <a:pt x="353" y="188"/>
                    </a:lnTo>
                    <a:lnTo>
                      <a:pt x="351" y="190"/>
                    </a:lnTo>
                    <a:lnTo>
                      <a:pt x="347" y="192"/>
                    </a:lnTo>
                    <a:lnTo>
                      <a:pt x="32" y="192"/>
                    </a:lnTo>
                    <a:lnTo>
                      <a:pt x="23" y="286"/>
                    </a:lnTo>
                    <a:lnTo>
                      <a:pt x="23" y="300"/>
                    </a:lnTo>
                    <a:lnTo>
                      <a:pt x="69" y="300"/>
                    </a:lnTo>
                    <a:lnTo>
                      <a:pt x="69" y="286"/>
                    </a:lnTo>
                    <a:lnTo>
                      <a:pt x="309" y="286"/>
                    </a:lnTo>
                    <a:lnTo>
                      <a:pt x="309" y="300"/>
                    </a:lnTo>
                    <a:lnTo>
                      <a:pt x="355" y="300"/>
                    </a:lnTo>
                    <a:lnTo>
                      <a:pt x="355" y="286"/>
                    </a:lnTo>
                    <a:lnTo>
                      <a:pt x="380" y="286"/>
                    </a:lnTo>
                    <a:lnTo>
                      <a:pt x="380" y="190"/>
                    </a:lnTo>
                    <a:lnTo>
                      <a:pt x="345" y="62"/>
                    </a:lnTo>
                    <a:lnTo>
                      <a:pt x="343" y="56"/>
                    </a:lnTo>
                    <a:lnTo>
                      <a:pt x="339" y="50"/>
                    </a:lnTo>
                    <a:lnTo>
                      <a:pt x="335" y="48"/>
                    </a:lnTo>
                    <a:lnTo>
                      <a:pt x="332" y="46"/>
                    </a:lnTo>
                    <a:lnTo>
                      <a:pt x="324" y="44"/>
                    </a:lnTo>
                    <a:lnTo>
                      <a:pt x="293" y="44"/>
                    </a:lnTo>
                    <a:lnTo>
                      <a:pt x="293" y="0"/>
                    </a:lnTo>
                    <a:lnTo>
                      <a:pt x="255" y="0"/>
                    </a:lnTo>
                    <a:lnTo>
                      <a:pt x="255" y="44"/>
                    </a:lnTo>
                    <a:lnTo>
                      <a:pt x="126" y="44"/>
                    </a:lnTo>
                    <a:lnTo>
                      <a:pt x="126" y="0"/>
                    </a:lnTo>
                    <a:lnTo>
                      <a:pt x="84" y="0"/>
                    </a:lnTo>
                    <a:lnTo>
                      <a:pt x="84" y="44"/>
                    </a:lnTo>
                    <a:lnTo>
                      <a:pt x="51" y="44"/>
                    </a:lnTo>
                    <a:lnTo>
                      <a:pt x="44" y="46"/>
                    </a:lnTo>
                    <a:lnTo>
                      <a:pt x="34" y="56"/>
                    </a:lnTo>
                    <a:lnTo>
                      <a:pt x="32" y="60"/>
                    </a:lnTo>
                    <a:lnTo>
                      <a:pt x="0" y="194"/>
                    </a:lnTo>
                    <a:lnTo>
                      <a:pt x="0" y="286"/>
                    </a:lnTo>
                    <a:lnTo>
                      <a:pt x="23" y="286"/>
                    </a:lnTo>
                    <a:lnTo>
                      <a:pt x="32" y="192"/>
                    </a:lnTo>
                    <a:close/>
                  </a:path>
                </a:pathLst>
              </a:custGeom>
              <a:solidFill>
                <a:srgbClr val="B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  <p:sp>
          <p:nvSpPr>
            <p:cNvPr id="252997" name="Rectangle 69"/>
            <p:cNvSpPr>
              <a:spLocks noChangeArrowheads="1"/>
            </p:cNvSpPr>
            <p:nvPr/>
          </p:nvSpPr>
          <p:spPr bwMode="auto">
            <a:xfrm>
              <a:off x="3729" y="1911"/>
              <a:ext cx="1034" cy="409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 sz="1600"/>
                <a:t>ТЕЛЕФОННАЯ </a:t>
              </a:r>
            </a:p>
            <a:p>
              <a:pPr algn="ctr"/>
              <a:r>
                <a:rPr lang="ru-RU" altLang="ru-RU" sz="1600"/>
                <a:t>СТАНЦИЯ</a:t>
              </a:r>
            </a:p>
          </p:txBody>
        </p:sp>
      </p:grpSp>
      <p:grpSp>
        <p:nvGrpSpPr>
          <p:cNvPr id="253049" name="Group 121"/>
          <p:cNvGrpSpPr>
            <a:grpSpLocks/>
          </p:cNvGrpSpPr>
          <p:nvPr/>
        </p:nvGrpSpPr>
        <p:grpSpPr bwMode="auto">
          <a:xfrm>
            <a:off x="1887539" y="2100263"/>
            <a:ext cx="1671637" cy="1096962"/>
            <a:chOff x="229" y="1323"/>
            <a:chExt cx="1053" cy="691"/>
          </a:xfrm>
        </p:grpSpPr>
        <p:sp>
          <p:nvSpPr>
            <p:cNvPr id="253021" name="Freeform 93"/>
            <p:cNvSpPr>
              <a:spLocks/>
            </p:cNvSpPr>
            <p:nvPr/>
          </p:nvSpPr>
          <p:spPr bwMode="auto">
            <a:xfrm>
              <a:off x="564" y="1705"/>
              <a:ext cx="303" cy="189"/>
            </a:xfrm>
            <a:custGeom>
              <a:avLst/>
              <a:gdLst>
                <a:gd name="T0" fmla="*/ 303 w 303"/>
                <a:gd name="T1" fmla="*/ 189 h 189"/>
                <a:gd name="T2" fmla="*/ 232 w 303"/>
                <a:gd name="T3" fmla="*/ 35 h 189"/>
                <a:gd name="T4" fmla="*/ 119 w 303"/>
                <a:gd name="T5" fmla="*/ 11 h 189"/>
                <a:gd name="T6" fmla="*/ 0 w 303"/>
                <a:gd name="T7" fmla="*/ 100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3" h="189">
                  <a:moveTo>
                    <a:pt x="303" y="189"/>
                  </a:moveTo>
                  <a:cubicBezTo>
                    <a:pt x="283" y="127"/>
                    <a:pt x="263" y="65"/>
                    <a:pt x="232" y="35"/>
                  </a:cubicBezTo>
                  <a:cubicBezTo>
                    <a:pt x="201" y="5"/>
                    <a:pt x="158" y="0"/>
                    <a:pt x="119" y="11"/>
                  </a:cubicBezTo>
                  <a:cubicBezTo>
                    <a:pt x="80" y="22"/>
                    <a:pt x="40" y="61"/>
                    <a:pt x="0" y="10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pic>
          <p:nvPicPr>
            <p:cNvPr id="252933" name="Picture 5" descr="Наушники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9" y="1526"/>
              <a:ext cx="459" cy="4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2934" name="Picture 6" descr="Компьютер-5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7" y="1563"/>
              <a:ext cx="501" cy="4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3013" name="AutoShape 85"/>
            <p:cNvSpPr>
              <a:spLocks noChangeArrowheads="1"/>
            </p:cNvSpPr>
            <p:nvPr/>
          </p:nvSpPr>
          <p:spPr bwMode="auto">
            <a:xfrm>
              <a:off x="712" y="1323"/>
              <a:ext cx="570" cy="184"/>
            </a:xfrm>
            <a:prstGeom prst="roundRect">
              <a:avLst>
                <a:gd name="adj" fmla="val 16667"/>
              </a:avLst>
            </a:prstGeom>
            <a:solidFill>
              <a:srgbClr val="EAEAEA"/>
            </a:solidFill>
            <a:ln>
              <a:noFill/>
            </a:ln>
            <a:effectLst>
              <a:outerShdw dist="53882" dir="2700000" algn="ctr" rotWithShape="0">
                <a:schemeClr val="bg2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ru-RU"/>
                <a:t>Skype</a:t>
              </a:r>
              <a:endParaRPr lang="ru-RU" altLang="ru-RU"/>
            </a:p>
          </p:txBody>
        </p:sp>
      </p:grpSp>
      <p:grpSp>
        <p:nvGrpSpPr>
          <p:cNvPr id="253050" name="Group 122"/>
          <p:cNvGrpSpPr>
            <a:grpSpLocks/>
          </p:cNvGrpSpPr>
          <p:nvPr/>
        </p:nvGrpSpPr>
        <p:grpSpPr bwMode="auto">
          <a:xfrm>
            <a:off x="8159751" y="1485901"/>
            <a:ext cx="1800225" cy="1109663"/>
            <a:chOff x="4180" y="936"/>
            <a:chExt cx="1134" cy="699"/>
          </a:xfrm>
        </p:grpSpPr>
        <p:sp>
          <p:nvSpPr>
            <p:cNvPr id="253020" name="Freeform 92"/>
            <p:cNvSpPr>
              <a:spLocks/>
            </p:cNvSpPr>
            <p:nvPr/>
          </p:nvSpPr>
          <p:spPr bwMode="auto">
            <a:xfrm>
              <a:off x="4560" y="1418"/>
              <a:ext cx="368" cy="106"/>
            </a:xfrm>
            <a:custGeom>
              <a:avLst/>
              <a:gdLst>
                <a:gd name="T0" fmla="*/ 368 w 368"/>
                <a:gd name="T1" fmla="*/ 106 h 106"/>
                <a:gd name="T2" fmla="*/ 190 w 368"/>
                <a:gd name="T3" fmla="*/ 5 h 106"/>
                <a:gd name="T4" fmla="*/ 0 w 368"/>
                <a:gd name="T5" fmla="*/ 77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8" h="106">
                  <a:moveTo>
                    <a:pt x="368" y="106"/>
                  </a:moveTo>
                  <a:cubicBezTo>
                    <a:pt x="309" y="58"/>
                    <a:pt x="251" y="10"/>
                    <a:pt x="190" y="5"/>
                  </a:cubicBezTo>
                  <a:cubicBezTo>
                    <a:pt x="129" y="0"/>
                    <a:pt x="64" y="38"/>
                    <a:pt x="0" y="77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pic>
          <p:nvPicPr>
            <p:cNvPr id="252937" name="Picture 9" descr="Компьютер-5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80" y="1170"/>
              <a:ext cx="501" cy="4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2938" name="Picture 10" descr="Наушники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855" y="1227"/>
              <a:ext cx="459" cy="4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3014" name="AutoShape 86"/>
            <p:cNvSpPr>
              <a:spLocks noChangeArrowheads="1"/>
            </p:cNvSpPr>
            <p:nvPr/>
          </p:nvSpPr>
          <p:spPr bwMode="auto">
            <a:xfrm>
              <a:off x="4221" y="936"/>
              <a:ext cx="570" cy="184"/>
            </a:xfrm>
            <a:prstGeom prst="roundRect">
              <a:avLst>
                <a:gd name="adj" fmla="val 16667"/>
              </a:avLst>
            </a:prstGeom>
            <a:solidFill>
              <a:srgbClr val="EAEAEA"/>
            </a:solidFill>
            <a:ln>
              <a:noFill/>
            </a:ln>
            <a:effectLst>
              <a:outerShdw dist="53882" dir="2700000" algn="ctr" rotWithShape="0">
                <a:schemeClr val="bg2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ru-RU"/>
                <a:t>Skype</a:t>
              </a:r>
              <a:endParaRPr lang="ru-RU" altLang="ru-RU"/>
            </a:p>
          </p:txBody>
        </p:sp>
      </p:grpSp>
      <p:sp>
        <p:nvSpPr>
          <p:cNvPr id="253015" name="AutoShape 87"/>
          <p:cNvSpPr>
            <a:spLocks noChangeArrowheads="1"/>
          </p:cNvSpPr>
          <p:nvPr/>
        </p:nvSpPr>
        <p:spPr bwMode="auto">
          <a:xfrm>
            <a:off x="5048250" y="2441575"/>
            <a:ext cx="1479550" cy="414338"/>
          </a:xfrm>
          <a:prstGeom prst="leftRightArrow">
            <a:avLst>
              <a:gd name="adj1" fmla="val 50000"/>
              <a:gd name="adj2" fmla="val 71418"/>
            </a:avLst>
          </a:prstGeom>
          <a:solidFill>
            <a:srgbClr val="000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53045" name="Text Box 117"/>
          <p:cNvSpPr txBox="1">
            <a:spLocks noChangeArrowheads="1"/>
          </p:cNvSpPr>
          <p:nvPr/>
        </p:nvSpPr>
        <p:spPr bwMode="auto">
          <a:xfrm>
            <a:off x="4000500" y="3449639"/>
            <a:ext cx="5067300" cy="171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58775" indent="-1793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512888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027238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549525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3006725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463925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921125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378325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ru-RU" altLang="ru-RU" sz="2000" b="1">
                <a:solidFill>
                  <a:srgbClr val="33CC33"/>
                </a:solidFill>
              </a:rPr>
              <a:t>Бесплатно</a:t>
            </a:r>
          </a:p>
          <a:p>
            <a:pPr lvl="1" eaLnBrk="0" hangingPunct="0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ru-RU"/>
              <a:t> </a:t>
            </a:r>
            <a:r>
              <a:rPr lang="ru-RU" altLang="ru-RU"/>
              <a:t>Звонки </a:t>
            </a:r>
            <a:r>
              <a:rPr lang="en-US" altLang="ru-RU" i="1"/>
              <a:t>Skype</a:t>
            </a:r>
            <a:r>
              <a:rPr lang="ru-RU" altLang="ru-RU"/>
              <a:t> </a:t>
            </a:r>
            <a:r>
              <a:rPr lang="en-US" altLang="ru-RU"/>
              <a:t>–</a:t>
            </a:r>
            <a:r>
              <a:rPr lang="ru-RU" altLang="ru-RU"/>
              <a:t> </a:t>
            </a:r>
            <a:r>
              <a:rPr lang="en-US" altLang="ru-RU" i="1"/>
              <a:t>Skype</a:t>
            </a:r>
            <a:r>
              <a:rPr lang="ru-RU" altLang="ru-RU"/>
              <a:t> </a:t>
            </a:r>
            <a:endParaRPr lang="en-US" altLang="ru-RU"/>
          </a:p>
          <a:p>
            <a:pPr lvl="1" eaLnBrk="0" hangingPunct="0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ru-RU" altLang="ru-RU"/>
              <a:t> Пересылка файлов</a:t>
            </a:r>
            <a:endParaRPr lang="en-US" altLang="ru-RU" i="1"/>
          </a:p>
          <a:p>
            <a:pPr lvl="1" eaLnBrk="0" hangingPunct="0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ru-RU" altLang="ru-RU"/>
              <a:t> Групповые и индивидуальные чаты</a:t>
            </a:r>
            <a:endParaRPr lang="en-US" altLang="ru-RU"/>
          </a:p>
          <a:p>
            <a:pPr lvl="1" eaLnBrk="0" hangingPunct="0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ru-RU" altLang="ru-RU"/>
              <a:t> Телеконференции (до 9 человек)</a:t>
            </a:r>
          </a:p>
        </p:txBody>
      </p:sp>
      <p:sp>
        <p:nvSpPr>
          <p:cNvPr id="253046" name="Text Box 118"/>
          <p:cNvSpPr txBox="1">
            <a:spLocks noChangeArrowheads="1"/>
          </p:cNvSpPr>
          <p:nvPr/>
        </p:nvSpPr>
        <p:spPr bwMode="auto">
          <a:xfrm>
            <a:off x="3987800" y="5189539"/>
            <a:ext cx="6122988" cy="138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58775" indent="-1793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512888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027238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549525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3006725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463925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921125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378325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ru-RU" altLang="ru-RU" sz="2000" b="1">
                <a:solidFill>
                  <a:srgbClr val="FF0000"/>
                </a:solidFill>
              </a:rPr>
              <a:t>За плату</a:t>
            </a:r>
          </a:p>
          <a:p>
            <a:pPr lvl="1" eaLnBrk="0" hangingPunct="0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ru-RU" altLang="ru-RU"/>
              <a:t>Звонки на стационарные и мобильные телефоны </a:t>
            </a:r>
            <a:endParaRPr lang="en-US" altLang="ru-RU" sz="2000"/>
          </a:p>
          <a:p>
            <a:pPr lvl="1" eaLnBrk="0" hangingPunct="0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ru-RU" altLang="ru-RU"/>
              <a:t>Прием звонков с обычных телефонов в </a:t>
            </a:r>
            <a:r>
              <a:rPr lang="ru-RU" altLang="ru-RU" i="1"/>
              <a:t>Skype</a:t>
            </a:r>
            <a:r>
              <a:rPr lang="ru-RU" altLang="ru-RU"/>
              <a:t> </a:t>
            </a:r>
          </a:p>
          <a:p>
            <a:pPr lvl="1" eaLnBrk="0" hangingPunct="0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ru-RU" altLang="ru-RU"/>
              <a:t>Отправка и получение голосовых сообщений и </a:t>
            </a:r>
            <a:r>
              <a:rPr lang="en-US" altLang="ru-RU"/>
              <a:t>SMS</a:t>
            </a:r>
            <a:endParaRPr lang="ru-RU" altLang="ru-RU"/>
          </a:p>
        </p:txBody>
      </p:sp>
      <p:pic>
        <p:nvPicPr>
          <p:cNvPr id="253048" name="Picture 120" descr="Слайды Skype для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614" y="3344864"/>
            <a:ext cx="2098675" cy="3297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80067" y="58380"/>
            <a:ext cx="5975465" cy="701398"/>
          </a:xfrm>
        </p:spPr>
        <p:txBody>
          <a:bodyPr>
            <a:normAutofit/>
          </a:bodyPr>
          <a:lstStyle/>
          <a:p>
            <a:r>
              <a:rPr lang="ru-RU" altLang="ru-RU" dirty="0" smtClean="0"/>
              <a:t>ИНТЕРНЕТ-ТЕЛЕФОН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6603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2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3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53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53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5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52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5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52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53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5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53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530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530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530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530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530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530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530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530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530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022" grpId="0" animBg="1"/>
      <p:bldP spid="253018" grpId="0" animBg="1"/>
      <p:bldP spid="253019" grpId="0" animBg="1"/>
      <p:bldP spid="252932" grpId="0" build="p" autoUpdateAnimBg="0"/>
      <p:bldP spid="253015" grpId="0" animBg="1"/>
      <p:bldP spid="253045" grpId="0" build="p" autoUpdateAnimBg="0"/>
      <p:bldP spid="253046" grpId="0" build="p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Line 2"/>
          <p:cNvSpPr>
            <a:spLocks noChangeShapeType="1"/>
          </p:cNvSpPr>
          <p:nvPr/>
        </p:nvSpPr>
        <p:spPr bwMode="auto">
          <a:xfrm>
            <a:off x="1900238" y="10239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57028" name="Rectangle 4"/>
          <p:cNvSpPr>
            <a:spLocks noChangeArrowheads="1"/>
          </p:cNvSpPr>
          <p:nvPr/>
        </p:nvSpPr>
        <p:spPr bwMode="auto">
          <a:xfrm>
            <a:off x="1905001" y="944564"/>
            <a:ext cx="8335963" cy="157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indent="-277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2400" b="1" dirty="0">
                <a:solidFill>
                  <a:schemeClr val="accent3">
                    <a:lumMod val="50000"/>
                  </a:schemeClr>
                </a:solidFill>
              </a:rPr>
              <a:t>WAP (</a:t>
            </a:r>
            <a:r>
              <a:rPr lang="ru-RU" altLang="ru-RU" sz="2400" b="1" i="1" dirty="0" err="1">
                <a:solidFill>
                  <a:schemeClr val="accent3">
                    <a:lumMod val="50000"/>
                  </a:schemeClr>
                </a:solidFill>
              </a:rPr>
              <a:t>Wireless</a:t>
            </a:r>
            <a:r>
              <a:rPr lang="ru-RU" altLang="ru-RU" sz="2400" b="1" i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ru-RU" altLang="ru-RU" sz="2400" b="1" i="1" dirty="0" err="1">
                <a:solidFill>
                  <a:schemeClr val="accent3">
                    <a:lumMod val="50000"/>
                  </a:schemeClr>
                </a:solidFill>
              </a:rPr>
              <a:t>Application</a:t>
            </a:r>
            <a:r>
              <a:rPr lang="ru-RU" altLang="ru-RU" sz="2400" b="1" i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ru-RU" altLang="ru-RU" sz="2400" b="1" i="1" dirty="0" err="1">
                <a:solidFill>
                  <a:schemeClr val="accent3">
                    <a:lumMod val="50000"/>
                  </a:schemeClr>
                </a:solidFill>
              </a:rPr>
              <a:t>Protocol</a:t>
            </a:r>
            <a:r>
              <a:rPr lang="ru-RU" altLang="ru-RU" sz="2400" b="1" dirty="0">
                <a:solidFill>
                  <a:schemeClr val="accent3">
                    <a:lumMod val="50000"/>
                  </a:schemeClr>
                </a:solidFill>
              </a:rPr>
              <a:t>)</a:t>
            </a:r>
          </a:p>
          <a:p>
            <a:pPr lvl="1">
              <a:buFontTx/>
              <a:buChar char="•"/>
            </a:pPr>
            <a:r>
              <a:rPr lang="ru-RU" altLang="ru-RU" sz="2000" dirty="0"/>
              <a:t>загрузка игрушек, музыки, погоды</a:t>
            </a:r>
          </a:p>
          <a:p>
            <a:pPr lvl="1">
              <a:buFontTx/>
              <a:buChar char="•"/>
            </a:pPr>
            <a:r>
              <a:rPr lang="ru-RU" altLang="ru-RU" sz="2000" dirty="0"/>
              <a:t>только сайты операторов связи, </a:t>
            </a:r>
            <a:r>
              <a:rPr lang="ru-RU" altLang="ru-RU" sz="2000" dirty="0" err="1"/>
              <a:t>метеосайты</a:t>
            </a:r>
            <a:r>
              <a:rPr lang="ru-RU" altLang="ru-RU" sz="2000" dirty="0"/>
              <a:t>, электронная почта, Интернет-магазины</a:t>
            </a:r>
            <a:endParaRPr lang="ru-RU" altLang="ru-RU" sz="2000" dirty="0">
              <a:solidFill>
                <a:schemeClr val="accent2"/>
              </a:solidFill>
            </a:endParaRPr>
          </a:p>
        </p:txBody>
      </p:sp>
      <p:grpSp>
        <p:nvGrpSpPr>
          <p:cNvPr id="257029" name="Group 5"/>
          <p:cNvGrpSpPr>
            <a:grpSpLocks noChangeAspect="1"/>
          </p:cNvGrpSpPr>
          <p:nvPr/>
        </p:nvGrpSpPr>
        <p:grpSpPr bwMode="auto">
          <a:xfrm>
            <a:off x="2135189" y="2363789"/>
            <a:ext cx="395287" cy="395287"/>
            <a:chOff x="552" y="2523"/>
            <a:chExt cx="1728" cy="1728"/>
          </a:xfrm>
        </p:grpSpPr>
        <p:sp>
          <p:nvSpPr>
            <p:cNvPr id="257030" name="Oval 6"/>
            <p:cNvSpPr>
              <a:spLocks noChangeAspect="1" noChangeArrowheads="1"/>
            </p:cNvSpPr>
            <p:nvPr/>
          </p:nvSpPr>
          <p:spPr bwMode="auto">
            <a:xfrm>
              <a:off x="552" y="2523"/>
              <a:ext cx="1728" cy="172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57031" name="Rectangle 7"/>
            <p:cNvSpPr>
              <a:spLocks noChangeAspect="1" noChangeArrowheads="1"/>
            </p:cNvSpPr>
            <p:nvPr/>
          </p:nvSpPr>
          <p:spPr bwMode="auto">
            <a:xfrm>
              <a:off x="774" y="3183"/>
              <a:ext cx="1299" cy="4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</p:grpSp>
      <p:sp>
        <p:nvSpPr>
          <p:cNvPr id="257032" name="Rectangle 8"/>
          <p:cNvSpPr>
            <a:spLocks noChangeArrowheads="1"/>
          </p:cNvSpPr>
          <p:nvPr/>
        </p:nvSpPr>
        <p:spPr bwMode="auto">
          <a:xfrm>
            <a:off x="2603500" y="2386013"/>
            <a:ext cx="6929438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AutoNum type="arabicParenR"/>
            </a:pPr>
            <a:r>
              <a:rPr lang="ru-RU" altLang="ru-RU" sz="2000" dirty="0"/>
              <a:t>высокая стоимость (старые технологии)</a:t>
            </a:r>
          </a:p>
          <a:p>
            <a:pPr>
              <a:buFontTx/>
              <a:buAutoNum type="arabicParenR"/>
            </a:pPr>
            <a:r>
              <a:rPr lang="ru-RU" altLang="ru-RU" sz="2000" dirty="0"/>
              <a:t>немного возможностей</a:t>
            </a:r>
          </a:p>
        </p:txBody>
      </p:sp>
      <p:sp>
        <p:nvSpPr>
          <p:cNvPr id="257033" name="Rectangle 9"/>
          <p:cNvSpPr>
            <a:spLocks noChangeArrowheads="1"/>
          </p:cNvSpPr>
          <p:nvPr/>
        </p:nvSpPr>
        <p:spPr bwMode="auto">
          <a:xfrm>
            <a:off x="1995489" y="3005138"/>
            <a:ext cx="8074025" cy="2049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58775" indent="-1793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2400" b="1" dirty="0">
                <a:solidFill>
                  <a:schemeClr val="accent3">
                    <a:lumMod val="50000"/>
                  </a:schemeClr>
                </a:solidFill>
              </a:rPr>
              <a:t>GPRS (</a:t>
            </a:r>
            <a:r>
              <a:rPr lang="ru-RU" altLang="ru-RU" sz="2400" b="1" i="1" dirty="0" err="1">
                <a:solidFill>
                  <a:schemeClr val="accent3">
                    <a:lumMod val="50000"/>
                  </a:schemeClr>
                </a:solidFill>
              </a:rPr>
              <a:t>General</a:t>
            </a:r>
            <a:r>
              <a:rPr lang="ru-RU" altLang="ru-RU" sz="2400" b="1" i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ru-RU" altLang="ru-RU" sz="2400" b="1" i="1" dirty="0" err="1">
                <a:solidFill>
                  <a:schemeClr val="accent3">
                    <a:lumMod val="50000"/>
                  </a:schemeClr>
                </a:solidFill>
              </a:rPr>
              <a:t>Packet</a:t>
            </a:r>
            <a:r>
              <a:rPr lang="ru-RU" altLang="ru-RU" sz="2400" b="1" i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ru-RU" altLang="ru-RU" sz="2400" b="1" i="1" dirty="0" err="1">
                <a:solidFill>
                  <a:schemeClr val="accent3">
                    <a:lumMod val="50000"/>
                  </a:schemeClr>
                </a:solidFill>
              </a:rPr>
              <a:t>Radio</a:t>
            </a:r>
            <a:r>
              <a:rPr lang="ru-RU" altLang="ru-RU" sz="2400" b="1" i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ru-RU" altLang="ru-RU" sz="2400" b="1" i="1" dirty="0" err="1">
                <a:solidFill>
                  <a:schemeClr val="accent3">
                    <a:lumMod val="50000"/>
                  </a:schemeClr>
                </a:solidFill>
              </a:rPr>
              <a:t>Service</a:t>
            </a:r>
            <a:r>
              <a:rPr lang="ru-RU" altLang="ru-RU" sz="2400" b="1" dirty="0">
                <a:solidFill>
                  <a:schemeClr val="accent3">
                    <a:lumMod val="50000"/>
                  </a:schemeClr>
                </a:solidFill>
              </a:rPr>
              <a:t>) </a:t>
            </a:r>
            <a:r>
              <a:rPr lang="ru-RU" altLang="ru-RU" sz="2400" dirty="0">
                <a:solidFill>
                  <a:schemeClr val="accent3">
                    <a:lumMod val="50000"/>
                  </a:schemeClr>
                </a:solidFill>
              </a:rPr>
              <a:t>или</a:t>
            </a:r>
            <a:r>
              <a:rPr lang="ru-RU" altLang="ru-RU" sz="2400" b="1" dirty="0">
                <a:solidFill>
                  <a:schemeClr val="accent3">
                    <a:lumMod val="50000"/>
                  </a:schemeClr>
                </a:solidFill>
              </a:rPr>
              <a:t> </a:t>
            </a:r>
          </a:p>
          <a:p>
            <a:r>
              <a:rPr lang="ru-RU" altLang="ru-RU" sz="2400" b="1" dirty="0">
                <a:solidFill>
                  <a:schemeClr val="accent3">
                    <a:lumMod val="50000"/>
                  </a:schemeClr>
                </a:solidFill>
              </a:rPr>
              <a:t>EDGE (</a:t>
            </a:r>
            <a:r>
              <a:rPr lang="ru-RU" altLang="ru-RU" sz="2400" b="1" i="1" dirty="0" err="1">
                <a:solidFill>
                  <a:schemeClr val="accent3">
                    <a:lumMod val="50000"/>
                  </a:schemeClr>
                </a:solidFill>
              </a:rPr>
              <a:t>Enhanced</a:t>
            </a:r>
            <a:r>
              <a:rPr lang="ru-RU" altLang="ru-RU" sz="2400" b="1" i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ru-RU" altLang="ru-RU" sz="2400" b="1" i="1" dirty="0" err="1">
                <a:solidFill>
                  <a:schemeClr val="accent3">
                    <a:lumMod val="50000"/>
                  </a:schemeClr>
                </a:solidFill>
              </a:rPr>
              <a:t>Data</a:t>
            </a:r>
            <a:r>
              <a:rPr lang="ru-RU" altLang="ru-RU" sz="2400" b="1" i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ru-RU" altLang="ru-RU" sz="2400" b="1" i="1" dirty="0" err="1">
                <a:solidFill>
                  <a:schemeClr val="accent3">
                    <a:lumMod val="50000"/>
                  </a:schemeClr>
                </a:solidFill>
              </a:rPr>
              <a:t>for</a:t>
            </a:r>
            <a:r>
              <a:rPr lang="ru-RU" altLang="ru-RU" sz="2400" b="1" i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ru-RU" altLang="ru-RU" sz="2400" b="1" i="1" dirty="0" err="1">
                <a:solidFill>
                  <a:schemeClr val="accent3">
                    <a:lumMod val="50000"/>
                  </a:schemeClr>
                </a:solidFill>
              </a:rPr>
              <a:t>Global</a:t>
            </a:r>
            <a:r>
              <a:rPr lang="ru-RU" altLang="ru-RU" sz="2400" b="1" i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ru-RU" altLang="ru-RU" sz="2400" b="1" i="1" dirty="0" err="1">
                <a:solidFill>
                  <a:schemeClr val="accent3">
                    <a:lumMod val="50000"/>
                  </a:schemeClr>
                </a:solidFill>
              </a:rPr>
              <a:t>Evolution</a:t>
            </a:r>
            <a:r>
              <a:rPr lang="ru-RU" altLang="ru-RU" sz="2400" b="1" dirty="0">
                <a:solidFill>
                  <a:schemeClr val="accent3">
                    <a:lumMod val="50000"/>
                  </a:schemeClr>
                </a:solidFill>
              </a:rPr>
              <a:t>)</a:t>
            </a:r>
          </a:p>
          <a:p>
            <a:pPr lvl="1">
              <a:buFontTx/>
              <a:buChar char="•"/>
            </a:pPr>
            <a:r>
              <a:rPr lang="ru-RU" altLang="ru-RU" sz="2000" dirty="0"/>
              <a:t>встроенный браузер</a:t>
            </a:r>
            <a:r>
              <a:rPr lang="en-US" altLang="ru-RU" sz="2000" dirty="0"/>
              <a:t> (</a:t>
            </a:r>
            <a:r>
              <a:rPr lang="en-US" altLang="ru-RU" sz="2000" i="1" dirty="0"/>
              <a:t>Opera Mini</a:t>
            </a:r>
            <a:r>
              <a:rPr lang="en-US" altLang="ru-RU" sz="2000" dirty="0"/>
              <a:t> – </a:t>
            </a:r>
            <a:r>
              <a:rPr lang="ru-RU" altLang="ru-RU" sz="2000" dirty="0"/>
              <a:t>сжатие страниц</a:t>
            </a:r>
            <a:r>
              <a:rPr lang="en-US" altLang="ru-RU" sz="2000" dirty="0"/>
              <a:t>)</a:t>
            </a:r>
            <a:endParaRPr lang="ru-RU" altLang="ru-RU" sz="2000" dirty="0"/>
          </a:p>
          <a:p>
            <a:pPr lvl="1">
              <a:buFontTx/>
              <a:buChar char="•"/>
            </a:pPr>
            <a:r>
              <a:rPr lang="ru-RU" altLang="ru-RU" sz="2000" dirty="0"/>
              <a:t>поддержка языка </a:t>
            </a:r>
            <a:r>
              <a:rPr lang="en-US" altLang="ru-RU" sz="2000" dirty="0"/>
              <a:t>Java</a:t>
            </a:r>
            <a:endParaRPr lang="ru-RU" altLang="ru-RU" sz="2000" dirty="0"/>
          </a:p>
          <a:p>
            <a:pPr lvl="1">
              <a:buFontTx/>
              <a:buChar char="•"/>
            </a:pPr>
            <a:r>
              <a:rPr lang="ru-RU" altLang="ru-RU" sz="2000" dirty="0"/>
              <a:t>встроенная программа для </a:t>
            </a:r>
            <a:r>
              <a:rPr lang="en-US" altLang="ru-RU" sz="2000" dirty="0"/>
              <a:t>e-mail</a:t>
            </a:r>
            <a:endParaRPr lang="ru-RU" altLang="ru-RU" sz="2000" dirty="0"/>
          </a:p>
          <a:p>
            <a:pPr lvl="1">
              <a:buFontTx/>
              <a:buChar char="•"/>
            </a:pPr>
            <a:r>
              <a:rPr lang="ru-RU" altLang="ru-RU" sz="2000" dirty="0"/>
              <a:t>можно использовать вместо модема для компьютера</a:t>
            </a:r>
          </a:p>
        </p:txBody>
      </p:sp>
      <p:sp>
        <p:nvSpPr>
          <p:cNvPr id="257034" name="Rectangle 10"/>
          <p:cNvSpPr>
            <a:spLocks noChangeArrowheads="1"/>
          </p:cNvSpPr>
          <p:nvPr/>
        </p:nvSpPr>
        <p:spPr bwMode="auto">
          <a:xfrm>
            <a:off x="1958976" y="5032376"/>
            <a:ext cx="8074025" cy="142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58775" indent="-1793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2400" b="1" dirty="0">
                <a:solidFill>
                  <a:schemeClr val="accent3">
                    <a:lumMod val="50000"/>
                  </a:schemeClr>
                </a:solidFill>
              </a:rPr>
              <a:t>Смартфоны: </a:t>
            </a:r>
            <a:r>
              <a:rPr lang="ru-RU" altLang="ru-RU" sz="2000" dirty="0"/>
              <a:t>кроме того</a:t>
            </a:r>
            <a:endParaRPr lang="ru-RU" altLang="ru-RU" sz="2000" b="1" dirty="0">
              <a:solidFill>
                <a:schemeClr val="accent2"/>
              </a:solidFill>
            </a:endParaRPr>
          </a:p>
          <a:p>
            <a:pPr lvl="1">
              <a:buFontTx/>
              <a:buChar char="•"/>
            </a:pPr>
            <a:r>
              <a:rPr lang="ru-RU" altLang="ru-RU" sz="2000" dirty="0"/>
              <a:t>проигрывание музыки, видео</a:t>
            </a:r>
          </a:p>
          <a:p>
            <a:pPr lvl="1">
              <a:buFontTx/>
              <a:buChar char="•"/>
            </a:pPr>
            <a:r>
              <a:rPr lang="ru-RU" altLang="ru-RU" sz="2000" dirty="0"/>
              <a:t>съемка фото и видео</a:t>
            </a:r>
          </a:p>
          <a:p>
            <a:pPr lvl="1">
              <a:buFontTx/>
              <a:buChar char="•"/>
            </a:pPr>
            <a:r>
              <a:rPr lang="ru-RU" altLang="ru-RU" sz="2000" dirty="0"/>
              <a:t>операционная система, офисные программы</a:t>
            </a:r>
          </a:p>
        </p:txBody>
      </p:sp>
      <p:pic>
        <p:nvPicPr>
          <p:cNvPr id="257035" name="Picture 11" descr="Картинка в сообщении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4488" y="4740275"/>
            <a:ext cx="1003300" cy="187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036" name="Picture 12" descr="Картинка в сообщении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0651" y="2776538"/>
            <a:ext cx="1243013" cy="1795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60758" y="71782"/>
            <a:ext cx="7182927" cy="909292"/>
          </a:xfrm>
        </p:spPr>
        <p:txBody>
          <a:bodyPr>
            <a:normAutofit fontScale="90000"/>
          </a:bodyPr>
          <a:lstStyle/>
          <a:p>
            <a:r>
              <a:rPr lang="ru-RU" altLang="ru-RU" dirty="0" smtClean="0"/>
              <a:t>ИНТЕРНЕТ ЧЕРЕЗ </a:t>
            </a:r>
            <a:br>
              <a:rPr lang="ru-RU" altLang="ru-RU" dirty="0" smtClean="0"/>
            </a:br>
            <a:r>
              <a:rPr lang="ru-RU" altLang="ru-RU" dirty="0" smtClean="0"/>
              <a:t>МОБИЛЬНЫЙ ТЕЛЕФОН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639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7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7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57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57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57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57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57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57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57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28" grpId="0" build="p" bldLvl="2"/>
      <p:bldP spid="257032" grpId="0"/>
      <p:bldP spid="257033" grpId="0"/>
      <p:bldP spid="25703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Line 2"/>
          <p:cNvSpPr>
            <a:spLocks noChangeShapeType="1"/>
          </p:cNvSpPr>
          <p:nvPr/>
        </p:nvSpPr>
        <p:spPr bwMode="auto">
          <a:xfrm>
            <a:off x="2128840" y="831434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54980" name="Text Box 4"/>
          <p:cNvSpPr txBox="1">
            <a:spLocks noChangeArrowheads="1"/>
          </p:cNvSpPr>
          <p:nvPr/>
        </p:nvSpPr>
        <p:spPr bwMode="auto">
          <a:xfrm>
            <a:off x="1908176" y="804863"/>
            <a:ext cx="8482013" cy="588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42913" indent="-2635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99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ru-RU" altLang="ru-RU" sz="2400" b="1" dirty="0" err="1">
                <a:solidFill>
                  <a:schemeClr val="accent3">
                    <a:lumMod val="50000"/>
                  </a:schemeClr>
                </a:solidFill>
              </a:rPr>
              <a:t>Нетикет</a:t>
            </a:r>
            <a:r>
              <a:rPr lang="en-US" altLang="ru-RU" sz="2400" b="1" dirty="0"/>
              <a:t> </a:t>
            </a:r>
            <a:r>
              <a:rPr lang="ru-RU" altLang="ru-RU" sz="2400" b="1" dirty="0"/>
              <a:t>(</a:t>
            </a:r>
            <a:r>
              <a:rPr lang="en-US" altLang="ru-RU" sz="2400" b="1" i="1" dirty="0"/>
              <a:t>net </a:t>
            </a:r>
            <a:r>
              <a:rPr lang="en-US" altLang="ru-RU" sz="2400" b="1" dirty="0"/>
              <a:t>+ </a:t>
            </a:r>
            <a:r>
              <a:rPr lang="en-US" altLang="ru-RU" sz="2400" b="1" i="1" dirty="0"/>
              <a:t>etiquette</a:t>
            </a:r>
            <a:r>
              <a:rPr lang="en-US" altLang="ru-RU" sz="2400" b="1" dirty="0"/>
              <a:t>)</a:t>
            </a:r>
            <a:r>
              <a:rPr lang="ru-RU" altLang="ru-RU" sz="2400" b="1" dirty="0"/>
              <a:t> </a:t>
            </a:r>
            <a:r>
              <a:rPr lang="en-US" altLang="ru-RU" sz="2400" b="1" dirty="0"/>
              <a:t>– </a:t>
            </a:r>
            <a:r>
              <a:rPr lang="ru-RU" altLang="ru-RU" sz="2400" b="1" dirty="0">
                <a:solidFill>
                  <a:schemeClr val="accent3">
                    <a:lumMod val="50000"/>
                  </a:schemeClr>
                </a:solidFill>
              </a:rPr>
              <a:t>правила хорошего тона при общении в Интернете.</a:t>
            </a: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ru-RU" altLang="ru-RU" sz="2400" b="1" dirty="0">
                <a:solidFill>
                  <a:schemeClr val="accent3">
                    <a:lumMod val="50000"/>
                  </a:schemeClr>
                </a:solidFill>
              </a:rPr>
              <a:t>Электронная почта:</a:t>
            </a:r>
          </a:p>
          <a:p>
            <a:pPr lvl="1" eaLnBrk="0" hangingPunct="0">
              <a:spcBef>
                <a:spcPct val="10000"/>
              </a:spcBef>
              <a:buFont typeface="Wingdings" panose="05000000000000000000" pitchFamily="2" charset="2"/>
              <a:buChar char="§"/>
            </a:pPr>
            <a:r>
              <a:rPr lang="ru-RU" altLang="ru-RU" sz="2000" dirty="0"/>
              <a:t>тема сообщения, приветствие, подпись</a:t>
            </a:r>
          </a:p>
          <a:p>
            <a:pPr lvl="1" eaLnBrk="0" hangingPunct="0">
              <a:spcBef>
                <a:spcPct val="10000"/>
              </a:spcBef>
              <a:buFont typeface="Wingdings" panose="05000000000000000000" pitchFamily="2" charset="2"/>
              <a:buChar char="§"/>
            </a:pPr>
            <a:r>
              <a:rPr lang="ru-RU" altLang="ru-RU" sz="2000" dirty="0"/>
              <a:t>не набирать предложения заглавными буквами</a:t>
            </a:r>
          </a:p>
          <a:p>
            <a:pPr lvl="1" eaLnBrk="0" hangingPunct="0">
              <a:spcBef>
                <a:spcPct val="10000"/>
              </a:spcBef>
              <a:buFont typeface="Wingdings" panose="05000000000000000000" pitchFamily="2" charset="2"/>
              <a:buChar char="§"/>
            </a:pPr>
            <a:r>
              <a:rPr lang="ru-RU" altLang="ru-RU" sz="2000" dirty="0"/>
              <a:t>не посылать большие файлы без договоренности</a:t>
            </a:r>
          </a:p>
          <a:p>
            <a:pPr lvl="1" eaLnBrk="0" hangingPunct="0">
              <a:spcBef>
                <a:spcPct val="10000"/>
              </a:spcBef>
              <a:buFont typeface="Wingdings" panose="05000000000000000000" pitchFamily="2" charset="2"/>
              <a:buChar char="§"/>
            </a:pPr>
            <a:r>
              <a:rPr lang="ru-RU" altLang="ru-RU" sz="2000" dirty="0"/>
              <a:t>не пересылать исполняемые файлы (</a:t>
            </a:r>
            <a:r>
              <a:rPr lang="en-US" altLang="ru-RU" sz="2000" dirty="0"/>
              <a:t>*.exe</a:t>
            </a:r>
            <a:r>
              <a:rPr lang="ru-RU" altLang="ru-RU" sz="2000" dirty="0"/>
              <a:t>)</a:t>
            </a:r>
            <a:endParaRPr lang="en-US" altLang="ru-RU" sz="2000" dirty="0"/>
          </a:p>
          <a:p>
            <a:pPr lvl="1" eaLnBrk="0" hangingPunct="0">
              <a:spcBef>
                <a:spcPct val="10000"/>
              </a:spcBef>
              <a:buFont typeface="Wingdings" panose="05000000000000000000" pitchFamily="2" charset="2"/>
              <a:buChar char="§"/>
            </a:pPr>
            <a:r>
              <a:rPr lang="ru-RU" altLang="ru-RU" sz="2000" dirty="0"/>
              <a:t>не использовать нецензурных и жаргонных выражений</a:t>
            </a: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ru-RU" altLang="ru-RU" sz="2400" b="1" dirty="0">
                <a:solidFill>
                  <a:schemeClr val="accent3">
                    <a:lumMod val="50000"/>
                  </a:schemeClr>
                </a:solidFill>
              </a:rPr>
              <a:t>Форумы:</a:t>
            </a:r>
          </a:p>
          <a:p>
            <a:pPr lvl="1" eaLnBrk="0" hangingPunct="0">
              <a:spcBef>
                <a:spcPct val="10000"/>
              </a:spcBef>
              <a:buFont typeface="Wingdings" panose="05000000000000000000" pitchFamily="2" charset="2"/>
              <a:buChar char="§"/>
            </a:pPr>
            <a:r>
              <a:rPr lang="ru-RU" altLang="ru-RU" sz="2000" dirty="0"/>
              <a:t>прочитать список вопросов и ответов (</a:t>
            </a:r>
            <a:r>
              <a:rPr lang="en-US" altLang="ru-RU" sz="2000" dirty="0"/>
              <a:t>FAQ, </a:t>
            </a:r>
            <a:r>
              <a:rPr lang="ru-RU" altLang="ru-RU" sz="2000" dirty="0" err="1"/>
              <a:t>ЧаВо</a:t>
            </a:r>
            <a:r>
              <a:rPr lang="ru-RU" altLang="ru-RU" sz="2000" dirty="0"/>
              <a:t>)</a:t>
            </a:r>
            <a:endParaRPr lang="en-US" altLang="ru-RU" sz="2000" dirty="0"/>
          </a:p>
          <a:p>
            <a:pPr lvl="1" eaLnBrk="0" hangingPunct="0">
              <a:spcBef>
                <a:spcPct val="10000"/>
              </a:spcBef>
              <a:buFont typeface="Wingdings" panose="05000000000000000000" pitchFamily="2" charset="2"/>
              <a:buChar char="§"/>
            </a:pPr>
            <a:r>
              <a:rPr lang="ru-RU" altLang="ru-RU" sz="2000" dirty="0"/>
              <a:t>не отклоняться от темы форума </a:t>
            </a:r>
            <a:r>
              <a:rPr lang="ru-RU" altLang="ru-RU" sz="2000" i="1" dirty="0"/>
              <a:t>(</a:t>
            </a:r>
            <a:r>
              <a:rPr lang="en-US" altLang="ru-RU" sz="2000" i="1" dirty="0"/>
              <a:t>off-topic</a:t>
            </a:r>
            <a:r>
              <a:rPr lang="en-US" altLang="ru-RU" sz="2000" dirty="0"/>
              <a:t> – </a:t>
            </a:r>
            <a:r>
              <a:rPr lang="ru-RU" altLang="ru-RU" sz="2000" dirty="0"/>
              <a:t>«вне темы»</a:t>
            </a:r>
            <a:r>
              <a:rPr lang="ru-RU" altLang="ru-RU" sz="2000" i="1" dirty="0"/>
              <a:t>)</a:t>
            </a:r>
          </a:p>
          <a:p>
            <a:pPr lvl="1" eaLnBrk="0" hangingPunct="0">
              <a:spcBef>
                <a:spcPct val="10000"/>
              </a:spcBef>
              <a:buFont typeface="Wingdings" panose="05000000000000000000" pitchFamily="2" charset="2"/>
              <a:buChar char="§"/>
            </a:pPr>
            <a:r>
              <a:rPr lang="ru-RU" altLang="ru-RU" sz="2000" dirty="0"/>
              <a:t>не набирать предложения заглавными буквами </a:t>
            </a:r>
          </a:p>
          <a:p>
            <a:pPr lvl="1" eaLnBrk="0" hangingPunct="0">
              <a:spcBef>
                <a:spcPct val="10000"/>
              </a:spcBef>
              <a:buFont typeface="Wingdings" panose="05000000000000000000" pitchFamily="2" charset="2"/>
              <a:buChar char="§"/>
            </a:pPr>
            <a:r>
              <a:rPr lang="ru-RU" altLang="ru-RU" sz="2000" dirty="0"/>
              <a:t>не оскорблять участников</a:t>
            </a: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ru-RU" altLang="ru-RU" sz="2400" b="1" dirty="0">
                <a:solidFill>
                  <a:schemeClr val="accent3">
                    <a:lumMod val="50000"/>
                  </a:schemeClr>
                </a:solidFill>
              </a:rPr>
              <a:t>Чаты:</a:t>
            </a:r>
          </a:p>
          <a:p>
            <a:pPr lvl="1" eaLnBrk="0" hangingPunct="0">
              <a:spcBef>
                <a:spcPct val="10000"/>
              </a:spcBef>
              <a:buFont typeface="Wingdings" panose="05000000000000000000" pitchFamily="2" charset="2"/>
              <a:buChar char="§"/>
            </a:pPr>
            <a:r>
              <a:rPr lang="ru-RU" altLang="ru-RU" sz="2000" dirty="0"/>
              <a:t>не встревать в чужой разговор</a:t>
            </a:r>
            <a:endParaRPr lang="en-US" altLang="ru-RU" sz="2000" dirty="0"/>
          </a:p>
          <a:p>
            <a:pPr lvl="1" eaLnBrk="0" hangingPunct="0">
              <a:spcBef>
                <a:spcPct val="10000"/>
              </a:spcBef>
              <a:buFont typeface="Wingdings" panose="05000000000000000000" pitchFamily="2" charset="2"/>
              <a:buChar char="§"/>
            </a:pPr>
            <a:r>
              <a:rPr lang="ru-RU" altLang="ru-RU" sz="2000" dirty="0"/>
              <a:t>не обижаться, если он ушел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989638" y="8905"/>
            <a:ext cx="5975465" cy="909292"/>
          </a:xfrm>
        </p:spPr>
        <p:txBody>
          <a:bodyPr>
            <a:normAutofit/>
          </a:bodyPr>
          <a:lstStyle/>
          <a:p>
            <a:r>
              <a:rPr lang="ru-RU" altLang="ru-RU" dirty="0" smtClean="0"/>
              <a:t>НЕТИКЕТ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846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4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49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549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549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549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549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549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549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549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549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5498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5498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5498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5498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5498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80" grpId="0" build="p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12632" y="0"/>
            <a:ext cx="7239000" cy="1010653"/>
          </a:xfrm>
        </p:spPr>
        <p:txBody>
          <a:bodyPr rtlCol="0">
            <a:noAutofit/>
          </a:bodyPr>
          <a:lstStyle/>
          <a:p>
            <a:r>
              <a:rPr lang="ru-RU" sz="3600" dirty="0" smtClean="0">
                <a:latin typeface="Calibri" panose="020F0502020204030204" pitchFamily="34" charset="0"/>
              </a:rPr>
              <a:t>КОМПОНЕНТЫ И РЕСУРСЫ </a:t>
            </a:r>
            <a:br>
              <a:rPr lang="ru-RU" sz="3600" dirty="0" smtClean="0">
                <a:latin typeface="Calibri" panose="020F0502020204030204" pitchFamily="34" charset="0"/>
              </a:rPr>
            </a:br>
            <a:r>
              <a:rPr lang="ru-RU" sz="3600" dirty="0" smtClean="0">
                <a:latin typeface="Calibri" panose="020F0502020204030204" pitchFamily="34" charset="0"/>
              </a:rPr>
              <a:t>ЛОКАЛЬНОЙ СЕТИ</a:t>
            </a:r>
            <a:endParaRPr lang="ru-RU" sz="3600" dirty="0">
              <a:latin typeface="Calibri" panose="020F050202020403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2202031" y="1702793"/>
            <a:ext cx="9372349" cy="4120492"/>
          </a:xfrm>
        </p:spPr>
        <p:txBody>
          <a:bodyPr rtlCol="0">
            <a:normAutofit/>
          </a:bodyPr>
          <a:lstStyle/>
          <a:p>
            <a:pPr algn="just"/>
            <a:r>
              <a:rPr lang="ru-RU" b="1" i="0" dirty="0" smtClean="0">
                <a:solidFill>
                  <a:schemeClr val="accent3">
                    <a:lumMod val="50000"/>
                  </a:schemeClr>
                </a:solidFill>
                <a:effectLst/>
                <a:latin typeface="+mn-lt"/>
                <a:cs typeface="Calibri" panose="020F0502020204030204" pitchFamily="34" charset="0"/>
              </a:rPr>
              <a:t>Локальная </a:t>
            </a:r>
            <a:r>
              <a:rPr lang="ru-RU" b="1" i="0" dirty="0">
                <a:solidFill>
                  <a:schemeClr val="accent3">
                    <a:lumMod val="50000"/>
                  </a:schemeClr>
                </a:solidFill>
                <a:effectLst/>
                <a:latin typeface="+mn-lt"/>
                <a:cs typeface="Calibri" panose="020F0502020204030204" pitchFamily="34" charset="0"/>
              </a:rPr>
              <a:t>вычислительная сеть</a:t>
            </a:r>
            <a:r>
              <a:rPr lang="ru-RU" b="0" i="0" dirty="0">
                <a:solidFill>
                  <a:srgbClr val="333333"/>
                </a:solidFill>
                <a:effectLst/>
                <a:latin typeface="+mn-lt"/>
                <a:cs typeface="Calibri" panose="020F0502020204030204" pitchFamily="34" charset="0"/>
              </a:rPr>
              <a:t> (LAN, Local Area Network) – это компьютерная сеть, </a:t>
            </a:r>
            <a:r>
              <a:rPr lang="ru-RU" b="0" i="0" dirty="0" smtClean="0">
                <a:solidFill>
                  <a:srgbClr val="333333"/>
                </a:solidFill>
                <a:effectLst/>
                <a:latin typeface="+mn-lt"/>
                <a:cs typeface="Calibri" panose="020F0502020204030204" pitchFamily="34" charset="0"/>
              </a:rPr>
              <a:t>покрывающая </a:t>
            </a:r>
            <a:r>
              <a:rPr lang="ru-RU" b="0" i="0" dirty="0">
                <a:solidFill>
                  <a:srgbClr val="333333"/>
                </a:solidFill>
                <a:effectLst/>
                <a:latin typeface="+mn-lt"/>
                <a:cs typeface="Calibri" panose="020F0502020204030204" pitchFamily="34" charset="0"/>
              </a:rPr>
              <a:t>относительно небольшую территорию или небольшую группу зданий (дом, </a:t>
            </a:r>
            <a:r>
              <a:rPr lang="ru-RU" dirty="0" smtClean="0">
                <a:solidFill>
                  <a:srgbClr val="333333"/>
                </a:solidFill>
                <a:latin typeface="+mn-lt"/>
                <a:cs typeface="Calibri" panose="020F0502020204030204" pitchFamily="34" charset="0"/>
              </a:rPr>
              <a:t>организацию, школу, </a:t>
            </a:r>
            <a:r>
              <a:rPr lang="ru-RU" b="0" i="0" dirty="0" smtClean="0">
                <a:solidFill>
                  <a:srgbClr val="333333"/>
                </a:solidFill>
                <a:effectLst/>
                <a:latin typeface="+mn-lt"/>
                <a:cs typeface="Calibri" panose="020F0502020204030204" pitchFamily="34" charset="0"/>
              </a:rPr>
              <a:t>институт).</a:t>
            </a:r>
          </a:p>
          <a:p>
            <a:pPr algn="just"/>
            <a:r>
              <a:rPr lang="ru-RU" b="1" dirty="0">
                <a:solidFill>
                  <a:srgbClr val="333333"/>
                </a:solidFill>
                <a:latin typeface="+mn-lt"/>
                <a:cs typeface="Calibri" panose="020F0502020204030204" pitchFamily="34" charset="0"/>
              </a:rPr>
              <a:t>С</a:t>
            </a:r>
            <a:r>
              <a:rPr lang="ru-RU" b="1" i="0" dirty="0" smtClean="0">
                <a:solidFill>
                  <a:srgbClr val="333333"/>
                </a:solidFill>
                <a:effectLst/>
                <a:latin typeface="+mn-lt"/>
                <a:cs typeface="Calibri" panose="020F0502020204030204" pitchFamily="34" charset="0"/>
              </a:rPr>
              <a:t>еть </a:t>
            </a:r>
            <a:r>
              <a:rPr lang="ru-RU" b="1" i="0" dirty="0">
                <a:solidFill>
                  <a:srgbClr val="333333"/>
                </a:solidFill>
                <a:effectLst/>
                <a:latin typeface="+mn-lt"/>
                <a:cs typeface="Calibri" panose="020F0502020204030204" pitchFamily="34" charset="0"/>
              </a:rPr>
              <a:t>Интранет (</a:t>
            </a:r>
            <a:r>
              <a:rPr lang="en-US" b="1" i="0" dirty="0">
                <a:solidFill>
                  <a:srgbClr val="333333"/>
                </a:solidFill>
                <a:effectLst/>
                <a:latin typeface="+mn-lt"/>
                <a:cs typeface="Calibri" panose="020F0502020204030204" pitchFamily="34" charset="0"/>
              </a:rPr>
              <a:t>INTRANET</a:t>
            </a:r>
            <a:r>
              <a:rPr lang="ru-RU" b="1" i="0" dirty="0">
                <a:solidFill>
                  <a:srgbClr val="333333"/>
                </a:solidFill>
                <a:effectLst/>
                <a:latin typeface="+mn-lt"/>
                <a:cs typeface="Calibri" panose="020F0502020204030204" pitchFamily="34" charset="0"/>
              </a:rPr>
              <a:t>)</a:t>
            </a:r>
            <a:r>
              <a:rPr lang="en-US" b="1" i="0" dirty="0">
                <a:solidFill>
                  <a:srgbClr val="333333"/>
                </a:solidFill>
                <a:effectLst/>
                <a:latin typeface="+mn-lt"/>
                <a:cs typeface="Calibri" panose="020F0502020204030204" pitchFamily="34" charset="0"/>
              </a:rPr>
              <a:t> </a:t>
            </a:r>
            <a:r>
              <a:rPr lang="en-US" b="0" i="0" dirty="0">
                <a:solidFill>
                  <a:srgbClr val="333333"/>
                </a:solidFill>
                <a:effectLst/>
                <a:latin typeface="+mn-lt"/>
                <a:cs typeface="Calibri" panose="020F0502020204030204" pitchFamily="34" charset="0"/>
              </a:rPr>
              <a:t>–</a:t>
            </a:r>
            <a:r>
              <a:rPr lang="ru-RU" b="0" i="0" dirty="0">
                <a:solidFill>
                  <a:srgbClr val="333333"/>
                </a:solidFill>
                <a:effectLst/>
                <a:latin typeface="+mn-lt"/>
                <a:cs typeface="Calibri" panose="020F0502020204030204" pitchFamily="34" charset="0"/>
              </a:rPr>
              <a:t> внутренняя корпоративная сеть, как правило без выхода в сеть интернет.</a:t>
            </a:r>
          </a:p>
          <a:p>
            <a:pPr algn="just"/>
            <a:r>
              <a:rPr lang="ru-RU" b="1" i="0" dirty="0" smtClean="0">
                <a:solidFill>
                  <a:srgbClr val="333333"/>
                </a:solidFill>
                <a:effectLst/>
                <a:latin typeface="+mn-lt"/>
                <a:cs typeface="Calibri" panose="020F0502020204030204" pitchFamily="34" charset="0"/>
              </a:rPr>
              <a:t>Локальная </a:t>
            </a:r>
            <a:r>
              <a:rPr lang="ru-RU" b="1" i="0" dirty="0">
                <a:solidFill>
                  <a:srgbClr val="333333"/>
                </a:solidFill>
                <a:effectLst/>
                <a:latin typeface="+mn-lt"/>
                <a:cs typeface="Calibri" panose="020F0502020204030204" pitchFamily="34" charset="0"/>
              </a:rPr>
              <a:t>сеть (ЛВС) </a:t>
            </a:r>
            <a:r>
              <a:rPr lang="ru-RU" b="0" i="0" dirty="0">
                <a:solidFill>
                  <a:srgbClr val="333333"/>
                </a:solidFill>
                <a:effectLst/>
                <a:latin typeface="+mn-lt"/>
                <a:cs typeface="Calibri" panose="020F0502020204030204" pitchFamily="34" charset="0"/>
              </a:rPr>
              <a:t>нужна для совместного использования ресурсов (принтер, файловое хранилище, обмен данными, общий доступ в Интернет и другие). </a:t>
            </a:r>
            <a:endParaRPr lang="ru-RU" b="0" i="0" dirty="0" smtClean="0">
              <a:solidFill>
                <a:srgbClr val="333333"/>
              </a:solidFill>
              <a:effectLst/>
              <a:latin typeface="+mn-lt"/>
              <a:cs typeface="Calibri" panose="020F0502020204030204" pitchFamily="34" charset="0"/>
            </a:endParaRPr>
          </a:p>
        </p:txBody>
      </p:sp>
      <p:sp>
        <p:nvSpPr>
          <p:cNvPr id="7" name="Line 2"/>
          <p:cNvSpPr>
            <a:spLocks noChangeShapeType="1"/>
          </p:cNvSpPr>
          <p:nvPr/>
        </p:nvSpPr>
        <p:spPr bwMode="auto">
          <a:xfrm>
            <a:off x="1919289" y="992942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4651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12632" y="72192"/>
            <a:ext cx="7239000" cy="1010653"/>
          </a:xfrm>
        </p:spPr>
        <p:txBody>
          <a:bodyPr rtlCol="0">
            <a:noAutofit/>
          </a:bodyPr>
          <a:lstStyle/>
          <a:p>
            <a:r>
              <a:rPr lang="ru-RU" sz="3600" dirty="0" smtClean="0">
                <a:latin typeface="Calibri" panose="020F0502020204030204" pitchFamily="34" charset="0"/>
              </a:rPr>
              <a:t>КОМПОНЕНТЫ И РЕСУРСЫ </a:t>
            </a:r>
            <a:br>
              <a:rPr lang="ru-RU" sz="3600" dirty="0" smtClean="0">
                <a:latin typeface="Calibri" panose="020F0502020204030204" pitchFamily="34" charset="0"/>
              </a:rPr>
            </a:br>
            <a:r>
              <a:rPr lang="ru-RU" sz="3600" dirty="0" smtClean="0">
                <a:latin typeface="Calibri" panose="020F0502020204030204" pitchFamily="34" charset="0"/>
              </a:rPr>
              <a:t>ЛОКАЛЬНОЙ СЕТИ</a:t>
            </a:r>
            <a:endParaRPr lang="ru-RU" sz="3600" dirty="0">
              <a:latin typeface="Calibri" panose="020F050202020403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2333929" y="1931403"/>
            <a:ext cx="8469980" cy="3807671"/>
          </a:xfrm>
        </p:spPr>
        <p:txBody>
          <a:bodyPr rtlCol="0">
            <a:normAutofit lnSpcReduction="10000"/>
          </a:bodyPr>
          <a:lstStyle/>
          <a:p>
            <a:pPr algn="just"/>
            <a:r>
              <a:rPr lang="ru-RU" b="0" i="0" dirty="0" smtClean="0">
                <a:solidFill>
                  <a:srgbClr val="333333"/>
                </a:solidFill>
                <a:effectLst/>
                <a:latin typeface="+mn-lt"/>
                <a:cs typeface="Calibri" panose="020F0502020204030204" pitchFamily="34" charset="0"/>
              </a:rPr>
              <a:t>Участники </a:t>
            </a:r>
            <a:r>
              <a:rPr lang="ru-RU" b="0" i="0" dirty="0">
                <a:solidFill>
                  <a:srgbClr val="333333"/>
                </a:solidFill>
                <a:effectLst/>
                <a:latin typeface="+mn-lt"/>
                <a:cs typeface="Calibri" panose="020F0502020204030204" pitchFamily="34" charset="0"/>
              </a:rPr>
              <a:t>одной локальной сети могут обмениваться данными между своими устройствами без подключения к интернет провайдеру. </a:t>
            </a:r>
            <a:endParaRPr lang="ru-RU" b="0" i="0" dirty="0" smtClean="0">
              <a:solidFill>
                <a:srgbClr val="333333"/>
              </a:solidFill>
              <a:effectLst/>
              <a:latin typeface="+mn-lt"/>
              <a:cs typeface="Calibri" panose="020F0502020204030204" pitchFamily="34" charset="0"/>
            </a:endParaRPr>
          </a:p>
          <a:p>
            <a:pPr algn="just"/>
            <a:r>
              <a:rPr lang="ru-RU" dirty="0">
                <a:solidFill>
                  <a:srgbClr val="333333"/>
                </a:solidFill>
                <a:latin typeface="+mn-lt"/>
                <a:cs typeface="Calibri" panose="020F0502020204030204" pitchFamily="34" charset="0"/>
              </a:rPr>
              <a:t>Ч</a:t>
            </a:r>
            <a:r>
              <a:rPr lang="ru-RU" b="0" i="0" dirty="0" smtClean="0">
                <a:solidFill>
                  <a:srgbClr val="333333"/>
                </a:solidFill>
                <a:effectLst/>
                <a:latin typeface="+mn-lt"/>
                <a:cs typeface="Calibri" panose="020F0502020204030204" pitchFamily="34" charset="0"/>
              </a:rPr>
              <a:t>тобы </a:t>
            </a:r>
            <a:r>
              <a:rPr lang="ru-RU" b="0" i="0" dirty="0">
                <a:solidFill>
                  <a:srgbClr val="333333"/>
                </a:solidFill>
                <a:effectLst/>
                <a:latin typeface="+mn-lt"/>
                <a:cs typeface="Calibri" panose="020F0502020204030204" pitchFamily="34" charset="0"/>
              </a:rPr>
              <a:t>выйти в сеть (например, выйти в поисковик Яндекс или Google, зайти в VK, Instagram, YouTube ) необходим доступ к </a:t>
            </a:r>
            <a:r>
              <a:rPr lang="ru-RU" b="1" i="0" dirty="0">
                <a:solidFill>
                  <a:srgbClr val="333333"/>
                </a:solidFill>
                <a:effectLst/>
                <a:latin typeface="+mn-lt"/>
                <a:cs typeface="Calibri" panose="020F0502020204030204" pitchFamily="34" charset="0"/>
              </a:rPr>
              <a:t>глобальной сети</a:t>
            </a:r>
            <a:r>
              <a:rPr lang="ru-RU" b="0" i="0" dirty="0">
                <a:solidFill>
                  <a:srgbClr val="333333"/>
                </a:solidFill>
                <a:effectLst/>
                <a:latin typeface="+mn-lt"/>
                <a:cs typeface="Calibri" panose="020F0502020204030204" pitchFamily="34" charset="0"/>
              </a:rPr>
              <a:t>.</a:t>
            </a:r>
          </a:p>
          <a:p>
            <a:pPr algn="just"/>
            <a:r>
              <a:rPr lang="ru-RU" b="1" dirty="0">
                <a:solidFill>
                  <a:schemeClr val="accent3">
                    <a:lumMod val="50000"/>
                  </a:schemeClr>
                </a:solidFill>
                <a:latin typeface="+mn-lt"/>
                <a:cs typeface="Calibri" panose="020F0502020204030204" pitchFamily="34" charset="0"/>
              </a:rPr>
              <a:t>Глобальная сеть </a:t>
            </a:r>
            <a:r>
              <a:rPr lang="ru-RU" dirty="0">
                <a:solidFill>
                  <a:srgbClr val="333333"/>
                </a:solidFill>
                <a:latin typeface="+mn-lt"/>
                <a:cs typeface="Calibri" panose="020F0502020204030204" pitchFamily="34" charset="0"/>
              </a:rPr>
              <a:t>(</a:t>
            </a:r>
            <a:r>
              <a:rPr lang="en-US" dirty="0">
                <a:solidFill>
                  <a:srgbClr val="333333"/>
                </a:solidFill>
                <a:latin typeface="+mn-lt"/>
                <a:cs typeface="Calibri" panose="020F0502020204030204" pitchFamily="34" charset="0"/>
              </a:rPr>
              <a:t>WAN – Word Area Network</a:t>
            </a:r>
            <a:r>
              <a:rPr lang="ru-RU" dirty="0">
                <a:solidFill>
                  <a:srgbClr val="333333"/>
                </a:solidFill>
                <a:latin typeface="+mn-lt"/>
                <a:cs typeface="Calibri" panose="020F0502020204030204" pitchFamily="34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+mn-lt"/>
                <a:cs typeface="Calibri" panose="020F0502020204030204" pitchFamily="34" charset="0"/>
              </a:rPr>
              <a:t> – </a:t>
            </a:r>
            <a:r>
              <a:rPr lang="ru-RU" dirty="0">
                <a:solidFill>
                  <a:srgbClr val="333333"/>
                </a:solidFill>
                <a:latin typeface="+mn-lt"/>
                <a:cs typeface="Calibri" panose="020F0502020204030204" pitchFamily="34" charset="0"/>
              </a:rPr>
              <a:t>любая сеть связи, которая охватывает всю Землю, например, сеть Интернет</a:t>
            </a:r>
            <a:r>
              <a:rPr lang="ru-RU" dirty="0">
                <a:solidFill>
                  <a:srgbClr val="333333"/>
                </a:solidFill>
                <a:latin typeface="+mn-lt"/>
                <a:cs typeface="Calibri" panose="020F0502020204030204" pitchFamily="34" charset="0"/>
              </a:rPr>
              <a:t>.</a:t>
            </a:r>
            <a:endParaRPr lang="ru-RU" dirty="0">
              <a:solidFill>
                <a:srgbClr val="333333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7" name="Line 2"/>
          <p:cNvSpPr>
            <a:spLocks noChangeShapeType="1"/>
          </p:cNvSpPr>
          <p:nvPr/>
        </p:nvSpPr>
        <p:spPr bwMode="auto">
          <a:xfrm>
            <a:off x="1919289" y="1149352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3480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4812632" y="72192"/>
            <a:ext cx="7239000" cy="1010653"/>
          </a:xfrm>
        </p:spPr>
        <p:txBody>
          <a:bodyPr rtlCol="0">
            <a:noAutofit/>
          </a:bodyPr>
          <a:lstStyle/>
          <a:p>
            <a:r>
              <a:rPr lang="ru-RU" sz="3600" dirty="0" smtClean="0">
                <a:latin typeface="Calibri" panose="020F0502020204030204" pitchFamily="34" charset="0"/>
              </a:rPr>
              <a:t>КОМПОНЕНТЫ И РЕСУРСЫ </a:t>
            </a:r>
            <a:br>
              <a:rPr lang="ru-RU" sz="3600" dirty="0" smtClean="0">
                <a:latin typeface="Calibri" panose="020F0502020204030204" pitchFamily="34" charset="0"/>
              </a:rPr>
            </a:br>
            <a:r>
              <a:rPr lang="ru-RU" sz="3600" dirty="0" smtClean="0">
                <a:latin typeface="Calibri" panose="020F0502020204030204" pitchFamily="34" charset="0"/>
              </a:rPr>
              <a:t>ЛОКАЛЬНОЙ СЕТИ</a:t>
            </a:r>
            <a:endParaRPr lang="ru-RU" sz="3600" dirty="0">
              <a:latin typeface="Calibri" panose="020F0502020204030204" pitchFamily="34" charset="0"/>
            </a:endParaRPr>
          </a:p>
        </p:txBody>
      </p:sp>
      <p:sp>
        <p:nvSpPr>
          <p:cNvPr id="9" name="Line 2"/>
          <p:cNvSpPr>
            <a:spLocks noChangeShapeType="1"/>
          </p:cNvSpPr>
          <p:nvPr/>
        </p:nvSpPr>
        <p:spPr bwMode="auto">
          <a:xfrm>
            <a:off x="1919289" y="1149352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graphicFrame>
        <p:nvGraphicFramePr>
          <p:cNvPr id="10" name="Таблица 5">
            <a:extLst>
              <a:ext uri="{FF2B5EF4-FFF2-40B4-BE49-F238E27FC236}">
                <a16:creationId xmlns:a16="http://schemas.microsoft.com/office/drawing/2014/main" xmlns="" id="{132CF67F-E3BF-F4B7-C2C8-7E7D82AED0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1493861"/>
              </p:ext>
            </p:extLst>
          </p:nvPr>
        </p:nvGraphicFramePr>
        <p:xfrm>
          <a:off x="1000548" y="1468522"/>
          <a:ext cx="5364157" cy="469164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4441">
                  <a:extLst>
                    <a:ext uri="{9D8B030D-6E8A-4147-A177-3AD203B41FA5}">
                      <a16:colId xmlns:a16="http://schemas.microsoft.com/office/drawing/2014/main" xmlns="" val="2931369118"/>
                    </a:ext>
                  </a:extLst>
                </a:gridCol>
                <a:gridCol w="5139716">
                  <a:extLst>
                    <a:ext uri="{9D8B030D-6E8A-4147-A177-3AD203B41FA5}">
                      <a16:colId xmlns:a16="http://schemas.microsoft.com/office/drawing/2014/main" xmlns="" val="2519053748"/>
                    </a:ext>
                  </a:extLst>
                </a:gridCol>
              </a:tblGrid>
              <a:tr h="4691645">
                <a:tc>
                  <a:txBody>
                    <a:bodyPr/>
                    <a:lstStyle/>
                    <a:p>
                      <a:pPr algn="just"/>
                      <a:endParaRPr lang="ru-RU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СОСТАВ ЛВС:</a:t>
                      </a:r>
                      <a:endParaRPr lang="en-US" sz="3200" b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ru-RU" sz="2800" b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Компьютеры </a:t>
                      </a:r>
                      <a:r>
                        <a:rPr lang="ru-RU" sz="28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разных типов (начиная от настольных ПК и заканчивая мейнфреймами);</a:t>
                      </a:r>
                    </a:p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ru-RU" sz="28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Сетевые адаптеры;</a:t>
                      </a:r>
                    </a:p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ru-RU" sz="28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Концентраторы;</a:t>
                      </a:r>
                    </a:p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ru-RU" sz="28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Программное обеспечение;</a:t>
                      </a:r>
                    </a:p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ru-RU" sz="28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Коммутаторы;</a:t>
                      </a:r>
                    </a:p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ru-RU" sz="28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Маршрутизаторы;</a:t>
                      </a:r>
                    </a:p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ru-RU" sz="28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Кабельная система</a:t>
                      </a:r>
                      <a:r>
                        <a:rPr lang="ru-RU" sz="2800" b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ru-RU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684027257"/>
                  </a:ext>
                </a:extLst>
              </a:tr>
            </a:tbl>
          </a:graphicData>
        </a:graphic>
      </p:graphicFrame>
      <p:pic>
        <p:nvPicPr>
          <p:cNvPr id="11" name="Picture 2">
            <a:extLst>
              <a:ext uri="{FF2B5EF4-FFF2-40B4-BE49-F238E27FC236}">
                <a16:creationId xmlns:a16="http://schemas.microsoft.com/office/drawing/2014/main" xmlns="" id="{65379D65-6AE1-77F6-CEFC-559EDC0DC8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1" r="2477" b="7417"/>
          <a:stretch/>
        </p:blipFill>
        <p:spPr bwMode="auto">
          <a:xfrm>
            <a:off x="6841958" y="1972521"/>
            <a:ext cx="4804115" cy="36823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31962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996723" y="276070"/>
            <a:ext cx="5975465" cy="909292"/>
          </a:xfrm>
        </p:spPr>
        <p:txBody>
          <a:bodyPr rtlCol="0" anchor="b">
            <a:normAutofit fontScale="90000"/>
          </a:bodyPr>
          <a:lstStyle/>
          <a:p>
            <a:pPr algn="ctr"/>
            <a:r>
              <a:rPr lang="ru-RU" dirty="0"/>
              <a:t>Компоненты и ресурсы локальной </a:t>
            </a:r>
            <a:r>
              <a:rPr lang="ru-RU" dirty="0" smtClean="0"/>
              <a:t>сети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4294967295"/>
          </p:nvPr>
        </p:nvSpPr>
        <p:spPr>
          <a:xfrm>
            <a:off x="2063672" y="1364833"/>
            <a:ext cx="9859627" cy="5084093"/>
          </a:xfrm>
        </p:spPr>
        <p:txBody>
          <a:bodyPr rtlCol="0"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ru-RU" b="1" dirty="0">
                <a:latin typeface="+mn-lt"/>
              </a:rPr>
              <a:t>Сервер</a:t>
            </a:r>
            <a:r>
              <a:rPr lang="ru-RU" dirty="0">
                <a:latin typeface="+mn-lt"/>
              </a:rPr>
              <a:t> – это компонент сети (как правило, мощный компьютер), оказывающий услуги пользователям сети, такие </a:t>
            </a:r>
            <a:r>
              <a:rPr lang="ru-RU" dirty="0" smtClean="0">
                <a:latin typeface="+mn-lt"/>
              </a:rPr>
              <a:t>как:</a:t>
            </a:r>
            <a:endParaRPr lang="ru-RU" dirty="0">
              <a:latin typeface="+mn-lt"/>
            </a:endParaRPr>
          </a:p>
          <a:p>
            <a:pPr lvl="1" algn="just"/>
            <a:r>
              <a:rPr lang="ru-RU" dirty="0">
                <a:latin typeface="+mn-lt"/>
              </a:rPr>
              <a:t>хранение данных (файловый сервер),</a:t>
            </a:r>
          </a:p>
          <a:p>
            <a:pPr lvl="1" algn="just"/>
            <a:r>
              <a:rPr lang="ru-RU" dirty="0">
                <a:latin typeface="+mn-lt"/>
              </a:rPr>
              <a:t>доступ к интернету (сетевой шлюз), </a:t>
            </a:r>
          </a:p>
          <a:p>
            <a:pPr lvl="1" algn="just"/>
            <a:r>
              <a:rPr lang="ru-RU" dirty="0">
                <a:latin typeface="+mn-lt"/>
              </a:rPr>
              <a:t>доступ к базам данных (сервер баз данных) и др.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b="1" dirty="0">
                <a:latin typeface="+mn-lt"/>
              </a:rPr>
              <a:t>Клиент</a:t>
            </a:r>
            <a:r>
              <a:rPr lang="ru-RU" dirty="0">
                <a:latin typeface="+mn-lt"/>
              </a:rPr>
              <a:t> – это компонент сети (как правило, компьютер пользователя), запрашивающий услуги у некоторого сервера.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b="1" dirty="0">
                <a:latin typeface="+mn-lt"/>
              </a:rPr>
              <a:t>Сетевой коммутатор </a:t>
            </a:r>
            <a:r>
              <a:rPr lang="ru-RU" dirty="0">
                <a:latin typeface="+mn-lt"/>
              </a:rPr>
              <a:t>или свитч (</a:t>
            </a:r>
            <a:r>
              <a:rPr lang="en-US" b="1" dirty="0">
                <a:latin typeface="+mn-lt"/>
              </a:rPr>
              <a:t>SWITCH</a:t>
            </a:r>
            <a:r>
              <a:rPr lang="en-US" dirty="0">
                <a:latin typeface="+mn-lt"/>
              </a:rPr>
              <a:t>) – </a:t>
            </a:r>
            <a:r>
              <a:rPr lang="ru-RU" dirty="0">
                <a:latin typeface="+mn-lt"/>
              </a:rPr>
              <a:t>устройство, предназначенное для соединения нескольких узлов компьютерной сети в пределах одного или нескольких сегментов сети.</a:t>
            </a:r>
            <a:r>
              <a:rPr lang="en-US" dirty="0">
                <a:latin typeface="+mn-lt"/>
              </a:rPr>
              <a:t> </a:t>
            </a:r>
            <a:endParaRPr lang="ru-RU" dirty="0">
              <a:latin typeface="+mn-lt"/>
            </a:endParaRPr>
          </a:p>
        </p:txBody>
      </p:sp>
      <p:sp>
        <p:nvSpPr>
          <p:cNvPr id="7" name="Line 2"/>
          <p:cNvSpPr>
            <a:spLocks noChangeShapeType="1"/>
          </p:cNvSpPr>
          <p:nvPr/>
        </p:nvSpPr>
        <p:spPr bwMode="auto">
          <a:xfrm>
            <a:off x="1919289" y="1149352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1760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4812632" y="72192"/>
            <a:ext cx="7239000" cy="1010653"/>
          </a:xfrm>
        </p:spPr>
        <p:txBody>
          <a:bodyPr rtlCol="0">
            <a:noAutofit/>
          </a:bodyPr>
          <a:lstStyle/>
          <a:p>
            <a:r>
              <a:rPr lang="ru-RU" sz="4000" dirty="0">
                <a:latin typeface="Calibri" panose="020F0502020204030204" pitchFamily="34" charset="0"/>
              </a:rPr>
              <a:t>СЕРВЕР ФАЙЛОВОГО </a:t>
            </a:r>
            <a:r>
              <a:rPr lang="ru-RU" sz="4000" dirty="0" smtClean="0">
                <a:latin typeface="Calibri" panose="020F0502020204030204" pitchFamily="34" charset="0"/>
              </a:rPr>
              <a:t>ОБМЕНА</a:t>
            </a:r>
            <a:endParaRPr lang="ru-RU" sz="4000" dirty="0">
              <a:latin typeface="Calibri" panose="020F0502020204030204" pitchFamily="34" charset="0"/>
            </a:endParaRPr>
          </a:p>
        </p:txBody>
      </p:sp>
      <p:sp>
        <p:nvSpPr>
          <p:cNvPr id="9" name="Line 2"/>
          <p:cNvSpPr>
            <a:spLocks noChangeShapeType="1"/>
          </p:cNvSpPr>
          <p:nvPr/>
        </p:nvSpPr>
        <p:spPr bwMode="auto">
          <a:xfrm>
            <a:off x="1919289" y="1149352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2983842" y="1359568"/>
            <a:ext cx="8999621" cy="5494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87000"/>
              </a:lnSpc>
              <a:spcBef>
                <a:spcPts val="600"/>
              </a:spcBef>
            </a:pPr>
            <a:r>
              <a:rPr lang="ru-RU" sz="2800" b="1" dirty="0" smtClean="0">
                <a:cs typeface="Calibri" panose="020F0502020204030204" pitchFamily="34" charset="0"/>
              </a:rPr>
              <a:t>Файловый </a:t>
            </a:r>
            <a:r>
              <a:rPr lang="ru-RU" sz="2800" b="1" dirty="0">
                <a:cs typeface="Calibri" panose="020F0502020204030204" pitchFamily="34" charset="0"/>
              </a:rPr>
              <a:t>сервер данных </a:t>
            </a:r>
            <a:r>
              <a:rPr lang="ru-RU" sz="2800" dirty="0">
                <a:cs typeface="Calibri" panose="020F0502020204030204" pitchFamily="34" charset="0"/>
              </a:rPr>
              <a:t>– специализированный компьютер, предназначенный для хранения большого объема информации. Пользователи ПК, мобильных гаджетов, ноутбуков получают к нему доступ к системе хранения данных (СХД), которая на нем организована через </a:t>
            </a:r>
            <a:r>
              <a:rPr lang="ru-RU" sz="2800" dirty="0" err="1">
                <a:cs typeface="Calibri" panose="020F0502020204030204" pitchFamily="34" charset="0"/>
              </a:rPr>
              <a:t>интернет-соединение</a:t>
            </a:r>
            <a:r>
              <a:rPr lang="ru-RU" sz="2800" dirty="0">
                <a:cs typeface="Calibri" panose="020F0502020204030204" pitchFamily="34" charset="0"/>
              </a:rPr>
              <a:t>.</a:t>
            </a:r>
          </a:p>
          <a:p>
            <a:pPr algn="just">
              <a:lnSpc>
                <a:spcPct val="87000"/>
              </a:lnSpc>
              <a:spcBef>
                <a:spcPts val="600"/>
              </a:spcBef>
            </a:pPr>
            <a:r>
              <a:rPr lang="ru-RU" sz="2800" dirty="0">
                <a:cs typeface="Calibri" panose="020F0502020204030204" pitchFamily="34" charset="0"/>
              </a:rPr>
              <a:t>Доступ к файловому серверу осуществляется по </a:t>
            </a:r>
            <a:r>
              <a:rPr lang="en-US" sz="2800" dirty="0">
                <a:cs typeface="Calibri" panose="020F0502020204030204" pitchFamily="34" charset="0"/>
              </a:rPr>
              <a:t>FTP. </a:t>
            </a:r>
            <a:r>
              <a:rPr lang="ru-RU" sz="2800" dirty="0" smtClean="0">
                <a:cs typeface="Calibri" panose="020F0502020204030204" pitchFamily="34" charset="0"/>
              </a:rPr>
              <a:t>С </a:t>
            </a:r>
            <a:r>
              <a:rPr lang="ru-RU" sz="2800" dirty="0">
                <a:cs typeface="Calibri" panose="020F0502020204030204" pitchFamily="34" charset="0"/>
              </a:rPr>
              <a:t>его помощью пользователь может подключиться к FTP-серверу для просмотра содержимого каталогов, а также чтобы загрузить или скачать файлы.</a:t>
            </a:r>
            <a:r>
              <a:rPr lang="en-US" sz="2800" dirty="0">
                <a:cs typeface="Calibri" panose="020F0502020204030204" pitchFamily="34" charset="0"/>
              </a:rPr>
              <a:t> </a:t>
            </a:r>
            <a:endParaRPr lang="ru-RU" sz="2800" dirty="0" smtClean="0">
              <a:cs typeface="Calibri" panose="020F0502020204030204" pitchFamily="34" charset="0"/>
            </a:endParaRPr>
          </a:p>
          <a:p>
            <a:pPr algn="just">
              <a:lnSpc>
                <a:spcPct val="87000"/>
              </a:lnSpc>
              <a:spcBef>
                <a:spcPts val="600"/>
              </a:spcBef>
            </a:pPr>
            <a:r>
              <a:rPr lang="ru-RU" sz="2800" dirty="0" smtClean="0">
                <a:cs typeface="Calibri" panose="020F0502020204030204" pitchFamily="34" charset="0"/>
              </a:rPr>
              <a:t>Так </a:t>
            </a:r>
            <a:r>
              <a:rPr lang="ru-RU" sz="2800" dirty="0">
                <a:cs typeface="Calibri" panose="020F0502020204030204" pitchFamily="34" charset="0"/>
              </a:rPr>
              <a:t>как его базовая версия имеет проблемы с защищенностью, сегодня используются преимущественно более совершенные протоколы - FTPS или SFTP</a:t>
            </a:r>
            <a:r>
              <a:rPr lang="ru-RU" sz="2800" dirty="0" smtClean="0">
                <a:cs typeface="Calibri" panose="020F0502020204030204" pitchFamily="34" charset="0"/>
              </a:rPr>
              <a:t>.</a:t>
            </a:r>
            <a:endParaRPr lang="ru-RU" sz="2800" dirty="0">
              <a:cs typeface="Calibri" panose="020F050202020403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A1B40C26-D674-0E7C-844C-3ACE95A5A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73" y="3269996"/>
            <a:ext cx="2974599" cy="1673212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771635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4812632" y="72192"/>
            <a:ext cx="7239000" cy="1010653"/>
          </a:xfrm>
        </p:spPr>
        <p:txBody>
          <a:bodyPr rtlCol="0">
            <a:noAutofit/>
          </a:bodyPr>
          <a:lstStyle/>
          <a:p>
            <a:r>
              <a:rPr lang="ru-RU" sz="4000" dirty="0">
                <a:latin typeface="Calibri" panose="020F0502020204030204" pitchFamily="34" charset="0"/>
              </a:rPr>
              <a:t>СЕРВЕР ФАЙЛОВОГО </a:t>
            </a:r>
            <a:r>
              <a:rPr lang="ru-RU" sz="4000" dirty="0" smtClean="0">
                <a:latin typeface="Calibri" panose="020F0502020204030204" pitchFamily="34" charset="0"/>
              </a:rPr>
              <a:t>ОБМЕНА</a:t>
            </a:r>
            <a:endParaRPr lang="ru-RU" sz="4000" dirty="0">
              <a:latin typeface="Calibri" panose="020F0502020204030204" pitchFamily="34" charset="0"/>
            </a:endParaRPr>
          </a:p>
        </p:txBody>
      </p:sp>
      <p:sp>
        <p:nvSpPr>
          <p:cNvPr id="9" name="Line 2"/>
          <p:cNvSpPr>
            <a:spLocks noChangeShapeType="1"/>
          </p:cNvSpPr>
          <p:nvPr/>
        </p:nvSpPr>
        <p:spPr bwMode="auto">
          <a:xfrm>
            <a:off x="1931321" y="920746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2165684" y="1167065"/>
            <a:ext cx="9753600" cy="51961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87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ru-RU" sz="2800" dirty="0">
                <a:cs typeface="Calibri" panose="020F0502020204030204" pitchFamily="34" charset="0"/>
              </a:rPr>
              <a:t>Пользователи, получив необходимые права на доступ к определенным файлам в сетевой СХД, могут их открывать и редактировать, а также удалять файлы и папки точно так же, как если бы они работали на собственном компьютере. </a:t>
            </a:r>
          </a:p>
          <a:p>
            <a:pPr marL="457200" indent="-457200" algn="just">
              <a:lnSpc>
                <a:spcPct val="87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ru-RU" sz="2800" dirty="0" smtClean="0">
                <a:cs typeface="Calibri" panose="020F0502020204030204" pitchFamily="34" charset="0"/>
              </a:rPr>
              <a:t>Другие </a:t>
            </a:r>
            <a:r>
              <a:rPr lang="ru-RU" sz="2800" dirty="0">
                <a:cs typeface="Calibri" panose="020F0502020204030204" pitchFamily="34" charset="0"/>
              </a:rPr>
              <a:t>пользователи могут также их открывать, читать и редактировать, в соответствии с их правами доступа. </a:t>
            </a:r>
            <a:endParaRPr lang="ru-RU" sz="2800" dirty="0" smtClean="0">
              <a:cs typeface="Calibri" panose="020F0502020204030204" pitchFamily="34" charset="0"/>
            </a:endParaRPr>
          </a:p>
          <a:p>
            <a:pPr marL="457200" indent="-457200" algn="just">
              <a:lnSpc>
                <a:spcPct val="87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ru-RU" sz="2800" dirty="0" smtClean="0">
                <a:cs typeface="Calibri" panose="020F0502020204030204" pitchFamily="34" charset="0"/>
              </a:rPr>
              <a:t>Эти </a:t>
            </a:r>
            <a:r>
              <a:rPr lang="ru-RU" sz="2800" dirty="0">
                <a:cs typeface="Calibri" panose="020F0502020204030204" pitchFamily="34" charset="0"/>
              </a:rPr>
              <a:t>права устанавливаются администратором файлового сервера. </a:t>
            </a:r>
            <a:endParaRPr lang="ru-RU" sz="2800" dirty="0" smtClean="0">
              <a:cs typeface="Calibri" panose="020F0502020204030204" pitchFamily="34" charset="0"/>
            </a:endParaRPr>
          </a:p>
          <a:p>
            <a:pPr marL="457200" indent="-457200" algn="just">
              <a:lnSpc>
                <a:spcPct val="87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ru-RU" sz="2800" dirty="0" smtClean="0">
                <a:cs typeface="Calibri" panose="020F0502020204030204" pitchFamily="34" charset="0"/>
              </a:rPr>
              <a:t>Кроме </a:t>
            </a:r>
            <a:r>
              <a:rPr lang="ru-RU" sz="2800" dirty="0">
                <a:cs typeface="Calibri" panose="020F0502020204030204" pitchFamily="34" charset="0"/>
              </a:rPr>
              <a:t>того, файловый сервер может иметь подключение к интернету, и, при соответствующей конфигурации прав доступа, пользователи могут получать доступ к ресурсам интернет, если доступ к ним разрешен сетевым администратором. </a:t>
            </a:r>
          </a:p>
        </p:txBody>
      </p:sp>
    </p:spTree>
    <p:extLst>
      <p:ext uri="{BB962C8B-B14F-4D97-AF65-F5344CB8AC3E}">
        <p14:creationId xmlns:p14="http://schemas.microsoft.com/office/powerpoint/2010/main" val="416100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1026"/>
          <p:cNvSpPr>
            <a:spLocks noChangeArrowheads="1"/>
          </p:cNvSpPr>
          <p:nvPr/>
        </p:nvSpPr>
        <p:spPr bwMode="auto">
          <a:xfrm>
            <a:off x="3316705" y="1149352"/>
            <a:ext cx="7772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u-RU" altLang="ru-RU" sz="4400" dirty="0">
              <a:solidFill>
                <a:schemeClr val="tx2"/>
              </a:solidFill>
            </a:endParaRPr>
          </a:p>
        </p:txBody>
      </p:sp>
      <p:sp>
        <p:nvSpPr>
          <p:cNvPr id="193539" name="Rectangle 1027"/>
          <p:cNvSpPr>
            <a:spLocks noChangeArrowheads="1"/>
          </p:cNvSpPr>
          <p:nvPr/>
        </p:nvSpPr>
        <p:spPr bwMode="auto">
          <a:xfrm>
            <a:off x="2546684" y="1993232"/>
            <a:ext cx="7921376" cy="3481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20000"/>
              </a:spcBef>
              <a:buFontTx/>
              <a:buChar char="•"/>
            </a:pPr>
            <a:r>
              <a:rPr lang="ru-RU" altLang="ru-RU" sz="2800" dirty="0">
                <a:latin typeface="+mn-lt"/>
              </a:rPr>
              <a:t>Согласование сигналов в линиях связи</a:t>
            </a:r>
          </a:p>
          <a:p>
            <a:pPr algn="just">
              <a:spcBef>
                <a:spcPct val="20000"/>
              </a:spcBef>
              <a:buFontTx/>
              <a:buChar char="•"/>
            </a:pPr>
            <a:r>
              <a:rPr lang="ru-RU" altLang="ru-RU" sz="2800" dirty="0">
                <a:latin typeface="+mn-lt"/>
              </a:rPr>
              <a:t>Определение правил доступа к среде передачи</a:t>
            </a:r>
          </a:p>
          <a:p>
            <a:pPr algn="just">
              <a:spcBef>
                <a:spcPct val="20000"/>
              </a:spcBef>
              <a:buFontTx/>
              <a:buChar char="•"/>
            </a:pPr>
            <a:r>
              <a:rPr lang="ru-RU" altLang="ru-RU" sz="2800" dirty="0">
                <a:latin typeface="+mn-lt"/>
              </a:rPr>
              <a:t>Согласование способов повышения надежности передачи информации</a:t>
            </a:r>
          </a:p>
          <a:p>
            <a:pPr algn="just">
              <a:spcBef>
                <a:spcPct val="20000"/>
              </a:spcBef>
              <a:buFontTx/>
              <a:buChar char="•"/>
            </a:pPr>
            <a:r>
              <a:rPr lang="ru-RU" altLang="ru-RU" sz="2800" dirty="0">
                <a:latin typeface="+mn-lt"/>
              </a:rPr>
              <a:t>Определение маршрута передачи информации и способов </a:t>
            </a:r>
            <a:r>
              <a:rPr lang="ru-RU" altLang="ru-RU" sz="2800" dirty="0" smtClean="0">
                <a:latin typeface="+mn-lt"/>
              </a:rPr>
              <a:t>адресации</a:t>
            </a:r>
            <a:endParaRPr lang="ru-RU" altLang="ru-RU" sz="2800" dirty="0">
              <a:latin typeface="+mn-lt"/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4812632" y="72192"/>
            <a:ext cx="7239000" cy="1010653"/>
          </a:xfrm>
          <a:prstGeom prst="rect">
            <a:avLst/>
          </a:prstGeom>
        </p:spPr>
        <p:txBody>
          <a:bodyPr rtlCol="0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24A67A"/>
                </a:solidFill>
                <a:latin typeface="Franklin Gothic Medium Cond" panose="020B0606030402020204" pitchFamily="34" charset="0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latin typeface="Calibri" panose="020F0502020204030204" pitchFamily="34" charset="0"/>
              </a:rPr>
              <a:t>ПОБЛЕМЫ ВЗАИМОДЕЙСТВИЯ КОМПЬЮТЕРОВ В СЕТИ</a:t>
            </a:r>
            <a:endParaRPr lang="ru-RU" sz="4000" dirty="0">
              <a:latin typeface="Calibri" panose="020F0502020204030204" pitchFamily="34" charset="0"/>
            </a:endParaRPr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>
            <a:off x="1919289" y="1149352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33918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93105" y="105817"/>
            <a:ext cx="7038474" cy="909292"/>
          </a:xfrm>
        </p:spPr>
        <p:txBody>
          <a:bodyPr rtlCol="0">
            <a:noAutofit/>
          </a:bodyPr>
          <a:lstStyle/>
          <a:p>
            <a:pPr rtl="0"/>
            <a:r>
              <a:rPr lang="ru-RU" sz="4000" dirty="0" smtClean="0">
                <a:latin typeface="Calibri" panose="020F0502020204030204" pitchFamily="34" charset="0"/>
              </a:rPr>
              <a:t>Подключение/отключение </a:t>
            </a:r>
            <a:br>
              <a:rPr lang="ru-RU" sz="4000" dirty="0" smtClean="0">
                <a:latin typeface="Calibri" panose="020F0502020204030204" pitchFamily="34" charset="0"/>
              </a:rPr>
            </a:br>
            <a:r>
              <a:rPr lang="ru-RU" sz="4000" dirty="0" smtClean="0">
                <a:latin typeface="Calibri" panose="020F0502020204030204" pitchFamily="34" charset="0"/>
              </a:rPr>
              <a:t>сетевых </a:t>
            </a:r>
            <a:r>
              <a:rPr lang="ru-RU" sz="4000" dirty="0">
                <a:latin typeface="Calibri" panose="020F0502020204030204" pitchFamily="34" charset="0"/>
              </a:rPr>
              <a:t>ресурсов</a:t>
            </a:r>
          </a:p>
        </p:txBody>
      </p:sp>
      <p:sp>
        <p:nvSpPr>
          <p:cNvPr id="13" name="Line 2"/>
          <p:cNvSpPr>
            <a:spLocks noChangeShapeType="1"/>
          </p:cNvSpPr>
          <p:nvPr/>
        </p:nvSpPr>
        <p:spPr bwMode="auto">
          <a:xfrm>
            <a:off x="1991481" y="1065126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1383636" y="1080437"/>
            <a:ext cx="10262937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600" b="1" dirty="0"/>
              <a:t>Локальный профиль </a:t>
            </a:r>
            <a:r>
              <a:rPr lang="ru-RU" sz="2600" dirty="0"/>
              <a:t>пользователя </a:t>
            </a:r>
            <a:r>
              <a:rPr lang="ru-RU" sz="2600" b="1" dirty="0"/>
              <a:t>(</a:t>
            </a:r>
            <a:r>
              <a:rPr lang="ru-RU" sz="2600" b="1" dirty="0" err="1"/>
              <a:t>Local</a:t>
            </a:r>
            <a:r>
              <a:rPr lang="ru-RU" sz="2600" b="1" dirty="0"/>
              <a:t>)– </a:t>
            </a:r>
            <a:r>
              <a:rPr lang="ru-RU" sz="2600" dirty="0"/>
              <a:t>это набор файлов и папок, которые закреплены за конкретным пользователем и содержащие информацию об индивидуальных настройках операционной системы, о ярлыках программ и файлов, размещенных в меню Пуск, на панели задач или Рабочем столе.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600" dirty="0" smtClean="0"/>
              <a:t>Он </a:t>
            </a:r>
            <a:r>
              <a:rPr lang="ru-RU" sz="2600" dirty="0"/>
              <a:t>создается при первом входе пользователя в систему и хранится на локальном жестком диске (папка </a:t>
            </a:r>
            <a:r>
              <a:rPr lang="ru-RU" sz="2600" dirty="0" err="1"/>
              <a:t>Users</a:t>
            </a:r>
            <a:r>
              <a:rPr lang="ru-RU" sz="2600" dirty="0"/>
              <a:t>). </a:t>
            </a:r>
            <a:endParaRPr lang="ru-RU" sz="2600" dirty="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600" dirty="0" smtClean="0"/>
              <a:t>Система </a:t>
            </a:r>
            <a:r>
              <a:rPr lang="ru-RU" sz="2600" dirty="0"/>
              <a:t>автоматически поддерживает параметры рабочей среды каждого пользователя в профиле пользователя на локальном компьютере.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600" b="1" dirty="0"/>
              <a:t>Сетевой профиль пользователя (</a:t>
            </a:r>
            <a:r>
              <a:rPr lang="ru-RU" sz="2600" b="1" dirty="0" err="1"/>
              <a:t>Roaming</a:t>
            </a:r>
            <a:r>
              <a:rPr lang="ru-RU" sz="2600" b="1" dirty="0"/>
              <a:t>)– </a:t>
            </a:r>
            <a:r>
              <a:rPr lang="ru-RU" sz="2600" dirty="0"/>
              <a:t>это перемещаемый профиль, загружаемый на любом клиенте сети, где регистрируется пользователь.</a:t>
            </a:r>
          </a:p>
        </p:txBody>
      </p:sp>
    </p:spTree>
    <p:extLst>
      <p:ext uri="{BB962C8B-B14F-4D97-AF65-F5344CB8AC3E}">
        <p14:creationId xmlns:p14="http://schemas.microsoft.com/office/powerpoint/2010/main" val="701563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113421" y="0"/>
            <a:ext cx="7078579" cy="1103597"/>
          </a:xfrm>
        </p:spPr>
        <p:txBody>
          <a:bodyPr rtlCol="0">
            <a:noAutofit/>
          </a:bodyPr>
          <a:lstStyle/>
          <a:p>
            <a:pPr rtl="0"/>
            <a:r>
              <a:rPr lang="ru-RU" sz="4000" dirty="0" smtClean="0">
                <a:latin typeface="Calibri" panose="020F0502020204030204" pitchFamily="34" charset="0"/>
              </a:rPr>
              <a:t>Подключение/отключение </a:t>
            </a:r>
            <a:br>
              <a:rPr lang="ru-RU" sz="4000" dirty="0" smtClean="0">
                <a:latin typeface="Calibri" panose="020F0502020204030204" pitchFamily="34" charset="0"/>
              </a:rPr>
            </a:br>
            <a:r>
              <a:rPr lang="ru-RU" sz="4000" dirty="0" smtClean="0">
                <a:latin typeface="Calibri" panose="020F0502020204030204" pitchFamily="34" charset="0"/>
              </a:rPr>
              <a:t>сетевых </a:t>
            </a:r>
            <a:r>
              <a:rPr lang="ru-RU" sz="4000" dirty="0">
                <a:latin typeface="Calibri" panose="020F0502020204030204" pitchFamily="34" charset="0"/>
              </a:rPr>
              <a:t>ресурсов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7182854" y="1246237"/>
            <a:ext cx="4836694" cy="5335037"/>
          </a:xfrm>
          <a:effectLst/>
        </p:spPr>
        <p:txBody>
          <a:bodyPr rtlCol="0"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-RU" sz="2400" b="1" dirty="0" smtClean="0">
                <a:latin typeface="+mn-lt"/>
              </a:rPr>
              <a:t>Способы Подключение сетевого диска: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 smtClean="0">
                <a:latin typeface="+mn-lt"/>
              </a:rPr>
              <a:t>В </a:t>
            </a:r>
            <a:r>
              <a:rPr lang="ru-RU" sz="2400" dirty="0">
                <a:latin typeface="+mn-lt"/>
              </a:rPr>
              <a:t>окне папки </a:t>
            </a:r>
            <a:r>
              <a:rPr lang="ru-RU" sz="2400" b="1" dirty="0">
                <a:latin typeface="+mn-lt"/>
              </a:rPr>
              <a:t>Компьютер</a:t>
            </a:r>
            <a:r>
              <a:rPr lang="ru-RU" sz="2400" dirty="0">
                <a:latin typeface="+mn-lt"/>
              </a:rPr>
              <a:t> (на верхнем уровне) нажать на панели инструментов кнопку </a:t>
            </a:r>
            <a:r>
              <a:rPr lang="ru-RU" sz="2400" b="1" dirty="0">
                <a:latin typeface="+mn-lt"/>
              </a:rPr>
              <a:t>Подключить сетевой диск </a:t>
            </a:r>
            <a:r>
              <a:rPr lang="ru-RU" sz="2400" dirty="0" smtClean="0">
                <a:latin typeface="+mn-lt"/>
              </a:rPr>
              <a:t>или</a:t>
            </a:r>
            <a:endParaRPr lang="en-US" sz="2400" dirty="0" smtClean="0">
              <a:latin typeface="+mn-lt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 smtClean="0">
                <a:latin typeface="+mn-lt"/>
              </a:rPr>
              <a:t>Щелкнуть </a:t>
            </a:r>
            <a:r>
              <a:rPr lang="ru-RU" sz="2400" dirty="0">
                <a:latin typeface="+mn-lt"/>
              </a:rPr>
              <a:t>правой кнопкой мыши в Панели навигации элемент </a:t>
            </a:r>
            <a:r>
              <a:rPr lang="ru-RU" sz="2400" b="1" dirty="0">
                <a:latin typeface="+mn-lt"/>
              </a:rPr>
              <a:t>Компьютер</a:t>
            </a:r>
            <a:r>
              <a:rPr lang="ru-RU" sz="2400" dirty="0">
                <a:latin typeface="+mn-lt"/>
              </a:rPr>
              <a:t> и выбрать команду </a:t>
            </a:r>
            <a:r>
              <a:rPr lang="ru-RU" sz="2400" b="1" dirty="0">
                <a:latin typeface="+mn-lt"/>
              </a:rPr>
              <a:t>Подключить сетевой </a:t>
            </a:r>
            <a:r>
              <a:rPr lang="ru-RU" sz="2400" b="1" dirty="0" smtClean="0">
                <a:latin typeface="+mn-lt"/>
              </a:rPr>
              <a:t>диск</a:t>
            </a:r>
            <a:r>
              <a:rPr lang="ru-RU" sz="2400" dirty="0">
                <a:latin typeface="+mn-lt"/>
              </a:rPr>
              <a:t> </a:t>
            </a:r>
            <a:r>
              <a:rPr lang="ru-RU" sz="2400" dirty="0" smtClean="0">
                <a:latin typeface="+mn-lt"/>
              </a:rPr>
              <a:t>или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 smtClean="0">
                <a:latin typeface="+mn-lt"/>
              </a:rPr>
              <a:t>На панели </a:t>
            </a:r>
            <a:r>
              <a:rPr lang="ru-RU" sz="2400" dirty="0">
                <a:latin typeface="+mn-lt"/>
              </a:rPr>
              <a:t>инструментов выбрать команду </a:t>
            </a:r>
            <a:r>
              <a:rPr lang="ru-RU" sz="2400" b="1" dirty="0">
                <a:latin typeface="+mn-lt"/>
              </a:rPr>
              <a:t>Подключить сетевой диск</a:t>
            </a:r>
            <a:r>
              <a:rPr lang="ru-RU" sz="2400" dirty="0">
                <a:latin typeface="+mn-lt"/>
              </a:rPr>
              <a:t> </a:t>
            </a:r>
            <a:endParaRPr lang="ru-RU" sz="2400" dirty="0" smtClean="0">
              <a:latin typeface="+mn-lt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+mn-lt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2400" dirty="0" smtClean="0">
                <a:latin typeface="+mn-lt"/>
              </a:rPr>
              <a:t> </a:t>
            </a:r>
            <a:endParaRPr lang="ru-RU" sz="2400" dirty="0">
              <a:latin typeface="+mn-lt"/>
            </a:endParaRPr>
          </a:p>
        </p:txBody>
      </p:sp>
      <p:grpSp>
        <p:nvGrpSpPr>
          <p:cNvPr id="6" name="Группа 5"/>
          <p:cNvGrpSpPr/>
          <p:nvPr/>
        </p:nvGrpSpPr>
        <p:grpSpPr>
          <a:xfrm>
            <a:off x="477912" y="1380591"/>
            <a:ext cx="6543245" cy="5094404"/>
            <a:chOff x="398976" y="1246238"/>
            <a:chExt cx="6612877" cy="5250426"/>
          </a:xfrm>
        </p:grpSpPr>
        <p:pic>
          <p:nvPicPr>
            <p:cNvPr id="8" name="Рисунок 7"/>
            <p:cNvPicPr>
              <a:picLocks noChangeAspect="1"/>
            </p:cNvPicPr>
            <p:nvPr/>
          </p:nvPicPr>
          <p:blipFill rotWithShape="1">
            <a:blip r:embed="rId3"/>
            <a:srcRect r="40151" b="15482"/>
            <a:stretch/>
          </p:blipFill>
          <p:spPr>
            <a:xfrm>
              <a:off x="398976" y="1246238"/>
              <a:ext cx="6612877" cy="5250426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76200" cap="sq">
              <a:solidFill>
                <a:srgbClr val="EAEAEA"/>
              </a:solidFill>
              <a:miter lim="800000"/>
            </a:ln>
            <a:effectLst>
              <a:reflection blurRad="12700" stA="33000" endPos="28000" dist="5000" dir="5400000" sy="-100000" algn="bl" rotWithShape="0"/>
            </a:effectLst>
            <a:scene3d>
              <a:camera prst="orthographicFront"/>
              <a:lightRig rig="threePt" dir="t">
                <a:rot lat="0" lon="0" rev="2700000"/>
              </a:lightRig>
            </a:scene3d>
            <a:sp3d contourW="6350">
              <a:bevelT h="38100"/>
              <a:contourClr>
                <a:srgbClr val="C0C0C0"/>
              </a:contourClr>
            </a:sp3d>
          </p:spPr>
        </p:pic>
        <p:sp>
          <p:nvSpPr>
            <p:cNvPr id="9" name="Прямоугольник 8"/>
            <p:cNvSpPr/>
            <p:nvPr/>
          </p:nvSpPr>
          <p:spPr>
            <a:xfrm>
              <a:off x="2761830" y="1656550"/>
              <a:ext cx="722671" cy="87015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0" name="Прямоугольник 9"/>
          <p:cNvSpPr/>
          <p:nvPr/>
        </p:nvSpPr>
        <p:spPr>
          <a:xfrm>
            <a:off x="1345986" y="4499810"/>
            <a:ext cx="2138515" cy="19172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477912" y="3780891"/>
            <a:ext cx="2138515" cy="20324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Line 2"/>
          <p:cNvSpPr>
            <a:spLocks noChangeShapeType="1"/>
          </p:cNvSpPr>
          <p:nvPr/>
        </p:nvSpPr>
        <p:spPr bwMode="auto">
          <a:xfrm>
            <a:off x="1991481" y="1065126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9596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93105" y="105817"/>
            <a:ext cx="7038474" cy="909292"/>
          </a:xfrm>
        </p:spPr>
        <p:txBody>
          <a:bodyPr rtlCol="0">
            <a:noAutofit/>
          </a:bodyPr>
          <a:lstStyle/>
          <a:p>
            <a:pPr rtl="0"/>
            <a:r>
              <a:rPr lang="ru-RU" sz="4000" dirty="0" smtClean="0">
                <a:latin typeface="Calibri" panose="020F0502020204030204" pitchFamily="34" charset="0"/>
              </a:rPr>
              <a:t>Подключение/отключение </a:t>
            </a:r>
            <a:br>
              <a:rPr lang="ru-RU" sz="4000" dirty="0" smtClean="0">
                <a:latin typeface="Calibri" panose="020F0502020204030204" pitchFamily="34" charset="0"/>
              </a:rPr>
            </a:br>
            <a:r>
              <a:rPr lang="ru-RU" sz="4000" dirty="0" smtClean="0">
                <a:latin typeface="Calibri" panose="020F0502020204030204" pitchFamily="34" charset="0"/>
              </a:rPr>
              <a:t>сетевых </a:t>
            </a:r>
            <a:r>
              <a:rPr lang="ru-RU" sz="4000" dirty="0">
                <a:latin typeface="Calibri" panose="020F0502020204030204" pitchFamily="34" charset="0"/>
              </a:rPr>
              <a:t>ресурсов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6737660" y="1252809"/>
            <a:ext cx="5089525" cy="4722813"/>
          </a:xfrm>
        </p:spPr>
        <p:txBody>
          <a:bodyPr rtlCol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dirty="0" smtClean="0">
                <a:solidFill>
                  <a:schemeClr val="accent4">
                    <a:lumMod val="50000"/>
                  </a:schemeClr>
                </a:solidFill>
                <a:latin typeface="+mn-lt"/>
              </a:rPr>
              <a:t>ОТКЛЮЧЕНИЕ </a:t>
            </a:r>
            <a:br>
              <a:rPr lang="ru-RU" b="1" dirty="0" smtClean="0">
                <a:solidFill>
                  <a:schemeClr val="accent4">
                    <a:lumMod val="50000"/>
                  </a:schemeClr>
                </a:solidFill>
                <a:latin typeface="+mn-lt"/>
              </a:rPr>
            </a:br>
            <a:r>
              <a:rPr lang="ru-RU" b="1" dirty="0" smtClean="0">
                <a:solidFill>
                  <a:schemeClr val="accent4">
                    <a:lumMod val="50000"/>
                  </a:schemeClr>
                </a:solidFill>
                <a:latin typeface="+mn-lt"/>
              </a:rPr>
              <a:t>СЕТЕВОГО ДИСКА: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400" dirty="0" smtClean="0">
                <a:solidFill>
                  <a:schemeClr val="tx1"/>
                </a:solidFill>
                <a:latin typeface="+mn-lt"/>
              </a:rPr>
              <a:t>Щелкнуть </a:t>
            </a:r>
            <a:r>
              <a:rPr lang="ru-RU" sz="2400" dirty="0">
                <a:solidFill>
                  <a:schemeClr val="tx1"/>
                </a:solidFill>
                <a:latin typeface="+mn-lt"/>
              </a:rPr>
              <a:t>правой кнопкой мыши по сетевому диску и выбрать команду </a:t>
            </a:r>
            <a:r>
              <a:rPr lang="ru-RU" sz="2400" b="1" dirty="0">
                <a:solidFill>
                  <a:schemeClr val="tx1"/>
                </a:solidFill>
                <a:latin typeface="+mn-lt"/>
              </a:rPr>
              <a:t>Отключить сетевой диск</a:t>
            </a:r>
            <a:r>
              <a:rPr lang="ru-RU" sz="2000" dirty="0">
                <a:solidFill>
                  <a:schemeClr val="tx1"/>
                </a:solidFill>
                <a:latin typeface="+mn-lt"/>
              </a:rPr>
              <a:t>.</a:t>
            </a:r>
          </a:p>
        </p:txBody>
      </p:sp>
      <p:sp>
        <p:nvSpPr>
          <p:cNvPr id="4" name="Управляющая кнопка: &quot;На главную&quot; 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xmlns="" id="{04ADB3F6-6F39-0CB8-7F17-8BD336D85013}"/>
              </a:ext>
            </a:extLst>
          </p:cNvPr>
          <p:cNvSpPr/>
          <p:nvPr/>
        </p:nvSpPr>
        <p:spPr>
          <a:xfrm>
            <a:off x="8407233" y="6374194"/>
            <a:ext cx="576064" cy="432048"/>
          </a:xfrm>
          <a:prstGeom prst="actionButtonHom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Управляющая кнопка: &quot;Вперед&quot; или &quot;Следующий&quot;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xmlns="" id="{76827D74-FCFE-68D5-7885-9A4912B26CB7}"/>
              </a:ext>
            </a:extLst>
          </p:cNvPr>
          <p:cNvSpPr/>
          <p:nvPr/>
        </p:nvSpPr>
        <p:spPr>
          <a:xfrm>
            <a:off x="9131676" y="6365005"/>
            <a:ext cx="484505" cy="432048"/>
          </a:xfrm>
          <a:prstGeom prst="actionButtonForwardNex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/>
          <p:cNvGrpSpPr/>
          <p:nvPr/>
        </p:nvGrpSpPr>
        <p:grpSpPr>
          <a:xfrm>
            <a:off x="6887471" y="3402326"/>
            <a:ext cx="4939713" cy="2288611"/>
            <a:chOff x="7284143" y="4122821"/>
            <a:chExt cx="3996561" cy="1654350"/>
          </a:xfrm>
        </p:grpSpPr>
        <p:pic>
          <p:nvPicPr>
            <p:cNvPr id="8" name="Рисунок 7"/>
            <p:cNvPicPr>
              <a:picLocks noChangeAspect="1"/>
            </p:cNvPicPr>
            <p:nvPr/>
          </p:nvPicPr>
          <p:blipFill rotWithShape="1">
            <a:blip r:embed="rId4"/>
            <a:srcRect t="58965" r="63830" b="15482"/>
            <a:stretch/>
          </p:blipFill>
          <p:spPr>
            <a:xfrm>
              <a:off x="7284143" y="4122821"/>
              <a:ext cx="3996561" cy="1587392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76200" cap="sq">
              <a:solidFill>
                <a:srgbClr val="EAEAEA"/>
              </a:solidFill>
              <a:miter lim="800000"/>
            </a:ln>
            <a:effectLst>
              <a:reflection blurRad="12700" stA="33000" endPos="28000" dist="5000" dir="5400000" sy="-100000" algn="bl" rotWithShape="0"/>
            </a:effectLst>
            <a:scene3d>
              <a:camera prst="orthographicFront"/>
              <a:lightRig rig="threePt" dir="t">
                <a:rot lat="0" lon="0" rev="2700000"/>
              </a:lightRig>
            </a:scene3d>
            <a:sp3d contourW="6350">
              <a:bevelT h="38100"/>
              <a:contourClr>
                <a:srgbClr val="C0C0C0"/>
              </a:contourClr>
            </a:sp3d>
          </p:spPr>
        </p:pic>
        <p:sp>
          <p:nvSpPr>
            <p:cNvPr id="11" name="Прямоугольник 10"/>
            <p:cNvSpPr/>
            <p:nvPr/>
          </p:nvSpPr>
          <p:spPr>
            <a:xfrm>
              <a:off x="8406580" y="4242794"/>
              <a:ext cx="2138515" cy="191729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/>
            <p:cNvSpPr/>
            <p:nvPr/>
          </p:nvSpPr>
          <p:spPr>
            <a:xfrm>
              <a:off x="7428263" y="5132147"/>
              <a:ext cx="1091388" cy="645024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5939" y="1377906"/>
            <a:ext cx="4827817" cy="35697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Line 2"/>
          <p:cNvSpPr>
            <a:spLocks noChangeShapeType="1"/>
          </p:cNvSpPr>
          <p:nvPr/>
        </p:nvSpPr>
        <p:spPr bwMode="auto">
          <a:xfrm>
            <a:off x="1991481" y="1065126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9" name="Прямоугольная выноска 8"/>
          <p:cNvSpPr/>
          <p:nvPr/>
        </p:nvSpPr>
        <p:spPr>
          <a:xfrm>
            <a:off x="1299411" y="4174958"/>
            <a:ext cx="4235115" cy="2045368"/>
          </a:xfrm>
          <a:prstGeom prst="wedgeRectCallout">
            <a:avLst>
              <a:gd name="adj1" fmla="val -10130"/>
              <a:gd name="adj2" fmla="val -109012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spcAft>
                <a:spcPts val="1200"/>
              </a:spcAft>
            </a:pPr>
            <a:r>
              <a:rPr lang="ru-RU" sz="2800" dirty="0"/>
              <a:t>Выбрать букву сетевого диска и указать </a:t>
            </a:r>
            <a:r>
              <a:rPr lang="ru-RU" sz="2800" dirty="0" smtClean="0"/>
              <a:t>путь </a:t>
            </a:r>
            <a:r>
              <a:rPr lang="ru-RU" sz="2800" dirty="0"/>
              <a:t>к сетевой папке, например, </a:t>
            </a:r>
            <a:r>
              <a:rPr lang="ru-RU" sz="28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\\</a:t>
            </a:r>
            <a:r>
              <a:rPr lang="en-US" sz="28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fsNN</a:t>
            </a:r>
            <a:r>
              <a:rPr lang="en-US" sz="28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\KNN-NN</a:t>
            </a:r>
            <a:endParaRPr lang="en-US" sz="28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9177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17387" y="3566091"/>
            <a:ext cx="5975465" cy="251280"/>
          </a:xfrm>
        </p:spPr>
        <p:txBody>
          <a:bodyPr rtlCol="0">
            <a:normAutofit fontScale="90000"/>
          </a:bodyPr>
          <a:lstStyle/>
          <a:p>
            <a:r>
              <a:rPr lang="ru-RU" dirty="0">
                <a:latin typeface="Calibri" panose="020F0502020204030204" pitchFamily="34" charset="0"/>
              </a:rPr>
              <a:t/>
            </a:r>
            <a:br>
              <a:rPr lang="ru-RU" dirty="0">
                <a:latin typeface="Calibri" panose="020F0502020204030204" pitchFamily="34" charset="0"/>
              </a:rPr>
            </a:br>
            <a:r>
              <a:rPr lang="ru-RU" dirty="0">
                <a:latin typeface="Calibri" panose="020F0502020204030204" pitchFamily="34" charset="0"/>
              </a:rPr>
              <a:t/>
            </a:r>
            <a:br>
              <a:rPr lang="ru-RU" dirty="0">
                <a:latin typeface="Calibri" panose="020F0502020204030204" pitchFamily="34" charset="0"/>
              </a:rPr>
            </a:b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2454443" y="1335733"/>
            <a:ext cx="8771020" cy="4963276"/>
          </a:xfrm>
        </p:spPr>
        <p:txBody>
          <a:bodyPr rtlCol="0">
            <a:noAutofit/>
          </a:bodyPr>
          <a:lstStyle/>
          <a:p>
            <a:pPr algn="just">
              <a:lnSpc>
                <a:spcPct val="107000"/>
              </a:lnSpc>
              <a:spcBef>
                <a:spcPts val="1200"/>
              </a:spcBef>
            </a:pPr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Резервное копирование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РК, </a:t>
            </a:r>
            <a:r>
              <a:rPr lang="ru-RU" b="1" dirty="0" err="1">
                <a:latin typeface="Calibri" panose="020F0502020204030204" pitchFamily="34" charset="0"/>
                <a:cs typeface="Calibri" panose="020F0502020204030204" pitchFamily="34" charset="0"/>
              </a:rPr>
              <a:t>Backup</a:t>
            </a:r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1" dirty="0" err="1">
                <a:latin typeface="Calibri" panose="020F0502020204030204" pitchFamily="34" charset="0"/>
                <a:cs typeface="Calibri" panose="020F0502020204030204" pitchFamily="34" charset="0"/>
              </a:rPr>
              <a:t>copy</a:t>
            </a:r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, бэкап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) — создание копий личных или 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корпоративных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файлов, папок или систем на дополнительных (локальных или облачных) носителях информации. </a:t>
            </a:r>
          </a:p>
          <a:p>
            <a:pPr algn="just">
              <a:lnSpc>
                <a:spcPct val="107000"/>
              </a:lnSpc>
              <a:spcBef>
                <a:spcPts val="1200"/>
              </a:spcBef>
            </a:pPr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Резервное копирование необходимо для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восстановления данных, если они повредились или разрушились в основном месте их хранения (на внутреннем жестком диске компьютера или флэш-памяти мобильного устройства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Line 2"/>
          <p:cNvSpPr>
            <a:spLocks noChangeShapeType="1"/>
          </p:cNvSpPr>
          <p:nvPr/>
        </p:nvSpPr>
        <p:spPr bwMode="auto">
          <a:xfrm>
            <a:off x="1991481" y="9568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5077329" y="93785"/>
            <a:ext cx="7038474" cy="9092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24A67A"/>
                </a:solidFill>
                <a:latin typeface="Franklin Gothic Medium Cond" panose="020B0606030402020204" pitchFamily="34" charset="0"/>
                <a:ea typeface="+mj-ea"/>
                <a:cs typeface="+mj-cs"/>
              </a:defRPr>
            </a:lvl1pPr>
          </a:lstStyle>
          <a:p>
            <a:r>
              <a:rPr lang="ru-RU" sz="3800" dirty="0">
                <a:latin typeface="Calibri" panose="020F0502020204030204" pitchFamily="34" charset="0"/>
              </a:rPr>
              <a:t>Резервное копирование </a:t>
            </a:r>
            <a:r>
              <a:rPr lang="ru-RU" sz="3800" dirty="0" smtClean="0">
                <a:latin typeface="Calibri" panose="020F0502020204030204" pitchFamily="34" charset="0"/>
              </a:rPr>
              <a:t>данных</a:t>
            </a:r>
            <a:endParaRPr lang="ru-RU" sz="3800" dirty="0"/>
          </a:p>
        </p:txBody>
      </p:sp>
    </p:spTree>
    <p:extLst>
      <p:ext uri="{BB962C8B-B14F-4D97-AF65-F5344CB8AC3E}">
        <p14:creationId xmlns:p14="http://schemas.microsoft.com/office/powerpoint/2010/main" val="1685967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17387" y="3566091"/>
            <a:ext cx="5975465" cy="251280"/>
          </a:xfrm>
        </p:spPr>
        <p:txBody>
          <a:bodyPr rtlCol="0">
            <a:normAutofit fontScale="90000"/>
          </a:bodyPr>
          <a:lstStyle/>
          <a:p>
            <a:r>
              <a:rPr lang="ru-RU" dirty="0">
                <a:latin typeface="Calibri" panose="020F0502020204030204" pitchFamily="34" charset="0"/>
              </a:rPr>
              <a:t/>
            </a:r>
            <a:br>
              <a:rPr lang="ru-RU" dirty="0">
                <a:latin typeface="Calibri" panose="020F0502020204030204" pitchFamily="34" charset="0"/>
              </a:rPr>
            </a:br>
            <a:r>
              <a:rPr lang="ru-RU" dirty="0">
                <a:latin typeface="Calibri" panose="020F0502020204030204" pitchFamily="34" charset="0"/>
              </a:rPr>
              <a:t/>
            </a:r>
            <a:br>
              <a:rPr lang="ru-RU" dirty="0">
                <a:latin typeface="Calibri" panose="020F0502020204030204" pitchFamily="34" charset="0"/>
              </a:rPr>
            </a:b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1784684" y="1075269"/>
            <a:ext cx="10407316" cy="5480635"/>
          </a:xfrm>
        </p:spPr>
        <p:txBody>
          <a:bodyPr rtlCol="0">
            <a:noAutofit/>
          </a:bodyPr>
          <a:lstStyle/>
          <a:p>
            <a:pPr marL="0" indent="0" algn="just">
              <a:lnSpc>
                <a:spcPct val="107000"/>
              </a:lnSpc>
              <a:spcBef>
                <a:spcPts val="1200"/>
              </a:spcBef>
              <a:buNone/>
            </a:pPr>
            <a:r>
              <a:rPr lang="ru-RU" sz="2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ПРИЧИНЫ ПОТЕРИ ДАННЫХ:</a:t>
            </a:r>
          </a:p>
          <a:p>
            <a:pPr algn="just">
              <a:lnSpc>
                <a:spcPct val="107000"/>
              </a:lnSpc>
              <a:spcBef>
                <a:spcPts val="600"/>
              </a:spcBef>
            </a:pPr>
            <a:r>
              <a:rPr lang="ru-RU" sz="26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Поломка </a:t>
            </a:r>
            <a:r>
              <a:rPr lang="ru-RU" sz="2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устройства хранения информации (жесткого диска, флэшки, </a:t>
            </a:r>
            <a:r>
              <a:rPr lang="en-US" sz="2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DVD-</a:t>
            </a:r>
            <a:r>
              <a:rPr lang="ru-RU" sz="2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диска и др.)</a:t>
            </a:r>
          </a:p>
          <a:p>
            <a:pPr algn="just">
              <a:lnSpc>
                <a:spcPct val="107000"/>
              </a:lnSpc>
              <a:spcBef>
                <a:spcPts val="600"/>
              </a:spcBef>
            </a:pPr>
            <a:r>
              <a:rPr lang="ru-RU" sz="2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Программный сбой</a:t>
            </a:r>
          </a:p>
          <a:p>
            <a:pPr algn="just">
              <a:lnSpc>
                <a:spcPct val="107000"/>
              </a:lnSpc>
              <a:spcBef>
                <a:spcPts val="600"/>
              </a:spcBef>
            </a:pPr>
            <a:r>
              <a:rPr lang="ru-RU" sz="2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Воздействие вредоносных программ</a:t>
            </a:r>
          </a:p>
          <a:p>
            <a:pPr algn="just">
              <a:lnSpc>
                <a:spcPct val="107000"/>
              </a:lnSpc>
              <a:spcBef>
                <a:spcPts val="600"/>
              </a:spcBef>
            </a:pPr>
            <a:r>
              <a:rPr lang="ru-RU" sz="2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Человеческий фактор</a:t>
            </a:r>
          </a:p>
          <a:p>
            <a:pPr marL="0" indent="0" algn="just">
              <a:lnSpc>
                <a:spcPct val="107000"/>
              </a:lnSpc>
              <a:spcBef>
                <a:spcPts val="1200"/>
              </a:spcBef>
              <a:buNone/>
            </a:pPr>
            <a:r>
              <a:rPr lang="ru-RU" sz="2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КОПИРОВАНИЮ ПОДЛЕЖАТ:</a:t>
            </a:r>
          </a:p>
          <a:p>
            <a:pPr algn="just">
              <a:lnSpc>
                <a:spcPct val="107000"/>
              </a:lnSpc>
              <a:spcBef>
                <a:spcPts val="600"/>
              </a:spcBef>
            </a:pPr>
            <a:r>
              <a:rPr lang="ru-RU" sz="26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Рабочие </a:t>
            </a:r>
            <a:r>
              <a:rPr lang="ru-RU" sz="2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документы</a:t>
            </a:r>
          </a:p>
          <a:p>
            <a:pPr algn="just">
              <a:lnSpc>
                <a:spcPct val="107000"/>
              </a:lnSpc>
              <a:spcBef>
                <a:spcPts val="600"/>
              </a:spcBef>
            </a:pPr>
            <a:r>
              <a:rPr lang="ru-RU" sz="2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Фото и видеоматериалы</a:t>
            </a:r>
          </a:p>
          <a:p>
            <a:pPr algn="just">
              <a:lnSpc>
                <a:spcPct val="107000"/>
              </a:lnSpc>
              <a:spcBef>
                <a:spcPts val="600"/>
              </a:spcBef>
            </a:pPr>
            <a:r>
              <a:rPr lang="ru-RU" sz="26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Контакты</a:t>
            </a:r>
            <a:r>
              <a:rPr lang="ru-RU" sz="2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сохраненная из интернета информация, закладки браузера,</a:t>
            </a:r>
          </a:p>
          <a:p>
            <a:pPr algn="just">
              <a:lnSpc>
                <a:spcPct val="107000"/>
              </a:lnSpc>
              <a:spcBef>
                <a:spcPts val="600"/>
              </a:spcBef>
            </a:pPr>
            <a:r>
              <a:rPr lang="ru-RU" sz="2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Прочие трудно восстановимые </a:t>
            </a:r>
            <a:r>
              <a:rPr lang="ru-RU" sz="26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данные</a:t>
            </a:r>
            <a:endParaRPr lang="ru-RU" sz="2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Bef>
                <a:spcPts val="1200"/>
              </a:spcBef>
            </a:pPr>
            <a:endParaRPr lang="ru-RU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Line 2"/>
          <p:cNvSpPr>
            <a:spLocks noChangeShapeType="1"/>
          </p:cNvSpPr>
          <p:nvPr/>
        </p:nvSpPr>
        <p:spPr bwMode="auto">
          <a:xfrm>
            <a:off x="1991481" y="9568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5077329" y="93785"/>
            <a:ext cx="7038474" cy="9092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24A67A"/>
                </a:solidFill>
                <a:latin typeface="Franklin Gothic Medium Cond" panose="020B0606030402020204" pitchFamily="34" charset="0"/>
                <a:ea typeface="+mj-ea"/>
                <a:cs typeface="+mj-cs"/>
              </a:defRPr>
            </a:lvl1pPr>
          </a:lstStyle>
          <a:p>
            <a:r>
              <a:rPr lang="ru-RU" sz="3800" dirty="0">
                <a:latin typeface="Calibri" panose="020F0502020204030204" pitchFamily="34" charset="0"/>
              </a:rPr>
              <a:t>Резервное копирование </a:t>
            </a:r>
            <a:r>
              <a:rPr lang="ru-RU" sz="3800" dirty="0" smtClean="0">
                <a:latin typeface="Calibri" panose="020F0502020204030204" pitchFamily="34" charset="0"/>
              </a:rPr>
              <a:t>данных</a:t>
            </a:r>
            <a:endParaRPr lang="ru-RU" sz="3800" dirty="0"/>
          </a:p>
        </p:txBody>
      </p:sp>
    </p:spTree>
    <p:extLst>
      <p:ext uri="{BB962C8B-B14F-4D97-AF65-F5344CB8AC3E}">
        <p14:creationId xmlns:p14="http://schemas.microsoft.com/office/powerpoint/2010/main" val="3094388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17387" y="3566091"/>
            <a:ext cx="5975465" cy="251280"/>
          </a:xfrm>
        </p:spPr>
        <p:txBody>
          <a:bodyPr rtlCol="0">
            <a:normAutofit fontScale="90000"/>
          </a:bodyPr>
          <a:lstStyle/>
          <a:p>
            <a:r>
              <a:rPr lang="ru-RU" dirty="0">
                <a:latin typeface="Calibri" panose="020F0502020204030204" pitchFamily="34" charset="0"/>
              </a:rPr>
              <a:t/>
            </a:r>
            <a:br>
              <a:rPr lang="ru-RU" dirty="0">
                <a:latin typeface="Calibri" panose="020F0502020204030204" pitchFamily="34" charset="0"/>
              </a:rPr>
            </a:br>
            <a:r>
              <a:rPr lang="ru-RU" dirty="0">
                <a:latin typeface="Calibri" panose="020F0502020204030204" pitchFamily="34" charset="0"/>
              </a:rPr>
              <a:t/>
            </a:r>
            <a:br>
              <a:rPr lang="ru-RU" dirty="0">
                <a:latin typeface="Calibri" panose="020F0502020204030204" pitchFamily="34" charset="0"/>
              </a:rPr>
            </a:b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1991481" y="1094447"/>
            <a:ext cx="9994232" cy="5445847"/>
          </a:xfrm>
        </p:spPr>
        <p:txBody>
          <a:bodyPr rtlCol="0">
            <a:noAutofit/>
          </a:bodyPr>
          <a:lstStyle/>
          <a:p>
            <a:pPr marL="0" indent="0" algn="just">
              <a:lnSpc>
                <a:spcPct val="107000"/>
              </a:lnSpc>
              <a:spcBef>
                <a:spcPts val="1200"/>
              </a:spcBef>
              <a:buNone/>
            </a:pPr>
            <a:r>
              <a:rPr lang="ru-RU" sz="2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ВИДЫ РЕЗЕРВНЫХ КОПИЙ:</a:t>
            </a:r>
          </a:p>
          <a:p>
            <a:pPr algn="just">
              <a:lnSpc>
                <a:spcPct val="107000"/>
              </a:lnSpc>
              <a:spcBef>
                <a:spcPts val="1200"/>
              </a:spcBef>
            </a:pPr>
            <a:r>
              <a:rPr lang="ru-RU" sz="26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Электронный </a:t>
            </a:r>
            <a:r>
              <a:rPr lang="ru-RU" sz="2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образ операционной системы </a:t>
            </a:r>
            <a:r>
              <a:rPr lang="ru-RU" sz="2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резервная копию файлов, отвечающих за работу операционной системы компьютера (при этом личные файлы пользователя не сохраняются). С помощью данной копии можно восстановить работоспособность системы в случае возникновения технического или программного сбоя или настроить ОС такой же конфигурации на другом компьютере.</a:t>
            </a:r>
          </a:p>
          <a:p>
            <a:pPr algn="just">
              <a:lnSpc>
                <a:spcPct val="107000"/>
              </a:lnSpc>
              <a:spcBef>
                <a:spcPts val="1200"/>
              </a:spcBef>
            </a:pPr>
            <a:r>
              <a:rPr lang="ru-RU" sz="2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Личные файлы пользователя </a:t>
            </a:r>
            <a:r>
              <a:rPr lang="ru-RU" sz="2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такие как текстовые документы, фотографии, видео или аудиозаписи и др. (кроме файлов, отвечающих за работу ОС. Такая копия поможет восстановить доступ к личным файлам</a:t>
            </a:r>
            <a:r>
              <a:rPr lang="ru-RU" sz="26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sz="2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Line 2"/>
          <p:cNvSpPr>
            <a:spLocks noChangeShapeType="1"/>
          </p:cNvSpPr>
          <p:nvPr/>
        </p:nvSpPr>
        <p:spPr bwMode="auto">
          <a:xfrm>
            <a:off x="1991481" y="9568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5077329" y="93785"/>
            <a:ext cx="7038474" cy="9092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24A67A"/>
                </a:solidFill>
                <a:latin typeface="Franklin Gothic Medium Cond" panose="020B0606030402020204" pitchFamily="34" charset="0"/>
                <a:ea typeface="+mj-ea"/>
                <a:cs typeface="+mj-cs"/>
              </a:defRPr>
            </a:lvl1pPr>
          </a:lstStyle>
          <a:p>
            <a:r>
              <a:rPr lang="ru-RU" sz="3800" dirty="0">
                <a:latin typeface="Calibri" panose="020F0502020204030204" pitchFamily="34" charset="0"/>
              </a:rPr>
              <a:t>Резервное копирование </a:t>
            </a:r>
            <a:r>
              <a:rPr lang="ru-RU" sz="3800" dirty="0" smtClean="0">
                <a:latin typeface="Calibri" panose="020F0502020204030204" pitchFamily="34" charset="0"/>
              </a:rPr>
              <a:t>данных</a:t>
            </a:r>
            <a:endParaRPr lang="ru-RU" sz="3800" dirty="0"/>
          </a:p>
        </p:txBody>
      </p:sp>
    </p:spTree>
    <p:extLst>
      <p:ext uri="{BB962C8B-B14F-4D97-AF65-F5344CB8AC3E}">
        <p14:creationId xmlns:p14="http://schemas.microsoft.com/office/powerpoint/2010/main" val="237486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17387" y="3566091"/>
            <a:ext cx="5975465" cy="251280"/>
          </a:xfrm>
        </p:spPr>
        <p:txBody>
          <a:bodyPr rtlCol="0">
            <a:normAutofit fontScale="90000"/>
          </a:bodyPr>
          <a:lstStyle/>
          <a:p>
            <a:r>
              <a:rPr lang="ru-RU" dirty="0">
                <a:latin typeface="Calibri" panose="020F0502020204030204" pitchFamily="34" charset="0"/>
              </a:rPr>
              <a:t/>
            </a:r>
            <a:br>
              <a:rPr lang="ru-RU" dirty="0">
                <a:latin typeface="Calibri" panose="020F0502020204030204" pitchFamily="34" charset="0"/>
              </a:rPr>
            </a:br>
            <a:r>
              <a:rPr lang="ru-RU" dirty="0">
                <a:latin typeface="Calibri" panose="020F0502020204030204" pitchFamily="34" charset="0"/>
              </a:rPr>
              <a:t/>
            </a:r>
            <a:br>
              <a:rPr lang="ru-RU" dirty="0">
                <a:latin typeface="Calibri" panose="020F0502020204030204" pitchFamily="34" charset="0"/>
              </a:rPr>
            </a:b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2434392" y="1379847"/>
            <a:ext cx="9031706" cy="5205215"/>
          </a:xfrm>
        </p:spPr>
        <p:txBody>
          <a:bodyPr rtlCol="0">
            <a:noAutofit/>
          </a:bodyPr>
          <a:lstStyle/>
          <a:p>
            <a:pPr marL="0" indent="0" algn="just">
              <a:lnSpc>
                <a:spcPct val="107000"/>
              </a:lnSpc>
              <a:spcBef>
                <a:spcPts val="1200"/>
              </a:spcBef>
              <a:buNone/>
            </a:pPr>
            <a:r>
              <a:rPr lang="ru-RU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ВИДЫ РЕЗЕРВНЫХ КОПИЙ:</a:t>
            </a:r>
          </a:p>
          <a:p>
            <a:pPr algn="just">
              <a:lnSpc>
                <a:spcPct val="107000"/>
              </a:lnSpc>
              <a:spcBef>
                <a:spcPts val="1200"/>
              </a:spcBef>
            </a:pPr>
            <a:r>
              <a:rPr lang="ru-RU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Полная </a:t>
            </a:r>
            <a:r>
              <a:rPr lang="ru-RU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копия жесткого диска компьютера (или образ диска) </a:t>
            </a:r>
            <a:r>
              <a:rPr lang="ru-RU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резервируются оба типа файлов, а также вся информация, хранящаяся на жестких дисках. </a:t>
            </a:r>
            <a:endParaRPr lang="ru-RU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Bef>
                <a:spcPts val="1200"/>
              </a:spcBef>
            </a:pPr>
            <a:r>
              <a:rPr lang="ru-RU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Универсальный</a:t>
            </a:r>
            <a:r>
              <a:rPr lang="ru-RU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но самый длительный и требующий больших объемов памяти вид резервного копирования. </a:t>
            </a:r>
            <a:endParaRPr lang="ru-RU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Bef>
                <a:spcPts val="1200"/>
              </a:spcBef>
            </a:pPr>
            <a:r>
              <a:rPr lang="ru-RU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Недостаток</a:t>
            </a:r>
            <a:r>
              <a:rPr lang="ru-RU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сохранение также и вредоносных файлов</a:t>
            </a:r>
            <a:r>
              <a:rPr lang="ru-RU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Line 2"/>
          <p:cNvSpPr>
            <a:spLocks noChangeShapeType="1"/>
          </p:cNvSpPr>
          <p:nvPr/>
        </p:nvSpPr>
        <p:spPr bwMode="auto">
          <a:xfrm>
            <a:off x="1991481" y="9568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5077329" y="93785"/>
            <a:ext cx="7038474" cy="9092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24A67A"/>
                </a:solidFill>
                <a:latin typeface="Franklin Gothic Medium Cond" panose="020B0606030402020204" pitchFamily="34" charset="0"/>
                <a:ea typeface="+mj-ea"/>
                <a:cs typeface="+mj-cs"/>
              </a:defRPr>
            </a:lvl1pPr>
          </a:lstStyle>
          <a:p>
            <a:r>
              <a:rPr lang="ru-RU" sz="3800" dirty="0">
                <a:latin typeface="Calibri" panose="020F0502020204030204" pitchFamily="34" charset="0"/>
              </a:rPr>
              <a:t>Резервное копирование </a:t>
            </a:r>
            <a:r>
              <a:rPr lang="ru-RU" sz="3800" dirty="0" smtClean="0">
                <a:latin typeface="Calibri" panose="020F0502020204030204" pitchFamily="34" charset="0"/>
              </a:rPr>
              <a:t>данных</a:t>
            </a:r>
            <a:endParaRPr lang="ru-RU" sz="3800" dirty="0"/>
          </a:p>
        </p:txBody>
      </p:sp>
    </p:spTree>
    <p:extLst>
      <p:ext uri="{BB962C8B-B14F-4D97-AF65-F5344CB8AC3E}">
        <p14:creationId xmlns:p14="http://schemas.microsoft.com/office/powerpoint/2010/main" val="298640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17387" y="3566091"/>
            <a:ext cx="5975465" cy="251280"/>
          </a:xfrm>
        </p:spPr>
        <p:txBody>
          <a:bodyPr rtlCol="0">
            <a:normAutofit fontScale="90000"/>
          </a:bodyPr>
          <a:lstStyle/>
          <a:p>
            <a:r>
              <a:rPr lang="ru-RU" dirty="0">
                <a:latin typeface="Calibri" panose="020F0502020204030204" pitchFamily="34" charset="0"/>
              </a:rPr>
              <a:t/>
            </a:r>
            <a:br>
              <a:rPr lang="ru-RU" dirty="0">
                <a:latin typeface="Calibri" panose="020F0502020204030204" pitchFamily="34" charset="0"/>
              </a:rPr>
            </a:br>
            <a:r>
              <a:rPr lang="ru-RU" dirty="0">
                <a:latin typeface="Calibri" panose="020F0502020204030204" pitchFamily="34" charset="0"/>
              </a:rPr>
              <a:t/>
            </a:r>
            <a:br>
              <a:rPr lang="ru-RU" dirty="0">
                <a:latin typeface="Calibri" panose="020F0502020204030204" pitchFamily="34" charset="0"/>
              </a:rPr>
            </a:b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1900989" y="1094874"/>
            <a:ext cx="10118558" cy="5678905"/>
          </a:xfrm>
        </p:spPr>
        <p:txBody>
          <a:bodyPr rtlCol="0">
            <a:noAutofit/>
          </a:bodyPr>
          <a:lstStyle/>
          <a:p>
            <a:pPr marL="0" indent="0" algn="just">
              <a:lnSpc>
                <a:spcPct val="107000"/>
              </a:lnSpc>
              <a:spcBef>
                <a:spcPts val="1200"/>
              </a:spcBef>
              <a:buNone/>
            </a:pPr>
            <a:r>
              <a:rPr lang="ru-RU" sz="2600" b="1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ВАЖНО!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sz="26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Чем чаще обновляются файлы, тем чаще нужно производить их копирование.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sz="2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Образ операционной системы нужно сохранять перед установкой новых программ, физического переноса компьютера, изменения конфигурации железа или чистке, чтобы в случае возникновения ошибок в работе компьютера, была возможность вернуться к предыдущей рабочей конфигурации.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sz="2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Хранить достаточное количество резервных копий, необходимых для восстановления данных.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sz="2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Использовать для создания резервных копий внешний носитель необходимого объема.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sz="2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Периодически проверять работоспособность создаваемых резервных копий файлов. </a:t>
            </a:r>
          </a:p>
          <a:p>
            <a:pPr algn="just">
              <a:lnSpc>
                <a:spcPct val="107000"/>
              </a:lnSpc>
              <a:spcBef>
                <a:spcPts val="1200"/>
              </a:spcBef>
            </a:pPr>
            <a:endParaRPr lang="ru-RU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Line 2"/>
          <p:cNvSpPr>
            <a:spLocks noChangeShapeType="1"/>
          </p:cNvSpPr>
          <p:nvPr/>
        </p:nvSpPr>
        <p:spPr bwMode="auto">
          <a:xfrm>
            <a:off x="1991481" y="9568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5077329" y="93785"/>
            <a:ext cx="7038474" cy="9092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24A67A"/>
                </a:solidFill>
                <a:latin typeface="Franklin Gothic Medium Cond" panose="020B0606030402020204" pitchFamily="34" charset="0"/>
                <a:ea typeface="+mj-ea"/>
                <a:cs typeface="+mj-cs"/>
              </a:defRPr>
            </a:lvl1pPr>
          </a:lstStyle>
          <a:p>
            <a:r>
              <a:rPr lang="ru-RU" sz="3800" dirty="0">
                <a:latin typeface="Calibri" panose="020F0502020204030204" pitchFamily="34" charset="0"/>
              </a:rPr>
              <a:t>Резервное копирование </a:t>
            </a:r>
            <a:r>
              <a:rPr lang="ru-RU" sz="3800" dirty="0" smtClean="0">
                <a:latin typeface="Calibri" panose="020F0502020204030204" pitchFamily="34" charset="0"/>
              </a:rPr>
              <a:t>данных</a:t>
            </a:r>
            <a:endParaRPr lang="ru-RU" sz="3800" dirty="0"/>
          </a:p>
        </p:txBody>
      </p:sp>
    </p:spTree>
    <p:extLst>
      <p:ext uri="{BB962C8B-B14F-4D97-AF65-F5344CB8AC3E}">
        <p14:creationId xmlns:p14="http://schemas.microsoft.com/office/powerpoint/2010/main" val="3445132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2273968" y="1793939"/>
            <a:ext cx="9095873" cy="3596208"/>
          </a:xfrm>
        </p:spPr>
        <p:txBody>
          <a:bodyPr rtlCol="0">
            <a:noAutofit/>
          </a:bodyPr>
          <a:lstStyle/>
          <a:p>
            <a:pPr marL="0" indent="0" algn="just">
              <a:lnSpc>
                <a:spcPct val="107000"/>
              </a:lnSpc>
              <a:spcBef>
                <a:spcPts val="600"/>
              </a:spcBef>
              <a:buNone/>
            </a:pPr>
            <a:r>
              <a:rPr lang="ru-RU" b="1" dirty="0" smtClean="0">
                <a:solidFill>
                  <a:schemeClr val="accent1">
                    <a:lumMod val="50000"/>
                  </a:schemeClr>
                </a:solidFill>
                <a:latin typeface="+mn-lt"/>
                <a:cs typeface="Calibri" panose="020F0502020204030204" pitchFamily="34" charset="0"/>
              </a:rPr>
              <a:t>СПОСОБЫ СОЗДАНИЯ РЕЗЕРВНЫХ КОПИЙ ФАЙЛОВ </a:t>
            </a:r>
            <a:br>
              <a:rPr lang="ru-RU" b="1" dirty="0" smtClean="0">
                <a:solidFill>
                  <a:schemeClr val="accent1">
                    <a:lumMod val="50000"/>
                  </a:schemeClr>
                </a:solidFill>
                <a:latin typeface="+mn-lt"/>
                <a:cs typeface="Calibri" panose="020F0502020204030204" pitchFamily="34" charset="0"/>
              </a:rPr>
            </a:br>
            <a:r>
              <a:rPr lang="ru-RU" b="1" dirty="0" smtClean="0">
                <a:solidFill>
                  <a:schemeClr val="accent1">
                    <a:lumMod val="50000"/>
                  </a:schemeClr>
                </a:solidFill>
                <a:latin typeface="+mn-lt"/>
                <a:cs typeface="Calibri" panose="020F0502020204030204" pitchFamily="34" charset="0"/>
              </a:rPr>
              <a:t>НА ПК ИЛИ НОУТБУКЕ:</a:t>
            </a:r>
          </a:p>
          <a:p>
            <a:pPr algn="just">
              <a:lnSpc>
                <a:spcPct val="107000"/>
              </a:lnSpc>
              <a:spcBef>
                <a:spcPts val="600"/>
              </a:spcBef>
            </a:pPr>
            <a:r>
              <a:rPr lang="ru-RU" dirty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Копирование </a:t>
            </a:r>
            <a:r>
              <a:rPr lang="ru-RU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файлов вручную </a:t>
            </a:r>
          </a:p>
          <a:p>
            <a:pPr algn="just">
              <a:lnSpc>
                <a:spcPct val="107000"/>
              </a:lnSpc>
              <a:spcBef>
                <a:spcPts val="600"/>
              </a:spcBef>
            </a:pPr>
            <a:r>
              <a:rPr lang="ru-RU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Копирование с помощью </a:t>
            </a:r>
            <a:r>
              <a:rPr lang="en-US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bat-</a:t>
            </a:r>
            <a:r>
              <a:rPr lang="ru-RU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файлов. Это пакетные исполняемые файлы, имеют текстовый формат и выполняют последовательность команд . Запускаются вручную</a:t>
            </a:r>
            <a:r>
              <a:rPr lang="ru-RU" dirty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.</a:t>
            </a:r>
            <a:endParaRPr lang="ru-RU" dirty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9" name="Line 2"/>
          <p:cNvSpPr>
            <a:spLocks noChangeShapeType="1"/>
          </p:cNvSpPr>
          <p:nvPr/>
        </p:nvSpPr>
        <p:spPr bwMode="auto">
          <a:xfrm>
            <a:off x="2039609" y="920742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5153526" y="47546"/>
            <a:ext cx="7038474" cy="9092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24A67A"/>
                </a:solidFill>
                <a:latin typeface="Franklin Gothic Medium Cond" panose="020B0606030402020204" pitchFamily="34" charset="0"/>
                <a:ea typeface="+mj-ea"/>
                <a:cs typeface="+mj-cs"/>
              </a:defRPr>
            </a:lvl1pPr>
          </a:lstStyle>
          <a:p>
            <a:r>
              <a:rPr lang="ru-RU" sz="3800" dirty="0">
                <a:latin typeface="Calibri" panose="020F0502020204030204" pitchFamily="34" charset="0"/>
              </a:rPr>
              <a:t>Резервное копирование </a:t>
            </a:r>
            <a:r>
              <a:rPr lang="ru-RU" sz="3800" dirty="0" smtClean="0">
                <a:latin typeface="Calibri" panose="020F0502020204030204" pitchFamily="34" charset="0"/>
              </a:rPr>
              <a:t>данных</a:t>
            </a:r>
            <a:endParaRPr lang="ru-RU" sz="3800" dirty="0"/>
          </a:p>
        </p:txBody>
      </p:sp>
    </p:spTree>
    <p:extLst>
      <p:ext uri="{BB962C8B-B14F-4D97-AF65-F5344CB8AC3E}">
        <p14:creationId xmlns:p14="http://schemas.microsoft.com/office/powerpoint/2010/main" val="4253731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4993106" y="1765084"/>
            <a:ext cx="7002378" cy="4111797"/>
          </a:xfrm>
        </p:spPr>
        <p:txBody>
          <a:bodyPr rtlCol="0">
            <a:noAutofit/>
          </a:bodyPr>
          <a:lstStyle/>
          <a:p>
            <a:pPr marL="0" indent="0" algn="just">
              <a:lnSpc>
                <a:spcPct val="107000"/>
              </a:lnSpc>
              <a:spcBef>
                <a:spcPts val="600"/>
              </a:spcBef>
              <a:buNone/>
            </a:pPr>
            <a:r>
              <a:rPr lang="ru-RU" b="1" dirty="0" smtClean="0">
                <a:solidFill>
                  <a:schemeClr val="accent1">
                    <a:lumMod val="50000"/>
                  </a:schemeClr>
                </a:solidFill>
                <a:latin typeface="+mn-lt"/>
                <a:cs typeface="Calibri" panose="020F0502020204030204" pitchFamily="34" charset="0"/>
              </a:rPr>
              <a:t>СПОСОБЫ СОЗДАНИЯ РЕЗЕРВНЫХ КОПИЙ ФАЙЛОВ НА ПК ИЛИ НОУТБУКЕ:</a:t>
            </a:r>
          </a:p>
          <a:p>
            <a:pPr algn="just">
              <a:lnSpc>
                <a:spcPct val="107000"/>
              </a:lnSpc>
              <a:spcBef>
                <a:spcPts val="600"/>
              </a:spcBef>
            </a:pPr>
            <a:r>
              <a:rPr lang="ru-RU" dirty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Копирование </a:t>
            </a:r>
            <a:r>
              <a:rPr lang="ru-RU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с помощью специальных программ или систем резервного копирования, например, </a:t>
            </a:r>
            <a:r>
              <a:rPr lang="en-US" dirty="0" err="1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Exiland</a:t>
            </a:r>
            <a:r>
              <a:rPr lang="en-US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 Backup</a:t>
            </a:r>
            <a:r>
              <a:rPr lang="ru-RU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., </a:t>
            </a:r>
            <a:r>
              <a:rPr lang="en-US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Dropbox Backup</a:t>
            </a:r>
            <a:r>
              <a:rPr lang="ru-RU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 </a:t>
            </a:r>
            <a:r>
              <a:rPr lang="ru-RU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и др. </a:t>
            </a:r>
            <a:endParaRPr lang="ru-RU" dirty="0" smtClean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Bef>
                <a:spcPts val="600"/>
              </a:spcBef>
            </a:pPr>
            <a:r>
              <a:rPr lang="ru-RU" dirty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Антивирус </a:t>
            </a:r>
            <a:r>
              <a:rPr lang="ru-RU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Касперского также позволяет создать резервную </a:t>
            </a:r>
            <a:r>
              <a:rPr lang="ru-RU" dirty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копию.</a:t>
            </a:r>
            <a:endParaRPr lang="ru-RU" dirty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Bef>
                <a:spcPts val="600"/>
              </a:spcBef>
            </a:pPr>
            <a:endParaRPr lang="ru-RU" b="1" dirty="0">
              <a:solidFill>
                <a:schemeClr val="tx1"/>
              </a:solidFill>
              <a:latin typeface="+mn-lt"/>
            </a:endParaRPr>
          </a:p>
          <a:p>
            <a:pPr algn="just">
              <a:lnSpc>
                <a:spcPct val="107000"/>
              </a:lnSpc>
              <a:spcBef>
                <a:spcPts val="600"/>
              </a:spcBef>
            </a:pPr>
            <a:endParaRPr lang="ru-RU" b="1" dirty="0">
              <a:solidFill>
                <a:schemeClr val="tx1"/>
              </a:solidFill>
              <a:latin typeface="+mn-lt"/>
            </a:endParaRPr>
          </a:p>
          <a:p>
            <a:pPr algn="just">
              <a:lnSpc>
                <a:spcPct val="107000"/>
              </a:lnSpc>
              <a:spcBef>
                <a:spcPts val="600"/>
              </a:spcBef>
            </a:pPr>
            <a:endParaRPr lang="ru-RU" dirty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Bef>
                <a:spcPts val="600"/>
              </a:spcBef>
            </a:pPr>
            <a:endParaRPr lang="ru-RU" dirty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Bef>
                <a:spcPts val="600"/>
              </a:spcBef>
            </a:pPr>
            <a:endParaRPr lang="ru-RU" dirty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Bef>
                <a:spcPts val="600"/>
              </a:spcBef>
            </a:pPr>
            <a:endParaRPr lang="ru-RU" dirty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Bef>
                <a:spcPts val="600"/>
              </a:spcBef>
            </a:pPr>
            <a:endParaRPr lang="ru-RU" dirty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Bef>
                <a:spcPts val="600"/>
              </a:spcBef>
            </a:pPr>
            <a:endParaRPr lang="ru-RU" dirty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Bef>
                <a:spcPts val="600"/>
              </a:spcBef>
            </a:pPr>
            <a:endParaRPr lang="ru-RU" dirty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Bef>
                <a:spcPts val="600"/>
              </a:spcBef>
            </a:pPr>
            <a:endParaRPr lang="ru-RU" dirty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Bef>
                <a:spcPts val="600"/>
              </a:spcBef>
            </a:pPr>
            <a:endParaRPr lang="ru-RU" dirty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Bef>
                <a:spcPts val="600"/>
              </a:spcBef>
            </a:pPr>
            <a:r>
              <a:rPr lang="ru-RU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Создание образа диска (в формате VHD, VHDX, ISO) - создает образ тома целиком.</a:t>
            </a:r>
          </a:p>
          <a:p>
            <a:pPr algn="just">
              <a:lnSpc>
                <a:spcPct val="107000"/>
              </a:lnSpc>
              <a:spcBef>
                <a:spcPts val="600"/>
              </a:spcBef>
            </a:pPr>
            <a:endParaRPr lang="ru-RU" dirty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A6959C59-AD0B-0DC8-9E1B-DC42BAC6D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613" y="2251138"/>
            <a:ext cx="4235823" cy="31396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Line 2"/>
          <p:cNvSpPr>
            <a:spLocks noChangeShapeType="1"/>
          </p:cNvSpPr>
          <p:nvPr/>
        </p:nvSpPr>
        <p:spPr bwMode="auto">
          <a:xfrm>
            <a:off x="2039609" y="920742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5153526" y="47546"/>
            <a:ext cx="7038474" cy="9092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24A67A"/>
                </a:solidFill>
                <a:latin typeface="Franklin Gothic Medium Cond" panose="020B0606030402020204" pitchFamily="34" charset="0"/>
                <a:ea typeface="+mj-ea"/>
                <a:cs typeface="+mj-cs"/>
              </a:defRPr>
            </a:lvl1pPr>
          </a:lstStyle>
          <a:p>
            <a:r>
              <a:rPr lang="ru-RU" sz="3800" dirty="0">
                <a:latin typeface="Calibri" panose="020F0502020204030204" pitchFamily="34" charset="0"/>
              </a:rPr>
              <a:t>Резервное копирование </a:t>
            </a:r>
            <a:r>
              <a:rPr lang="ru-RU" sz="3800" dirty="0" smtClean="0">
                <a:latin typeface="Calibri" panose="020F0502020204030204" pitchFamily="34" charset="0"/>
              </a:rPr>
              <a:t>данных</a:t>
            </a:r>
            <a:endParaRPr lang="ru-RU" sz="3800" dirty="0"/>
          </a:p>
        </p:txBody>
      </p:sp>
    </p:spTree>
    <p:extLst>
      <p:ext uri="{BB962C8B-B14F-4D97-AF65-F5344CB8AC3E}">
        <p14:creationId xmlns:p14="http://schemas.microsoft.com/office/powerpoint/2010/main" val="11662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5313828" y="50034"/>
            <a:ext cx="6720817" cy="909292"/>
          </a:xfrm>
        </p:spPr>
        <p:txBody>
          <a:bodyPr>
            <a:normAutofit/>
          </a:bodyPr>
          <a:lstStyle/>
          <a:p>
            <a:r>
              <a:rPr lang="ru-RU" sz="3800" dirty="0" smtClean="0"/>
              <a:t>Резервное копирование данных</a:t>
            </a:r>
            <a:endParaRPr lang="ru-RU" sz="3800" dirty="0"/>
          </a:p>
        </p:txBody>
      </p:sp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1944495" y="1125184"/>
            <a:ext cx="10090150" cy="704850"/>
          </a:xfrm>
        </p:spPr>
        <p:txBody>
          <a:bodyPr rtlCol="0">
            <a:noAutofit/>
          </a:bodyPr>
          <a:lstStyle/>
          <a:p>
            <a:pPr marL="0" indent="0">
              <a:lnSpc>
                <a:spcPct val="107000"/>
              </a:lnSpc>
              <a:spcBef>
                <a:spcPts val="600"/>
              </a:spcBef>
              <a:buNone/>
            </a:pPr>
            <a:r>
              <a:rPr lang="ru-RU" dirty="0">
                <a:cs typeface="Calibri" panose="020F0502020204030204" pitchFamily="34" charset="0"/>
              </a:rPr>
              <a:t>Создание резервных копий средствами </a:t>
            </a:r>
            <a:r>
              <a:rPr lang="en-US" dirty="0" smtClean="0">
                <a:cs typeface="Calibri" panose="020F0502020204030204" pitchFamily="34" charset="0"/>
              </a:rPr>
              <a:t>Windows</a:t>
            </a:r>
            <a:r>
              <a:rPr lang="ru-RU" dirty="0" smtClean="0">
                <a:cs typeface="Calibri" panose="020F0502020204030204" pitchFamily="34" charset="0"/>
              </a:rPr>
              <a:t>10: </a:t>
            </a:r>
            <a:r>
              <a:rPr lang="ru-RU" b="1" dirty="0" smtClean="0">
                <a:cs typeface="Calibri" panose="020F0502020204030204" pitchFamily="34" charset="0"/>
              </a:rPr>
              <a:t>Пуск</a:t>
            </a:r>
            <a:r>
              <a:rPr lang="ru-RU" dirty="0" smtClean="0">
                <a:cs typeface="Calibri" panose="020F0502020204030204" pitchFamily="34" charset="0"/>
              </a:rPr>
              <a:t> </a:t>
            </a:r>
            <a:r>
              <a:rPr lang="en-US" dirty="0" smtClean="0">
                <a:cs typeface="Calibri" panose="020F0502020204030204" pitchFamily="34" charset="0"/>
              </a:rPr>
              <a:t> </a:t>
            </a:r>
            <a:r>
              <a:rPr lang="en-US" dirty="0">
                <a:cs typeface="Calibri" panose="020F0502020204030204" pitchFamily="34" charset="0"/>
              </a:rPr>
              <a:t>&gt; </a:t>
            </a:r>
            <a:r>
              <a:rPr lang="ru-RU" b="1" dirty="0" smtClean="0">
                <a:cs typeface="Calibri" panose="020F0502020204030204" pitchFamily="34" charset="0"/>
              </a:rPr>
              <a:t>Параметры</a:t>
            </a:r>
            <a:endParaRPr lang="ru-RU" b="1" dirty="0">
              <a:cs typeface="Calibri" panose="020F050202020403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600"/>
              </a:spcBef>
              <a:buNone/>
            </a:pPr>
            <a:endParaRPr lang="ru-RU" b="1" dirty="0">
              <a:cs typeface="Calibri" panose="020F050202020403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319" y="2071277"/>
            <a:ext cx="7701722" cy="433010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Прямоугольник 9"/>
          <p:cNvSpPr/>
          <p:nvPr/>
        </p:nvSpPr>
        <p:spPr>
          <a:xfrm>
            <a:off x="5313828" y="5036026"/>
            <a:ext cx="1296538" cy="68238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ая выноска 10"/>
          <p:cNvSpPr/>
          <p:nvPr/>
        </p:nvSpPr>
        <p:spPr>
          <a:xfrm>
            <a:off x="6738228" y="4844958"/>
            <a:ext cx="2643130" cy="873457"/>
          </a:xfrm>
          <a:prstGeom prst="wedgeRectCallout">
            <a:avLst>
              <a:gd name="adj1" fmla="val -60075"/>
              <a:gd name="adj2" fmla="val 15530"/>
            </a:avLst>
          </a:prstGeom>
          <a:ln w="28575">
            <a:solidFill>
              <a:srgbClr val="C0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</a:rPr>
              <a:t>Обновление и безопасность</a:t>
            </a:r>
            <a:endParaRPr lang="ru-RU" sz="2400" b="1" dirty="0">
              <a:solidFill>
                <a:schemeClr val="tx1"/>
              </a:solidFill>
            </a:endParaRPr>
          </a:p>
        </p:txBody>
      </p:sp>
      <p:sp>
        <p:nvSpPr>
          <p:cNvPr id="12" name="Line 2"/>
          <p:cNvSpPr>
            <a:spLocks noChangeShapeType="1"/>
          </p:cNvSpPr>
          <p:nvPr/>
        </p:nvSpPr>
        <p:spPr bwMode="auto">
          <a:xfrm>
            <a:off x="2039609" y="920742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3274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5245769" y="54321"/>
            <a:ext cx="6781800" cy="909292"/>
          </a:xfrm>
        </p:spPr>
        <p:txBody>
          <a:bodyPr>
            <a:normAutofit/>
          </a:bodyPr>
          <a:lstStyle/>
          <a:p>
            <a:r>
              <a:rPr lang="ru-RU" sz="3800" dirty="0" smtClean="0"/>
              <a:t>Резервное копирование данных</a:t>
            </a:r>
            <a:endParaRPr lang="ru-RU" sz="3800" dirty="0"/>
          </a:p>
        </p:txBody>
      </p:sp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2039609" y="1068700"/>
            <a:ext cx="9330233" cy="964637"/>
          </a:xfrm>
        </p:spPr>
        <p:txBody>
          <a:bodyPr rtlCol="0">
            <a:noAutofit/>
          </a:bodyPr>
          <a:lstStyle/>
          <a:p>
            <a:pPr marL="0" indent="0" algn="ctr">
              <a:lnSpc>
                <a:spcPct val="107000"/>
              </a:lnSpc>
              <a:spcBef>
                <a:spcPts val="600"/>
              </a:spcBef>
              <a:buNone/>
            </a:pPr>
            <a:r>
              <a:rPr lang="ru-RU" dirty="0">
                <a:cs typeface="Calibri" panose="020F0502020204030204" pitchFamily="34" charset="0"/>
              </a:rPr>
              <a:t>Создание резервных копий средствами </a:t>
            </a:r>
            <a:r>
              <a:rPr lang="en-US" dirty="0" smtClean="0">
                <a:cs typeface="Calibri" panose="020F0502020204030204" pitchFamily="34" charset="0"/>
              </a:rPr>
              <a:t>Windows</a:t>
            </a:r>
            <a:r>
              <a:rPr lang="ru-RU" dirty="0" smtClean="0">
                <a:cs typeface="Calibri" panose="020F0502020204030204" pitchFamily="34" charset="0"/>
              </a:rPr>
              <a:t>10: </a:t>
            </a:r>
            <a:r>
              <a:rPr lang="ru-RU" dirty="0" smtClean="0">
                <a:cs typeface="Calibri" panose="020F0502020204030204" pitchFamily="34" charset="0"/>
              </a:rPr>
              <a:t/>
            </a:r>
            <a:br>
              <a:rPr lang="ru-RU" dirty="0" smtClean="0">
                <a:cs typeface="Calibri" panose="020F0502020204030204" pitchFamily="34" charset="0"/>
              </a:rPr>
            </a:br>
            <a:r>
              <a:rPr lang="ru-RU" b="1" dirty="0" smtClean="0">
                <a:cs typeface="Calibri" panose="020F0502020204030204" pitchFamily="34" charset="0"/>
              </a:rPr>
              <a:t>Пуск</a:t>
            </a:r>
            <a:r>
              <a:rPr lang="ru-RU" dirty="0" smtClean="0">
                <a:cs typeface="Calibri" panose="020F0502020204030204" pitchFamily="34" charset="0"/>
              </a:rPr>
              <a:t> </a:t>
            </a:r>
            <a:r>
              <a:rPr lang="en-US" dirty="0" smtClean="0">
                <a:cs typeface="Calibri" panose="020F0502020204030204" pitchFamily="34" charset="0"/>
              </a:rPr>
              <a:t> </a:t>
            </a:r>
            <a:r>
              <a:rPr lang="en-US" dirty="0">
                <a:cs typeface="Calibri" panose="020F0502020204030204" pitchFamily="34" charset="0"/>
              </a:rPr>
              <a:t>&gt; </a:t>
            </a:r>
            <a:r>
              <a:rPr lang="ru-RU" b="1" dirty="0" smtClean="0">
                <a:cs typeface="Calibri" panose="020F0502020204030204" pitchFamily="34" charset="0"/>
              </a:rPr>
              <a:t>Параметры</a:t>
            </a:r>
            <a:r>
              <a:rPr lang="en-US" dirty="0">
                <a:cs typeface="Calibri" panose="020F0502020204030204" pitchFamily="34" charset="0"/>
              </a:rPr>
              <a:t> &gt; </a:t>
            </a:r>
            <a:r>
              <a:rPr lang="ru-RU" b="1" dirty="0">
                <a:cs typeface="Calibri" panose="020F0502020204030204" pitchFamily="34" charset="0"/>
              </a:rPr>
              <a:t>Обновление и безопасность</a:t>
            </a:r>
          </a:p>
          <a:p>
            <a:pPr marL="0" indent="0">
              <a:lnSpc>
                <a:spcPct val="107000"/>
              </a:lnSpc>
              <a:spcBef>
                <a:spcPts val="600"/>
              </a:spcBef>
              <a:buNone/>
            </a:pPr>
            <a:endParaRPr lang="ru-RU" b="1" dirty="0">
              <a:cs typeface="Calibri" panose="020F050202020403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600"/>
              </a:spcBef>
              <a:buNone/>
            </a:pPr>
            <a:endParaRPr lang="ru-RU" b="1" dirty="0">
              <a:cs typeface="Calibri" panose="020F0502020204030204" pitchFamily="34" charset="0"/>
            </a:endParaRPr>
          </a:p>
        </p:txBody>
      </p:sp>
      <p:sp>
        <p:nvSpPr>
          <p:cNvPr id="11" name="Line 2"/>
          <p:cNvSpPr>
            <a:spLocks noChangeShapeType="1"/>
          </p:cNvSpPr>
          <p:nvPr/>
        </p:nvSpPr>
        <p:spPr bwMode="auto">
          <a:xfrm>
            <a:off x="2039609" y="920742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grpSp>
        <p:nvGrpSpPr>
          <p:cNvPr id="8" name="Группа 7"/>
          <p:cNvGrpSpPr/>
          <p:nvPr/>
        </p:nvGrpSpPr>
        <p:grpSpPr>
          <a:xfrm>
            <a:off x="2934366" y="2337706"/>
            <a:ext cx="7256381" cy="3751815"/>
            <a:chOff x="2934366" y="2337706"/>
            <a:chExt cx="7256381" cy="3751815"/>
          </a:xfrm>
        </p:grpSpPr>
        <p:grpSp>
          <p:nvGrpSpPr>
            <p:cNvPr id="5" name="Группа 4"/>
            <p:cNvGrpSpPr/>
            <p:nvPr/>
          </p:nvGrpSpPr>
          <p:grpSpPr>
            <a:xfrm>
              <a:off x="2934366" y="2337706"/>
              <a:ext cx="7256381" cy="3751815"/>
              <a:chOff x="2152313" y="1519111"/>
              <a:chExt cx="7887374" cy="4434483"/>
            </a:xfrm>
          </p:grpSpPr>
          <p:pic>
            <p:nvPicPr>
              <p:cNvPr id="2" name="Рисунок 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52313" y="1519111"/>
                <a:ext cx="7887374" cy="4434483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10" name="Прямоугольник 9"/>
              <p:cNvSpPr/>
              <p:nvPr/>
            </p:nvSpPr>
            <p:spPr>
              <a:xfrm>
                <a:off x="2171150" y="3507474"/>
                <a:ext cx="1773054" cy="313899"/>
              </a:xfrm>
              <a:prstGeom prst="rect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2" name="Прямоугольная выноска 11"/>
            <p:cNvSpPr/>
            <p:nvPr/>
          </p:nvSpPr>
          <p:spPr>
            <a:xfrm>
              <a:off x="4950318" y="3583241"/>
              <a:ext cx="3568039" cy="808285"/>
            </a:xfrm>
            <a:prstGeom prst="wedgeRectCallout">
              <a:avLst>
                <a:gd name="adj1" fmla="val -60075"/>
                <a:gd name="adj2" fmla="val 15530"/>
              </a:avLst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2800" b="1" dirty="0">
                  <a:solidFill>
                    <a:schemeClr val="tx1"/>
                  </a:solidFill>
                </a:rPr>
                <a:t>Резервное копирование </a:t>
              </a:r>
              <a:r>
                <a:rPr lang="ru-RU" sz="2800" b="1" dirty="0" smtClean="0">
                  <a:solidFill>
                    <a:schemeClr val="tx1"/>
                  </a:solidFill>
                </a:rPr>
                <a:t>файлов</a:t>
              </a:r>
              <a:endParaRPr lang="ru-RU" sz="28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5321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/>
          <p:cNvGrpSpPr/>
          <p:nvPr/>
        </p:nvGrpSpPr>
        <p:grpSpPr>
          <a:xfrm>
            <a:off x="2689144" y="2487059"/>
            <a:ext cx="7706140" cy="4208380"/>
            <a:chOff x="2381119" y="2276642"/>
            <a:chExt cx="7887374" cy="4434483"/>
          </a:xfrm>
        </p:grpSpPr>
        <p:pic>
          <p:nvPicPr>
            <p:cNvPr id="2" name="Рисунок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81119" y="2276642"/>
              <a:ext cx="7887374" cy="443448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Прямоугольник 9"/>
            <p:cNvSpPr/>
            <p:nvPr/>
          </p:nvSpPr>
          <p:spPr>
            <a:xfrm>
              <a:off x="2405183" y="4240145"/>
              <a:ext cx="1773054" cy="313899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/>
            <p:cNvSpPr/>
            <p:nvPr/>
          </p:nvSpPr>
          <p:spPr>
            <a:xfrm>
              <a:off x="4268414" y="4421874"/>
              <a:ext cx="1377270" cy="344329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ая выноска 7"/>
            <p:cNvSpPr/>
            <p:nvPr/>
          </p:nvSpPr>
          <p:spPr>
            <a:xfrm>
              <a:off x="7106531" y="4082247"/>
              <a:ext cx="2747331" cy="1023582"/>
            </a:xfrm>
            <a:prstGeom prst="wedgeRectCallout">
              <a:avLst>
                <a:gd name="adj1" fmla="val -108642"/>
                <a:gd name="adj2" fmla="val -167"/>
              </a:avLst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2400" b="1" dirty="0" smtClean="0"/>
                <a:t>Подключить внешний носитель </a:t>
              </a:r>
              <a:endParaRPr lang="ru-RU" sz="2400" b="1" dirty="0"/>
            </a:p>
          </p:txBody>
        </p:sp>
      </p:grpSp>
      <p:sp>
        <p:nvSpPr>
          <p:cNvPr id="14" name="Заголовок 8"/>
          <p:cNvSpPr>
            <a:spLocks noGrp="1"/>
          </p:cNvSpPr>
          <p:nvPr>
            <p:ph type="title"/>
          </p:nvPr>
        </p:nvSpPr>
        <p:spPr>
          <a:xfrm>
            <a:off x="5245769" y="54321"/>
            <a:ext cx="6781800" cy="909292"/>
          </a:xfrm>
        </p:spPr>
        <p:txBody>
          <a:bodyPr>
            <a:normAutofit/>
          </a:bodyPr>
          <a:lstStyle/>
          <a:p>
            <a:r>
              <a:rPr lang="ru-RU" sz="3800" dirty="0" smtClean="0"/>
              <a:t>Резервное копирование данных</a:t>
            </a:r>
            <a:endParaRPr lang="ru-RU" sz="3800" dirty="0"/>
          </a:p>
        </p:txBody>
      </p:sp>
      <p:sp>
        <p:nvSpPr>
          <p:cNvPr id="15" name="Line 2"/>
          <p:cNvSpPr>
            <a:spLocks noChangeShapeType="1"/>
          </p:cNvSpPr>
          <p:nvPr/>
        </p:nvSpPr>
        <p:spPr bwMode="auto">
          <a:xfrm>
            <a:off x="2039609" y="920742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6" name="Объект 2"/>
          <p:cNvSpPr txBox="1">
            <a:spLocks/>
          </p:cNvSpPr>
          <p:nvPr/>
        </p:nvSpPr>
        <p:spPr>
          <a:xfrm>
            <a:off x="2309103" y="1062918"/>
            <a:ext cx="8466222" cy="1352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50000"/>
                  </a:schemeClr>
                </a:solidFill>
                <a:latin typeface="Franklin Gothic Medium Cond" panose="020B06060304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50000"/>
                  </a:schemeClr>
                </a:solidFill>
                <a:latin typeface="Franklin Gothic Medium Cond" panose="020B06060304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50000"/>
                  </a:schemeClr>
                </a:solidFill>
                <a:latin typeface="Franklin Gothic Medium Cond" panose="020B06060304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50000"/>
                  </a:schemeClr>
                </a:solidFill>
                <a:latin typeface="Franklin Gothic Medium Cond" panose="020B06060304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50000"/>
                  </a:schemeClr>
                </a:solidFill>
                <a:latin typeface="Franklin Gothic Medium Cond" panose="020B06060304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7000"/>
              </a:lnSpc>
              <a:spcBef>
                <a:spcPts val="600"/>
              </a:spcBef>
              <a:buNone/>
            </a:pPr>
            <a:r>
              <a:rPr lang="ru-RU" dirty="0" smtClean="0">
                <a:cs typeface="Calibri" panose="020F0502020204030204" pitchFamily="34" charset="0"/>
              </a:rPr>
              <a:t>Создание резервных копий средствами </a:t>
            </a:r>
            <a:r>
              <a:rPr lang="en-US" dirty="0" smtClean="0">
                <a:cs typeface="Calibri" panose="020F0502020204030204" pitchFamily="34" charset="0"/>
              </a:rPr>
              <a:t>Windows</a:t>
            </a:r>
            <a:r>
              <a:rPr lang="ru-RU" dirty="0" smtClean="0">
                <a:cs typeface="Calibri" panose="020F0502020204030204" pitchFamily="34" charset="0"/>
              </a:rPr>
              <a:t>10: </a:t>
            </a:r>
            <a:br>
              <a:rPr lang="ru-RU" dirty="0" smtClean="0">
                <a:cs typeface="Calibri" panose="020F0502020204030204" pitchFamily="34" charset="0"/>
              </a:rPr>
            </a:br>
            <a:r>
              <a:rPr lang="ru-RU" b="1" dirty="0" smtClean="0">
                <a:cs typeface="Calibri" panose="020F0502020204030204" pitchFamily="34" charset="0"/>
              </a:rPr>
              <a:t>Пуск</a:t>
            </a:r>
            <a:r>
              <a:rPr lang="ru-RU" dirty="0" smtClean="0">
                <a:cs typeface="Calibri" panose="020F0502020204030204" pitchFamily="34" charset="0"/>
              </a:rPr>
              <a:t> </a:t>
            </a:r>
            <a:r>
              <a:rPr lang="en-US" dirty="0" smtClean="0">
                <a:cs typeface="Calibri" panose="020F0502020204030204" pitchFamily="34" charset="0"/>
              </a:rPr>
              <a:t> &gt; </a:t>
            </a:r>
            <a:r>
              <a:rPr lang="ru-RU" b="1" dirty="0" smtClean="0">
                <a:cs typeface="Calibri" panose="020F0502020204030204" pitchFamily="34" charset="0"/>
              </a:rPr>
              <a:t>Параметры</a:t>
            </a:r>
            <a:r>
              <a:rPr lang="en-US" dirty="0" smtClean="0">
                <a:cs typeface="Calibri" panose="020F0502020204030204" pitchFamily="34" charset="0"/>
              </a:rPr>
              <a:t> &gt; </a:t>
            </a:r>
            <a:r>
              <a:rPr lang="ru-RU" b="1" dirty="0" smtClean="0">
                <a:cs typeface="Calibri" panose="020F0502020204030204" pitchFamily="34" charset="0"/>
              </a:rPr>
              <a:t>Обновление и безопасность</a:t>
            </a:r>
            <a:r>
              <a:rPr lang="en-US" dirty="0">
                <a:cs typeface="Calibri" panose="020F0502020204030204" pitchFamily="34" charset="0"/>
              </a:rPr>
              <a:t>&gt; </a:t>
            </a:r>
            <a:r>
              <a:rPr lang="ru-RU" b="1" dirty="0">
                <a:cs typeface="Calibri" panose="020F0502020204030204" pitchFamily="34" charset="0"/>
              </a:rPr>
              <a:t>Резервное копирование </a:t>
            </a:r>
            <a:r>
              <a:rPr lang="ru-RU" b="1" dirty="0" smtClean="0">
                <a:cs typeface="Calibri" panose="020F0502020204030204" pitchFamily="34" charset="0"/>
              </a:rPr>
              <a:t>файлов</a:t>
            </a:r>
            <a:r>
              <a:rPr lang="en-US" dirty="0" smtClean="0">
                <a:cs typeface="Calibri" panose="020F0502020204030204" pitchFamily="34" charset="0"/>
              </a:rPr>
              <a:t>&gt;</a:t>
            </a:r>
            <a:r>
              <a:rPr lang="ru-RU" b="1" dirty="0" smtClean="0">
                <a:cs typeface="Calibri" panose="020F0502020204030204" pitchFamily="34" charset="0"/>
              </a:rPr>
              <a:t>Добавление диска</a:t>
            </a:r>
            <a:endParaRPr lang="ru-RU" b="1" dirty="0">
              <a:cs typeface="Calibri" panose="020F0502020204030204" pitchFamily="34" charset="0"/>
            </a:endParaRPr>
          </a:p>
          <a:p>
            <a:pPr marL="0" indent="0" algn="ctr">
              <a:lnSpc>
                <a:spcPct val="107000"/>
              </a:lnSpc>
              <a:spcBef>
                <a:spcPts val="600"/>
              </a:spcBef>
              <a:buNone/>
            </a:pPr>
            <a:endParaRPr lang="ru-RU" b="1" dirty="0">
              <a:cs typeface="Calibri" panose="020F0502020204030204" pitchFamily="34" charset="0"/>
            </a:endParaRPr>
          </a:p>
          <a:p>
            <a:pPr marL="0" indent="0" algn="ctr">
              <a:lnSpc>
                <a:spcPct val="107000"/>
              </a:lnSpc>
              <a:spcBef>
                <a:spcPts val="600"/>
              </a:spcBef>
              <a:buNone/>
            </a:pPr>
            <a:endParaRPr lang="ru-RU" b="1" dirty="0" smtClean="0">
              <a:cs typeface="Calibri" panose="020F0502020204030204" pitchFamily="34" charset="0"/>
            </a:endParaRPr>
          </a:p>
          <a:p>
            <a:pPr marL="0" indent="0" algn="ctr">
              <a:lnSpc>
                <a:spcPct val="107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ru-RU" b="1" dirty="0" smtClean="0">
              <a:cs typeface="Calibri" panose="020F0502020204030204" pitchFamily="34" charset="0"/>
            </a:endParaRPr>
          </a:p>
          <a:p>
            <a:pPr marL="0" indent="0" algn="ctr">
              <a:lnSpc>
                <a:spcPct val="107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ru-RU" b="1" dirty="0"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790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609" y="1154512"/>
            <a:ext cx="8904392" cy="5006276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5815102" y="1885757"/>
            <a:ext cx="1773054" cy="31389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2867184" y="2320737"/>
            <a:ext cx="1367932" cy="32333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374926" y="4392838"/>
            <a:ext cx="11490275" cy="1815882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ru-RU" sz="2800" dirty="0">
                <a:solidFill>
                  <a:schemeClr val="accent3">
                    <a:lumMod val="50000"/>
                  </a:schemeClr>
                </a:solidFill>
              </a:rPr>
              <a:t>В случае резервного копирования вы восстанавливаете только часть данных, а образ системы сохраняет абсолютно все данные системы. При использовании образа системы не только будет восстановлена работоспособность системы, но и перезаписаны все имеющиеся файлы.</a:t>
            </a:r>
          </a:p>
        </p:txBody>
      </p:sp>
      <p:sp>
        <p:nvSpPr>
          <p:cNvPr id="12" name="Заголовок 8"/>
          <p:cNvSpPr>
            <a:spLocks noGrp="1"/>
          </p:cNvSpPr>
          <p:nvPr>
            <p:ph type="title"/>
          </p:nvPr>
        </p:nvSpPr>
        <p:spPr>
          <a:xfrm>
            <a:off x="5245769" y="54321"/>
            <a:ext cx="6781800" cy="909292"/>
          </a:xfrm>
        </p:spPr>
        <p:txBody>
          <a:bodyPr>
            <a:normAutofit/>
          </a:bodyPr>
          <a:lstStyle/>
          <a:p>
            <a:r>
              <a:rPr lang="ru-RU" sz="3800" dirty="0" smtClean="0"/>
              <a:t>Резервное копирование данных</a:t>
            </a:r>
            <a:endParaRPr lang="ru-RU" sz="3800" dirty="0"/>
          </a:p>
        </p:txBody>
      </p:sp>
      <p:sp>
        <p:nvSpPr>
          <p:cNvPr id="14" name="Line 2"/>
          <p:cNvSpPr>
            <a:spLocks noChangeShapeType="1"/>
          </p:cNvSpPr>
          <p:nvPr/>
        </p:nvSpPr>
        <p:spPr bwMode="auto">
          <a:xfrm>
            <a:off x="2039609" y="920742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0840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2039609" y="1070678"/>
            <a:ext cx="9987960" cy="4909018"/>
          </a:xfrm>
        </p:spPr>
        <p:txBody>
          <a:bodyPr rtlCol="0">
            <a:noAutofit/>
          </a:bodyPr>
          <a:lstStyle/>
          <a:p>
            <a:pPr marL="0" indent="0" algn="ctr">
              <a:buNone/>
            </a:pPr>
            <a:r>
              <a:rPr lang="ru-RU" b="1" dirty="0" smtClean="0">
                <a:latin typeface="+mn-lt"/>
                <a:cs typeface="Calibri" panose="020F0502020204030204" pitchFamily="34" charset="0"/>
              </a:rPr>
              <a:t>Восстановление </a:t>
            </a:r>
            <a:r>
              <a:rPr lang="ru-RU" b="1" dirty="0" err="1" smtClean="0">
                <a:latin typeface="+mn-lt"/>
                <a:cs typeface="Calibri" panose="020F0502020204030204" pitchFamily="34" charset="0"/>
              </a:rPr>
              <a:t>Windows</a:t>
            </a:r>
            <a:r>
              <a:rPr lang="ru-RU" b="1" dirty="0" smtClean="0">
                <a:latin typeface="+mn-lt"/>
                <a:cs typeface="Calibri" panose="020F0502020204030204" pitchFamily="34" charset="0"/>
              </a:rPr>
              <a:t> 10 </a:t>
            </a:r>
            <a:br>
              <a:rPr lang="ru-RU" b="1" dirty="0" smtClean="0">
                <a:latin typeface="+mn-lt"/>
                <a:cs typeface="Calibri" panose="020F0502020204030204" pitchFamily="34" charset="0"/>
              </a:rPr>
            </a:br>
            <a:r>
              <a:rPr lang="ru-RU" b="1" dirty="0" smtClean="0">
                <a:latin typeface="+mn-lt"/>
                <a:cs typeface="Calibri" panose="020F0502020204030204" pitchFamily="34" charset="0"/>
              </a:rPr>
              <a:t>из резервной копии: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dirty="0" smtClean="0">
                <a:latin typeface="+mn-lt"/>
                <a:cs typeface="Calibri" panose="020F0502020204030204" pitchFamily="34" charset="0"/>
              </a:rPr>
              <a:t>Из рабочей ОС — </a:t>
            </a:r>
            <a:r>
              <a:rPr lang="ru-RU" b="1" dirty="0" smtClean="0">
                <a:latin typeface="+mn-lt"/>
                <a:cs typeface="Calibri" panose="020F0502020204030204" pitchFamily="34" charset="0"/>
              </a:rPr>
              <a:t>Пуск</a:t>
            </a:r>
            <a:r>
              <a:rPr lang="ru-RU" dirty="0" smtClean="0">
                <a:latin typeface="+mn-lt"/>
                <a:cs typeface="Calibri" panose="020F0502020204030204" pitchFamily="34" charset="0"/>
              </a:rPr>
              <a:t> </a:t>
            </a:r>
            <a:r>
              <a:rPr lang="en-US" dirty="0" smtClean="0">
                <a:latin typeface="+mn-lt"/>
                <a:cs typeface="Calibri" panose="020F0502020204030204" pitchFamily="34" charset="0"/>
              </a:rPr>
              <a:t>&gt;</a:t>
            </a:r>
            <a:r>
              <a:rPr lang="ru-RU" b="1" dirty="0" smtClean="0">
                <a:latin typeface="+mn-lt"/>
                <a:cs typeface="Calibri" panose="020F0502020204030204" pitchFamily="34" charset="0"/>
              </a:rPr>
              <a:t>Параметры</a:t>
            </a:r>
            <a:r>
              <a:rPr lang="en-US" b="1" dirty="0" smtClean="0">
                <a:latin typeface="+mn-lt"/>
                <a:cs typeface="Calibri" panose="020F0502020204030204" pitchFamily="34" charset="0"/>
              </a:rPr>
              <a:t> &gt;</a:t>
            </a:r>
            <a:r>
              <a:rPr lang="ru-RU" dirty="0" smtClean="0">
                <a:latin typeface="+mn-lt"/>
                <a:cs typeface="Calibri" panose="020F0502020204030204" pitchFamily="34" charset="0"/>
              </a:rPr>
              <a:t> </a:t>
            </a:r>
            <a:r>
              <a:rPr lang="ru-RU" b="1" dirty="0" smtClean="0">
                <a:latin typeface="+mn-lt"/>
                <a:cs typeface="Calibri" panose="020F0502020204030204" pitchFamily="34" charset="0"/>
              </a:rPr>
              <a:t>«Обновление и безопасность» </a:t>
            </a:r>
            <a:r>
              <a:rPr lang="en-US" b="1" dirty="0" smtClean="0">
                <a:latin typeface="+mn-lt"/>
                <a:cs typeface="Calibri" panose="020F0502020204030204" pitchFamily="34" charset="0"/>
              </a:rPr>
              <a:t>&gt;</a:t>
            </a:r>
            <a:r>
              <a:rPr lang="ru-RU" dirty="0" smtClean="0">
                <a:latin typeface="+mn-lt"/>
                <a:cs typeface="Calibri" panose="020F0502020204030204" pitchFamily="34" charset="0"/>
              </a:rPr>
              <a:t> </a:t>
            </a:r>
            <a:r>
              <a:rPr lang="ru-RU" b="1" dirty="0" smtClean="0">
                <a:latin typeface="+mn-lt"/>
                <a:cs typeface="Calibri" panose="020F0502020204030204" pitchFamily="34" charset="0"/>
              </a:rPr>
              <a:t>«Восстановление и безопасность». </a:t>
            </a:r>
            <a:r>
              <a:rPr lang="ru-RU" dirty="0" smtClean="0">
                <a:latin typeface="+mn-lt"/>
                <a:cs typeface="Calibri" panose="020F0502020204030204" pitchFamily="34" charset="0"/>
              </a:rPr>
              <a:t>Затем в разделе </a:t>
            </a:r>
            <a:r>
              <a:rPr lang="ru-RU" b="1" dirty="0" smtClean="0">
                <a:latin typeface="+mn-lt"/>
                <a:cs typeface="Calibri" panose="020F0502020204030204" pitchFamily="34" charset="0"/>
              </a:rPr>
              <a:t>«Особые варианты загрузки» </a:t>
            </a:r>
            <a:r>
              <a:rPr lang="ru-RU" dirty="0" smtClean="0">
                <a:latin typeface="+mn-lt"/>
                <a:cs typeface="Calibri" panose="020F0502020204030204" pitchFamily="34" charset="0"/>
              </a:rPr>
              <a:t>нажмите кнопку </a:t>
            </a:r>
            <a:r>
              <a:rPr lang="ru-RU" b="1" dirty="0" smtClean="0">
                <a:latin typeface="+mn-lt"/>
                <a:cs typeface="Calibri" panose="020F0502020204030204" pitchFamily="34" charset="0"/>
              </a:rPr>
              <a:t>«Перезагрузить сейчас».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dirty="0" smtClean="0">
                <a:latin typeface="+mn-lt"/>
                <a:cs typeface="Calibri" panose="020F0502020204030204" pitchFamily="34" charset="0"/>
              </a:rPr>
              <a:t>Если </a:t>
            </a:r>
            <a:r>
              <a:rPr lang="ru-RU" dirty="0">
                <a:latin typeface="+mn-lt"/>
                <a:cs typeface="Calibri" panose="020F0502020204030204" pitchFamily="34" charset="0"/>
              </a:rPr>
              <a:t>такого раздела нет (что возможно), есть второй вариант: </a:t>
            </a:r>
            <a:endParaRPr lang="ru-RU" dirty="0" smtClean="0">
              <a:latin typeface="+mn-lt"/>
              <a:cs typeface="Calibri" panose="020F0502020204030204" pitchFamily="34" charset="0"/>
            </a:endParaRPr>
          </a:p>
          <a:p>
            <a:pPr lvl="2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ru-RU" sz="2800" dirty="0" smtClean="0">
                <a:latin typeface="+mn-lt"/>
                <a:cs typeface="Calibri" panose="020F0502020204030204" pitchFamily="34" charset="0"/>
              </a:rPr>
              <a:t>выйдите </a:t>
            </a:r>
            <a:r>
              <a:rPr lang="ru-RU" sz="2800" dirty="0">
                <a:latin typeface="+mn-lt"/>
                <a:cs typeface="Calibri" panose="020F0502020204030204" pitchFamily="34" charset="0"/>
              </a:rPr>
              <a:t>из системы и на экране блокировки нажмите по кнопке питания справа </a:t>
            </a:r>
            <a:r>
              <a:rPr lang="ru-RU" sz="2800" dirty="0" smtClean="0">
                <a:latin typeface="+mn-lt"/>
                <a:cs typeface="Calibri" panose="020F0502020204030204" pitchFamily="34" charset="0"/>
              </a:rPr>
              <a:t>внизу</a:t>
            </a:r>
          </a:p>
          <a:p>
            <a:pPr lvl="2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ru-RU" sz="2800" dirty="0" smtClean="0">
                <a:latin typeface="+mn-lt"/>
                <a:cs typeface="Calibri" panose="020F0502020204030204" pitchFamily="34" charset="0"/>
              </a:rPr>
              <a:t>далее, </a:t>
            </a:r>
            <a:r>
              <a:rPr lang="ru-RU" sz="2800" dirty="0">
                <a:latin typeface="+mn-lt"/>
                <a:cs typeface="Calibri" panose="020F0502020204030204" pitchFamily="34" charset="0"/>
              </a:rPr>
              <a:t>удерживая </a:t>
            </a:r>
            <a:r>
              <a:rPr lang="ru-RU" sz="2800" b="1" dirty="0">
                <a:latin typeface="+mn-lt"/>
                <a:cs typeface="Calibri" panose="020F0502020204030204" pitchFamily="34" charset="0"/>
              </a:rPr>
              <a:t>Shift,</a:t>
            </a:r>
            <a:r>
              <a:rPr lang="ru-RU" sz="2800" dirty="0">
                <a:latin typeface="+mn-lt"/>
                <a:cs typeface="Calibri" panose="020F0502020204030204" pitchFamily="34" charset="0"/>
              </a:rPr>
              <a:t> нажмите пункт «Перезагрузка</a:t>
            </a:r>
            <a:r>
              <a:rPr lang="ru-RU" sz="2800" dirty="0" smtClean="0">
                <a:latin typeface="+mn-lt"/>
                <a:cs typeface="Calibri" panose="020F0502020204030204" pitchFamily="34" charset="0"/>
              </a:rPr>
              <a:t>».</a:t>
            </a:r>
            <a:endParaRPr lang="ru-RU" sz="280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10" name="Заголовок 8"/>
          <p:cNvSpPr>
            <a:spLocks noGrp="1"/>
          </p:cNvSpPr>
          <p:nvPr>
            <p:ph type="title"/>
          </p:nvPr>
        </p:nvSpPr>
        <p:spPr>
          <a:xfrm>
            <a:off x="5245769" y="54321"/>
            <a:ext cx="6781800" cy="909292"/>
          </a:xfrm>
        </p:spPr>
        <p:txBody>
          <a:bodyPr>
            <a:normAutofit/>
          </a:bodyPr>
          <a:lstStyle/>
          <a:p>
            <a:r>
              <a:rPr lang="ru-RU" sz="3800" dirty="0" smtClean="0"/>
              <a:t>Резервное копирование данных</a:t>
            </a:r>
            <a:endParaRPr lang="ru-RU" sz="3800" dirty="0"/>
          </a:p>
        </p:txBody>
      </p:sp>
      <p:sp>
        <p:nvSpPr>
          <p:cNvPr id="11" name="Line 2"/>
          <p:cNvSpPr>
            <a:spLocks noChangeShapeType="1"/>
          </p:cNvSpPr>
          <p:nvPr/>
        </p:nvSpPr>
        <p:spPr bwMode="auto">
          <a:xfrm>
            <a:off x="2039609" y="920742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881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4668253" y="1070677"/>
            <a:ext cx="7359316" cy="5366218"/>
          </a:xfrm>
        </p:spPr>
        <p:txBody>
          <a:bodyPr rtlCol="0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b="1" dirty="0">
                <a:latin typeface="+mn-lt"/>
                <a:cs typeface="Calibri" panose="020F0502020204030204" pitchFamily="34" charset="0"/>
              </a:rPr>
              <a:t>Восстановление Windows 10 </a:t>
            </a:r>
            <a:r>
              <a:rPr lang="ru-RU" b="1" dirty="0" smtClean="0">
                <a:latin typeface="+mn-lt"/>
                <a:cs typeface="Calibri" panose="020F0502020204030204" pitchFamily="34" charset="0"/>
              </a:rPr>
              <a:t/>
            </a:r>
            <a:br>
              <a:rPr lang="ru-RU" b="1" dirty="0" smtClean="0">
                <a:latin typeface="+mn-lt"/>
                <a:cs typeface="Calibri" panose="020F0502020204030204" pitchFamily="34" charset="0"/>
              </a:rPr>
            </a:br>
            <a:r>
              <a:rPr lang="ru-RU" b="1" dirty="0" smtClean="0">
                <a:latin typeface="+mn-lt"/>
                <a:cs typeface="Calibri" panose="020F0502020204030204" pitchFamily="34" charset="0"/>
              </a:rPr>
              <a:t>из </a:t>
            </a:r>
            <a:r>
              <a:rPr lang="ru-RU" b="1" dirty="0">
                <a:latin typeface="+mn-lt"/>
                <a:cs typeface="Calibri" panose="020F0502020204030204" pitchFamily="34" charset="0"/>
              </a:rPr>
              <a:t>резервной копии: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sz="2400" b="1" dirty="0" smtClean="0">
                <a:latin typeface="+mn-lt"/>
                <a:cs typeface="Calibri" panose="020F0502020204030204" pitchFamily="34" charset="0"/>
              </a:rPr>
              <a:t>С </a:t>
            </a:r>
            <a:r>
              <a:rPr lang="ru-RU" sz="2400" b="1" dirty="0">
                <a:latin typeface="+mn-lt"/>
                <a:cs typeface="Calibri" panose="020F0502020204030204" pitchFamily="34" charset="0"/>
              </a:rPr>
              <a:t>установочного диска или флешки Windows 10 — </a:t>
            </a:r>
            <a:r>
              <a:rPr lang="ru-RU" sz="2400" dirty="0">
                <a:latin typeface="+mn-lt"/>
                <a:cs typeface="Calibri" panose="020F0502020204030204" pitchFamily="34" charset="0"/>
              </a:rPr>
              <a:t>загрузитесь с данного накопителя, например, с помощью </a:t>
            </a:r>
            <a:r>
              <a:rPr lang="ru-RU" sz="2400" b="1" dirty="0">
                <a:latin typeface="+mn-lt"/>
                <a:cs typeface="Calibri" panose="020F0502020204030204" pitchFamily="34" charset="0"/>
              </a:rPr>
              <a:t>Boot </a:t>
            </a:r>
            <a:r>
              <a:rPr lang="ru-RU" sz="2400" b="1" dirty="0" err="1">
                <a:latin typeface="+mn-lt"/>
                <a:cs typeface="Calibri" panose="020F0502020204030204" pitchFamily="34" charset="0"/>
              </a:rPr>
              <a:t>Menu</a:t>
            </a:r>
            <a:r>
              <a:rPr lang="ru-RU" sz="2400" dirty="0">
                <a:latin typeface="+mn-lt"/>
                <a:cs typeface="Calibri" panose="020F0502020204030204" pitchFamily="34" charset="0"/>
              </a:rPr>
              <a:t>. В следующем после выбора языка окне слева внизу нажмите </a:t>
            </a:r>
            <a:r>
              <a:rPr lang="ru-RU" sz="2400" b="1" dirty="0">
                <a:latin typeface="+mn-lt"/>
                <a:cs typeface="Calibri" panose="020F0502020204030204" pitchFamily="34" charset="0"/>
              </a:rPr>
              <a:t>«Восстановление системы».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sz="2400" dirty="0">
                <a:latin typeface="+mn-lt"/>
                <a:cs typeface="Calibri" panose="020F0502020204030204" pitchFamily="34" charset="0"/>
              </a:rPr>
              <a:t> При загрузке компьютера или ноутбука с диска восстановления сразу открывается среда восстановления.</a:t>
            </a:r>
            <a:endParaRPr lang="en-US" sz="2400" dirty="0">
              <a:latin typeface="+mn-lt"/>
              <a:cs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sz="2400" dirty="0">
                <a:latin typeface="+mn-lt"/>
                <a:cs typeface="Calibri" panose="020F0502020204030204" pitchFamily="34" charset="0"/>
              </a:rPr>
              <a:t>В среде восстановления по порядку выберите следующие пункты </a:t>
            </a:r>
            <a:r>
              <a:rPr lang="ru-RU" sz="2400" b="1" dirty="0">
                <a:latin typeface="+mn-lt"/>
                <a:cs typeface="Calibri" panose="020F0502020204030204" pitchFamily="34" charset="0"/>
              </a:rPr>
              <a:t>«Поиск и устранение неисправностей» </a:t>
            </a:r>
            <a:r>
              <a:rPr lang="ru-RU" sz="2400" dirty="0">
                <a:latin typeface="+mn-lt"/>
                <a:cs typeface="Calibri" panose="020F0502020204030204" pitchFamily="34" charset="0"/>
              </a:rPr>
              <a:t>— </a:t>
            </a:r>
            <a:r>
              <a:rPr lang="ru-RU" sz="2400" b="1" dirty="0">
                <a:latin typeface="+mn-lt"/>
                <a:cs typeface="Calibri" panose="020F0502020204030204" pitchFamily="34" charset="0"/>
              </a:rPr>
              <a:t>«Дополнительные параметры» </a:t>
            </a:r>
            <a:r>
              <a:rPr lang="ru-RU" sz="2400" dirty="0">
                <a:latin typeface="+mn-lt"/>
                <a:cs typeface="Calibri" panose="020F0502020204030204" pitchFamily="34" charset="0"/>
              </a:rPr>
              <a:t>— </a:t>
            </a:r>
            <a:r>
              <a:rPr lang="ru-RU" sz="2400" b="1" dirty="0">
                <a:latin typeface="+mn-lt"/>
                <a:cs typeface="Calibri" panose="020F0502020204030204" pitchFamily="34" charset="0"/>
              </a:rPr>
              <a:t>«Восстановление образа системы».</a:t>
            </a:r>
          </a:p>
        </p:txBody>
      </p:sp>
      <p:pic>
        <p:nvPicPr>
          <p:cNvPr id="9" name="Рисунок 8" descr="Изображение выглядит как текст, снимок экрана, Шрифт, Бренд&#10;&#10;Автоматически созданное описание">
            <a:extLst>
              <a:ext uri="{FF2B5EF4-FFF2-40B4-BE49-F238E27FC236}">
                <a16:creationId xmlns:a16="http://schemas.microsoft.com/office/drawing/2014/main" xmlns="" id="{7370E700-CE13-EDFB-3C00-18CE8E7961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0" y="2413885"/>
            <a:ext cx="4647053" cy="26798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Заголовок 8"/>
          <p:cNvSpPr>
            <a:spLocks noGrp="1"/>
          </p:cNvSpPr>
          <p:nvPr>
            <p:ph type="title"/>
          </p:nvPr>
        </p:nvSpPr>
        <p:spPr>
          <a:xfrm>
            <a:off x="5245769" y="54321"/>
            <a:ext cx="6781800" cy="909292"/>
          </a:xfrm>
        </p:spPr>
        <p:txBody>
          <a:bodyPr>
            <a:normAutofit/>
          </a:bodyPr>
          <a:lstStyle/>
          <a:p>
            <a:r>
              <a:rPr lang="ru-RU" sz="3800" dirty="0" smtClean="0"/>
              <a:t>Резервное копирование данных</a:t>
            </a:r>
            <a:endParaRPr lang="ru-RU" sz="3800" dirty="0"/>
          </a:p>
        </p:txBody>
      </p:sp>
      <p:sp>
        <p:nvSpPr>
          <p:cNvPr id="11" name="Line 2"/>
          <p:cNvSpPr>
            <a:spLocks noChangeShapeType="1"/>
          </p:cNvSpPr>
          <p:nvPr/>
        </p:nvSpPr>
        <p:spPr bwMode="auto">
          <a:xfrm>
            <a:off x="2039609" y="920742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5965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4523874" y="1125288"/>
            <a:ext cx="7503695" cy="5010818"/>
          </a:xfrm>
        </p:spPr>
        <p:txBody>
          <a:bodyPr rtlCol="0">
            <a:no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ru-RU" b="1" dirty="0">
                <a:latin typeface="+mn-lt"/>
                <a:cs typeface="Calibri" panose="020F0502020204030204" pitchFamily="34" charset="0"/>
              </a:rPr>
              <a:t>Восстановление Windows 10 из резервной копии</a:t>
            </a:r>
            <a:r>
              <a:rPr lang="en-US" b="1" dirty="0">
                <a:latin typeface="+mn-lt"/>
                <a:cs typeface="Calibri" panose="020F0502020204030204" pitchFamily="34" charset="0"/>
              </a:rPr>
              <a:t> (</a:t>
            </a:r>
            <a:r>
              <a:rPr lang="ru-RU" b="1" dirty="0">
                <a:latin typeface="+mn-lt"/>
                <a:cs typeface="Calibri" panose="020F0502020204030204" pitchFamily="34" charset="0"/>
              </a:rPr>
              <a:t>продолжение):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ru-RU" sz="2400" dirty="0">
                <a:latin typeface="+mn-lt"/>
                <a:cs typeface="Calibri" panose="020F0502020204030204" pitchFamily="34" charset="0"/>
              </a:rPr>
              <a:t>Если система найдет образ системы на подключенном жестком диске или DVD, она сразу предложит выполнить восстановление из него. </a:t>
            </a:r>
            <a:r>
              <a:rPr lang="ru-RU" sz="2400" dirty="0" smtClean="0">
                <a:latin typeface="+mn-lt"/>
                <a:cs typeface="Calibri" panose="020F0502020204030204" pitchFamily="34" charset="0"/>
              </a:rPr>
              <a:t>После </a:t>
            </a:r>
            <a:r>
              <a:rPr lang="ru-RU" sz="2400" dirty="0">
                <a:latin typeface="+mn-lt"/>
                <a:cs typeface="Calibri" panose="020F0502020204030204" pitchFamily="34" charset="0"/>
              </a:rPr>
              <a:t>подтверждения операции восстановления системы из образа, начнется сам процесс восстановления. </a:t>
            </a:r>
            <a:endParaRPr lang="ru-RU" sz="2400" dirty="0" smtClean="0">
              <a:latin typeface="+mn-lt"/>
              <a:cs typeface="Calibri" panose="020F0502020204030204" pitchFamily="34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ru-RU" sz="2400" dirty="0" smtClean="0">
                <a:latin typeface="+mn-lt"/>
                <a:cs typeface="Calibri" panose="020F0502020204030204" pitchFamily="34" charset="0"/>
              </a:rPr>
              <a:t>По </a:t>
            </a:r>
            <a:r>
              <a:rPr lang="ru-RU" sz="2400" dirty="0">
                <a:latin typeface="+mn-lt"/>
                <a:cs typeface="Calibri" panose="020F0502020204030204" pitchFamily="34" charset="0"/>
              </a:rPr>
              <a:t>окончании, если все прошло успешно, поставьте в БИОС загрузку с жесткого диска компьютера (если меняли), и загрузитесь в Windows 10 в том состоянии, в котором она была сохранена в резервной копии.</a:t>
            </a:r>
          </a:p>
        </p:txBody>
      </p:sp>
      <p:pic>
        <p:nvPicPr>
          <p:cNvPr id="8" name="Рисунок 7" descr="Изображение выглядит как текст, снимок экрана, компьютер, дисплей&#10;&#10;Автоматически созданное описание">
            <a:extLst>
              <a:ext uri="{FF2B5EF4-FFF2-40B4-BE49-F238E27FC236}">
                <a16:creationId xmlns:a16="http://schemas.microsoft.com/office/drawing/2014/main" xmlns="" id="{84317AEF-9112-ACE0-74E4-FFE990C1E9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55282"/>
            <a:ext cx="4392488" cy="35550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5245769" y="54321"/>
            <a:ext cx="6781800" cy="909292"/>
          </a:xfrm>
        </p:spPr>
        <p:txBody>
          <a:bodyPr>
            <a:normAutofit/>
          </a:bodyPr>
          <a:lstStyle/>
          <a:p>
            <a:r>
              <a:rPr lang="ru-RU" sz="3800" dirty="0" smtClean="0"/>
              <a:t>Резервное копирование данных</a:t>
            </a:r>
            <a:endParaRPr lang="ru-RU" sz="3800" dirty="0"/>
          </a:p>
        </p:txBody>
      </p:sp>
      <p:sp>
        <p:nvSpPr>
          <p:cNvPr id="10" name="Line 2"/>
          <p:cNvSpPr>
            <a:spLocks noChangeShapeType="1"/>
          </p:cNvSpPr>
          <p:nvPr/>
        </p:nvSpPr>
        <p:spPr bwMode="auto">
          <a:xfrm>
            <a:off x="2039609" y="920742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3387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5245769" y="54321"/>
            <a:ext cx="6781800" cy="909292"/>
          </a:xfrm>
        </p:spPr>
        <p:txBody>
          <a:bodyPr>
            <a:normAutofit/>
          </a:bodyPr>
          <a:lstStyle/>
          <a:p>
            <a:r>
              <a:rPr lang="ru-RU" sz="3800" dirty="0" smtClean="0"/>
              <a:t>КОНТРОЛЬНЫЕ ВОПРОСЫ</a:t>
            </a:r>
            <a:endParaRPr lang="ru-RU" sz="3800" dirty="0"/>
          </a:p>
        </p:txBody>
      </p:sp>
      <p:sp>
        <p:nvSpPr>
          <p:cNvPr id="10" name="Line 2"/>
          <p:cNvSpPr>
            <a:spLocks noChangeShapeType="1"/>
          </p:cNvSpPr>
          <p:nvPr/>
        </p:nvSpPr>
        <p:spPr bwMode="auto">
          <a:xfrm>
            <a:off x="2039609" y="920742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2273968" y="1219763"/>
            <a:ext cx="9613231" cy="44268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spcAft>
                <a:spcPts val="1000"/>
              </a:spcAft>
              <a:buSzPct val="100000"/>
              <a:buFont typeface="+mj-lt"/>
              <a:buAutoNum type="arabicPeriod"/>
              <a:tabLst>
                <a:tab pos="540385" algn="l"/>
              </a:tabLst>
            </a:pP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Назовите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минимально необходимое сетевое оборудование для организации локального сетевого пространства учебного класса?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0" indent="-457200" algn="just">
              <a:spcAft>
                <a:spcPts val="1000"/>
              </a:spcAft>
              <a:buSzPct val="100000"/>
              <a:buFont typeface="+mj-lt"/>
              <a:buAutoNum type="arabicPeriod"/>
              <a:tabLst>
                <a:tab pos="540385" algn="l"/>
              </a:tabLs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Какие виды подключений к сети Интернет вы знаете?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0" indent="-457200" algn="just">
              <a:spcAft>
                <a:spcPts val="1000"/>
              </a:spcAft>
              <a:buSzPct val="100000"/>
              <a:buFont typeface="+mj-lt"/>
              <a:buAutoNum type="arabicPeriod"/>
              <a:tabLst>
                <a:tab pos="540385" algn="l"/>
              </a:tabLs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Какое оборудование необходимо для подключения компьютера к сети Интернет?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0" indent="-457200" algn="just">
              <a:spcAft>
                <a:spcPts val="1000"/>
              </a:spcAft>
              <a:buSzPct val="100000"/>
              <a:buFont typeface="+mj-lt"/>
              <a:buAutoNum type="arabicPeriod"/>
              <a:tabLst>
                <a:tab pos="540385" algn="l"/>
              </a:tabLs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Что такое папка общего доступа и как ее можно использовать в педагогической практике?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0" indent="-457200" algn="just">
              <a:spcAft>
                <a:spcPts val="1000"/>
              </a:spcAft>
              <a:buSzPct val="100000"/>
              <a:buFont typeface="+mj-lt"/>
              <a:buAutoNum type="arabicPeriod"/>
              <a:tabLst>
                <a:tab pos="540385" algn="l"/>
              </a:tabLs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Что такое синхронизация?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0" indent="-457200" algn="just">
              <a:spcAft>
                <a:spcPts val="1000"/>
              </a:spcAft>
              <a:buSzPct val="100000"/>
              <a:buFont typeface="+mj-lt"/>
              <a:buAutoNum type="arabicPeriod"/>
              <a:tabLst>
                <a:tab pos="540385" algn="l"/>
              </a:tabLs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Что такое резервное копирование информации и для чего оно нужно?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587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Зеленый и желтый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2158</TotalTime>
  <Words>3230</Words>
  <Application>Microsoft Office PowerPoint</Application>
  <PresentationFormat>Широкоэкранный</PresentationFormat>
  <Paragraphs>647</Paragraphs>
  <Slides>74</Slides>
  <Notes>53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74</vt:i4>
      </vt:variant>
    </vt:vector>
  </HeadingPairs>
  <TitlesOfParts>
    <vt:vector size="85" baseType="lpstr">
      <vt:lpstr>Arial</vt:lpstr>
      <vt:lpstr>Arial Black</vt:lpstr>
      <vt:lpstr>Calibri</vt:lpstr>
      <vt:lpstr>Franklin Gothic Demi Cond</vt:lpstr>
      <vt:lpstr>Franklin Gothic Medium Cond</vt:lpstr>
      <vt:lpstr>Times New Roman</vt:lpstr>
      <vt:lpstr>Webdings</vt:lpstr>
      <vt:lpstr>Wingdings</vt:lpstr>
      <vt:lpstr>Тема Office</vt:lpstr>
      <vt:lpstr>PDF</vt:lpstr>
      <vt:lpstr>Диаграмма Microsoft Graph 97</vt:lpstr>
      <vt:lpstr>Презентация PowerPoint</vt:lpstr>
      <vt:lpstr>Структура Академии</vt:lpstr>
      <vt:lpstr>Лицензия</vt:lpstr>
      <vt:lpstr>Учебные площадки</vt:lpstr>
      <vt:lpstr>Сотрудничество</vt:lpstr>
      <vt:lpstr>Сотрудничество</vt:lpstr>
      <vt:lpstr>Мероприятия для школьников</vt:lpstr>
      <vt:lpstr>Путешествие в Город знаний </vt:lpstr>
      <vt:lpstr>Фестиваль программирования «ЮниКод» </vt:lpstr>
      <vt:lpstr>Конкурс  компьютерной графики и анимации совместно с Эрмитажем</vt:lpstr>
      <vt:lpstr> День профориентации</vt:lpstr>
      <vt:lpstr>Дни открытых дверей</vt:lpstr>
      <vt:lpstr>Для педагогов</vt:lpstr>
      <vt:lpstr>Обучающие вебинары</vt:lpstr>
      <vt:lpstr>Курсы повышения квалификации</vt:lpstr>
      <vt:lpstr>Контакты</vt:lpstr>
      <vt:lpstr>Интернет-технологии и сервисы  в ИКТ-компетенции современного педагога</vt:lpstr>
      <vt:lpstr>Модуль 1 Сетевые сервисы для педагога</vt:lpstr>
      <vt:lpstr>Глобальная компьютерная сеть Интернет</vt:lpstr>
      <vt:lpstr>ОСНОВНЫЕ ПОНЯТИЯ</vt:lpstr>
      <vt:lpstr>ОСНОВНЫЕ ПОНЯТИЯ</vt:lpstr>
      <vt:lpstr>ОСНОВНЫЕ ПОНЯТИЯ</vt:lpstr>
      <vt:lpstr>Компьютерные сети классифицируются по следующим признакам</vt:lpstr>
      <vt:lpstr>Презентация PowerPoint</vt:lpstr>
      <vt:lpstr>ЧТО ТАКОЕ ИНТЕРНЕТ</vt:lpstr>
      <vt:lpstr>ПОДКЛЮЧЕНИЕ К ИНТЕРНЕТУ</vt:lpstr>
      <vt:lpstr>КАК ВОЗНИК ИНТЕРНЕТ</vt:lpstr>
      <vt:lpstr>КАК ВОЗНИК ИНТЕРНЕТ</vt:lpstr>
      <vt:lpstr>СЛУЖБЫ И СЕРВИСЫ ИНТЕРНЕТА</vt:lpstr>
      <vt:lpstr>Презентация PowerPoint</vt:lpstr>
      <vt:lpstr>ПРОТОКОЛЫ ИНТЕРНЕТА</vt:lpstr>
      <vt:lpstr>ПРОТОКОЛЫ СЛУЖБ ИНТЕРНЕТА</vt:lpstr>
      <vt:lpstr>СПОСОБЫ АДРЕСАЦИИ В ИНТЕРНЕТ</vt:lpstr>
      <vt:lpstr>IP-АДРЕСА</vt:lpstr>
      <vt:lpstr>ДОМЕННЫЕ АДРЕСА</vt:lpstr>
      <vt:lpstr>ПРЕОБРАЗОВАНИЕ АДРЕСОВ</vt:lpstr>
      <vt:lpstr>АДРЕС ДОКУМЕНТА В ИНТЕРНЕТЕ</vt:lpstr>
      <vt:lpstr>СЛУЖБА WWW</vt:lpstr>
      <vt:lpstr>СЛУЖБА FTP (ФАЙЛОВЫЕ АРХИВЫ)</vt:lpstr>
      <vt:lpstr>РАСПРОСТРАНЕНИЕ  ПРОГРАММ ЧЕРЕЗ FTP</vt:lpstr>
      <vt:lpstr>ЭЛЕКТРОННАЯ ПОЧТА (E-MAIL)</vt:lpstr>
      <vt:lpstr>СООБЩЕНИЕ ЭЛЕКТРОННОЙ ПОЧТЫ</vt:lpstr>
      <vt:lpstr>ПОЧТОВЫЕ ПРОГРАММЫ</vt:lpstr>
      <vt:lpstr>ТЕЛЕКОНФЕРЕНЦИИ, ФОРУМЫ</vt:lpstr>
      <vt:lpstr>ПОИСКОВЫЕ СИСТЕМЫ</vt:lpstr>
      <vt:lpstr>ОБЩЕНИЕ В РЕАЛЬНОМ ВРЕМЕНИ (ONLINE)</vt:lpstr>
      <vt:lpstr>ИНТЕРНЕТ-ТЕЛЕФОН</vt:lpstr>
      <vt:lpstr>ИНТЕРНЕТ ЧЕРЕЗ  МОБИЛЬНЫЙ ТЕЛЕФОН</vt:lpstr>
      <vt:lpstr>НЕТИКЕТ</vt:lpstr>
      <vt:lpstr>КОМПОНЕНТЫ И РЕСУРСЫ  ЛОКАЛЬНОЙ СЕТИ</vt:lpstr>
      <vt:lpstr>КОМПОНЕНТЫ И РЕСУРСЫ  ЛОКАЛЬНОЙ СЕТИ</vt:lpstr>
      <vt:lpstr>КОМПОНЕНТЫ И РЕСУРСЫ  ЛОКАЛЬНОЙ СЕТИ</vt:lpstr>
      <vt:lpstr>Компоненты и ресурсы локальной сети</vt:lpstr>
      <vt:lpstr>СЕРВЕР ФАЙЛОВОГО ОБМЕНА</vt:lpstr>
      <vt:lpstr>СЕРВЕР ФАЙЛОВОГО ОБМЕНА</vt:lpstr>
      <vt:lpstr>Презентация PowerPoint</vt:lpstr>
      <vt:lpstr>Подключение/отключение  сетевых ресурсов</vt:lpstr>
      <vt:lpstr>Подключение/отключение  сетевых ресурсов</vt:lpstr>
      <vt:lpstr>Подключение/отключение  сетевых ресурсов</vt:lpstr>
      <vt:lpstr>  </vt:lpstr>
      <vt:lpstr>  </vt:lpstr>
      <vt:lpstr>  </vt:lpstr>
      <vt:lpstr>  </vt:lpstr>
      <vt:lpstr>  </vt:lpstr>
      <vt:lpstr>Презентация PowerPoint</vt:lpstr>
      <vt:lpstr>Презентация PowerPoint</vt:lpstr>
      <vt:lpstr>Резервное копирование данных</vt:lpstr>
      <vt:lpstr>Резервное копирование данных</vt:lpstr>
      <vt:lpstr>Резервное копирование данных</vt:lpstr>
      <vt:lpstr>Резервное копирование данных</vt:lpstr>
      <vt:lpstr>Резервное копирование данных</vt:lpstr>
      <vt:lpstr>Резервное копирование данных</vt:lpstr>
      <vt:lpstr>Резервное копирование данных</vt:lpstr>
      <vt:lpstr>КОНТРОЛЬНЫЕ ВОПРОСЫ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Петрова Ольга Евгеньевна</dc:creator>
  <cp:lastModifiedBy>user</cp:lastModifiedBy>
  <cp:revision>150</cp:revision>
  <cp:lastPrinted>2023-02-28T08:17:09Z</cp:lastPrinted>
  <dcterms:created xsi:type="dcterms:W3CDTF">2023-02-20T13:42:10Z</dcterms:created>
  <dcterms:modified xsi:type="dcterms:W3CDTF">2024-05-05T13:31:15Z</dcterms:modified>
</cp:coreProperties>
</file>