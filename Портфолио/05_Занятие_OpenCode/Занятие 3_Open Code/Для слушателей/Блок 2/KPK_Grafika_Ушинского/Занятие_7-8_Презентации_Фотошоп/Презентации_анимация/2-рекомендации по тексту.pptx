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5"/>
  </p:notesMasterIdLst>
  <p:sldIdLst>
    <p:sldId id="256" r:id="rId2"/>
    <p:sldId id="258" r:id="rId3"/>
    <p:sldId id="260" r:id="rId4"/>
    <p:sldId id="259" r:id="rId5"/>
    <p:sldId id="257" r:id="rId6"/>
    <p:sldId id="261" r:id="rId7"/>
    <p:sldId id="263" r:id="rId8"/>
    <p:sldId id="277" r:id="rId9"/>
    <p:sldId id="262" r:id="rId10"/>
    <p:sldId id="273" r:id="rId11"/>
    <p:sldId id="266" r:id="rId12"/>
    <p:sldId id="265" r:id="rId13"/>
    <p:sldId id="284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BAB8"/>
    <a:srgbClr val="4439D3"/>
    <a:srgbClr val="F4C756"/>
    <a:srgbClr val="F3BB57"/>
    <a:srgbClr val="EFA829"/>
    <a:srgbClr val="DAB08E"/>
    <a:srgbClr val="E3B085"/>
    <a:srgbClr val="FBCEB3"/>
    <a:srgbClr val="B88C00"/>
    <a:srgbClr val="B48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5" autoAdjust="0"/>
    <p:restoredTop sz="94658" autoAdjust="0"/>
  </p:normalViewPr>
  <p:slideViewPr>
    <p:cSldViewPr>
      <p:cViewPr varScale="1">
        <p:scale>
          <a:sx n="70" d="100"/>
          <a:sy n="70" d="100"/>
        </p:scale>
        <p:origin x="138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3122D7-D747-47A7-B9F3-C4CA7A04B2E2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45BC55-390E-4A6C-A377-50FF790C8A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8416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7F638-978D-4DDB-B530-902F29B8DD94}" type="datetime1">
              <a:rPr lang="ru-RU" smtClean="0"/>
              <a:t>28.09.2024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FBB89-6BC4-4D5E-854A-20E756E1D4B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BA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0677-8A34-431B-988B-2EB10A779819}" type="datetime1">
              <a:rPr lang="ru-RU" smtClean="0"/>
              <a:t>28.09.2024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FBB89-6BC4-4D5E-854A-20E756E1D4B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BB9A8-9C46-488E-8B80-C31D8F144CA6}" type="datetime1">
              <a:rPr lang="ru-RU" smtClean="0"/>
              <a:t>28.09.2024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FBB89-6BC4-4D5E-854A-20E756E1D4B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C2DDF-7F99-40B4-B599-2A001619A607}" type="datetime1">
              <a:rPr lang="ru-RU" smtClean="0"/>
              <a:t>28.09.2024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FBB89-6BC4-4D5E-854A-20E756E1D4B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6DB8-79B5-4340-9689-E813D3EB6315}" type="datetime1">
              <a:rPr lang="ru-RU" smtClean="0"/>
              <a:t>28.09.2024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B9314-9440-4B4A-8670-FCAC6101E90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CC18-A6BE-4345-A51E-E186B8D2A8E3}" type="datetime1">
              <a:rPr lang="ru-RU" smtClean="0"/>
              <a:t>28.09.2024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B9314-9440-4B4A-8670-FCAC6101E90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6B0C3-F4F5-40FC-ADF7-2BAE8505D423}" type="datetime1">
              <a:rPr lang="ru-RU" smtClean="0"/>
              <a:t>28.09.2024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FBB89-6BC4-4D5E-854A-20E756E1D4B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CA21C-3E6B-4995-A9B9-C68281BDF80E}" type="datetime1">
              <a:rPr lang="ru-RU" smtClean="0"/>
              <a:t>28.09.2024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FBB89-6BC4-4D5E-854A-20E756E1D4B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7E66B-EC84-4AEB-A353-129879B1C153}" type="datetime1">
              <a:rPr lang="ru-RU" smtClean="0"/>
              <a:t>28.09.2024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FBB89-6BC4-4D5E-854A-20E756E1D4B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87D2E-D97A-4C4C-824B-03ACC8F36D02}" type="datetime1">
              <a:rPr lang="ru-RU" smtClean="0"/>
              <a:t>28.09.2024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FBB89-6BC4-4D5E-854A-20E756E1D4B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38595-3369-4B3A-94C8-2857F8154ADF}" type="datetime1">
              <a:rPr lang="ru-RU" smtClean="0"/>
              <a:t>28.09.2024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FBB89-6BC4-4D5E-854A-20E756E1D4B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0" y="0"/>
            <a:ext cx="285720" cy="6858000"/>
          </a:xfrm>
          <a:prstGeom prst="rect">
            <a:avLst/>
          </a:prstGeom>
          <a:solidFill>
            <a:srgbClr val="7BBA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8858280" y="0"/>
            <a:ext cx="285720" cy="6858000"/>
          </a:xfrm>
          <a:prstGeom prst="rect">
            <a:avLst/>
          </a:prstGeom>
          <a:solidFill>
            <a:srgbClr val="7BBA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6325672"/>
            <a:ext cx="9144000" cy="532328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 smtClean="0">
                <a:solidFill>
                  <a:srgbClr val="FF0000"/>
                </a:solidFill>
              </a:rPr>
              <a:t>      UCVT.ORG                                                         -</a:t>
            </a:r>
            <a:fld id="{AB1F4E41-37C7-4898-9705-144775F49756}" type="slidenum">
              <a:rPr lang="en-US" smtClean="0">
                <a:solidFill>
                  <a:srgbClr val="FF0000"/>
                </a:solidFill>
              </a:rPr>
              <a:t>‹#›</a:t>
            </a:fld>
            <a:r>
              <a:rPr lang="en-US" dirty="0" smtClean="0">
                <a:solidFill>
                  <a:srgbClr val="FF0000"/>
                </a:solidFill>
              </a:rPr>
              <a:t>-                                                           612-11-22</a:t>
            </a:r>
            <a:endParaRPr lang="ru-RU" dirty="0">
              <a:solidFill>
                <a:srgbClr val="FF0000"/>
              </a:solidFill>
            </a:endParaRPr>
          </a:p>
        </p:txBody>
      </p:sp>
      <p:cxnSp>
        <p:nvCxnSpPr>
          <p:cNvPr id="12" name="Прямая соединительная линия 11"/>
          <p:cNvCxnSpPr/>
          <p:nvPr userDrawn="1"/>
        </p:nvCxnSpPr>
        <p:spPr>
          <a:xfrm>
            <a:off x="0" y="6356370"/>
            <a:ext cx="9144000" cy="1588"/>
          </a:xfrm>
          <a:prstGeom prst="line">
            <a:avLst/>
          </a:prstGeom>
          <a:ln w="57150">
            <a:solidFill>
              <a:srgbClr val="7BBA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логотип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4282" y="285728"/>
            <a:ext cx="1064168" cy="10001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0166" y="1071546"/>
            <a:ext cx="68580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ru-RU" sz="4800" spc="16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ambria" pitchFamily="18" charset="0"/>
              </a:rPr>
              <a:t>РЕКОМЕНДАЦИИ </a:t>
            </a:r>
            <a:br>
              <a:rPr lang="ru-RU" sz="4800" spc="16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ambria" pitchFamily="18" charset="0"/>
              </a:rPr>
            </a:br>
            <a:r>
              <a:rPr lang="ru-RU" sz="4800" spc="16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ambria" pitchFamily="18" charset="0"/>
              </a:rPr>
              <a:t>ПО РАЗМЕЩЕНИЮ ТЕКСТА НА СЛАЙДАХ</a:t>
            </a:r>
            <a:endParaRPr lang="ru-RU" sz="4800" spc="16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РАСПОЛОЖЕНИЕ ТЕКСТА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00100" y="1285860"/>
            <a:ext cx="5357850" cy="1214446"/>
          </a:xfrm>
        </p:spPr>
        <p:txBody>
          <a:bodyPr>
            <a:noAutofit/>
          </a:bodyPr>
          <a:lstStyle/>
          <a:p>
            <a:pPr marL="0">
              <a:spcBef>
                <a:spcPts val="0"/>
              </a:spcBef>
              <a:buNone/>
            </a:pPr>
            <a:r>
              <a:rPr lang="ru-RU" sz="1800" dirty="0" smtClean="0"/>
              <a:t>Этот текст расположен правильно. Его строка </a:t>
            </a:r>
            <a:br>
              <a:rPr lang="ru-RU" sz="1800" dirty="0" smtClean="0"/>
            </a:br>
            <a:r>
              <a:rPr lang="ru-RU" sz="1800" dirty="0" smtClean="0"/>
              <a:t>содержит  50 символов и читается комфортабельно. 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ru-RU" sz="1800" dirty="0" smtClean="0"/>
              <a:t>Считать символы</a:t>
            </a:r>
            <a:r>
              <a:rPr lang="ru-RU" sz="1800" dirty="0"/>
              <a:t> </a:t>
            </a:r>
            <a:r>
              <a:rPr lang="ru-RU" sz="1800" dirty="0" smtClean="0"/>
              <a:t>неудобно, поэтому надо ориентироваться на 7-9 слов.</a:t>
            </a:r>
          </a:p>
        </p:txBody>
      </p:sp>
      <p:sp>
        <p:nvSpPr>
          <p:cNvPr id="4" name="Содержимое 2"/>
          <p:cNvSpPr txBox="1">
            <a:spLocks/>
          </p:cNvSpPr>
          <p:nvPr/>
        </p:nvSpPr>
        <p:spPr>
          <a:xfrm>
            <a:off x="571472" y="2643182"/>
            <a:ext cx="8072494" cy="11430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Этот текст расположен неправильно. Его строка</a:t>
            </a:r>
            <a:r>
              <a:rPr kumimoji="0" lang="ru-RU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содержит более семидесяти символов и прочтение требует постоянного перемещения фокуса зрения человека.</a:t>
            </a:r>
            <a:endParaRPr kumimoji="0" lang="ru-RU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Содержимое 2"/>
          <p:cNvSpPr txBox="1">
            <a:spLocks/>
          </p:cNvSpPr>
          <p:nvPr/>
        </p:nvSpPr>
        <p:spPr>
          <a:xfrm>
            <a:off x="500034" y="3929066"/>
            <a:ext cx="5786478" cy="14287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-34290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mtClean="0"/>
              <a:t>Голубым цветом </a:t>
            </a:r>
            <a:r>
              <a:rPr lang="ru-RU" dirty="0" smtClean="0"/>
              <a:t>показана </a:t>
            </a:r>
            <a:r>
              <a:rPr kumimoji="0" lang="ru-RU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мертвая зона</a:t>
            </a:r>
            <a:r>
              <a:rPr lang="en-US" dirty="0" smtClean="0"/>
              <a:t> (~5% c </a:t>
            </a:r>
            <a:r>
              <a:rPr lang="ru-RU" dirty="0" smtClean="0"/>
              <a:t>каждого края</a:t>
            </a:r>
            <a:r>
              <a:rPr lang="en-US" dirty="0" smtClean="0"/>
              <a:t>)</a:t>
            </a:r>
            <a:endParaRPr kumimoji="0" lang="ru-RU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-34290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ru-RU" dirty="0" smtClean="0"/>
          </a:p>
          <a:p>
            <a:pPr marL="0" marR="0" lvl="0" indent="-34290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 smtClean="0"/>
              <a:t>Нежелательно располагать в ней что-либо важное, так как настройки проектора, принтера или телевизора, а также изменение пропорций кадра, могут обрезать края слайда.</a:t>
            </a:r>
            <a:endParaRPr kumimoji="0" lang="ru-RU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Расположение блоков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000100" y="1714488"/>
            <a:ext cx="2928958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-342900">
              <a:spcBef>
                <a:spcPct val="20000"/>
              </a:spcBef>
              <a:defRPr/>
            </a:pPr>
            <a:r>
              <a:rPr lang="ru-RU" sz="1700" dirty="0" smtClean="0"/>
              <a:t>Европеец читает по направлению </a:t>
            </a:r>
            <a:r>
              <a:rPr lang="ru-RU" sz="1700" dirty="0" err="1" smtClean="0"/>
              <a:t>слева-направо</a:t>
            </a:r>
            <a:r>
              <a:rPr lang="ru-RU" sz="1700" dirty="0" smtClean="0"/>
              <a:t>, </a:t>
            </a:r>
            <a:r>
              <a:rPr lang="ru-RU" sz="1700" dirty="0" err="1" smtClean="0"/>
              <a:t>сверху-вниз</a:t>
            </a:r>
            <a:endParaRPr lang="ru-RU" sz="1700" dirty="0" smtClean="0"/>
          </a:p>
        </p:txBody>
      </p:sp>
      <p:sp>
        <p:nvSpPr>
          <p:cNvPr id="7" name="Прямоугольник 6"/>
          <p:cNvSpPr/>
          <p:nvPr/>
        </p:nvSpPr>
        <p:spPr>
          <a:xfrm>
            <a:off x="4786314" y="1714488"/>
            <a:ext cx="2928958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-342900">
              <a:spcBef>
                <a:spcPct val="20000"/>
              </a:spcBef>
              <a:defRPr/>
            </a:pPr>
            <a:r>
              <a:rPr lang="ru-RU" sz="1700" dirty="0" smtClean="0"/>
              <a:t>поэтому текст отдельных блоков, разнесенных в пространстве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786050" y="2928934"/>
            <a:ext cx="292895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-342900">
              <a:spcBef>
                <a:spcPct val="20000"/>
              </a:spcBef>
              <a:defRPr/>
            </a:pPr>
            <a:r>
              <a:rPr lang="ru-RU" sz="1700" dirty="0"/>
              <a:t>б</a:t>
            </a:r>
            <a:r>
              <a:rPr lang="ru-RU" sz="1700" dirty="0" smtClean="0"/>
              <a:t>удет читаться именно в такой последовательности, если визуально эти блоки ничего не разделяет.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1928794" y="4143380"/>
            <a:ext cx="4572032" cy="15001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 smtClean="0"/>
              <a:t>Текст не должен тонуть в обрамлении. </a:t>
            </a:r>
            <a:br>
              <a:rPr lang="ru-RU" sz="1600" dirty="0" smtClean="0"/>
            </a:br>
            <a:r>
              <a:rPr lang="ru-RU" sz="1600" dirty="0" smtClean="0"/>
              <a:t>Лучше сделать его крупнее и удобней для чтения</a:t>
            </a:r>
            <a:endParaRPr lang="ru-RU" sz="1600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2285984" y="5429264"/>
            <a:ext cx="40004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 smtClean="0"/>
              <a:t>И он не должен перекрываться какими-либо элементами, включая фон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Выравнивание текста</a:t>
            </a:r>
            <a:endParaRPr lang="ru-RU" dirty="0"/>
          </a:p>
        </p:txBody>
      </p:sp>
      <p:sp>
        <p:nvSpPr>
          <p:cNvPr id="8" name="Содержимое 2"/>
          <p:cNvSpPr txBox="1">
            <a:spLocks/>
          </p:cNvSpPr>
          <p:nvPr/>
        </p:nvSpPr>
        <p:spPr>
          <a:xfrm>
            <a:off x="500034" y="2786058"/>
            <a:ext cx="4429156" cy="1000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1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Этот текст выравнивается</a:t>
            </a:r>
            <a:r>
              <a:rPr kumimoji="0" lang="ru-RU" sz="15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по левому краю.</a:t>
            </a:r>
          </a:p>
          <a:p>
            <a:pPr marL="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500" dirty="0"/>
              <a:t>Г</a:t>
            </a:r>
            <a:r>
              <a:rPr kumimoji="0" lang="ru-RU" sz="1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лазу</a:t>
            </a:r>
            <a:r>
              <a:rPr kumimoji="0" lang="ru-RU" sz="15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удобно, когда начало следующей строки </a:t>
            </a:r>
            <a:r>
              <a:rPr lang="ru-RU" sz="1500" baseline="0" dirty="0" smtClean="0"/>
              <a:t> </a:t>
            </a:r>
          </a:p>
          <a:p>
            <a:pPr marL="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500" baseline="0" dirty="0" smtClean="0"/>
              <a:t>почти в том же месте, что и начало предыдущей.</a:t>
            </a:r>
            <a:endParaRPr kumimoji="0" lang="ru-RU" sz="15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Содержимое 2"/>
          <p:cNvSpPr txBox="1">
            <a:spLocks/>
          </p:cNvSpPr>
          <p:nvPr/>
        </p:nvSpPr>
        <p:spPr>
          <a:xfrm>
            <a:off x="2000232" y="4071942"/>
            <a:ext cx="6715172" cy="1428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34290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1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Когда текст выравнивается</a:t>
            </a:r>
            <a:r>
              <a:rPr kumimoji="0" lang="ru-RU" sz="15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по правому краю, </a:t>
            </a:r>
            <a:r>
              <a:rPr lang="ru-RU" sz="1500" dirty="0" smtClean="0"/>
              <a:t>каждый раз глазу необходимо чуть дольше искать начало следующей строки. Конечно, если мы не пишем на языке, который читается справа налево:</a:t>
            </a:r>
            <a:endParaRPr kumimoji="0" lang="ru-RU" sz="15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72198" y="4845869"/>
            <a:ext cx="2579670" cy="1083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Содержимое 2"/>
          <p:cNvSpPr txBox="1">
            <a:spLocks/>
          </p:cNvSpPr>
          <p:nvPr/>
        </p:nvSpPr>
        <p:spPr>
          <a:xfrm>
            <a:off x="714348" y="1357298"/>
            <a:ext cx="7215238" cy="1143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Заголовок,</a:t>
            </a:r>
            <a:r>
              <a:rPr kumimoji="0" lang="ru-RU" sz="20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расположенный</a:t>
            </a:r>
            <a:r>
              <a:rPr lang="ru-RU" sz="2000" dirty="0" smtClean="0"/>
              <a:t> по центру слайда – это нормально.</a:t>
            </a:r>
            <a:endParaRPr lang="ru-RU" sz="1500" dirty="0" smtClean="0"/>
          </a:p>
          <a:p>
            <a:pPr marL="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500" dirty="0" smtClean="0"/>
              <a:t>Но если предложение занимает несколько </a:t>
            </a:r>
            <a:br>
              <a:rPr lang="ru-RU" sz="1500" dirty="0" smtClean="0"/>
            </a:br>
            <a:r>
              <a:rPr lang="ru-RU" sz="1500" dirty="0" smtClean="0"/>
              <a:t>строк, человеку будет сложно прочесть его, каждая строка будет восприниматься, как отдельная надпись.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571472" y="5000636"/>
            <a:ext cx="2928958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-342900" algn="just">
              <a:spcBef>
                <a:spcPct val="20000"/>
              </a:spcBef>
              <a:defRPr/>
            </a:pPr>
            <a:r>
              <a:rPr lang="ru-RU" sz="1500" dirty="0" smtClean="0"/>
              <a:t>При использовании выравнивания по ширине пробелы между словами становятся разной длины. Читать такой текст неудобно.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Размер шрифта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71472" y="1071546"/>
            <a:ext cx="8229600" cy="53578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5000" b="1" dirty="0" smtClean="0">
                <a:solidFill>
                  <a:schemeClr val="accent3">
                    <a:lumMod val="75000"/>
                  </a:schemeClr>
                </a:solidFill>
              </a:rPr>
              <a:t>50</a:t>
            </a:r>
            <a:r>
              <a:rPr lang="ru-RU" sz="5000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5000" dirty="0" smtClean="0"/>
              <a:t>Размер шрифта 50 пт.</a:t>
            </a:r>
          </a:p>
          <a:p>
            <a:pPr>
              <a:buNone/>
            </a:pPr>
            <a:r>
              <a:rPr lang="ru-RU" sz="4000" b="1" dirty="0" smtClean="0">
                <a:solidFill>
                  <a:schemeClr val="accent3">
                    <a:lumMod val="75000"/>
                  </a:schemeClr>
                </a:solidFill>
              </a:rPr>
              <a:t>40</a:t>
            </a:r>
            <a:r>
              <a:rPr lang="ru-RU" sz="4000" dirty="0" smtClean="0"/>
              <a:t> Размер шрифта 40 пунктов</a:t>
            </a:r>
          </a:p>
          <a:p>
            <a:pPr marL="0">
              <a:buNone/>
            </a:pPr>
            <a:r>
              <a:rPr lang="ru-RU" sz="3000" b="1" dirty="0" smtClean="0">
                <a:solidFill>
                  <a:schemeClr val="accent3">
                    <a:lumMod val="75000"/>
                  </a:schemeClr>
                </a:solidFill>
              </a:rPr>
              <a:t>30</a:t>
            </a:r>
            <a:r>
              <a:rPr lang="ru-RU" sz="3000" dirty="0" smtClean="0"/>
              <a:t> Этот фрагмент текста набран шрифтом с размером тридцать типографских пунктов</a:t>
            </a:r>
          </a:p>
          <a:p>
            <a:pPr marL="0">
              <a:buNone/>
            </a:pPr>
            <a:r>
              <a:rPr lang="ru-RU" sz="2000" b="1" dirty="0" smtClean="0">
                <a:solidFill>
                  <a:srgbClr val="B48900"/>
                </a:solidFill>
              </a:rPr>
              <a:t>20</a:t>
            </a:r>
            <a:r>
              <a:rPr lang="ru-RU" sz="2000" dirty="0" smtClean="0"/>
              <a:t> Этот фрагмент текста набран шрифтом с размером </a:t>
            </a:r>
          </a:p>
          <a:p>
            <a:pPr marL="0">
              <a:buNone/>
            </a:pPr>
            <a:r>
              <a:rPr lang="ru-RU" sz="2000" dirty="0" smtClean="0"/>
              <a:t>двадцать типографских пунктов и оптимален для текста.</a:t>
            </a:r>
          </a:p>
          <a:p>
            <a:pPr marL="0">
              <a:buNone/>
            </a:pPr>
            <a:r>
              <a:rPr lang="ru-RU" sz="1500" b="1" dirty="0" smtClean="0">
                <a:solidFill>
                  <a:srgbClr val="B88C00"/>
                </a:solidFill>
              </a:rPr>
              <a:t>15</a:t>
            </a:r>
            <a:r>
              <a:rPr lang="ru-RU" sz="1500" dirty="0" smtClean="0"/>
              <a:t> Этот фрагмент текста набран шрифтом с размером пятнадцать типографских пунктов, в некоторых случаях прочесть его сложно</a:t>
            </a:r>
          </a:p>
          <a:p>
            <a:pPr marL="0">
              <a:buNone/>
            </a:pPr>
            <a:r>
              <a:rPr lang="ru-RU" sz="1000" b="1" dirty="0" smtClean="0">
                <a:solidFill>
                  <a:srgbClr val="FF0000"/>
                </a:solidFill>
              </a:rPr>
              <a:t>10</a:t>
            </a:r>
            <a:r>
              <a:rPr lang="ru-RU" sz="1000" dirty="0" smtClean="0"/>
              <a:t> Этот фрагмент текста набран шрифтом с размером десять типографских пунктов, поэтому далеко не все его прочитают, </a:t>
            </a:r>
          </a:p>
          <a:p>
            <a:pPr marL="0">
              <a:buNone/>
            </a:pPr>
            <a:r>
              <a:rPr lang="ru-RU" sz="1000" dirty="0" smtClean="0"/>
              <a:t>особенно те, кто забыл дома очки или сидит далеко от экрана.  </a:t>
            </a:r>
          </a:p>
          <a:p>
            <a:pPr marL="0">
              <a:buNone/>
            </a:pPr>
            <a:r>
              <a:rPr lang="ru-RU" sz="1000" dirty="0" smtClean="0"/>
              <a:t>Не исключено , что презентацию будут показывать с помощью телевизора или экрана компьютера для нескольких людей. </a:t>
            </a:r>
          </a:p>
          <a:p>
            <a:pPr marL="0">
              <a:buNone/>
            </a:pPr>
            <a:r>
              <a:rPr lang="ru-RU" sz="1000" dirty="0" smtClean="0"/>
              <a:t/>
            </a:r>
            <a:br>
              <a:rPr lang="ru-RU" sz="1000" dirty="0" smtClean="0"/>
            </a:br>
            <a:r>
              <a:rPr lang="ru-RU" sz="2000" dirty="0" smtClean="0"/>
              <a:t>Если возникает необходимость использовать мелкий шрифт – </a:t>
            </a:r>
            <a:br>
              <a:rPr lang="ru-RU" sz="2000" dirty="0" smtClean="0"/>
            </a:br>
            <a:r>
              <a:rPr lang="ru-RU" sz="2000" dirty="0" smtClean="0"/>
              <a:t>значит мы разместили на одном слайде слишком много информации.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Гарнитура и начертание шрифта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5762" y="1928802"/>
            <a:ext cx="4114800" cy="1400172"/>
          </a:xfrm>
        </p:spPr>
        <p:txBody>
          <a:bodyPr>
            <a:normAutofit/>
          </a:bodyPr>
          <a:lstStyle/>
          <a:p>
            <a:pPr marL="0">
              <a:buNone/>
            </a:pPr>
            <a:r>
              <a:rPr lang="ru-RU" sz="1700" dirty="0" smtClean="0"/>
              <a:t>Создатели шрифтов предполагают, что </a:t>
            </a:r>
            <a:r>
              <a:rPr lang="ru-RU" sz="1700" i="1" dirty="0" smtClean="0"/>
              <a:t>курсивное</a:t>
            </a:r>
            <a:r>
              <a:rPr lang="ru-RU" sz="1700" dirty="0" smtClean="0"/>
              <a:t> или </a:t>
            </a:r>
            <a:r>
              <a:rPr lang="ru-RU" sz="1700" b="1" dirty="0" smtClean="0"/>
              <a:t>полужирное</a:t>
            </a:r>
            <a:r>
              <a:rPr lang="ru-RU" sz="1700" dirty="0" smtClean="0"/>
              <a:t> начертание будут использоваться для выделения, а не набора основного массива текста, это же касается и подчеркивания.</a:t>
            </a:r>
            <a:endParaRPr lang="ru-RU" sz="1700" dirty="0"/>
          </a:p>
        </p:txBody>
      </p:sp>
      <p:sp>
        <p:nvSpPr>
          <p:cNvPr id="5" name="Содержимое 2"/>
          <p:cNvSpPr txBox="1">
            <a:spLocks/>
          </p:cNvSpPr>
          <p:nvPr/>
        </p:nvSpPr>
        <p:spPr>
          <a:xfrm>
            <a:off x="4643438" y="2071678"/>
            <a:ext cx="4071966" cy="1143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1700" b="1" i="1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Выделение</a:t>
            </a:r>
            <a:r>
              <a:rPr kumimoji="0" lang="ru-RU" sz="1700" b="1" i="1" u="sng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большого объема текста бессмысленно  и делает его менее читабельным.</a:t>
            </a:r>
            <a:endParaRPr kumimoji="0" lang="ru-RU" sz="1700" b="1" i="1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Содержимое 2"/>
          <p:cNvSpPr txBox="1">
            <a:spLocks/>
          </p:cNvSpPr>
          <p:nvPr/>
        </p:nvSpPr>
        <p:spPr>
          <a:xfrm>
            <a:off x="4643438" y="2928934"/>
            <a:ext cx="4071966" cy="1000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700" i="1" dirty="0" smtClean="0"/>
              <a:t>«Курсив и наклонный шрифт стоит использовать для смыслового выделения текста, а также цитат»</a:t>
            </a:r>
            <a:endParaRPr kumimoji="0" lang="ru-RU" sz="1700" i="1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Содержимое 2"/>
          <p:cNvSpPr txBox="1">
            <a:spLocks/>
          </p:cNvSpPr>
          <p:nvPr/>
        </p:nvSpPr>
        <p:spPr>
          <a:xfrm>
            <a:off x="374914" y="3741386"/>
            <a:ext cx="4000528" cy="8572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1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Как правило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kumimoji="0" lang="ru-RU" sz="1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в электронных материалах используются шрифты с засечками </a:t>
            </a:r>
            <a:r>
              <a:rPr kumimoji="0" lang="en-US" sz="17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times new roman</a:t>
            </a:r>
            <a:r>
              <a:rPr kumimoji="0" lang="ru-RU" sz="17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kumimoji="0" lang="ru-RU" sz="1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и </a:t>
            </a:r>
            <a:r>
              <a:rPr kumimoji="0" lang="en-US" sz="17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georgia</a:t>
            </a:r>
            <a:r>
              <a:rPr lang="ru-RU" sz="1700" b="1" dirty="0">
                <a:latin typeface="Times New Roman" pitchFamily="18" charset="0"/>
                <a:cs typeface="Times New Roman" pitchFamily="18" charset="0"/>
              </a:rPr>
              <a:t>.</a:t>
            </a:r>
            <a:endParaRPr kumimoji="0" lang="ru-RU" sz="17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9" name="Содержимое 2"/>
          <p:cNvSpPr txBox="1">
            <a:spLocks/>
          </p:cNvSpPr>
          <p:nvPr/>
        </p:nvSpPr>
        <p:spPr>
          <a:xfrm>
            <a:off x="374914" y="4741519"/>
            <a:ext cx="3929090" cy="973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700" dirty="0" smtClean="0">
                <a:latin typeface="+mj-lt"/>
                <a:ea typeface="Tahoma" pitchFamily="34" charset="0"/>
                <a:cs typeface="Tahoma" pitchFamily="34" charset="0"/>
              </a:rPr>
              <a:t>А также шрифты без засечек, такие как </a:t>
            </a:r>
            <a:r>
              <a:rPr lang="en-US" sz="1700" b="1" dirty="0" smtClean="0">
                <a:latin typeface="+mj-lt"/>
                <a:ea typeface="Tahoma" pitchFamily="34" charset="0"/>
                <a:cs typeface="Tahoma" pitchFamily="34" charset="0"/>
              </a:rPr>
              <a:t>Verdana</a:t>
            </a:r>
            <a:r>
              <a:rPr lang="ru-RU" sz="1700" b="1" dirty="0" smtClean="0">
                <a:latin typeface="+mj-lt"/>
                <a:ea typeface="Tahoma" pitchFamily="34" charset="0"/>
                <a:cs typeface="Tahoma" pitchFamily="34" charset="0"/>
              </a:rPr>
              <a:t> </a:t>
            </a:r>
            <a:r>
              <a:rPr lang="ru-RU" sz="1700" dirty="0" smtClean="0">
                <a:latin typeface="+mj-lt"/>
                <a:ea typeface="Tahoma" pitchFamily="34" charset="0"/>
                <a:cs typeface="Tahoma" pitchFamily="34" charset="0"/>
              </a:rPr>
              <a:t>и ее близкие родственники </a:t>
            </a:r>
            <a:r>
              <a:rPr lang="ru-RU" sz="1700" b="1" dirty="0" smtClean="0">
                <a:latin typeface="+mj-lt"/>
                <a:ea typeface="Tahoma" pitchFamily="34" charset="0"/>
                <a:cs typeface="Tahoma" pitchFamily="34" charset="0"/>
              </a:rPr>
              <a:t>С</a:t>
            </a:r>
            <a:r>
              <a:rPr lang="en-US" sz="1700" b="1" dirty="0" smtClean="0">
                <a:latin typeface="+mj-lt"/>
                <a:ea typeface="Tahoma" pitchFamily="34" charset="0"/>
                <a:cs typeface="Tahoma" pitchFamily="34" charset="0"/>
              </a:rPr>
              <a:t>alibri</a:t>
            </a:r>
            <a:r>
              <a:rPr lang="ru-RU" sz="1700" dirty="0">
                <a:latin typeface="+mj-lt"/>
                <a:ea typeface="Tahoma" pitchFamily="34" charset="0"/>
                <a:cs typeface="Tahoma" pitchFamily="34" charset="0"/>
              </a:rPr>
              <a:t>,</a:t>
            </a:r>
            <a:r>
              <a:rPr lang="ru-RU" sz="1700" dirty="0" smtClean="0">
                <a:latin typeface="+mj-lt"/>
                <a:ea typeface="Tahoma" pitchFamily="34" charset="0"/>
                <a:cs typeface="Tahoma" pitchFamily="34" charset="0"/>
              </a:rPr>
              <a:t> </a:t>
            </a:r>
            <a:r>
              <a:rPr lang="en-US" sz="1700" b="1" dirty="0" smtClean="0">
                <a:latin typeface="+mj-lt"/>
                <a:ea typeface="Tahoma" pitchFamily="34" charset="0"/>
                <a:cs typeface="Tahoma" pitchFamily="34" charset="0"/>
              </a:rPr>
              <a:t>Tahoma</a:t>
            </a:r>
            <a:r>
              <a:rPr lang="ru-RU" sz="1700" dirty="0" smtClean="0">
                <a:latin typeface="+mj-lt"/>
                <a:ea typeface="Tahoma" pitchFamily="34" charset="0"/>
                <a:cs typeface="Tahoma" pitchFamily="34" charset="0"/>
              </a:rPr>
              <a:t> и </a:t>
            </a:r>
            <a:r>
              <a:rPr lang="en-US" sz="1700" b="1" dirty="0" smtClean="0">
                <a:latin typeface="+mj-lt"/>
                <a:ea typeface="Tahoma" pitchFamily="34" charset="0"/>
                <a:cs typeface="Tahoma" pitchFamily="34" charset="0"/>
              </a:rPr>
              <a:t>Arial</a:t>
            </a:r>
            <a:r>
              <a:rPr lang="ru-RU" sz="1700" b="1" dirty="0" smtClean="0">
                <a:latin typeface="+mj-lt"/>
                <a:ea typeface="Tahoma" pitchFamily="34" charset="0"/>
                <a:cs typeface="Tahoma" pitchFamily="34" charset="0"/>
              </a:rPr>
              <a:t>.</a:t>
            </a:r>
            <a:endParaRPr kumimoji="0" lang="ru-RU" sz="17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Tahoma" pitchFamily="34" charset="0"/>
              <a:cs typeface="Tahoma" pitchFamily="34" charset="0"/>
            </a:endParaRPr>
          </a:p>
        </p:txBody>
      </p:sp>
      <p:sp>
        <p:nvSpPr>
          <p:cNvPr id="10" name="Содержимое 2"/>
          <p:cNvSpPr txBox="1">
            <a:spLocks/>
          </p:cNvSpPr>
          <p:nvPr/>
        </p:nvSpPr>
        <p:spPr>
          <a:xfrm>
            <a:off x="357158" y="1214422"/>
            <a:ext cx="8072494" cy="1428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700" dirty="0" smtClean="0">
                <a:latin typeface="+mj-lt"/>
                <a:ea typeface="Verdana" pitchFamily="34" charset="0"/>
                <a:cs typeface="Verdana" pitchFamily="34" charset="0"/>
              </a:rPr>
              <a:t>Шрифт – это в первую очередь инструмент для передачи </a:t>
            </a:r>
            <a:br>
              <a:rPr lang="ru-RU" sz="1700" dirty="0" smtClean="0">
                <a:latin typeface="+mj-lt"/>
                <a:ea typeface="Verdana" pitchFamily="34" charset="0"/>
                <a:cs typeface="Verdana" pitchFamily="34" charset="0"/>
              </a:rPr>
            </a:br>
            <a:r>
              <a:rPr lang="ru-RU" sz="1700" dirty="0" smtClean="0">
                <a:latin typeface="+mj-lt"/>
                <a:ea typeface="Verdana" pitchFamily="34" charset="0"/>
                <a:cs typeface="Verdana" pitchFamily="34" charset="0"/>
              </a:rPr>
              <a:t>текстовой информации.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4643438" y="3688118"/>
            <a:ext cx="3786214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-342900">
              <a:spcBef>
                <a:spcPct val="20000"/>
              </a:spcBef>
              <a:defRPr/>
            </a:pPr>
            <a:r>
              <a:rPr lang="ru-RU" sz="1900" dirty="0">
                <a:latin typeface="Gabriola" pitchFamily="82" charset="0"/>
                <a:ea typeface="Verdana" pitchFamily="34" charset="0"/>
                <a:cs typeface="Verdana" pitchFamily="34" charset="0"/>
              </a:rPr>
              <a:t>Существует множество декоративных шрифтов, их задача – привлечь </a:t>
            </a:r>
            <a:r>
              <a:rPr lang="ru-RU" sz="1900" dirty="0" smtClean="0">
                <a:latin typeface="Gabriola" pitchFamily="82" charset="0"/>
                <a:ea typeface="Verdana" pitchFamily="34" charset="0"/>
                <a:cs typeface="Verdana" pitchFamily="34" charset="0"/>
              </a:rPr>
              <a:t>внимание </a:t>
            </a:r>
            <a:r>
              <a:rPr lang="ru-RU" sz="1900" dirty="0">
                <a:latin typeface="Gabriola" pitchFamily="82" charset="0"/>
                <a:ea typeface="Verdana" pitchFamily="34" charset="0"/>
                <a:cs typeface="Verdana" pitchFamily="34" charset="0"/>
              </a:rPr>
              <a:t>в ущерб читаемости текста, об этом следует помнить при желании разнообразить набор используемых шрифтов.</a:t>
            </a: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500034" y="1928802"/>
            <a:ext cx="78581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500034" y="3714752"/>
            <a:ext cx="78581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Содержимое 2"/>
          <p:cNvSpPr txBox="1">
            <a:spLocks/>
          </p:cNvSpPr>
          <p:nvPr/>
        </p:nvSpPr>
        <p:spPr>
          <a:xfrm>
            <a:off x="357158" y="5715016"/>
            <a:ext cx="8072494" cy="6429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700" dirty="0" smtClean="0">
                <a:latin typeface="+mj-lt"/>
                <a:ea typeface="Verdana" pitchFamily="34" charset="0"/>
                <a:cs typeface="Verdana" pitchFamily="34" charset="0"/>
              </a:rPr>
              <a:t>Достаточно сложно соблюсти согласованность внешнего вида, когда в презентации используется более двух видов шрифтов.</a:t>
            </a:r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500034" y="5715016"/>
            <a:ext cx="78581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Цвет текста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142976" y="1643050"/>
            <a:ext cx="6643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Основной принцип при выборе цвета текста – это достижение наибольшего контраста между цветом и фоном.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1142976" y="2571744"/>
            <a:ext cx="6643734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FF00"/>
                </a:solidFill>
              </a:rPr>
              <a:t>Вариант светлого шрифта на темном фоне чуть менее удобен для восприятия.</a:t>
            </a:r>
            <a:endParaRPr lang="ru-RU" dirty="0">
              <a:solidFill>
                <a:srgbClr val="FFFF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2976" y="3500438"/>
            <a:ext cx="66437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C000"/>
                </a:solidFill>
              </a:rPr>
              <a:t>Чем ниже контраст между текстом и фоном, тем сложнее человеку прочесть текст. Если презентация показывается в освещенной комнате такой текст может стать и вовсе нечитаемым.</a:t>
            </a:r>
            <a:endParaRPr lang="ru-RU" dirty="0">
              <a:solidFill>
                <a:srgbClr val="FFC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2976" y="4929198"/>
            <a:ext cx="66437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C00000"/>
                </a:solidFill>
              </a:rPr>
              <a:t>Цветной текст </a:t>
            </a:r>
            <a:r>
              <a:rPr lang="ru-RU" dirty="0" smtClean="0"/>
              <a:t>является удобным инструментом для смыслового выделения и расстановки акцентов. При этом желательно соблюдать правило одинакового выделения однотипных элементов.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500034" y="3929066"/>
            <a:ext cx="8143932" cy="1857388"/>
          </a:xfrm>
          <a:prstGeom prst="rect">
            <a:avLst/>
          </a:prstGeom>
          <a:solidFill>
            <a:srgbClr val="DAB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 cstate="print">
            <a:lum bright="46000" contrast="-52000"/>
          </a:blip>
          <a:srcRect t="19394" b="63124"/>
          <a:stretch>
            <a:fillRect/>
          </a:stretch>
        </p:blipFill>
        <p:spPr bwMode="auto">
          <a:xfrm>
            <a:off x="500034" y="2714620"/>
            <a:ext cx="8172507" cy="1071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 t="20559" b="59627"/>
          <a:stretch>
            <a:fillRect/>
          </a:stretch>
        </p:blipFill>
        <p:spPr bwMode="auto">
          <a:xfrm>
            <a:off x="500034" y="1357298"/>
            <a:ext cx="8172507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Фон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65214" y="1500174"/>
            <a:ext cx="8229600" cy="1685924"/>
          </a:xfrm>
        </p:spPr>
        <p:txBody>
          <a:bodyPr>
            <a:normAutofit/>
          </a:bodyPr>
          <a:lstStyle/>
          <a:p>
            <a:pPr marL="0">
              <a:buNone/>
            </a:pPr>
            <a:r>
              <a:rPr lang="ru-RU" sz="2400" dirty="0" smtClean="0"/>
              <a:t>Контуры графического фона будут конкурировать с текстом и сделают его менее читаемым или абсолютно нечитаемым.</a:t>
            </a:r>
            <a:endParaRPr lang="ru-RU" sz="2400" dirty="0"/>
          </a:p>
        </p:txBody>
      </p:sp>
      <p:sp>
        <p:nvSpPr>
          <p:cNvPr id="4" name="Содержимое 2"/>
          <p:cNvSpPr txBox="1">
            <a:spLocks/>
          </p:cNvSpPr>
          <p:nvPr/>
        </p:nvSpPr>
        <p:spPr>
          <a:xfrm>
            <a:off x="564042" y="3028960"/>
            <a:ext cx="8229600" cy="4714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Бледный графический</a:t>
            </a:r>
            <a:r>
              <a:rPr kumimoji="0" lang="ru-RU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фон выглядит «грязно»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Содержимое 2"/>
          <p:cNvSpPr txBox="1">
            <a:spLocks/>
          </p:cNvSpPr>
          <p:nvPr/>
        </p:nvSpPr>
        <p:spPr>
          <a:xfrm>
            <a:off x="564042" y="4071942"/>
            <a:ext cx="8229600" cy="6143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Одноцветный фон всегда</a:t>
            </a:r>
            <a:r>
              <a:rPr kumimoji="0" lang="ru-RU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снижает контраст. </a:t>
            </a:r>
            <a:br>
              <a:rPr kumimoji="0" lang="ru-RU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ru-RU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Даже если на </a:t>
            </a:r>
            <a:r>
              <a:rPr lang="ru-RU" sz="2400" dirty="0" smtClean="0"/>
              <a:t>мониторе все выглядит нормально, запас контрастности у проектора может отказаться недостаточным для комфортного чтения.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Эффекты текста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71514" y="1500174"/>
            <a:ext cx="7329510" cy="1185858"/>
          </a:xfrm>
        </p:spPr>
        <p:txBody>
          <a:bodyPr>
            <a:noAutofit/>
            <a:scene3d>
              <a:camera prst="perspectiveRelaxedModerately"/>
              <a:lightRig rig="threePt" dir="t"/>
            </a:scene3d>
          </a:bodyPr>
          <a:lstStyle/>
          <a:p>
            <a:pPr marL="0">
              <a:buNone/>
            </a:pPr>
            <a:r>
              <a:rPr lang="ru-RU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Использование различных эффектов оформления текста, как и декоративные шрифты, может негативно отразиться на его читаемости.</a:t>
            </a:r>
            <a:endParaRPr lang="ru-RU" sz="2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Содержимое 2"/>
          <p:cNvSpPr txBox="1">
            <a:spLocks/>
          </p:cNvSpPr>
          <p:nvPr/>
        </p:nvSpPr>
        <p:spPr>
          <a:xfrm>
            <a:off x="642910" y="2928934"/>
            <a:ext cx="7329510" cy="9286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2400" b="1" i="0" u="none" strike="noStrike" kern="1200" cap="all" normalizeH="0" baseline="0" noProof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uLnTx/>
                <a:uFillTx/>
                <a:latin typeface="+mn-lt"/>
                <a:ea typeface="+mn-ea"/>
                <a:cs typeface="+mn-cs"/>
              </a:rPr>
              <a:t>То, что вы умеете их использовать,</a:t>
            </a:r>
            <a:r>
              <a:rPr kumimoji="0" lang="ru-RU" sz="2400" b="1" i="0" u="none" strike="noStrike" kern="1200" cap="all" normalizeH="0" noProof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uLnTx/>
                <a:uFillTx/>
                <a:latin typeface="+mn-lt"/>
                <a:ea typeface="+mn-ea"/>
                <a:cs typeface="+mn-cs"/>
              </a:rPr>
              <a:t> не делает их использование обязательным.</a:t>
            </a:r>
            <a:endParaRPr kumimoji="0" lang="ru-RU" sz="2400" b="1" i="0" u="none" strike="noStrike" kern="1200" cap="all" normalizeH="0" baseline="0" noProof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Содержимое 2"/>
          <p:cNvSpPr txBox="1">
            <a:spLocks/>
          </p:cNvSpPr>
          <p:nvPr/>
        </p:nvSpPr>
        <p:spPr>
          <a:xfrm>
            <a:off x="714348" y="3929066"/>
            <a:ext cx="7329510" cy="1857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2400" b="1" i="0" u="none" strike="noStrike" kern="120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uLnTx/>
                <a:uFillTx/>
                <a:latin typeface="+mn-lt"/>
                <a:ea typeface="+mn-ea"/>
                <a:cs typeface="+mn-cs"/>
              </a:rPr>
              <a:t>Человек</a:t>
            </a:r>
            <a:r>
              <a:rPr kumimoji="0" lang="ru-RU" sz="2400" b="1" i="0" u="none" strike="noStrike" kern="1200" normalizeH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uLnTx/>
                <a:uFillTx/>
                <a:latin typeface="+mn-lt"/>
                <a:ea typeface="+mn-ea"/>
                <a:cs typeface="+mn-cs"/>
              </a:rPr>
              <a:t> ожидает, что однотипные элементы будут выглядеть одинаково. </a:t>
            </a:r>
            <a:r>
              <a:rPr kumimoji="0" lang="ru-RU" sz="2400" b="1" i="0" u="none" strike="noStrike" kern="1200" normalizeH="0" noProof="0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uLnTx/>
                <a:uFillTx/>
                <a:latin typeface="+mn-lt"/>
                <a:ea typeface="+mn-ea"/>
                <a:cs typeface="+mn-cs"/>
              </a:rPr>
              <a:t>В противном случае он подсознательно пытается понять, в чем заключается смысловая разница, </a:t>
            </a:r>
            <a:r>
              <a:rPr kumimoji="0" lang="ru-RU" sz="2400" b="1" i="0" u="none" strike="noStrike" kern="1200" normalizeH="0" noProof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uLnTx/>
                <a:uFillTx/>
                <a:latin typeface="+mn-lt"/>
                <a:ea typeface="+mn-ea"/>
                <a:cs typeface="+mn-cs"/>
              </a:rPr>
              <a:t>это отвлекает его от того, что мы </a:t>
            </a:r>
            <a:r>
              <a:rPr lang="ru-RU" sz="2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хотим до него донести.</a:t>
            </a:r>
            <a:endParaRPr kumimoji="0" lang="ru-RU" sz="2400" b="1" i="0" u="none" strike="noStrike" kern="1200" normalizeH="0" baseline="0" noProof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Тени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71742"/>
          </a:xfrm>
        </p:spPr>
        <p:txBody>
          <a:bodyPr>
            <a:normAutofit/>
          </a:bodyPr>
          <a:lstStyle/>
          <a:p>
            <a:pPr marL="0">
              <a:buNone/>
            </a:pPr>
            <a:r>
              <a:rPr lang="ru-RU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Тень уменьшает четкость текста</a:t>
            </a:r>
          </a:p>
          <a:p>
            <a:pPr marL="0">
              <a:buNone/>
            </a:pPr>
            <a:r>
              <a:rPr lang="ru-RU" dirty="0" smtClean="0"/>
              <a:t>Зачем ее уменьшать?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00034" y="4786322"/>
            <a:ext cx="3618298" cy="584775"/>
          </a:xfrm>
          <a:prstGeom prst="rect">
            <a:avLst/>
          </a:prstGeom>
        </p:spPr>
        <p:txBody>
          <a:bodyPr wrap="none">
            <a:spAutoFit/>
            <a:scene3d>
              <a:camera prst="perspectiveRelaxedModerately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ru-RU" sz="3200" dirty="0" smtClean="0"/>
              <a:t>Это касается любых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500562" y="4844489"/>
            <a:ext cx="3306674" cy="584775"/>
          </a:xfrm>
          <a:prstGeom prst="rect">
            <a:avLst/>
          </a:prstGeom>
        </p:spPr>
        <p:txBody>
          <a:bodyPr wrap="none">
            <a:spAutoFit/>
            <a:scene3d>
              <a:camera prst="isometricOffAxis1Right"/>
              <a:lightRig rig="threePt" dir="t"/>
            </a:scene3d>
          </a:bodyPr>
          <a:lstStyle/>
          <a:p>
            <a:r>
              <a:rPr lang="ru-RU" sz="3200" dirty="0" smtClean="0"/>
              <a:t>эффектов объема</a:t>
            </a:r>
          </a:p>
        </p:txBody>
      </p:sp>
      <p:sp>
        <p:nvSpPr>
          <p:cNvPr id="8" name="Содержимое 2"/>
          <p:cNvSpPr txBox="1">
            <a:spLocks/>
          </p:cNvSpPr>
          <p:nvPr/>
        </p:nvSpPr>
        <p:spPr>
          <a:xfrm>
            <a:off x="500034" y="3071810"/>
            <a:ext cx="8229600" cy="1428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Тени от 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разнонаправленных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60007" dir="2000400" sy="-30000" kx="-800400" algn="bl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источников света 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reflection blurRad="6350" stA="50000" endA="300" endPos="50000" dist="60007" dir="5400000" sy="-100000" algn="bl" rotWithShape="0"/>
                </a:effectLst>
                <a:uLnTx/>
                <a:uFillTx/>
                <a:latin typeface="+mn-lt"/>
                <a:ea typeface="+mn-ea"/>
                <a:cs typeface="+mn-cs"/>
              </a:rPr>
              <a:t>вызывают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диссонанс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восприятия.</a:t>
            </a:r>
          </a:p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Списки и наборы объектов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500" dirty="0" smtClean="0"/>
              <a:t>Человек может держать в фокусе внимания 3-5 объектов одновременно</a:t>
            </a:r>
          </a:p>
          <a:p>
            <a:r>
              <a:rPr lang="ru-RU" sz="2500" dirty="0" smtClean="0"/>
              <a:t>Если пункт списка содержит несколько предложений – это несколько объектов, а элементы списка воспринимаются как абзацы.</a:t>
            </a:r>
          </a:p>
          <a:p>
            <a:r>
              <a:rPr lang="ru-RU" sz="2500" dirty="0" smtClean="0"/>
              <a:t>Вы не сможете сказать, что было написано в тексте даже двумя абзацами ранее.</a:t>
            </a:r>
          </a:p>
          <a:p>
            <a:r>
              <a:rPr lang="ru-RU" sz="2500" dirty="0" smtClean="0"/>
              <a:t>Список может быть длинным, если нужно обозначить количество объектов, но его содержимое не запомнят.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/>
        </p:nvSpPr>
        <p:spPr>
          <a:xfrm>
            <a:off x="857224" y="3786190"/>
            <a:ext cx="3214710" cy="1428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/>
              <a:t>Вербально-ориентированное</a:t>
            </a:r>
            <a:endParaRPr lang="ru-RU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4786314" y="3786190"/>
            <a:ext cx="3214710" cy="1428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/>
              <a:t>Визуальное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Использование диаграмм</a:t>
            </a:r>
            <a:endParaRPr lang="ru-RU" dirty="0"/>
          </a:p>
        </p:txBody>
      </p:sp>
      <p:sp>
        <p:nvSpPr>
          <p:cNvPr id="4" name="Содержимое 2"/>
          <p:cNvSpPr>
            <a:spLocks noGrp="1"/>
          </p:cNvSpPr>
          <p:nvPr>
            <p:ph idx="1"/>
          </p:nvPr>
        </p:nvSpPr>
        <p:spPr>
          <a:xfrm>
            <a:off x="636110" y="1393874"/>
            <a:ext cx="2543164" cy="1106432"/>
          </a:xfrm>
        </p:spPr>
        <p:txBody>
          <a:bodyPr>
            <a:normAutofit/>
          </a:bodyPr>
          <a:lstStyle/>
          <a:p>
            <a:pPr marL="0">
              <a:buNone/>
            </a:pPr>
            <a:r>
              <a:rPr lang="ru-RU" sz="1700" dirty="0" smtClean="0"/>
              <a:t>Речь человека и текст обладают линейной связанностью.</a:t>
            </a:r>
            <a:endParaRPr lang="ru-RU" sz="1700" dirty="0"/>
          </a:p>
        </p:txBody>
      </p:sp>
      <p:sp>
        <p:nvSpPr>
          <p:cNvPr id="5" name="Содержимое 2"/>
          <p:cNvSpPr txBox="1">
            <a:spLocks/>
          </p:cNvSpPr>
          <p:nvPr/>
        </p:nvSpPr>
        <p:spPr>
          <a:xfrm>
            <a:off x="642910" y="2214554"/>
            <a:ext cx="3328982" cy="857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1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Содержимое 2"/>
          <p:cNvSpPr txBox="1">
            <a:spLocks/>
          </p:cNvSpPr>
          <p:nvPr/>
        </p:nvSpPr>
        <p:spPr>
          <a:xfrm>
            <a:off x="3358726" y="1393874"/>
            <a:ext cx="2543164" cy="963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1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Это</a:t>
            </a:r>
            <a:r>
              <a:rPr kumimoji="0" lang="ru-RU" sz="17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удобно для отображения логики развития мысли</a:t>
            </a:r>
            <a:endParaRPr kumimoji="0" lang="ru-RU" sz="1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Содержимое 2"/>
          <p:cNvSpPr txBox="1">
            <a:spLocks/>
          </p:cNvSpPr>
          <p:nvPr/>
        </p:nvSpPr>
        <p:spPr>
          <a:xfrm>
            <a:off x="6040222" y="1393874"/>
            <a:ext cx="2675182" cy="892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1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Но</a:t>
            </a:r>
            <a:r>
              <a:rPr kumimoji="0" lang="ru-RU" sz="17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описывать в тексте сложную структуру неудобно</a:t>
            </a:r>
            <a:endParaRPr kumimoji="0" lang="ru-RU" sz="1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Стрелка вправо 10"/>
          <p:cNvSpPr/>
          <p:nvPr/>
        </p:nvSpPr>
        <p:spPr>
          <a:xfrm>
            <a:off x="5500694" y="1447024"/>
            <a:ext cx="428628" cy="642942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alpha val="0"/>
                </a:schemeClr>
              </a:gs>
              <a:gs pos="38000">
                <a:schemeClr val="accent1">
                  <a:shade val="94000"/>
                  <a:satMod val="135000"/>
                </a:scheme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3500430" y="2857496"/>
            <a:ext cx="1857388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Восприятие</a:t>
            </a:r>
            <a:endParaRPr lang="ru-RU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2571736" y="4214818"/>
            <a:ext cx="1357322" cy="3571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Текст</a:t>
            </a:r>
            <a:endParaRPr lang="ru-RU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1000100" y="4214818"/>
            <a:ext cx="1357322" cy="3571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Речь</a:t>
            </a:r>
            <a:endParaRPr lang="ru-RU" dirty="0"/>
          </a:p>
        </p:txBody>
      </p:sp>
      <p:sp>
        <p:nvSpPr>
          <p:cNvPr id="22" name="Прямоугольник 21"/>
          <p:cNvSpPr/>
          <p:nvPr/>
        </p:nvSpPr>
        <p:spPr>
          <a:xfrm>
            <a:off x="4929190" y="4214818"/>
            <a:ext cx="1357322" cy="3571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Таблицы</a:t>
            </a:r>
            <a:endParaRPr lang="ru-RU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4929190" y="4714884"/>
            <a:ext cx="1357322" cy="3571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Графики</a:t>
            </a:r>
            <a:endParaRPr lang="ru-RU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6500826" y="4214818"/>
            <a:ext cx="1357322" cy="3571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Диаграммы</a:t>
            </a:r>
            <a:endParaRPr lang="ru-RU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6500826" y="4714884"/>
            <a:ext cx="1357322" cy="3571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Схемы</a:t>
            </a:r>
            <a:endParaRPr lang="ru-RU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1785918" y="4714884"/>
            <a:ext cx="1357322" cy="3571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Списки</a:t>
            </a:r>
            <a:endParaRPr lang="ru-RU" dirty="0"/>
          </a:p>
        </p:txBody>
      </p:sp>
      <p:cxnSp>
        <p:nvCxnSpPr>
          <p:cNvPr id="31" name="Прямая соединительная линия 30"/>
          <p:cNvCxnSpPr/>
          <p:nvPr/>
        </p:nvCxnSpPr>
        <p:spPr>
          <a:xfrm rot="10800000" flipV="1">
            <a:off x="2571736" y="3071810"/>
            <a:ext cx="857258" cy="642942"/>
          </a:xfrm>
          <a:prstGeom prst="line">
            <a:avLst/>
          </a:prstGeom>
          <a:ln w="50800"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/>
          <p:nvPr/>
        </p:nvCxnSpPr>
        <p:spPr>
          <a:xfrm>
            <a:off x="5429256" y="3071810"/>
            <a:ext cx="928694" cy="642942"/>
          </a:xfrm>
          <a:prstGeom prst="line">
            <a:avLst/>
          </a:prstGeom>
          <a:ln w="50800"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Стрелка вправо 49"/>
          <p:cNvSpPr/>
          <p:nvPr/>
        </p:nvSpPr>
        <p:spPr>
          <a:xfrm>
            <a:off x="2857488" y="1447024"/>
            <a:ext cx="428628" cy="642942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alpha val="0"/>
                </a:schemeClr>
              </a:gs>
              <a:gs pos="38000">
                <a:schemeClr val="accent1">
                  <a:shade val="94000"/>
                  <a:satMod val="135000"/>
                </a:scheme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Материалы предоставил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42910" y="3105835"/>
            <a:ext cx="771530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  <a:defRPr/>
            </a:pPr>
            <a:r>
              <a:rPr lang="ru-RU" sz="4000" dirty="0" err="1" smtClean="0"/>
              <a:t>Кутуков</a:t>
            </a:r>
            <a:r>
              <a:rPr lang="ru-RU" sz="4000" dirty="0" smtClean="0"/>
              <a:t> Илья  </a:t>
            </a:r>
            <a:r>
              <a:rPr lang="en-US" sz="4000" dirty="0" smtClean="0"/>
              <a:t>post.ilya@gmail.com</a:t>
            </a:r>
            <a:endParaRPr lang="ru-RU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1765</TotalTime>
  <Words>767</Words>
  <Application>Microsoft Office PowerPoint</Application>
  <PresentationFormat>Экран (4:3)</PresentationFormat>
  <Paragraphs>81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Arial</vt:lpstr>
      <vt:lpstr>Calibri</vt:lpstr>
      <vt:lpstr>Cambria</vt:lpstr>
      <vt:lpstr>Gabriola</vt:lpstr>
      <vt:lpstr>Tahoma</vt:lpstr>
      <vt:lpstr>Times New Roman</vt:lpstr>
      <vt:lpstr>Verdana</vt:lpstr>
      <vt:lpstr>Тема Office</vt:lpstr>
      <vt:lpstr>Презентация PowerPoint</vt:lpstr>
      <vt:lpstr>РАСПОЛОЖЕНИЕ ТЕКСТА</vt:lpstr>
      <vt:lpstr>Расположение блоков</vt:lpstr>
      <vt:lpstr>Выравнивание текста</vt:lpstr>
      <vt:lpstr>Размер шрифта</vt:lpstr>
      <vt:lpstr>Гарнитура и начертание шрифта</vt:lpstr>
      <vt:lpstr>Цвет текста</vt:lpstr>
      <vt:lpstr>Фон</vt:lpstr>
      <vt:lpstr>Эффекты текста</vt:lpstr>
      <vt:lpstr>Тени</vt:lpstr>
      <vt:lpstr>Списки и наборы объектов</vt:lpstr>
      <vt:lpstr>Использование диаграмм</vt:lpstr>
      <vt:lpstr>Материалы предоставил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презентаций Мастер-класс</dc:title>
  <dc:creator>Kutukov</dc:creator>
  <cp:lastModifiedBy>user</cp:lastModifiedBy>
  <cp:revision>284</cp:revision>
  <dcterms:created xsi:type="dcterms:W3CDTF">2010-02-05T08:14:48Z</dcterms:created>
  <dcterms:modified xsi:type="dcterms:W3CDTF">2024-09-28T20:13:35Z</dcterms:modified>
</cp:coreProperties>
</file>