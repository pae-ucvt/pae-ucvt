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  <p:sldMasterId id="2147483706" r:id="rId3"/>
  </p:sldMasterIdLst>
  <p:sldIdLst>
    <p:sldId id="256" r:id="rId4"/>
    <p:sldId id="276" r:id="rId5"/>
    <p:sldId id="277" r:id="rId6"/>
    <p:sldId id="278" r:id="rId7"/>
    <p:sldId id="279" r:id="rId8"/>
    <p:sldId id="280" r:id="rId9"/>
    <p:sldId id="283" r:id="rId10"/>
    <p:sldId id="285" r:id="rId11"/>
    <p:sldId id="292" r:id="rId12"/>
    <p:sldId id="293" r:id="rId13"/>
    <p:sldId id="329" r:id="rId14"/>
    <p:sldId id="354" r:id="rId15"/>
    <p:sldId id="349" r:id="rId16"/>
    <p:sldId id="352" r:id="rId17"/>
    <p:sldId id="265" r:id="rId18"/>
    <p:sldId id="35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1" autoAdjust="0"/>
    <p:restoredTop sz="94660"/>
  </p:normalViewPr>
  <p:slideViewPr>
    <p:cSldViewPr snapToGrid="0">
      <p:cViewPr>
        <p:scale>
          <a:sx n="79" d="100"/>
          <a:sy n="79" d="100"/>
        </p:scale>
        <p:origin x="-1206" y="-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3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9" y="1871133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9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3" y="5037663"/>
            <a:ext cx="897467" cy="279400"/>
          </a:xfrm>
        </p:spPr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2" y="5037663"/>
            <a:ext cx="551167" cy="279400"/>
          </a:xfrm>
        </p:spPr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87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24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3"/>
            <a:ext cx="8158691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19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8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4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4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57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22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97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3"/>
            <a:ext cx="5469467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3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0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2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39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7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401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7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9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9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9" y="4343401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0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982132"/>
            <a:ext cx="92963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3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401"/>
            <a:ext cx="9609667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618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3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493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4" y="982132"/>
            <a:ext cx="92963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2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871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7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2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470401"/>
            <a:ext cx="9609671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304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820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8" y="982133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1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678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461" y="296655"/>
            <a:ext cx="10560000" cy="900113"/>
          </a:xfrm>
        </p:spPr>
        <p:txBody>
          <a:bodyPr/>
          <a:lstStyle>
            <a:lvl1pPr>
              <a:defRPr sz="6000" b="0">
                <a:solidFill>
                  <a:schemeClr val="bg2">
                    <a:lumMod val="25000"/>
                  </a:schemeClr>
                </a:solidFill>
                <a:latin typeface="Cassandra" pitchFamily="66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1247461" y="1593342"/>
            <a:ext cx="10560000" cy="4428000"/>
          </a:xfrm>
        </p:spPr>
        <p:txBody>
          <a:bodyPr/>
          <a:lstStyle>
            <a:lvl1pPr marL="342000" indent="-342000">
              <a:buSzPct val="80000"/>
              <a:buFont typeface="Wingdings 2" pitchFamily="18" charset="2"/>
              <a:buChar char="·"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741600" indent="-284400">
              <a:buSzPct val="80000"/>
              <a:buFont typeface="Wingdings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2pPr>
            <a:lvl3pPr marL="1144800" indent="-230400">
              <a:buSzPct val="80000"/>
              <a:buFont typeface="Arial" pitchFamily="34" charset="0"/>
              <a:buChar char="•"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3pPr>
            <a:lvl4pPr>
              <a:buFont typeface="Wingdings 2" pitchFamily="18" charset="2"/>
              <a:buChar char="·"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buFont typeface="Wingdings 2" pitchFamily="18" charset="2"/>
              <a:buChar char="·"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961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461" y="296655"/>
            <a:ext cx="10560000" cy="900113"/>
          </a:xfrm>
        </p:spPr>
        <p:txBody>
          <a:bodyPr/>
          <a:lstStyle>
            <a:lvl1pPr>
              <a:defRPr sz="6000" b="0" baseline="0">
                <a:solidFill>
                  <a:schemeClr val="bg2">
                    <a:lumMod val="25000"/>
                  </a:schemeClr>
                </a:solidFill>
                <a:latin typeface="Cassandra" pitchFamily="66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1247461" y="1593342"/>
            <a:ext cx="10560000" cy="424800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108000" indent="0">
              <a:buNone/>
              <a:defRPr/>
            </a:lvl2pPr>
            <a:lvl3pPr marL="108000" indent="0">
              <a:buNone/>
              <a:defRPr/>
            </a:lvl3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4897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7629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6844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201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354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7293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883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7691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1687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8523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290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785600" y="274647"/>
            <a:ext cx="36576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2800" y="274647"/>
            <a:ext cx="10769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8051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461" y="296655"/>
            <a:ext cx="10560000" cy="900113"/>
          </a:xfrm>
        </p:spPr>
        <p:txBody>
          <a:bodyPr/>
          <a:lstStyle>
            <a:lvl1pPr>
              <a:defRPr sz="6000" b="0">
                <a:solidFill>
                  <a:schemeClr val="bg2">
                    <a:lumMod val="25000"/>
                  </a:schemeClr>
                </a:solidFill>
                <a:latin typeface="Cassandra" pitchFamily="66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1247461" y="1593342"/>
            <a:ext cx="10560000" cy="4428000"/>
          </a:xfrm>
        </p:spPr>
        <p:txBody>
          <a:bodyPr/>
          <a:lstStyle>
            <a:lvl1pPr marL="342000" indent="-342000">
              <a:buSzPct val="80000"/>
              <a:buFont typeface="Wingdings 2" pitchFamily="18" charset="2"/>
              <a:buChar char="·"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741600" indent="-284400">
              <a:buSzPct val="80000"/>
              <a:buFont typeface="Wingdings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2pPr>
            <a:lvl3pPr marL="1144800" indent="-230400">
              <a:buSzPct val="80000"/>
              <a:buFont typeface="Arial" pitchFamily="34" charset="0"/>
              <a:buChar char="•"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3pPr>
            <a:lvl4pPr>
              <a:buFont typeface="Wingdings 2" pitchFamily="18" charset="2"/>
              <a:buChar char="·"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buFont typeface="Wingdings 2" pitchFamily="18" charset="2"/>
              <a:buChar char="·"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961347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7461" y="296655"/>
            <a:ext cx="10560000" cy="900113"/>
          </a:xfrm>
        </p:spPr>
        <p:txBody>
          <a:bodyPr/>
          <a:lstStyle>
            <a:lvl1pPr>
              <a:defRPr sz="6000" b="0" baseline="0">
                <a:solidFill>
                  <a:schemeClr val="bg2">
                    <a:lumMod val="25000"/>
                  </a:schemeClr>
                </a:solidFill>
                <a:latin typeface="Cassandra" pitchFamily="66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1247461" y="1593342"/>
            <a:ext cx="10560000" cy="4248000"/>
          </a:xfrm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108000" indent="0">
              <a:buNone/>
              <a:defRPr/>
            </a:lvl2pPr>
            <a:lvl3pPr marL="108000" indent="0">
              <a:buNone/>
              <a:defRPr/>
            </a:lvl3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48979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332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2129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625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2707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123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214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1406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036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187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885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74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3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3" y="982134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2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2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87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85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ACED8-D59A-4431-B862-8EB9F1625A90}" type="datetimeFigureOut">
              <a:rPr lang="ru-RU" smtClean="0"/>
              <a:t>10.04.2018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5429D-6B6C-4A71-90E7-04043288F6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88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rustutors.ru/vernost-izmena.html" TargetMode="External"/><Relationship Id="rId2" Type="http://schemas.openxmlformats.org/officeDocument/2006/relationships/hyperlink" Target="http://fipi.ru/ege-i-gve-11/itogovoe-sochineni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rustutors.ru/vernost-izmena.html" TargetMode="External"/><Relationship Id="rId2" Type="http://schemas.openxmlformats.org/officeDocument/2006/relationships/hyperlink" Target="http://fipi.ru/ege-i-gve-11/itogovoe-sochinenie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3">
                    <a:lumMod val="75000"/>
                  </a:schemeClr>
                </a:solidFill>
              </a:rPr>
              <a:t>Итоговое сочинение</a:t>
            </a:r>
            <a:br>
              <a:rPr lang="ru-RU" b="1" dirty="0">
                <a:solidFill>
                  <a:schemeClr val="accent3">
                    <a:lumMod val="75000"/>
                  </a:schemeClr>
                </a:solidFill>
              </a:rPr>
            </a:br>
            <a:endParaRPr lang="ru-RU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chemeClr val="accent3">
                    <a:lumMod val="75000"/>
                  </a:schemeClr>
                </a:solidFill>
              </a:rPr>
              <a:t>2017-2018 учебный год</a:t>
            </a:r>
            <a:endParaRPr lang="ru-RU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43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9785" y="714359"/>
            <a:ext cx="7643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Итоговое сочинение </a:t>
            </a:r>
          </a:p>
          <a:p>
            <a:pPr algn="ctr"/>
            <a:r>
              <a:rPr lang="ru-RU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по литературе в 11 классе</a:t>
            </a:r>
          </a:p>
        </p:txBody>
      </p:sp>
      <p:pic>
        <p:nvPicPr>
          <p:cNvPr id="25610" name="Picture 10" descr="http://www.vectorizados.com/muestras/cuaderno-y-pluma.jpg"/>
          <p:cNvPicPr>
            <a:picLocks noChangeAspect="1" noChangeArrowheads="1"/>
          </p:cNvPicPr>
          <p:nvPr/>
        </p:nvPicPr>
        <p:blipFill>
          <a:blip r:embed="rId2" cstate="print">
            <a:lum bright="10000" contrast="-10000"/>
          </a:blip>
          <a:srcRect/>
          <a:stretch>
            <a:fillRect/>
          </a:stretch>
        </p:blipFill>
        <p:spPr bwMode="auto">
          <a:xfrm>
            <a:off x="3881421" y="1900112"/>
            <a:ext cx="4500595" cy="4100659"/>
          </a:xfrm>
          <a:prstGeom prst="rect">
            <a:avLst/>
          </a:prstGeom>
          <a:noFill/>
          <a:effectLst>
            <a:softEdge rad="127000"/>
          </a:effectLst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5951984" y="5589240"/>
            <a:ext cx="4716016" cy="1080120"/>
          </a:xfrm>
        </p:spPr>
        <p:txBody>
          <a:bodyPr>
            <a:normAutofit/>
          </a:bodyPr>
          <a:lstStyle/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19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://img.ntv.ru/home/news/20131231/put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7174" y="571480"/>
            <a:ext cx="3786215" cy="2512514"/>
          </a:xfrm>
          <a:prstGeom prst="rect">
            <a:avLst/>
          </a:prstGeom>
          <a:noFill/>
          <a:effectLst>
            <a:softEdge rad="31750"/>
          </a:effectLst>
        </p:spPr>
      </p:pic>
      <p:sp>
        <p:nvSpPr>
          <p:cNvPr id="5" name="Прямоугольник 4"/>
          <p:cNvSpPr/>
          <p:nvPr/>
        </p:nvSpPr>
        <p:spPr>
          <a:xfrm>
            <a:off x="2024033" y="3286124"/>
            <a:ext cx="8215371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 2014/2015 учебного года, в число выпускных экзаменов в российских школах вернется сочинение. Соответствующее поручение президент РФ В. Путин дал правительству в декабре 2013 года. </a:t>
            </a: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34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75520" y="1268760"/>
            <a:ext cx="853535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4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проверка способности человека самостоятельно мыслить, аргументировать </a:t>
            </a:r>
            <a:r>
              <a:rPr lang="ru-RU" sz="4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свои выводы с опорой на литературные произведения как русской, так и мировой литературы, как входящих в школьную программу, </a:t>
            </a:r>
            <a:r>
              <a:rPr lang="ru-RU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так и выходящих за ее рамки…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142853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ЦЕЛИ И ЗАДАЧИ ВВЕДЕНИЯ СОЧИНЕНИЯ </a:t>
            </a:r>
          </a:p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ПО ЛИТЕРАТУРЕ В 11 КЛАССЕ</a:t>
            </a:r>
            <a:endParaRPr lang="ru-RU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65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0" y="21429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ДАТА НАПИСАНИЯ И ПЕРЕСДАЧИ, </a:t>
            </a:r>
            <a:br>
              <a:rPr lang="ru-RU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МЕСТО ПРОВЕДЕНИЯ</a:t>
            </a:r>
            <a:endParaRPr lang="ru-RU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 descr="http://top.oprf.ru/storage/c/2013/12/04/1386135575_887771_3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4511824" y="1210058"/>
            <a:ext cx="3240360" cy="2402337"/>
          </a:xfrm>
          <a:prstGeom prst="rect">
            <a:avLst/>
          </a:prstGeom>
          <a:noFill/>
          <a:effectLst>
            <a:softEdge rad="31750"/>
          </a:effectLst>
        </p:spPr>
      </p:pic>
      <p:sp>
        <p:nvSpPr>
          <p:cNvPr id="5" name="Прямоугольник 4"/>
          <p:cNvSpPr/>
          <p:nvPr/>
        </p:nvSpPr>
        <p:spPr>
          <a:xfrm>
            <a:off x="397044" y="3588329"/>
            <a:ext cx="114059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Писать итоговое сочинение выпускники будут </a:t>
            </a:r>
            <a:r>
              <a:rPr lang="ru-RU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 первую среду декабря </a:t>
            </a:r>
            <a:r>
              <a:rPr lang="ru-RU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своих школах</a:t>
            </a:r>
            <a:r>
              <a:rPr lang="ru-RU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 темам, сформированным </a:t>
            </a:r>
            <a:r>
              <a:rPr lang="ru-RU" sz="30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Рособрнадзором</a:t>
            </a:r>
            <a:r>
              <a:rPr lang="ru-RU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по часовым поясам. </a:t>
            </a:r>
            <a:endParaRPr lang="ru-RU" sz="3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 первую среду февраля и мая  выпускникам предоставляется возможность пересдачи </a:t>
            </a:r>
            <a:r>
              <a:rPr lang="ru-RU" sz="3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(в т.ч. для пропустивших итоговое сочинение (изложение) по уважительной причине).</a:t>
            </a:r>
          </a:p>
        </p:txBody>
      </p:sp>
    </p:spTree>
    <p:extLst>
      <p:ext uri="{BB962C8B-B14F-4D97-AF65-F5344CB8AC3E}">
        <p14:creationId xmlns:p14="http://schemas.microsoft.com/office/powerpoint/2010/main" val="44641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8349" y="214291"/>
            <a:ext cx="7572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ОБЪЕМ РАБОТЫ И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ВРЕМЯ ДЛЯ НАПИСАНИЯ </a:t>
            </a:r>
            <a:endParaRPr lang="ru-RU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22" name="Picture 6" descr="http://www.mincom.gov.az/assets/Uploads/yaziinsha400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79776" y="776739"/>
            <a:ext cx="3816424" cy="2328019"/>
          </a:xfrm>
          <a:prstGeom prst="rect">
            <a:avLst/>
          </a:prstGeom>
          <a:noFill/>
          <a:effectLst>
            <a:softEdge rad="31750"/>
          </a:effectLst>
        </p:spPr>
      </p:pic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457201" y="2741155"/>
            <a:ext cx="11381873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При выставлении оценки учитывается объем сочинения. </a:t>
            </a: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Рекомендуемое количество слов – 350. </a:t>
            </a: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Если в сочинении </a:t>
            </a: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менее 250 слов </a:t>
            </a: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(в подсчёт включаются все слова, </a:t>
            </a:r>
            <a:r>
              <a:rPr lang="ru-RU" sz="3600" dirty="0"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том числе и служебные</a:t>
            </a:r>
            <a:r>
              <a:rPr lang="ru-RU" sz="3600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), то такая работа считается невыполненной и оценивается </a:t>
            </a: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0 баллов. </a:t>
            </a:r>
          </a:p>
          <a:p>
            <a:pPr indent="342900"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ВРЕМЯ - 3 часа 55 </a:t>
            </a: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минут </a:t>
            </a:r>
            <a:endParaRPr lang="ru-RU" sz="3200" b="1" dirty="0">
              <a:solidFill>
                <a:srgbClr val="FF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9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3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6433" y="152403"/>
            <a:ext cx="10647947" cy="7207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altLang="ru-RU" sz="32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ТРЕБОВАНИЯ К КЛАССИЧЕСКОМУ ВЫПУСКНОМУ СОЧИНЕНИЮ</a:t>
            </a:r>
            <a:endParaRPr lang="ru-RU" sz="32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29390" y="1040732"/>
            <a:ext cx="11177337" cy="56007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SzTx/>
              <a:buFont typeface="Arial" pitchFamily="34" charset="0"/>
              <a:buChar char="•"/>
              <a:defRPr/>
            </a:pP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Раскрытие темы.</a:t>
            </a:r>
          </a:p>
          <a:p>
            <a:pPr>
              <a:spcBef>
                <a:spcPct val="0"/>
              </a:spcBef>
              <a:buSzTx/>
              <a:buFont typeface="Arial" pitchFamily="34" charset="0"/>
              <a:buChar char="•"/>
              <a:defRPr/>
            </a:pP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Умелое использование знания художественных текстов, литературно - критических работ, фактов литературной жизни (эпохи, направления, течения, кружки и т.д.), фактов истории, культуры.</a:t>
            </a:r>
          </a:p>
          <a:p>
            <a:pPr>
              <a:spcBef>
                <a:spcPct val="0"/>
              </a:spcBef>
              <a:buSzTx/>
              <a:buFont typeface="Arial" pitchFamily="34" charset="0"/>
              <a:buChar char="•"/>
              <a:defRPr/>
            </a:pP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Анализ художественной формы, эстетическая значимость произведения. Использование минимальной терминологии литературоведения.</a:t>
            </a:r>
          </a:p>
          <a:p>
            <a:pPr>
              <a:spcBef>
                <a:spcPct val="0"/>
              </a:spcBef>
              <a:buSzTx/>
              <a:buFont typeface="Arial" pitchFamily="34" charset="0"/>
              <a:buChar char="•"/>
              <a:defRPr/>
            </a:pP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Правильное логическое построение, композиционная стройность.</a:t>
            </a:r>
          </a:p>
          <a:p>
            <a:pPr>
              <a:spcBef>
                <a:spcPct val="0"/>
              </a:spcBef>
              <a:buSzTx/>
              <a:buFont typeface="Arial" pitchFamily="34" charset="0"/>
              <a:buChar char="•"/>
              <a:defRPr/>
            </a:pP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Стилевое оформление (сочинение должно быть прежде всего доказательным рассуждением на заданную тему: выдвигается тезис – следует доказательство: примеры из текста, анализ фрагментов текста, анализ образов; - собственные выводы</a:t>
            </a:r>
            <a:r>
              <a:rPr lang="en-US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ct val="0"/>
              </a:spcBef>
              <a:buSzTx/>
              <a:buFont typeface="Arial" pitchFamily="34" charset="0"/>
              <a:buChar char="•"/>
              <a:defRPr/>
            </a:pPr>
            <a:r>
              <a:rPr lang="ru-RU" altLang="ru-RU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Следование языковым нормам.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7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371602" y="228599"/>
            <a:ext cx="9841831" cy="1601343"/>
          </a:xfrm>
        </p:spPr>
        <p:txBody>
          <a:bodyPr>
            <a:normAutofit fontScale="90000"/>
          </a:bodyPr>
          <a:lstStyle/>
          <a:p>
            <a:pPr>
              <a:lnSpc>
                <a:spcPct val="115000"/>
              </a:lnSpc>
            </a:pPr>
            <a:r>
              <a:rPr lang="ru-RU" altLang="ru-RU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2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dirty="0">
                <a:solidFill>
                  <a:srgbClr val="98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Сочинение — вид письменной школьной работы — изложение своих мыслей, знаний на заданную </a:t>
            </a:r>
            <a:r>
              <a:rPr lang="ru-RU" altLang="ru-RU" sz="3600" dirty="0" smtClean="0">
                <a:solidFill>
                  <a:srgbClr val="98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тему. </a:t>
            </a:r>
            <a:br>
              <a:rPr lang="ru-RU" altLang="ru-RU" sz="3600" dirty="0" smtClean="0">
                <a:solidFill>
                  <a:srgbClr val="98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 smtClean="0">
                <a:solidFill>
                  <a:srgbClr val="98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3600" b="1" dirty="0">
                <a:solidFill>
                  <a:srgbClr val="98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3600" b="1" dirty="0" smtClean="0">
                <a:solidFill>
                  <a:srgbClr val="98480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И. Ожегов </a:t>
            </a:r>
            <a:r>
              <a:rPr lang="ru-RU" altLang="ru-RU" sz="5300" dirty="0">
                <a:solidFill>
                  <a:srgbClr val="984807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altLang="ru-RU" sz="5300" dirty="0">
                <a:solidFill>
                  <a:srgbClr val="984807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altLang="ru-RU" dirty="0" smtClean="0">
              <a:solidFill>
                <a:srgbClr val="984807"/>
              </a:solidFill>
            </a:endParaRPr>
          </a:p>
        </p:txBody>
      </p:sp>
      <p:sp>
        <p:nvSpPr>
          <p:cNvPr id="6147" name="Текст 2"/>
          <p:cNvSpPr>
            <a:spLocks noGrp="1"/>
          </p:cNvSpPr>
          <p:nvPr>
            <p:ph type="body" sz="quarter" idx="10"/>
          </p:nvPr>
        </p:nvSpPr>
        <p:spPr>
          <a:xfrm>
            <a:off x="2362576" y="2267618"/>
            <a:ext cx="7920037" cy="2581108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15000"/>
              </a:lnSpc>
            </a:pPr>
            <a:r>
              <a:rPr lang="ru-RU" alt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КОМПОЗИЦИЯ СОЧИНЕНИЯ: </a:t>
            </a:r>
            <a:endParaRPr lang="ru-RU" altLang="ru-RU" b="1" dirty="0">
              <a:solidFill>
                <a:srgbClr val="00206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alt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вступление;</a:t>
            </a:r>
            <a:endParaRPr lang="ru-RU" altLang="ru-RU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alt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основная часть; </a:t>
            </a:r>
            <a:endParaRPr lang="ru-RU" altLang="ru-RU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alt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заключение</a:t>
            </a:r>
            <a:r>
              <a:rPr lang="ru-RU" altLang="ru-RU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34715" y="2094638"/>
            <a:ext cx="105276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в сочинении одного из элементов композиции рассматривается как ошибка и учитывается при выставлении оценки. Композиция сочинения должна быть продуманной и четкой. Все основные мысли в сочинении необходимо тщательно обосновывать, анализируя текст литературных произведений. </a:t>
            </a:r>
          </a:p>
        </p:txBody>
      </p:sp>
    </p:spTree>
    <p:extLst>
      <p:ext uri="{BB962C8B-B14F-4D97-AF65-F5344CB8AC3E}">
        <p14:creationId xmlns:p14="http://schemas.microsoft.com/office/powerpoint/2010/main" val="230937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  <p:bldP spid="6147" grpId="1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63" y="94725"/>
            <a:ext cx="7572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КРИТЕРИИ ОЦЕНИВАНИЯ</a:t>
            </a:r>
            <a:endParaRPr lang="ru-RU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421106" y="1414440"/>
            <a:ext cx="11201399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Привлечение </a:t>
            </a:r>
            <a:r>
              <a:rPr lang="ru-RU" sz="2600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литературного </a:t>
            </a:r>
            <a:r>
              <a:rPr lang="ru-RU" sz="2600" dirty="0" smtClean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материала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Данный </a:t>
            </a:r>
            <a:r>
              <a:rPr lang="ru-RU" sz="2600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критерий нацеливает на проверку умения использовать литературный материал для построения рассуждения на предложенную тему и для аргументации  своей </a:t>
            </a:r>
            <a:r>
              <a:rPr lang="ru-RU" sz="2600" dirty="0" smtClean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позиции. 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600" dirty="0" smtClean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Выпускник </a:t>
            </a:r>
            <a:r>
              <a:rPr lang="ru-RU" sz="2600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строит рассуждение, привлекая для аргументации не менее одного (лучше 2!) произведения отечественной или мировой литературы.</a:t>
            </a: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ru-RU" sz="2600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«Незачет» ставится при условии, если сочинение написано без привлечения литературного материала, или в нем существенно искажено содержание произведения, </a:t>
            </a:r>
            <a:r>
              <a:rPr lang="ru-RU" sz="26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или литературные произведения лишь упоминаются в работе, не становясь опорой для рассуждения </a:t>
            </a:r>
            <a:r>
              <a:rPr lang="ru-RU" sz="2600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(во всех остальных случаях выставляется «зачет»).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680652" y="786387"/>
            <a:ext cx="68547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42900"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b="1" dirty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Критерий №2 «</a:t>
            </a:r>
            <a:r>
              <a:rPr lang="ru-RU" sz="3600" b="1" dirty="0" smtClean="0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Аргументация</a:t>
            </a:r>
            <a:endParaRPr lang="ru-RU" sz="3600" b="1" dirty="0">
              <a:solidFill>
                <a:srgbClr val="00206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480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63" y="357166"/>
            <a:ext cx="7572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Критерии оценивания</a:t>
            </a:r>
          </a:p>
        </p:txBody>
      </p:sp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1775520" y="265392"/>
            <a:ext cx="8568952" cy="587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endParaRPr lang="ru-RU" sz="2400" b="1" dirty="0">
              <a:solidFill>
                <a:srgbClr val="002060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endParaRPr lang="ru-RU" sz="3200" b="1" dirty="0">
              <a:solidFill>
                <a:srgbClr val="002060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34290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3200" b="1" dirty="0">
                <a:solidFill>
                  <a:srgbClr val="FF00FF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Критерий №3 «Композиция»</a:t>
            </a:r>
          </a:p>
          <a:p>
            <a:pPr indent="3429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Данный критерий нацеливает на проверку </a:t>
            </a:r>
            <a:r>
              <a:rPr lang="ru-RU" sz="3200" b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умения логично выстраивать рассуждение на предложенную тему. </a:t>
            </a:r>
            <a:endParaRPr lang="ru-RU" sz="3200" b="1" dirty="0">
              <a:solidFill>
                <a:srgbClr val="002060"/>
              </a:solidFill>
              <a:latin typeface="Arial" pitchFamily="34" charset="0"/>
            </a:endParaRPr>
          </a:p>
          <a:p>
            <a:pPr indent="3429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3200" b="1" i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«Незачет» ставится при условии, если грубые логические нарушения мешают пониманию смысла сказанного или отсутствует </a:t>
            </a:r>
            <a:r>
              <a:rPr lang="ru-RU" sz="3200" b="1" i="1" dirty="0" err="1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тезисно-доказательная</a:t>
            </a:r>
            <a:r>
              <a:rPr lang="ru-RU" sz="3200" b="1" i="1" dirty="0"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часть (во всех остальных случаях выставляется «зачет»).</a:t>
            </a:r>
            <a:endParaRPr lang="ru-RU" sz="3200" b="1" dirty="0">
              <a:solidFill>
                <a:srgbClr val="002060"/>
              </a:solidFill>
              <a:latin typeface="Arial" pitchFamily="34" charset="0"/>
            </a:endParaRPr>
          </a:p>
        </p:txBody>
      </p:sp>
      <p:pic>
        <p:nvPicPr>
          <p:cNvPr id="4" name="Picture 12" descr="http://4.bp.blogspot.com/-HDF3rx32mX4/UjBTSSCvgHI/AAAAAAAAAxg/ocqhPqlB-NA/s1600/Remove-Add-to-Compare-Link%5B1%5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67669" y="-171400"/>
            <a:ext cx="2500331" cy="25003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050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Верность и измена в </a:t>
            </a:r>
            <a:r>
              <a:rPr lang="ru-RU" b="1" dirty="0" smtClean="0"/>
              <a:t>любви: аргументы («Евгений Онегин»)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Татьяна — любимая героиня </a:t>
            </a:r>
            <a:r>
              <a:rPr lang="ru-RU" dirty="0" err="1"/>
              <a:t>А.С.Пушкина</a:t>
            </a:r>
            <a:r>
              <a:rPr lang="ru-RU" dirty="0"/>
              <a:t>. Нежная, честная, открытая, она , как и любая женщина, хочет любви. Придумав для себя образ возлюбленного, начитавшись романов </a:t>
            </a:r>
            <a:r>
              <a:rPr lang="ru-RU" i="1" dirty="0"/>
              <a:t>(«…Ей рано нравились романы; / Они ей заменяли всё…»</a:t>
            </a:r>
            <a:r>
              <a:rPr lang="ru-RU" dirty="0"/>
              <a:t>  ),  она представила, что именно Онегин — её любимый. Героиня  всем сердцем полюбила Онегина ( </a:t>
            </a:r>
            <a:r>
              <a:rPr lang="ru-RU" i="1" dirty="0"/>
              <a:t>«Татьяна любит не шутя…»). </a:t>
            </a:r>
            <a:r>
              <a:rPr lang="ru-RU" dirty="0"/>
              <a:t>Разочарование всегда болью отзывается в душе человека. Получив, в сущности, отказ, Татьяна страдает от отсутствия взаимности. Она продолжает любить Онегина. Это автор показывает во время встречи героев через несколько лет. Но уже многое изменилось, а самое главное — Татьяна замужем. Казалось бы, вот он, рядом, её  возлюбленный,  признаётся в </a:t>
            </a:r>
            <a:r>
              <a:rPr lang="ru-RU" dirty="0" err="1"/>
              <a:t>любви,говорит</a:t>
            </a:r>
            <a:r>
              <a:rPr lang="ru-RU" dirty="0"/>
              <a:t>  о силе своих чувств. Однако героиня остаётся верна мужу. Она не способна на предательство в отношениях, не может сделать больно близкому человеку. Она не выбрала путь измены, оставшись чистой духовно и нравственно. Верность всегда связана с такими качествами личности, как ответственность, долг, исполнение своих обязанностей. Героиня понимает это, оставшись верной мужу ( </a:t>
            </a:r>
            <a:r>
              <a:rPr lang="ru-RU" i="1" dirty="0"/>
              <a:t>«Но я другому отдана и буду век ему верна…»</a:t>
            </a:r>
            <a:r>
              <a:rPr lang="ru-RU" dirty="0"/>
              <a:t>).Можно долго спорить о том, нужно ли было жертвовать любовью ради семейных отношений, ровных, спокойных, построенным только на уважении, но не на любви со стороны Татьяны. Её путь- путь верной, порядочной, честной жены. Это заслуживает уважения.</a:t>
            </a:r>
          </a:p>
        </p:txBody>
      </p:sp>
    </p:spTree>
    <p:extLst>
      <p:ext uri="{BB962C8B-B14F-4D97-AF65-F5344CB8AC3E}">
        <p14:creationId xmlns:p14="http://schemas.microsoft.com/office/powerpoint/2010/main" val="401508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Верность и измена в </a:t>
            </a:r>
            <a:r>
              <a:rPr lang="ru-RU" b="1" dirty="0" smtClean="0"/>
              <a:t>любви: аргументы («Евгений Онегин»)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479888"/>
            <a:ext cx="10972800" cy="4644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Татьяна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— любимая героиня А. С. Пушкина. Нежная, честная, открытая, она , как и любая женщина, хочет любви. Придумав для себя образ возлюбленного, начитавшись романов 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(«…Ей рано нравились романы; / Они ей заменяли всё…»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  ),  она представила, что именно Онегин — её любимый. </a:t>
            </a:r>
          </a:p>
          <a:p>
            <a:pPr marL="0" indent="0">
              <a:buNone/>
            </a:pP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Героиня  всем сердцем полюбила Онегина ( </a:t>
            </a:r>
            <a:r>
              <a:rPr lang="ru-RU" sz="24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«Татьяна любит не шутя…»). </a:t>
            </a: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Разочарование всегда болью отзывается в душе человека. Получив, в сущности, отказ, Татьяна страдает от отсутствия взаимности. </a:t>
            </a:r>
          </a:p>
          <a:p>
            <a:pPr marL="0" indent="0">
              <a:buNone/>
            </a:pPr>
            <a:r>
              <a:rPr lang="ru-RU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Она продолжает любить Онегина. Это автор показывает во время встречи героев через несколько лет. Но уже многое изменилось, а самое главное — Татьяна замужем. Казалось бы, вот он, рядом, её  возлюбленный,  признаётся в любви, говорит  о силе своих чувств.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85801" y="1582343"/>
            <a:ext cx="1025090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Однако героиня остаётся верна мужу. Она не способна на предательство в отношениях, не может сделать больно близкому человеку. Она не выбрала путь измены, оставшись чистой духовно и нравственно. </a:t>
            </a:r>
          </a:p>
          <a:p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Верность всегда связана с такими качествами личности, как ответственность, долг, исполнение своих обязанностей. Героиня понимает это, оставшись верной мужу ( </a:t>
            </a:r>
            <a:r>
              <a:rPr lang="ru-RU" sz="24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«Но я другому отдана и буду век ему верна…»</a:t>
            </a:r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).</a:t>
            </a:r>
          </a:p>
          <a:p>
            <a:r>
              <a:rPr lang="ru-RU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Можно долго спорить о том, нужно ли было жертвовать любовью ради семейных отношений, ровных, спокойных, построенным только на уважении, но не на любви со стороны Татьяны. Её путь- путь верной, порядочной, честной жены. Это заслуживает уважения.</a:t>
            </a:r>
            <a:endParaRPr lang="ru-RU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603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2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12821" y="164432"/>
            <a:ext cx="109728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/>
              <a:t>Рекомендации по написанию сочинения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818147" y="1082258"/>
            <a:ext cx="10839450" cy="5522912"/>
          </a:xfrm>
        </p:spPr>
        <p:txBody>
          <a:bodyPr>
            <a:noAutofit/>
          </a:bodyPr>
          <a:lstStyle/>
          <a:p>
            <a:r>
              <a:rPr lang="ru-RU" sz="28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«Человек для общества или общество для человека – </a:t>
            </a:r>
            <a:r>
              <a:rPr lang="ru-RU" sz="28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одна из проблем художественной литературы</a:t>
            </a:r>
            <a:r>
              <a:rPr lang="ru-RU" sz="28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»</a:t>
            </a:r>
            <a:endParaRPr lang="ru-RU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ru-RU" sz="28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«Человек и общество — </a:t>
            </a:r>
            <a:r>
              <a:rPr lang="ru-RU" sz="28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две силы, </a:t>
            </a:r>
            <a:r>
              <a:rPr lang="ru-RU" sz="28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нуждающиеся </a:t>
            </a:r>
            <a:r>
              <a:rPr lang="ru-RU" sz="2800" i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друг в друге</a:t>
            </a:r>
            <a:r>
              <a:rPr lang="ru-RU" sz="2800" i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».</a:t>
            </a:r>
            <a:endParaRPr lang="ru-RU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ru-RU" sz="28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Внимательно </a:t>
            </a:r>
            <a:r>
              <a:rPr lang="ru-RU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вдумайтесь в тему, поймите смысл каждого слова в ней.</a:t>
            </a:r>
            <a:endParaRPr lang="ru-RU" sz="28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ru-RU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 </a:t>
            </a:r>
            <a:r>
              <a:rPr lang="ru-RU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первой речь идёт об одной </a:t>
            </a:r>
            <a:r>
              <a:rPr lang="ru-RU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из проблем в литературе</a:t>
            </a:r>
            <a:r>
              <a:rPr lang="ru-RU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Поэтому во вступлении это обязательно надо будет отметить.</a:t>
            </a:r>
          </a:p>
          <a:p>
            <a:r>
              <a:rPr lang="ru-RU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Во второй — </a:t>
            </a:r>
            <a:r>
              <a:rPr lang="ru-RU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слова «литература» нет вообще</a:t>
            </a:r>
            <a:r>
              <a:rPr lang="ru-RU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Поэтому аргументы будут лишь </a:t>
            </a:r>
            <a:r>
              <a:rPr lang="ru-RU" sz="28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средством раскрытия проблемы</a:t>
            </a:r>
            <a:r>
              <a:rPr lang="ru-RU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отражающейся в теме.</a:t>
            </a:r>
          </a:p>
          <a:p>
            <a:endParaRPr lang="ru-RU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290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часть. Рекомендации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В </a:t>
            </a:r>
            <a:r>
              <a:rPr lang="ru-RU" dirty="0"/>
              <a:t>основной части должно быть </a:t>
            </a:r>
            <a:r>
              <a:rPr lang="ru-RU" b="1" dirty="0"/>
              <a:t>два аргумента</a:t>
            </a:r>
            <a:r>
              <a:rPr lang="ru-RU" dirty="0"/>
              <a:t>. </a:t>
            </a:r>
            <a:endParaRPr lang="ru-RU" dirty="0" smtClean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dirty="0" smtClean="0"/>
              <a:t>Приводите </a:t>
            </a:r>
            <a:r>
              <a:rPr lang="ru-RU" dirty="0"/>
              <a:t>примеры, в которых </a:t>
            </a:r>
            <a:r>
              <a:rPr lang="ru-RU" dirty="0" smtClean="0"/>
              <a:t>показано, как человек влияет на общество и общество на человека. Постарайтесь </a:t>
            </a:r>
            <a:r>
              <a:rPr lang="ru-RU" dirty="0"/>
              <a:t>привести </a:t>
            </a:r>
            <a:r>
              <a:rPr lang="ru-RU" b="1" dirty="0"/>
              <a:t>примеры, разные</a:t>
            </a:r>
            <a:r>
              <a:rPr lang="ru-RU" dirty="0"/>
              <a:t> по своей сути. Например, в одном покажите , как </a:t>
            </a:r>
            <a:r>
              <a:rPr lang="ru-RU" dirty="0" smtClean="0"/>
              <a:t> герой влияет на общество, </a:t>
            </a:r>
            <a:r>
              <a:rPr lang="ru-RU" dirty="0"/>
              <a:t>а в </a:t>
            </a:r>
            <a:r>
              <a:rPr lang="ru-RU" dirty="0" smtClean="0"/>
              <a:t>другом- как общество влияет на человека.</a:t>
            </a:r>
            <a:endParaRPr lang="ru-RU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Ни в коем случае </a:t>
            </a:r>
            <a:r>
              <a:rPr lang="ru-RU" b="1" dirty="0"/>
              <a:t>не переходите на пересказ содержания</a:t>
            </a:r>
            <a:r>
              <a:rPr lang="ru-RU" dirty="0"/>
              <a:t>. Приводите </a:t>
            </a:r>
            <a:r>
              <a:rPr lang="ru-RU" b="1" dirty="0"/>
              <a:t>только свои мысли</a:t>
            </a:r>
            <a:r>
              <a:rPr lang="ru-RU" dirty="0"/>
              <a:t> по поводу произведения.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Важным является ещё одно. Помните, </a:t>
            </a:r>
            <a:r>
              <a:rPr lang="ru-RU" b="1" dirty="0"/>
              <a:t>ваша задача </a:t>
            </a:r>
            <a:r>
              <a:rPr lang="ru-RU" dirty="0"/>
              <a:t>- это </a:t>
            </a:r>
            <a:r>
              <a:rPr lang="ru-RU" b="1" dirty="0"/>
              <a:t>не </a:t>
            </a:r>
            <a:r>
              <a:rPr lang="ru-RU" b="1" dirty="0" smtClean="0"/>
              <a:t>анализ произведения</a:t>
            </a:r>
            <a:r>
              <a:rPr lang="ru-RU" b="1" dirty="0"/>
              <a:t> </a:t>
            </a:r>
            <a:r>
              <a:rPr lang="ru-RU" dirty="0"/>
              <a:t>( вы не литературоведы, да и до вас многие учёные уже давно это сделали</a:t>
            </a:r>
            <a:r>
              <a:rPr lang="ru-RU" dirty="0" smtClean="0"/>
              <a:t>). Вы </a:t>
            </a:r>
            <a:r>
              <a:rPr lang="ru-RU" dirty="0"/>
              <a:t>должны </a:t>
            </a:r>
            <a:r>
              <a:rPr lang="ru-RU" b="1" dirty="0"/>
              <a:t>показать своё видение проблемы</a:t>
            </a:r>
            <a:r>
              <a:rPr lang="ru-RU" dirty="0"/>
              <a:t>, подтверждая это примерами из произведений. Чётко должна прослеживаться </a:t>
            </a:r>
            <a:r>
              <a:rPr lang="ru-RU" b="1" dirty="0"/>
              <a:t>ваша позиция</a:t>
            </a:r>
            <a:r>
              <a:rPr lang="ru-RU" dirty="0"/>
              <a:t>. Просто стороннее комментирование текста, где нет вашей оценки, — это тоже </a:t>
            </a:r>
            <a:r>
              <a:rPr lang="ru-RU" b="1" dirty="0"/>
              <a:t>самый худший вариант аргументирования проблемы</a:t>
            </a:r>
            <a:r>
              <a:rPr lang="ru-RU" dirty="0"/>
              <a:t>. В таких случаях я всегда спрашиваю своих учеников: «А где же здесь вы</a:t>
            </a:r>
            <a:r>
              <a:rPr lang="ru-RU" dirty="0" smtClean="0"/>
              <a:t>?»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852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fipi.ru/ege-i-gve-11/itogovoe-sochinenie</a:t>
            </a:r>
            <a:endParaRPr lang="ru-RU" dirty="0" smtClean="0"/>
          </a:p>
          <a:p>
            <a:r>
              <a:rPr lang="ru-RU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 </a:t>
            </a:r>
            <a:r>
              <a:rPr lang="ru-RU" dirty="0">
                <a:solidFill>
                  <a:prstClr val="black">
                    <a:lumMod val="85000"/>
                    <a:lumOff val="15000"/>
                  </a:prstClr>
                </a:solidFill>
                <a:hlinkClick r:id="rId3"/>
              </a:rPr>
              <a:t>http://rustutors.ru/vernost-izmena.html</a:t>
            </a:r>
            <a:r>
              <a:rPr lang="ru-RU" dirty="0">
                <a:solidFill>
                  <a:prstClr val="black">
                    <a:lumMod val="85000"/>
                    <a:lumOff val="15000"/>
                  </a:prstClr>
                </a:solidFill>
              </a:rPr>
              <a:t/>
            </a:r>
            <a:br>
              <a:rPr lang="ru-RU" dirty="0">
                <a:solidFill>
                  <a:prstClr val="black">
                    <a:lumMod val="85000"/>
                    <a:lumOff val="15000"/>
                  </a:prstClr>
                </a:solidFill>
              </a:rPr>
            </a:b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498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ИСТОЧНИКИ</a:t>
            </a:r>
            <a:endParaRPr lang="ru-RU" b="1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hlinkClick r:id="rId2"/>
              </a:rPr>
              <a:t>http://</a:t>
            </a:r>
            <a:r>
              <a:rPr lang="en-US" sz="4000" b="1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hlinkClick r:id="rId2"/>
              </a:rPr>
              <a:t>fipi.ru/ege-i-gve-11/itogovoe-sochinenie</a:t>
            </a:r>
            <a:endParaRPr lang="ru-RU" sz="4000" b="1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ru-RU" sz="4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ru-RU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hlinkClick r:id="rId3"/>
              </a:rPr>
              <a:t>http://rustutors.ru/vernost-izmena.html</a:t>
            </a:r>
            <a:r>
              <a:rPr lang="ru-RU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ru-RU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endParaRPr lang="ru-RU" sz="4000" b="1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23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321</TotalTime>
  <Words>664</Words>
  <Application>Microsoft Office PowerPoint</Application>
  <PresentationFormat>Произвольный</PresentationFormat>
  <Paragraphs>70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Натуральные материалы</vt:lpstr>
      <vt:lpstr>Тема Office</vt:lpstr>
      <vt:lpstr>1_Тема Office</vt:lpstr>
      <vt:lpstr>Итоговое сочинение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ТРЕБОВАНИЯ К КЛАССИЧЕСКОМУ ВЫПУСКНОМУ СОЧИНЕНИЮ</vt:lpstr>
      <vt:lpstr>   Сочинение — вид письменной школьной работы — изложение своих мыслей, знаний на заданную тему.  С. И. Ожегов  </vt:lpstr>
      <vt:lpstr>Презентация PowerPoint</vt:lpstr>
      <vt:lpstr>Презентация PowerPoint</vt:lpstr>
      <vt:lpstr>Верность и измена в любви: аргументы («Евгений Онегин»)</vt:lpstr>
      <vt:lpstr>Верность и измена в любви: аргументы («Евгений Онегин»)</vt:lpstr>
      <vt:lpstr>Рекомендации по написанию сочинения </vt:lpstr>
      <vt:lpstr>Основная часть. Рекомендации</vt:lpstr>
      <vt:lpstr>Источники</vt:lpstr>
      <vt:lpstr>ИСТОЧНИКИ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Итоговое сочинение</dc:title>
  <dc:creator>Пользователь</dc:creator>
  <cp:lastModifiedBy>PAE</cp:lastModifiedBy>
  <cp:revision>40</cp:revision>
  <dcterms:created xsi:type="dcterms:W3CDTF">2017-09-02T07:59:35Z</dcterms:created>
  <dcterms:modified xsi:type="dcterms:W3CDTF">2018-04-10T13:46:45Z</dcterms:modified>
</cp:coreProperties>
</file>