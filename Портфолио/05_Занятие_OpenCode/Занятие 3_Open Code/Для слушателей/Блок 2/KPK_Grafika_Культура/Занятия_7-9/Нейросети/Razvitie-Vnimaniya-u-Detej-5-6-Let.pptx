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Gelasio Semi Bold"/>
      <p:regular r:id="rId17"/>
    </p:embeddedFont>
    <p:embeddedFont>
      <p:font typeface="Gelasio Semi Bold"/>
      <p:regular r:id="rId18"/>
    </p:embeddedFont>
    <p:embeddedFont>
      <p:font typeface="Gelasio Semi Bold"/>
      <p:regular r:id="rId19"/>
    </p:embeddedFont>
    <p:embeddedFont>
      <p:font typeface="Gelasio Semi Bold"/>
      <p:regular r:id="rId20"/>
    </p:embeddedFont>
    <p:embeddedFont>
      <p:font typeface="Gelasio"/>
      <p:regular r:id="rId21"/>
    </p:embeddedFont>
    <p:embeddedFont>
      <p:font typeface="Gelasio"/>
      <p:regular r:id="rId22"/>
    </p:embeddedFont>
    <p:embeddedFont>
      <p:font typeface="Gelasio"/>
      <p:regular r:id="rId23"/>
    </p:embeddedFont>
    <p:embeddedFont>
      <p:font typeface="Gelasio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0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546985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Развитие Внимания у Детей 5–6 Лет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304705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Превратите развитие внимания в увлекательную игру. Эти задания улучшат концентрацию, усидчивость и наблюдательность.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5302568"/>
            <a:ext cx="362903" cy="362903"/>
          </a:xfrm>
          <a:prstGeom prst="roundRect">
            <a:avLst>
              <a:gd name="adj" fmla="val 25194296"/>
            </a:avLst>
          </a:prstGeom>
          <a:solidFill>
            <a:srgbClr val="E9892D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395323" y="5435203"/>
            <a:ext cx="132517" cy="97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50"/>
              </a:lnSpc>
              <a:buNone/>
            </a:pPr>
            <a:r>
              <a:rPr lang="en-US" sz="750" dirty="0">
                <a:solidFill>
                  <a:srgbClr val="4D4D51"/>
                </a:solidFill>
                <a:latin typeface="Gelasio Medium" pitchFamily="34" charset="0"/>
                <a:ea typeface="Gelasio Medium" pitchFamily="34" charset="-122"/>
                <a:cs typeface="Gelasio Medium" pitchFamily="34" charset="-120"/>
              </a:rPr>
              <a:t>СП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6756440" y="5285661"/>
            <a:ext cx="1793200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по Сандра  П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2141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«Найди Отличия»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Задание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57831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Дайте ребёнку две почти одинаковые картинки. Попросите найти 5–10 различий.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Вариант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457831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Можно нарисовать похожие рисунки или использовать готовые из журналов.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06942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«Повтори Узор»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11836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</p:sp>
      <p:sp>
        <p:nvSpPr>
          <p:cNvPr id="5" name="Text 2"/>
          <p:cNvSpPr/>
          <p:nvPr/>
        </p:nvSpPr>
        <p:spPr>
          <a:xfrm>
            <a:off x="878860" y="3160871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530906" y="31962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Задание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30906" y="3686651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Выложите последовательность из цветных кубиков. Пусть ребёнок запомнит и повторит.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93790" y="486608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</p:sp>
      <p:sp>
        <p:nvSpPr>
          <p:cNvPr id="9" name="Text 6"/>
          <p:cNvSpPr/>
          <p:nvPr/>
        </p:nvSpPr>
        <p:spPr>
          <a:xfrm>
            <a:off x="878860" y="490859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1530906" y="49439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Усложнение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530906" y="5434370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Увеличивайте количество элементов или добавляйте новые цвета.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80701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«Лабиринты»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855952"/>
            <a:ext cx="7556421" cy="1669852"/>
          </a:xfrm>
          <a:prstGeom prst="roundRect">
            <a:avLst>
              <a:gd name="adj" fmla="val 2038"/>
            </a:avLst>
          </a:prstGeom>
          <a:solidFill>
            <a:srgbClr val="EEE8DD"/>
          </a:solidFill>
          <a:ln/>
        </p:spPr>
      </p:sp>
      <p:sp>
        <p:nvSpPr>
          <p:cNvPr id="5" name="Text 2"/>
          <p:cNvSpPr/>
          <p:nvPr/>
        </p:nvSpPr>
        <p:spPr>
          <a:xfrm>
            <a:off x="6507004" y="30827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Задание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07004" y="3573185"/>
            <a:ext cx="71027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Дайте ребёнку лабиринт. Нужно помочь зайчику дойти до морковки.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280190" y="4752618"/>
            <a:ext cx="7556421" cy="1669852"/>
          </a:xfrm>
          <a:prstGeom prst="roundRect">
            <a:avLst>
              <a:gd name="adj" fmla="val 2038"/>
            </a:avLst>
          </a:prstGeom>
          <a:solidFill>
            <a:srgbClr val="EEE8DD"/>
          </a:solidFill>
          <a:ln/>
        </p:spPr>
      </p:sp>
      <p:sp>
        <p:nvSpPr>
          <p:cNvPr id="8" name="Text 5"/>
          <p:cNvSpPr/>
          <p:nvPr/>
        </p:nvSpPr>
        <p:spPr>
          <a:xfrm>
            <a:off x="6507004" y="49794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Вариант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507004" y="5469850"/>
            <a:ext cx="71027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Можно делать устные лабиринты. Например: «Налево — к мишке, направо — к лисичке».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86380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«Что Исчезло?»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190" y="2912745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80190" y="3706535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Задание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6280190" y="4196953"/>
            <a:ext cx="23298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Разложите 5–7 предметов. Пусть ребёнок запомнит их.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3493" y="2912745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893493" y="3706535"/>
            <a:ext cx="23298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Наблюдательность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8893493" y="4551283"/>
            <a:ext cx="232981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Закройте глаза и уберите один предмет. Нужно угадать, чего не хватает.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06795" y="2912745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506795" y="3706535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Усложнение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11506795" y="4196953"/>
            <a:ext cx="23298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Добавляйте больше предметов или меняйте их местами.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0759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«Слушай и Хлопай»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2200394" y="40877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Задание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578191"/>
            <a:ext cx="424184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Договоритесь, что ребёнок хлопает, когда услышит определённое слово.</a:t>
            </a:r>
            <a:endParaRPr lang="en-US" sz="1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9258" y="2870002"/>
            <a:ext cx="3651885" cy="365188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274231" y="4412456"/>
            <a:ext cx="566976" cy="566976"/>
          </a:xfrm>
          <a:prstGeom prst="roundRect">
            <a:avLst>
              <a:gd name="adj" fmla="val 1611154"/>
            </a:avLst>
          </a:prstGeom>
          <a:solidFill>
            <a:srgbClr val="EEE8DD"/>
          </a:solidFill>
          <a:ln/>
        </p:spPr>
      </p:sp>
      <p:sp>
        <p:nvSpPr>
          <p:cNvPr id="7" name="Text 4"/>
          <p:cNvSpPr/>
          <p:nvPr/>
        </p:nvSpPr>
        <p:spPr>
          <a:xfrm>
            <a:off x="5430083" y="4536400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481304" y="308979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Пример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481304" y="3580209"/>
            <a:ext cx="435530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Слово «яблоко». Читайте: «Груша, банан, яблоко…»</a:t>
            </a:r>
            <a:endParaRPr lang="en-US" sz="17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9258" y="2870002"/>
            <a:ext cx="3651885" cy="3651885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910393" y="2890361"/>
            <a:ext cx="566976" cy="566976"/>
          </a:xfrm>
          <a:prstGeom prst="roundRect">
            <a:avLst>
              <a:gd name="adj" fmla="val 1611154"/>
            </a:avLst>
          </a:prstGeom>
          <a:solidFill>
            <a:srgbClr val="EEE8DD"/>
          </a:solidFill>
          <a:ln/>
        </p:spPr>
      </p:sp>
      <p:sp>
        <p:nvSpPr>
          <p:cNvPr id="12" name="Text 8"/>
          <p:cNvSpPr/>
          <p:nvPr/>
        </p:nvSpPr>
        <p:spPr>
          <a:xfrm>
            <a:off x="8066246" y="3014305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9481304" y="50857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Развитие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9481304" y="5576173"/>
            <a:ext cx="435530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Тренировка слухового внимания и концентрации.</a:t>
            </a:r>
            <a:endParaRPr lang="en-US" sz="17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9258" y="2870002"/>
            <a:ext cx="3651885" cy="365188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7910393" y="5934432"/>
            <a:ext cx="566976" cy="566976"/>
          </a:xfrm>
          <a:prstGeom prst="roundRect">
            <a:avLst>
              <a:gd name="adj" fmla="val 1611154"/>
            </a:avLst>
          </a:prstGeom>
          <a:solidFill>
            <a:srgbClr val="EEE8DD"/>
          </a:solidFill>
          <a:ln/>
        </p:spPr>
      </p:sp>
      <p:sp>
        <p:nvSpPr>
          <p:cNvPr id="17" name="Text 12"/>
          <p:cNvSpPr/>
          <p:nvPr/>
        </p:nvSpPr>
        <p:spPr>
          <a:xfrm>
            <a:off x="8066246" y="6058376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3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376958"/>
            <a:ext cx="696289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«Раскрась по Правилам»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1048941" y="2425898"/>
            <a:ext cx="30480" cy="4426625"/>
          </a:xfrm>
          <a:prstGeom prst="roundRect">
            <a:avLst>
              <a:gd name="adj" fmla="val 111628"/>
            </a:avLst>
          </a:prstGeom>
          <a:solidFill>
            <a:srgbClr val="D4CEC3"/>
          </a:solidFill>
          <a:ln/>
        </p:spPr>
      </p:sp>
      <p:sp>
        <p:nvSpPr>
          <p:cNvPr id="5" name="Shape 2"/>
          <p:cNvSpPr/>
          <p:nvPr/>
        </p:nvSpPr>
        <p:spPr>
          <a:xfrm>
            <a:off x="1273612" y="2665809"/>
            <a:ext cx="680442" cy="30480"/>
          </a:xfrm>
          <a:prstGeom prst="roundRect">
            <a:avLst>
              <a:gd name="adj" fmla="val 111628"/>
            </a:avLst>
          </a:prstGeom>
          <a:solidFill>
            <a:srgbClr val="D4CEC3"/>
          </a:solidFill>
          <a:ln/>
        </p:spPr>
      </p:sp>
      <p:sp>
        <p:nvSpPr>
          <p:cNvPr id="6" name="Shape 3"/>
          <p:cNvSpPr/>
          <p:nvPr/>
        </p:nvSpPr>
        <p:spPr>
          <a:xfrm>
            <a:off x="793790" y="242589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</p:sp>
      <p:sp>
        <p:nvSpPr>
          <p:cNvPr id="7" name="Text 4"/>
          <p:cNvSpPr/>
          <p:nvPr/>
        </p:nvSpPr>
        <p:spPr>
          <a:xfrm>
            <a:off x="878860" y="2468404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1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2183011" y="25037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Задание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2183011" y="2994184"/>
            <a:ext cx="61671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Дайте раскраску с условиями. Например: «Все круглые предметы — жёлтые».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1273612" y="4413528"/>
            <a:ext cx="680442" cy="30480"/>
          </a:xfrm>
          <a:prstGeom prst="roundRect">
            <a:avLst>
              <a:gd name="adj" fmla="val 111628"/>
            </a:avLst>
          </a:prstGeom>
          <a:solidFill>
            <a:srgbClr val="D4CEC3"/>
          </a:solidFill>
          <a:ln/>
        </p:spPr>
      </p:sp>
      <p:sp>
        <p:nvSpPr>
          <p:cNvPr id="11" name="Shape 8"/>
          <p:cNvSpPr/>
          <p:nvPr/>
        </p:nvSpPr>
        <p:spPr>
          <a:xfrm>
            <a:off x="793790" y="417361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</p:sp>
      <p:sp>
        <p:nvSpPr>
          <p:cNvPr id="12" name="Text 9"/>
          <p:cNvSpPr/>
          <p:nvPr/>
        </p:nvSpPr>
        <p:spPr>
          <a:xfrm>
            <a:off x="878860" y="4216122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2</a:t>
            </a:r>
            <a:endParaRPr lang="en-US" sz="2650" dirty="0"/>
          </a:p>
        </p:txBody>
      </p:sp>
      <p:sp>
        <p:nvSpPr>
          <p:cNvPr id="13" name="Text 10"/>
          <p:cNvSpPr/>
          <p:nvPr/>
        </p:nvSpPr>
        <p:spPr>
          <a:xfrm>
            <a:off x="2183011" y="42514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Правила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2183011" y="4741902"/>
            <a:ext cx="61671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«Все квадратные — синие». «Если предмет и круглый, и квадратный — зелёный».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1273612" y="6161246"/>
            <a:ext cx="680442" cy="30480"/>
          </a:xfrm>
          <a:prstGeom prst="roundRect">
            <a:avLst>
              <a:gd name="adj" fmla="val 111628"/>
            </a:avLst>
          </a:prstGeom>
          <a:solidFill>
            <a:srgbClr val="D4CEC3"/>
          </a:solidFill>
          <a:ln/>
        </p:spPr>
      </p:sp>
      <p:sp>
        <p:nvSpPr>
          <p:cNvPr id="16" name="Shape 13"/>
          <p:cNvSpPr/>
          <p:nvPr/>
        </p:nvSpPr>
        <p:spPr>
          <a:xfrm>
            <a:off x="793790" y="5921335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</p:sp>
      <p:sp>
        <p:nvSpPr>
          <p:cNvPr id="17" name="Text 14"/>
          <p:cNvSpPr/>
          <p:nvPr/>
        </p:nvSpPr>
        <p:spPr>
          <a:xfrm>
            <a:off x="878860" y="5963841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3</a:t>
            </a:r>
            <a:endParaRPr lang="en-US" sz="2650" dirty="0"/>
          </a:p>
        </p:txBody>
      </p:sp>
      <p:sp>
        <p:nvSpPr>
          <p:cNvPr id="18" name="Text 15"/>
          <p:cNvSpPr/>
          <p:nvPr/>
        </p:nvSpPr>
        <p:spPr>
          <a:xfrm>
            <a:off x="2183011" y="59992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Цель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2183011" y="6489621"/>
            <a:ext cx="61671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Развитие концентрации и следования инструкциям.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24003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«Найди Пару»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190" y="2288977"/>
            <a:ext cx="1134070" cy="166985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754422" y="251579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Задание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754422" y="3006209"/>
            <a:ext cx="6082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Разложите карточки с парными изображениями рубашкой вверх.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190" y="3958828"/>
            <a:ext cx="1134070" cy="166985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754422" y="41856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Поиск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754422" y="4676061"/>
            <a:ext cx="6082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Ребёнок открывает по две карточки, ищет одинаковые.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5628680"/>
            <a:ext cx="1134070" cy="136088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754422" y="58554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Развитие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754422" y="6345912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Игра на сопоставление и зрительную память.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72145"/>
            <a:ext cx="753713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«Запрещённое Движение»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8348" y="2134553"/>
            <a:ext cx="2152055" cy="16698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94892" y="2986564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1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357217" y="23613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Задание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357217" y="2851785"/>
            <a:ext cx="825257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Договоритесь, что одно движение запрещено (например, поднять руки вверх).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187077" y="3817501"/>
            <a:ext cx="8592860" cy="15240"/>
          </a:xfrm>
          <a:prstGeom prst="roundRect">
            <a:avLst>
              <a:gd name="adj" fmla="val 223256"/>
            </a:avLst>
          </a:prstGeom>
          <a:solidFill>
            <a:srgbClr val="D4CEC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2381" y="3861078"/>
            <a:ext cx="4304109" cy="166985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94892" y="4496633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2</a:t>
            </a:r>
            <a:endParaRPr lang="en-US" sz="2500" dirty="0"/>
          </a:p>
        </p:txBody>
      </p:sp>
      <p:sp>
        <p:nvSpPr>
          <p:cNvPr id="10" name="Text 6"/>
          <p:cNvSpPr/>
          <p:nvPr/>
        </p:nvSpPr>
        <p:spPr>
          <a:xfrm>
            <a:off x="6433304" y="40878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Повторение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6433304" y="4578310"/>
            <a:ext cx="717649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Вы делаете разные движения, ребёнок повторяет, кроме запрещённого.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6263164" y="5544026"/>
            <a:ext cx="7516773" cy="15240"/>
          </a:xfrm>
          <a:prstGeom prst="roundRect">
            <a:avLst>
              <a:gd name="adj" fmla="val 223256"/>
            </a:avLst>
          </a:prstGeom>
          <a:solidFill>
            <a:srgbClr val="D4CEC3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294" y="5587603"/>
            <a:ext cx="6456164" cy="166985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94773" y="6223159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3</a:t>
            </a:r>
            <a:endParaRPr lang="en-US" sz="2500" dirty="0"/>
          </a:p>
        </p:txBody>
      </p:sp>
      <p:sp>
        <p:nvSpPr>
          <p:cNvPr id="15" name="Text 10"/>
          <p:cNvSpPr/>
          <p:nvPr/>
        </p:nvSpPr>
        <p:spPr>
          <a:xfrm>
            <a:off x="7509272" y="59958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Цель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509272" y="6486287"/>
            <a:ext cx="393227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Игра на внимание и самоконтроль.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607225"/>
            <a:ext cx="678299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«Цифры/Буквы в Хаосе»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656165"/>
            <a:ext cx="170021" cy="853321"/>
          </a:xfrm>
          <a:prstGeom prst="roundRect">
            <a:avLst>
              <a:gd name="adj" fmla="val 20012"/>
            </a:avLst>
          </a:prstGeom>
          <a:solidFill>
            <a:srgbClr val="EEE8DD"/>
          </a:solidFill>
          <a:ln/>
        </p:spPr>
      </p:sp>
      <p:sp>
        <p:nvSpPr>
          <p:cNvPr id="5" name="Text 2"/>
          <p:cNvSpPr/>
          <p:nvPr/>
        </p:nvSpPr>
        <p:spPr>
          <a:xfrm>
            <a:off x="1303973" y="26561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Задание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303973" y="3146584"/>
            <a:ext cx="704623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Нарисуйте ряд букв или цифр вразброс.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133951" y="3736300"/>
            <a:ext cx="170021" cy="1216223"/>
          </a:xfrm>
          <a:prstGeom prst="roundRect">
            <a:avLst>
              <a:gd name="adj" fmla="val 20012"/>
            </a:avLst>
          </a:prstGeom>
          <a:solidFill>
            <a:srgbClr val="EEE8DD"/>
          </a:solidFill>
          <a:ln/>
        </p:spPr>
      </p:sp>
      <p:sp>
        <p:nvSpPr>
          <p:cNvPr id="8" name="Text 5"/>
          <p:cNvSpPr/>
          <p:nvPr/>
        </p:nvSpPr>
        <p:spPr>
          <a:xfrm>
            <a:off x="1644134" y="37363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Поиск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644134" y="4226719"/>
            <a:ext cx="6706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Попросите: «Подчеркни все буквы А» или «Обведи все цифры 3».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1474232" y="5179338"/>
            <a:ext cx="170021" cy="1216223"/>
          </a:xfrm>
          <a:prstGeom prst="roundRect">
            <a:avLst>
              <a:gd name="adj" fmla="val 20012"/>
            </a:avLst>
          </a:prstGeom>
          <a:solidFill>
            <a:srgbClr val="EEE8DD"/>
          </a:solidFill>
          <a:ln/>
        </p:spPr>
      </p:sp>
      <p:sp>
        <p:nvSpPr>
          <p:cNvPr id="11" name="Text 8"/>
          <p:cNvSpPr/>
          <p:nvPr/>
        </p:nvSpPr>
        <p:spPr>
          <a:xfrm>
            <a:off x="1984415" y="51793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Адаптация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984415" y="5669756"/>
            <a:ext cx="636579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Игры можно адаптировать под интересы ребёнка. Главное — заниматься регулярно и весело!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2025-05-25T13:48:08Z</dcterms:created>
  <dcterms:modified xsi:type="dcterms:W3CDTF">2025-05-25T13:48:08Z</dcterms:modified>
</cp:coreProperties>
</file>