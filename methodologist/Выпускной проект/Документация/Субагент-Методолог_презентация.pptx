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D1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73152"/>
            <a:ext cx="3657600" cy="36576"/>
          </a:xfrm>
          <a:prstGeom prst="roundRect">
            <a:avLst/>
          </a:prstGeom>
          <a:solidFill>
            <a:srgbClr val="9B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A5FE8"/>
                </a:solidFill>
                <a:latin typeface="Segoe UI"/>
              </a:rPr>
              <a:t>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D1B69"/>
                </a:solidFill>
                <a:latin typeface="Segoe UI"/>
              </a:rPr>
              <a:t>СУБАГЕНТ-МЕТОДОЛОГ
@methodologist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6B83"/>
                </a:solidFill>
                <a:latin typeface="Segoe UI"/>
              </a:rPr>
              <a:t>AI-ассистент в Open Code для автоматической генерации
программ повышения квалификации, планов занятий и тестов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83"/>
                </a:solidFill>
                <a:latin typeface="Segoe UI"/>
              </a:rPr>
              <a:t>Портфолио-проект  | 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6217920"/>
            <a:ext cx="2743200" cy="36576"/>
          </a:xfrm>
          <a:prstGeom prst="roundRect">
            <a:avLst/>
          </a:prstGeom>
          <a:solidFill>
            <a:srgbClr val="9B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D1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1B69"/>
                </a:solidFill>
                <a:latin typeface="Segoe UI"/>
              </a:rPr>
              <a:t>Проблема и решение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200" b="0">
                <a:solidFill>
                  <a:srgbClr val="6B6B83"/>
                </a:solidFill>
                <a:latin typeface="Segoe UI"/>
              </a:rPr>
              <a:t>ПРОБЛЕМА
Разработка ДПП ПК вручную занимает 3–5 дней:
  • 7 разделов, таблицы, контрольные вопросы
  • Требования ФГОС и профстандартов
  • Каждый раз заново верстать Word-документ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2560320"/>
          </a:xfrm>
          <a:prstGeom prst="roundRect">
            <a:avLst/>
          </a:prstGeom>
          <a:solidFill>
            <a:srgbClr val="EE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200" b="0">
                <a:solidFill>
                  <a:srgbClr val="2D1B69"/>
                </a:solidFill>
                <a:latin typeface="Segoe UI"/>
              </a:rPr>
              <a:t>РЕШЕНИЕ
Суб-агент @methodologist:
  • Создаёт программу за 1 минуту
  • Соблюдает жёсткие правила
  • Генерирует .md + .docx автоматически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2560320" cy="2011680"/>
          </a:xfrm>
          <a:prstGeom prst="roundRect">
            <a:avLst/>
          </a:prstGeom>
          <a:solidFill>
            <a:srgbClr val="3A5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0"/>
          <a:lstStyle/>
          <a:p>
            <a:pPr algn="ctr"/>
            <a:r>
              <a:rPr sz="4200" b="1">
                <a:solidFill>
                  <a:srgbClr val="FFFFFF"/>
                </a:solidFill>
                <a:latin typeface="Segoe UI"/>
              </a:rPr>
              <a:t>36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Часов
программа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389120"/>
            <a:ext cx="2560320" cy="2011680"/>
          </a:xfrm>
          <a:prstGeom prst="roundRect">
            <a:avLst/>
          </a:prstGeom>
          <a:solidFill>
            <a:srgbClr val="9B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0"/>
          <a:lstStyle/>
          <a:p>
            <a:pPr algn="ctr"/>
            <a:r>
              <a:rPr sz="4200" b="1">
                <a:solidFill>
                  <a:srgbClr val="FFFFFF"/>
                </a:solidFill>
                <a:latin typeface="Segoe UI"/>
              </a:rPr>
              <a:t>3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Сценария
работы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389120"/>
            <a:ext cx="2560320" cy="2011680"/>
          </a:xfrm>
          <a:prstGeom prst="roundRect">
            <a:avLst/>
          </a:prstGeom>
          <a:solidFill>
            <a:srgbClr val="3A5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0"/>
          <a:lstStyle/>
          <a:p>
            <a:pPr algn="ctr"/>
            <a:r>
              <a:rPr sz="4200" b="1">
                <a:solidFill>
                  <a:srgbClr val="FFFFFF"/>
                </a:solidFill>
                <a:latin typeface="Segoe UI"/>
              </a:rPr>
              <a:t>1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Минута
на генерацию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4389120"/>
            <a:ext cx="2560320" cy="2011680"/>
          </a:xfrm>
          <a:prstGeom prst="roundRect">
            <a:avLst/>
          </a:prstGeom>
          <a:solidFill>
            <a:srgbClr val="9B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0"/>
          <a:lstStyle/>
          <a:p>
            <a:pPr algn="ctr"/>
            <a:r>
              <a:rPr sz="4200" b="1">
                <a:solidFill>
                  <a:srgbClr val="FFFFFF"/>
                </a:solidFill>
                <a:latin typeface="Segoe UI"/>
              </a:rPr>
              <a:t>7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Разделов
в программе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D1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1B69"/>
                </a:solidFill>
                <a:latin typeface="Segoe UI"/>
              </a:rPr>
              <a:t>Архитектура проекта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029200" cy="457200"/>
          </a:xfrm>
          <a:prstGeom prst="roundRect">
            <a:avLst/>
          </a:prstGeom>
          <a:solidFill>
            <a:srgbClr val="E0D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000" b="1">
                <a:solidFill>
                  <a:srgbClr val="2D1B69"/>
                </a:solidFill>
                <a:latin typeface="Segoe UI"/>
              </a:rPr>
              <a:t>📁 methodologist/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572000" cy="457200"/>
          </a:xfrm>
          <a:prstGeom prst="roundRect">
            <a:avLst/>
          </a:prstGeom>
          <a:solidFill>
            <a:srgbClr val="EE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000" b="0">
                <a:solidFill>
                  <a:srgbClr val="2D1B69"/>
                </a:solidFill>
                <a:latin typeface="Segoe UI"/>
              </a:rPr>
              <a:t>  📄 .opencode/agents/methodologist.md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4572000" cy="457200"/>
          </a:xfrm>
          <a:prstGeom prst="roundRect">
            <a:avLst/>
          </a:prstGeom>
          <a:solidFill>
            <a:srgbClr val="E0D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000" b="1">
                <a:solidFill>
                  <a:srgbClr val="2D1B69"/>
                </a:solidFill>
                <a:latin typeface="Segoe UI"/>
              </a:rPr>
              <a:t>  📁 templates/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926080"/>
            <a:ext cx="4572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000" b="0">
                <a:solidFill>
                  <a:srgbClr val="5A4F8A"/>
                </a:solidFill>
                <a:latin typeface="Segoe UI"/>
              </a:rPr>
              <a:t>    📄 program_template.md  +  program_sample.md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474720"/>
            <a:ext cx="4572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000" b="0">
                <a:solidFill>
                  <a:srgbClr val="5A4F8A"/>
                </a:solidFill>
                <a:latin typeface="Segoe UI"/>
              </a:rPr>
              <a:t>    📄 lesson_template.md  +  lesson_sample.md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023360"/>
            <a:ext cx="41148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000" b="0">
                <a:solidFill>
                  <a:srgbClr val="5A4F8A"/>
                </a:solidFill>
                <a:latin typeface="Segoe UI"/>
              </a:rPr>
              <a:t>    📄 test_template.md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572000"/>
            <a:ext cx="4114800" cy="457200"/>
          </a:xfrm>
          <a:prstGeom prst="roundRect">
            <a:avLst/>
          </a:prstGeom>
          <a:solidFill>
            <a:srgbClr val="EE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000" b="0">
                <a:solidFill>
                  <a:srgbClr val="3A5FE8"/>
                </a:solidFill>
                <a:latin typeface="Segoe UI"/>
              </a:rPr>
              <a:t>  📄 convert_to_docx.py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120640"/>
            <a:ext cx="3200400" cy="457200"/>
          </a:xfrm>
          <a:prstGeom prst="roundRect">
            <a:avLst/>
          </a:prstGeom>
          <a:solidFill>
            <a:srgbClr val="EE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000" b="0">
                <a:solidFill>
                  <a:srgbClr val="6B6B83"/>
                </a:solidFill>
                <a:latin typeface="Segoe UI"/>
              </a:rPr>
              <a:t>  📄 README.md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669280"/>
            <a:ext cx="3200400" cy="457200"/>
          </a:xfrm>
          <a:prstGeom prst="roundRect">
            <a:avLst/>
          </a:prstGeom>
          <a:solidFill>
            <a:srgbClr val="EE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000" b="0">
                <a:solidFill>
                  <a:srgbClr val="6B6B83"/>
                </a:solidFill>
                <a:latin typeface="Segoe UI"/>
              </a:rPr>
              <a:t>  📁 tests/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1B69"/>
                </a:solidFill>
                <a:latin typeface="Segoe UI"/>
              </a:rPr>
              <a:t>Как это работает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0" y="2011680"/>
            <a:ext cx="502920" cy="502920"/>
          </a:xfrm>
          <a:prstGeom prst="ellipse">
            <a:avLst/>
          </a:prstGeom>
          <a:solidFill>
            <a:srgbClr val="3A5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920240"/>
            <a:ext cx="411480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Пользователь вводит команду
@methodologist создай программу...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2926080"/>
            <a:ext cx="502920" cy="502920"/>
          </a:xfrm>
          <a:prstGeom prst="ellipse">
            <a:avLst/>
          </a:prstGeom>
          <a:solidFill>
            <a:srgbClr val="3A5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834640"/>
            <a:ext cx="411480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Агент читает образец
из templates/program_sample.md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0" y="3840479"/>
            <a:ext cx="502920" cy="502920"/>
          </a:xfrm>
          <a:prstGeom prst="ellipse">
            <a:avLst/>
          </a:prstGeom>
          <a:solidFill>
            <a:srgbClr val="3A5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3749039"/>
            <a:ext cx="411480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Копирует формат,
подставляет новую тему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0" y="4754880"/>
            <a:ext cx="502920" cy="502920"/>
          </a:xfrm>
          <a:prstGeom prst="ellipse">
            <a:avLst/>
          </a:prstGeom>
          <a:solidFill>
            <a:srgbClr val="3A5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4663440"/>
            <a:ext cx="411480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Генерирует .md и запускает
convert_to_docx.py → .docx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0" y="566928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5577840"/>
            <a:ext cx="411480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Готово: .md + .docx
открывается в Word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D1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1B69"/>
                </a:solidFill>
                <a:latin typeface="Segoe UI"/>
              </a:rPr>
              <a:t>Сценарии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474720" cy="640080"/>
          </a:xfrm>
          <a:prstGeom prst="roundRect">
            <a:avLst/>
          </a:prstGeom>
          <a:solidFill>
            <a:srgbClr val="3A5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Сценарий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3474720" cy="548640"/>
          </a:xfrm>
          <a:prstGeom prst="roundRect">
            <a:avLst/>
          </a:prstGeom>
          <a:solidFill>
            <a:srgbClr val="E0D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/>
            <a:r>
              <a:rPr sz="1400" b="1">
                <a:solidFill>
                  <a:srgbClr val="2D1B69"/>
                </a:solidFill>
                <a:latin typeface="Segoe UI"/>
              </a:rPr>
              <a:t>Программа курса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34747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Команда:
@methodologist создай программу курса
по теме "..." на 36 часов, категория — ...
Результат: ДПП ПК из 7 разделов
Режим: 4 ч/день, 1-2 дня/нед, 4,5-9 нед
Контрольные вопросы после каждой темы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474720" cy="640080"/>
          </a:xfrm>
          <a:prstGeom prst="roundRect">
            <a:avLst/>
          </a:prstGeom>
          <a:solidFill>
            <a:srgbClr val="D4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Сценарий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920240"/>
            <a:ext cx="3474720" cy="548640"/>
          </a:xfrm>
          <a:prstGeom prst="roundRect">
            <a:avLst/>
          </a:prstGeom>
          <a:solidFill>
            <a:srgbClr val="E0D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/>
            <a:r>
              <a:rPr sz="1400" b="1">
                <a:solidFill>
                  <a:srgbClr val="2D1B69"/>
                </a:solidFill>
                <a:latin typeface="Segoe UI"/>
              </a:rPr>
              <a:t>План занятия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560320"/>
            <a:ext cx="34747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Команда:
@methodologist составь план занятия
по теме "..."
Результат: хронометраж (таблица)
6 этапов, активности, домашнее задание
Длительность: 180 мин (4 ак. часа)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474720" cy="640080"/>
          </a:xfrm>
          <a:prstGeom prst="roundRect">
            <a:avLst/>
          </a:prstGeom>
          <a:solidFill>
            <a:srgbClr val="9B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Сценарий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920240"/>
            <a:ext cx="3474720" cy="548640"/>
          </a:xfrm>
          <a:prstGeom prst="roundRect">
            <a:avLst/>
          </a:prstGeom>
          <a:solidFill>
            <a:srgbClr val="E0D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/>
            <a:r>
              <a:rPr sz="1400" b="1">
                <a:solidFill>
                  <a:srgbClr val="2D1B69"/>
                </a:solidFill>
                <a:latin typeface="Segoe UI"/>
              </a:rPr>
              <a:t>Тест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560320"/>
            <a:ext cx="34747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Команда:
@methodologist сделай тест из 10
вопросов по теме "..."
Результат: 10 вопросов A-D
ключ ответов, критерии оценки
Смешанные типы: закрытые + открытые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D1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1B69"/>
                </a:solidFill>
                <a:latin typeface="Segoe UI"/>
              </a:rPr>
              <a:t>Жёсткие правила (не нарушаются)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548640"/>
          </a:xfrm>
          <a:prstGeom prst="roundRect">
            <a:avLst/>
          </a:prstGeom>
          <a:solidFill>
            <a:srgbClr val="3A5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 ч/день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4747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Режим: 4 часа в день,
1–2 дня в неделю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474720" cy="548640"/>
          </a:xfrm>
          <a:prstGeom prst="roundRect">
            <a:avLst/>
          </a:prstGeom>
          <a:solidFill>
            <a:srgbClr val="9B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4,5–9 нед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4747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Продолжительность:
от 4,5 до 9 недель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71600"/>
            <a:ext cx="3474720" cy="548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Вопросы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011680"/>
            <a:ext cx="34747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Контрольные вопросы
после КАЖДОЙ темы (мин. 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3474720" cy="548640"/>
          </a:xfrm>
          <a:prstGeom prst="roundRect">
            <a:avLst/>
          </a:prstGeom>
          <a:solidFill>
            <a:srgbClr val="D4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Источники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34747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Никаких выдуманных книг.
Только ФЗ, ФГОС, ссылки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931920"/>
            <a:ext cx="3474720" cy="548640"/>
          </a:xfrm>
          <a:prstGeom prst="roundRect">
            <a:avLst/>
          </a:prstGeom>
          <a:solidFill>
            <a:srgbClr val="3A5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30/70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572000"/>
            <a:ext cx="34747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Лекции 30% / Практика 70%
Приоритет практики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931920"/>
            <a:ext cx="3474720" cy="548640"/>
          </a:xfrm>
          <a:prstGeom prst="roundRect">
            <a:avLst/>
          </a:prstGeom>
          <a:solidFill>
            <a:srgbClr val="9B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Образец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572000"/>
            <a:ext cx="34747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Копировать формат
из program_sample / lesson_sample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D1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1B69"/>
                </a:solidFill>
                <a:latin typeface="Segoe UI"/>
              </a:rPr>
              <a:t>Формат на выходе: .md → .docx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114800"/>
          </a:xfrm>
          <a:prstGeom prst="roundRect">
            <a:avLst/>
          </a:prstGeom>
          <a:solidFill>
            <a:srgbClr val="E0D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1B69"/>
                </a:solidFill>
                <a:latin typeface="Segoe UI"/>
              </a:rPr>
              <a:t>Было (до проекта)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310896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200" b="0">
                <a:solidFill>
                  <a:srgbClr val="6B6B83"/>
                </a:solidFill>
                <a:latin typeface="Segoe UI"/>
              </a:rPr>
              <a:t>Вручную писать 7 разделов
Верстать таблицы в Word
Форматировать вручную
3–5 дней на программу
Легко пропустить требования
Ошибки в режиме / объёме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9260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3A5FE8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3474720" cy="4114800"/>
          </a:xfrm>
          <a:prstGeom prst="roundRect">
            <a:avLst/>
          </a:prstGeom>
          <a:solidFill>
            <a:srgbClr val="EE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Segoe UI"/>
              </a:rPr>
              <a:t>Стало (с агентом)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94560"/>
            <a:ext cx="310896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200" b="0">
                <a:solidFill>
                  <a:srgbClr val="2D1B69"/>
                </a:solidFill>
                <a:latin typeface="Segoe UI"/>
              </a:rPr>
              <a:t>Команда @methodologist
Программа за 1 минуту
Автоматический .md
Автоконвертация в .docx
Все правила соблюдены
Контрольные вопросы есть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1463040"/>
            <a:ext cx="1828800" cy="4114800"/>
          </a:xfrm>
          <a:prstGeom prst="roundRect">
            <a:avLst/>
          </a:prstGeom>
          <a:solidFill>
            <a:srgbClr val="E0D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1B69"/>
                </a:solidFill>
                <a:latin typeface="Segoe UI"/>
              </a:rPr>
              <a:t>Конвертер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32720" y="2194560"/>
            <a:ext cx="164592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000" b="0">
                <a:solidFill>
                  <a:srgbClr val="6B6B83"/>
                </a:solidFill>
                <a:latin typeface="Segoe UI"/>
              </a:rPr>
              <a:t>convert_to_docx.py
Запускается
агентом
автоматически
Форматирует:
Times New Roman
таблицы, списки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D1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1B69"/>
                </a:solidFill>
                <a:latin typeface="Segoe UI"/>
              </a:rPr>
              <a:t>Демонстрация работы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3A5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371600"/>
            <a:ext cx="9875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Открыть папку methodologist/ в новой сессии Open Code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377440"/>
            <a:ext cx="502920" cy="502920"/>
          </a:xfrm>
          <a:prstGeom prst="ellipse">
            <a:avLst/>
          </a:prstGeom>
          <a:solidFill>
            <a:srgbClr val="9B7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331720"/>
            <a:ext cx="9875520" cy="731520"/>
          </a:xfrm>
          <a:prstGeom prst="roundRect">
            <a:avLst/>
          </a:prstGeom>
          <a:solidFill>
            <a:srgbClr val="EE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@methodologist создай программу курса по теме "Нейросети в работе преподавателя" на 36 часов, категория — преподаватели СПО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337560"/>
            <a:ext cx="502920" cy="502920"/>
          </a:xfrm>
          <a:prstGeom prst="ellipse">
            <a:avLst/>
          </a:prstGeom>
          <a:solidFill>
            <a:srgbClr val="3A5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3291840"/>
            <a:ext cx="9875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Агент читает образец → генерирует .md → запускает конвертер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297680"/>
            <a:ext cx="502920" cy="502920"/>
          </a:xfrm>
          <a:prstGeom prst="ellipse">
            <a:avLst/>
          </a:prstGeom>
          <a:solidFill>
            <a:srgbClr val="9B7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4251960"/>
            <a:ext cx="9875520" cy="731520"/>
          </a:xfrm>
          <a:prstGeom prst="roundRect">
            <a:avLst/>
          </a:prstGeom>
          <a:solidFill>
            <a:srgbClr val="EE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Подтвердить конвертацию (агент запросит разрешение)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525780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5212080"/>
            <a:ext cx="9875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Готово: .md + .docx  —  открывайте в Word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217920"/>
            <a:ext cx="10607040" cy="457200"/>
          </a:xfrm>
          <a:prstGeom prst="roundRect">
            <a:avLst/>
          </a:prstGeom>
          <a:solidFill>
            <a:srgbClr val="E0D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/>
            <a:r>
              <a:rPr sz="1100" b="0">
                <a:solidFill>
                  <a:srgbClr val="2D1B69"/>
                </a:solidFill>
                <a:latin typeface="Segoe UI"/>
              </a:rPr>
              <a:t>Совет: для показа портфолио — откройте git log и папку methodologist/ в редакторе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D1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1B69"/>
                </a:solidFill>
                <a:latin typeface="Segoe UI"/>
              </a:rPr>
              <a:t>Итоги проекта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926080" cy="640080"/>
          </a:xfrm>
          <a:prstGeom prst="roundRect">
            <a:avLst/>
          </a:prstGeom>
          <a:solidFill>
            <a:srgbClr val="3A5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Что создано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280160"/>
            <a:ext cx="7589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Суб-агент @methodologist:
конфиг + шаблоны + образцы + конвертер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926080" cy="640080"/>
          </a:xfrm>
          <a:prstGeom prst="roundRect">
            <a:avLst/>
          </a:prstGeom>
          <a:solidFill>
            <a:srgbClr val="9B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Сценариев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103120"/>
            <a:ext cx="7589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3: программа курса, план занятия, тест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2926080" cy="640080"/>
          </a:xfrm>
          <a:prstGeom prst="roundRect">
            <a:avLst/>
          </a:prstGeom>
          <a:solidFill>
            <a:srgbClr val="3A5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Файлов в проекте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2926080"/>
            <a:ext cx="7589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10 файлов, ~1550 строк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2926080" cy="640080"/>
          </a:xfrm>
          <a:prstGeom prst="roundRect">
            <a:avLst/>
          </a:prstGeom>
          <a:solidFill>
            <a:srgbClr val="9B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Формат на выходе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3749039"/>
            <a:ext cx="7589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.md (Markdown) + .docx (Word) — автоматически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2926080" cy="640080"/>
          </a:xfrm>
          <a:prstGeom prst="roundRect">
            <a:avLst/>
          </a:prstGeom>
          <a:solidFill>
            <a:srgbClr val="3A5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Режим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4572000"/>
            <a:ext cx="7589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4 ч/день, 1-2 дня/нед, 4,5-9 нед, 36 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2926080" cy="640080"/>
          </a:xfrm>
          <a:prstGeom prst="roundRect">
            <a:avLst/>
          </a:prstGeom>
          <a:solidFill>
            <a:srgbClr val="9B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Контроль качества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5394960"/>
            <a:ext cx="7589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01600"/>
          <a:lstStyle/>
          <a:p>
            <a:pPr algn="l"/>
            <a:r>
              <a:rPr sz="1100" b="0">
                <a:solidFill>
                  <a:srgbClr val="2D1B69"/>
                </a:solidFill>
                <a:latin typeface="Segoe UI"/>
              </a:rPr>
              <a:t>Вопросы после каждой темы, реальные источники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6309360"/>
            <a:ext cx="5486400" cy="36576"/>
          </a:xfrm>
          <a:prstGeom prst="roundRect">
            <a:avLst/>
          </a:prstGeom>
          <a:solidFill>
            <a:srgbClr val="9B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