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57" r:id="rId4"/>
    <p:sldId id="258" r:id="rId5"/>
    <p:sldId id="287" r:id="rId6"/>
    <p:sldId id="260" r:id="rId7"/>
    <p:sldId id="261" r:id="rId8"/>
    <p:sldId id="273" r:id="rId9"/>
    <p:sldId id="274" r:id="rId10"/>
    <p:sldId id="275" r:id="rId11"/>
    <p:sldId id="284" r:id="rId12"/>
    <p:sldId id="293" r:id="rId13"/>
    <p:sldId id="262" r:id="rId14"/>
    <p:sldId id="286" r:id="rId15"/>
    <p:sldId id="264" r:id="rId16"/>
    <p:sldId id="289" r:id="rId17"/>
  </p:sldIdLst>
  <p:sldSz cx="12192000" cy="6858000"/>
  <p:notesSz cx="9926638" cy="67976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A67A"/>
    <a:srgbClr val="FFCC99"/>
    <a:srgbClr val="EE9426"/>
    <a:srgbClr val="B15F2D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44" autoAdjust="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22798" y="1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83816-A01D-4AAD-A38B-9C4AFAA430AC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22798" y="6456612"/>
            <a:ext cx="4301543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F3962-B942-457A-A839-E917461291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392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F3962-B942-457A-A839-E917461291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541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0F3962-B942-457A-A839-E917461291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623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0F3962-B942-457A-A839-E917461291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07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227CA6C3-5EE5-13BA-7158-62A14125B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6477DAD3-CF8A-1A6A-C8B2-A3F8473D5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C2445056-B895-AFAB-E8CC-D0F4855B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5CF887EA-5D63-72C6-05AD-003680FF0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BEBCB6B3-C9C7-B983-E2D7-A84B97B5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49220AA6-B652-D827-C9A6-D398FA0640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" y="0"/>
            <a:ext cx="12178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A3F18A32-550C-AC37-6819-36534FD29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4A67A"/>
                </a:solidFill>
                <a:effectLst>
                  <a:glow>
                    <a:srgbClr val="24A67A">
                      <a:alpha val="60000"/>
                    </a:srgbClr>
                  </a:glow>
                </a:effectLst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98B9E342-ED2A-7238-3C06-E0F66494D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0100F567-1197-E871-5177-AA803D4D7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3FA394C3-93CC-26D9-43F1-C7850F99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F93BDD49-136C-42C0-32D0-B81742BE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363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4140646-6C7C-8789-A25E-4E805B2C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7D46B53F-311D-B170-FC61-4D6A8DCA6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54F36196-342A-C2D1-33BA-2D0697B7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AD3E811F-BE9C-A1AC-DE5D-57123597B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208DE530-649E-5372-E35F-2B42627D3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38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4977F81-B0B6-F633-EBAA-9F52F80EE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EBFC2AE-1CAC-737E-FE54-6FE2F3ECAD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F0B28108-AD5D-BBFE-2BC1-B31833909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BF286869-1716-3043-5109-DC0AC5655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79C00958-4E90-5AC8-2288-0BD47BDCB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C70D37F2-F707-6191-1534-7B081825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22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D8D3495-D8FC-4AB3-AA46-8C7EE825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CD6985C4-2873-8CAF-438A-E09C89D15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3BB3A7D2-E86B-889E-2892-FB44B2D56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FEBAC144-270F-67C8-EA0A-3817136BF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="" xmlns:a16="http://schemas.microsoft.com/office/drawing/2014/main" id="{3AB7E264-AFA6-1CFD-E5A7-4A9AAC255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6D510263-3767-BE1A-0954-0C29B0D76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B41CB70A-C6B2-1CF9-4377-59768833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D55D1577-0A86-18D2-4545-81108E1D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109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E4833EC1-C505-3D7C-DAD7-C889BDE90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1CDE1489-D93F-FF3F-233F-C9852042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CEDEBBC5-AA55-DABC-B296-63F1EF9D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24A38627-07AF-D56E-0D21-B8BA5405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61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D3F5A6B7-3958-9C4F-AD6D-4B6A67F2C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27E8E97B-8540-AE7F-FE71-71C7E9C0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591C0966-FEA3-228A-B4A6-1073CC1A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673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93BEFE2-8843-BAC1-2BDD-A509A20EA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EC8AF5BC-6B71-377F-439E-4924AFB1F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C35877A4-5ADA-C81F-D25D-F70BE0257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1B528232-2C54-F0A8-F057-A5AD32D3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F43FECB0-2144-4023-543F-E95B4441B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2EB006A9-A47E-826E-13E0-6045CC2E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327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1D0D6EB-65F6-8DEE-AED1-F7B7B0E1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2F59C2FD-57D3-20F5-31D2-DD56674FA7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="" xmlns:a16="http://schemas.microsoft.com/office/drawing/2014/main" id="{580BD9FF-87F0-5644-F475-0793D541B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9102F909-A21A-823F-57A7-8B8C394C6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184DAAF1-9A72-66E4-80D8-A03D1A9E2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2D0B6291-5B81-EE5D-48E1-4EB2E418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889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A6CFAF9-2369-2E9E-6432-E5E83CD8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BDA3367A-7816-7E1B-AE18-CFD01D50C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9A77E8A6-9250-A14A-47CC-8C09B70E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B56EE338-6AB2-9B4D-46B6-DF8C7DE3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49D6F110-E98F-8BD0-65DD-17B8EBE8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08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="" xmlns:a16="http://schemas.microsoft.com/office/drawing/2014/main" id="{826305E5-8E6A-2A68-67BA-36142D1535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="" xmlns:a16="http://schemas.microsoft.com/office/drawing/2014/main" id="{F5F92F55-F411-E3D8-21ED-13E070770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F3B20BE0-AA09-AEBD-CD63-AF6C75F8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B2A9E7DE-BC52-869E-A961-206606A8E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5986C2B4-7556-CE36-578A-E9868D1C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82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E386013C-C9A7-4352-9D6D-8207200847E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" y="0"/>
            <a:ext cx="12178332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949D1EA-8CEC-7669-1FD1-E165737F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334" y="781396"/>
            <a:ext cx="5975465" cy="909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="" xmlns:a16="http://schemas.microsoft.com/office/drawing/2014/main" id="{EBF75666-FC34-3F5E-D801-4DFE6D105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27564" y="1825625"/>
            <a:ext cx="90262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C7B2237C-492B-843F-3C8C-9188F6CB04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4C9A0-0362-4CEF-ACC3-45998E4340C0}" type="datetimeFigureOut">
              <a:rPr lang="ru-RU" smtClean="0"/>
              <a:pPr/>
              <a:t>11.09.2024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2A241957-A33B-6B3F-E951-49691FEB1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FF0DF69F-3C39-46CB-2795-E5A30B699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1D228-B8FA-47A3-A02B-C5F860AF7D6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9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4A67A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2">
              <a:lumMod val="50000"/>
            </a:schemeClr>
          </a:solidFill>
          <a:latin typeface="Franklin Gothic Medium Cond" panose="020B06060304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2">
              <a:lumMod val="50000"/>
            </a:schemeClr>
          </a:solidFill>
          <a:latin typeface="Franklin Gothic Medium Cond" panose="020B06060304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2">
              <a:lumMod val="50000"/>
            </a:schemeClr>
          </a:solidFill>
          <a:latin typeface="Franklin Gothic Medium Cond" panose="020B06060304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Franklin Gothic Medium Cond" panose="020B06060304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Franklin Gothic Medium Cond" panose="020B06060304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jpeg"/><Relationship Id="rId5" Type="http://schemas.openxmlformats.org/officeDocument/2006/relationships/image" Target="../media/image15.png"/><Relationship Id="rId10" Type="http://schemas.openxmlformats.org/officeDocument/2006/relationships/image" Target="../media/image20.jpe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13" Type="http://schemas.openxmlformats.org/officeDocument/2006/relationships/image" Target="../media/image35.jpeg"/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12" Type="http://schemas.openxmlformats.org/officeDocument/2006/relationships/image" Target="../media/image34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jpeg"/><Relationship Id="rId5" Type="http://schemas.openxmlformats.org/officeDocument/2006/relationships/image" Target="../media/image27.jpeg"/><Relationship Id="rId10" Type="http://schemas.openxmlformats.org/officeDocument/2006/relationships/image" Target="../media/image32.jpeg"/><Relationship Id="rId4" Type="http://schemas.openxmlformats.org/officeDocument/2006/relationships/image" Target="../media/image26.png"/><Relationship Id="rId9" Type="http://schemas.openxmlformats.org/officeDocument/2006/relationships/image" Target="../media/image3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jpeg"/><Relationship Id="rId4" Type="http://schemas.openxmlformats.org/officeDocument/2006/relationships/image" Target="../media/image5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vk.com/teach_spb?w=wall-176744060_192" TargetMode="Externa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820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67"/>
    </mc:Choice>
    <mc:Fallback>
      <p:transition spd="slow" advTm="266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1D66C5C-2C52-01A2-5DFB-95D7A94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Академии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1"/>
          <a:stretch/>
        </p:blipFill>
        <p:spPr>
          <a:xfrm>
            <a:off x="2858703" y="1690688"/>
            <a:ext cx="6504696" cy="484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37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49"/>
    </mc:Choice>
    <mc:Fallback>
      <p:transition spd="slow" advTm="3949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D3F61B7-B336-8258-2535-9A5EA3D0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Лицензия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8F394E5-E572-C78C-3FA5-F6915C3F2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6539" y="2367299"/>
            <a:ext cx="5975465" cy="28714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Академия имеет бессрочную лицензию на осуществление образовательной деятельности:</a:t>
            </a:r>
          </a:p>
          <a:p>
            <a:r>
              <a:rPr lang="ru-RU" sz="2400" dirty="0"/>
              <a:t>дополнительное образование детей и взрослых</a:t>
            </a:r>
          </a:p>
          <a:p>
            <a:r>
              <a:rPr lang="ru-RU" sz="2400" dirty="0"/>
              <a:t>дополнительное профессиональное образование</a:t>
            </a:r>
          </a:p>
          <a:p>
            <a:r>
              <a:rPr lang="ru-RU" sz="2400" dirty="0"/>
              <a:t>профессиональное обучение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D4ACE37-E3FA-4264-DCCB-8FC89BA6923A}"/>
              </a:ext>
            </a:extLst>
          </p:cNvPr>
          <p:cNvSpPr txBox="1"/>
          <p:nvPr/>
        </p:nvSpPr>
        <p:spPr>
          <a:xfrm>
            <a:off x="5493794" y="5238750"/>
            <a:ext cx="62836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ru-RU" sz="1600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chemeClr val="accent2">
                    <a:lumMod val="75000"/>
                  </a:schemeClr>
                </a:solidFill>
              </a:rPr>
              <a:t>Возврат налогового вычета в размере 13% от затрат на обучение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sz="1600" dirty="0">
                <a:solidFill>
                  <a:schemeClr val="accent2">
                    <a:lumMod val="75000"/>
                  </a:schemeClr>
                </a:solidFill>
              </a:rPr>
              <a:t>Оплата материнским капиталом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E3DE6695-961E-8AFD-E2E2-507BF7A2D54D}"/>
              </a:ext>
            </a:extLst>
          </p:cNvPr>
          <p:cNvSpPr txBox="1"/>
          <p:nvPr/>
        </p:nvSpPr>
        <p:spPr>
          <a:xfrm>
            <a:off x="4903836" y="1536302"/>
            <a:ext cx="64499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400" i="1" dirty="0">
                <a:solidFill>
                  <a:schemeClr val="accent3">
                    <a:lumMod val="50000"/>
                  </a:schemeClr>
                </a:solidFill>
              </a:rPr>
              <a:t>от 11.09.2022 рег.№ Л035-01271-78/00346889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720982"/>
              </p:ext>
            </p:extLst>
          </p:nvPr>
        </p:nvGraphicFramePr>
        <p:xfrm>
          <a:off x="1773115" y="1376054"/>
          <a:ext cx="3261539" cy="4615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PDF" r:id="rId3" imgW="0" imgH="0" progId="FoxitReader.Document">
                  <p:embed/>
                </p:oleObj>
              </mc:Choice>
              <mc:Fallback>
                <p:oleObj name="PDF" r:id="rId3" imgW="0" imgH="0" progId="FoxitReader.Document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115" y="1376054"/>
                        <a:ext cx="3261539" cy="461510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1">
                            <a:lumMod val="85000"/>
                          </a:schemeClr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3974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75"/>
    </mc:Choice>
    <mc:Fallback>
      <p:transition spd="slow" advTm="507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="" xmlns:a16="http://schemas.microsoft.com/office/drawing/2014/main" id="{36E285DD-A284-59B7-CA9D-2CB570411ED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4885" y="3750479"/>
            <a:ext cx="2160000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3142F7C-898C-CDAD-E9B5-853D52F7F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Учебные площадки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="" xmlns:a16="http://schemas.microsoft.com/office/drawing/2014/main" id="{E4401464-C07D-6508-CAE5-D60526C5A96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2621" y="2310479"/>
            <a:ext cx="2160000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pic>
        <p:nvPicPr>
          <p:cNvPr id="23" name="Рисунок 22">
            <a:extLst>
              <a:ext uri="{FF2B5EF4-FFF2-40B4-BE49-F238E27FC236}">
                <a16:creationId xmlns="" xmlns:a16="http://schemas.microsoft.com/office/drawing/2014/main" id="{935F4144-F980-9F96-2C35-9D9DB652FAFB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788649" y="1126662"/>
            <a:ext cx="2160000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pic>
        <p:nvPicPr>
          <p:cNvPr id="26" name="Рисунок 25">
            <a:extLst>
              <a:ext uri="{FF2B5EF4-FFF2-40B4-BE49-F238E27FC236}">
                <a16:creationId xmlns="" xmlns:a16="http://schemas.microsoft.com/office/drawing/2014/main" id="{2BF94F8B-C1B0-87E2-D504-653520C77801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20702" y="2921993"/>
            <a:ext cx="2160000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pic>
        <p:nvPicPr>
          <p:cNvPr id="28" name="Рисунок 27">
            <a:extLst>
              <a:ext uri="{FF2B5EF4-FFF2-40B4-BE49-F238E27FC236}">
                <a16:creationId xmlns="" xmlns:a16="http://schemas.microsoft.com/office/drawing/2014/main" id="{B793AC4A-08EA-B6B3-AA0A-A069DA622EC8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583492" y="1412495"/>
            <a:ext cx="2160000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26" b="6853"/>
          <a:stretch/>
        </p:blipFill>
        <p:spPr>
          <a:xfrm>
            <a:off x="5615873" y="1455175"/>
            <a:ext cx="6394175" cy="4827639"/>
          </a:xfrm>
          <a:prstGeom prst="rect">
            <a:avLst/>
          </a:prstGeom>
        </p:spPr>
      </p:pic>
      <p:pic>
        <p:nvPicPr>
          <p:cNvPr id="2050" name="Picture 2" descr="https://obuchim.com/wp-content/uploads/2023/10/nalich-2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92" y="5199396"/>
            <a:ext cx="2320457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Рисунок 24">
            <a:extLst>
              <a:ext uri="{FF2B5EF4-FFF2-40B4-BE49-F238E27FC236}">
                <a16:creationId xmlns="" xmlns:a16="http://schemas.microsoft.com/office/drawing/2014/main" id="{A50032AF-B90F-7C36-0838-98F9241B8D04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/>
          <a:srcRect l="1345" t="1741" r="1978" b="1845"/>
          <a:stretch/>
        </p:blipFill>
        <p:spPr>
          <a:xfrm>
            <a:off x="2814818" y="4587882"/>
            <a:ext cx="2165884" cy="1440000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5065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53"/>
    </mc:Choice>
    <mc:Fallback>
      <p:transition spd="slow" advTm="4753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714F011-E1CF-3F07-37EC-7EBDFAC2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Сотрудничество</a:t>
            </a:r>
          </a:p>
        </p:txBody>
      </p:sp>
      <p:pic>
        <p:nvPicPr>
          <p:cNvPr id="4" name="Picture 2" descr="C:\Documents and Settings\mesheryakova\Ольга Дизайнер\ЛОГОТИПЫ\логотипы ВУЗОВ\polytech_logo.png">
            <a:extLst>
              <a:ext uri="{FF2B5EF4-FFF2-40B4-BE49-F238E27FC236}">
                <a16:creationId xmlns="" xmlns:a16="http://schemas.microsoft.com/office/drawing/2014/main" id="{AEF18F2A-C700-FC5A-EAF7-8110BBBFA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37510" y="3718542"/>
            <a:ext cx="2012573" cy="532285"/>
          </a:xfrm>
          <a:prstGeom prst="rect">
            <a:avLst/>
          </a:prstGeom>
          <a:noFill/>
        </p:spPr>
      </p:pic>
      <p:pic>
        <p:nvPicPr>
          <p:cNvPr id="5" name="Picture 3" descr="C:\Documents and Settings\mesheryakova\Ольга Дизайнер\ЛОГОТИПЫ\логотипы ВУЗОВ\guap_logo.png">
            <a:extLst>
              <a:ext uri="{FF2B5EF4-FFF2-40B4-BE49-F238E27FC236}">
                <a16:creationId xmlns="" xmlns:a16="http://schemas.microsoft.com/office/drawing/2014/main" id="{0E90CA10-4633-B384-3308-C06982755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412905" y="2659283"/>
            <a:ext cx="2061784" cy="805077"/>
          </a:xfrm>
          <a:prstGeom prst="rect">
            <a:avLst/>
          </a:prstGeom>
          <a:noFill/>
        </p:spPr>
      </p:pic>
      <p:pic>
        <p:nvPicPr>
          <p:cNvPr id="6" name="Picture 4" descr="C:\Documents and Settings\mesheryakova\Ольга Дизайнер\ЛОГОТИПЫ\логотипы ВУЗОВ\1155153.png">
            <a:extLst>
              <a:ext uri="{FF2B5EF4-FFF2-40B4-BE49-F238E27FC236}">
                <a16:creationId xmlns="" xmlns:a16="http://schemas.microsoft.com/office/drawing/2014/main" id="{86E5CA69-CB73-DC9C-3058-C25EED144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860820" y="2722010"/>
            <a:ext cx="1110859" cy="1720288"/>
          </a:xfrm>
          <a:prstGeom prst="rect">
            <a:avLst/>
          </a:prstGeom>
          <a:noFill/>
        </p:spPr>
      </p:pic>
      <p:pic>
        <p:nvPicPr>
          <p:cNvPr id="7" name="Picture 9" descr="C:\Documents and Settings\mesheryakova\Ольга Дизайнер\ЛОГОТИПЫ\логотипы ВУЗОВ\206872_html_30d05341.png">
            <a:extLst>
              <a:ext uri="{FF2B5EF4-FFF2-40B4-BE49-F238E27FC236}">
                <a16:creationId xmlns="" xmlns:a16="http://schemas.microsoft.com/office/drawing/2014/main" id="{8F6231B6-ACC2-0438-58B9-048B9F424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380240" y="1924265"/>
            <a:ext cx="3047421" cy="683124"/>
          </a:xfrm>
          <a:prstGeom prst="rect">
            <a:avLst/>
          </a:prstGeom>
          <a:noFill/>
        </p:spPr>
      </p:pic>
      <p:pic>
        <p:nvPicPr>
          <p:cNvPr id="8" name="Picture 5" descr="C:\Documents and Settings\mesheryakova\Ольга Дизайнер\Hermitage_logo.svg.png">
            <a:extLst>
              <a:ext uri="{FF2B5EF4-FFF2-40B4-BE49-F238E27FC236}">
                <a16:creationId xmlns="" xmlns:a16="http://schemas.microsoft.com/office/drawing/2014/main" id="{0E688421-451A-EBCC-D449-9B9A6D6B0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69476" y="1511059"/>
            <a:ext cx="2450896" cy="1012527"/>
          </a:xfrm>
          <a:prstGeom prst="rect">
            <a:avLst/>
          </a:prstGeom>
          <a:noFill/>
        </p:spPr>
      </p:pic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553EBD96-DAC3-3082-6C15-4E572DB7E3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799" y="1783080"/>
            <a:ext cx="190500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="" xmlns:a16="http://schemas.microsoft.com/office/drawing/2014/main" id="{EBF61BB9-86A2-20ED-B5A4-083285AAE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066" y="2801353"/>
            <a:ext cx="2946580" cy="53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L:\2016-2017\логотипы предприятий\7d63dc6b0187b99041f8bbfada372470.jpg">
            <a:extLst>
              <a:ext uri="{FF2B5EF4-FFF2-40B4-BE49-F238E27FC236}">
                <a16:creationId xmlns="" xmlns:a16="http://schemas.microsoft.com/office/drawing/2014/main" id="{6E5D4CB7-2A99-DC43-7705-982C215F6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242203" y="3464360"/>
            <a:ext cx="3444365" cy="805077"/>
          </a:xfrm>
          <a:prstGeom prst="rect">
            <a:avLst/>
          </a:prstGeom>
          <a:noFill/>
        </p:spPr>
      </p:pic>
      <p:pic>
        <p:nvPicPr>
          <p:cNvPr id="10" name="Picture 3" descr="L:\2016-2017\логотипы предприятий\obuhovskiy.jpg">
            <a:extLst>
              <a:ext uri="{FF2B5EF4-FFF2-40B4-BE49-F238E27FC236}">
                <a16:creationId xmlns="" xmlns:a16="http://schemas.microsoft.com/office/drawing/2014/main" id="{15C897B5-9681-58EF-095B-442687BB1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915916" y="3905058"/>
            <a:ext cx="1942657" cy="1387613"/>
          </a:xfrm>
          <a:prstGeom prst="rect">
            <a:avLst/>
          </a:prstGeom>
          <a:noFill/>
        </p:spPr>
      </p:pic>
      <p:pic>
        <p:nvPicPr>
          <p:cNvPr id="12" name="Рисунок 11" descr="https://test.poimi.ru/wp-content/uploads/2024/02/logo_spbgu.png"/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510" y="4598864"/>
            <a:ext cx="1970913" cy="1022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9" t="27357" r="5238" b="24437"/>
          <a:stretch/>
        </p:blipFill>
        <p:spPr>
          <a:xfrm>
            <a:off x="8366066" y="4381061"/>
            <a:ext cx="2807599" cy="113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954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71"/>
    </mc:Choice>
    <mc:Fallback>
      <p:transition spd="slow" advTm="217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449D15D9-5FD7-07D4-B434-7FBCC17B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Сотрудничество</a:t>
            </a:r>
          </a:p>
        </p:txBody>
      </p:sp>
      <p:sp>
        <p:nvSpPr>
          <p:cNvPr id="5" name="Скругленный прямоугольник 23">
            <a:extLst>
              <a:ext uri="{FF2B5EF4-FFF2-40B4-BE49-F238E27FC236}">
                <a16:creationId xmlns="" xmlns:a16="http://schemas.microsoft.com/office/drawing/2014/main" id="{017E97CF-FC10-9AC5-D36A-9FCD387C79EE}"/>
              </a:ext>
            </a:extLst>
          </p:cNvPr>
          <p:cNvSpPr/>
          <p:nvPr/>
        </p:nvSpPr>
        <p:spPr>
          <a:xfrm>
            <a:off x="7955660" y="1695191"/>
            <a:ext cx="3951875" cy="298517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24A6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33CCA40-4D5C-D626-20DF-1FB0D0845B59}"/>
              </a:ext>
            </a:extLst>
          </p:cNvPr>
          <p:cNvSpPr txBox="1"/>
          <p:nvPr/>
        </p:nvSpPr>
        <p:spPr>
          <a:xfrm>
            <a:off x="8036184" y="2278567"/>
            <a:ext cx="3795270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 </a:t>
            </a:r>
            <a:r>
              <a:rPr lang="ru-RU" b="1" dirty="0"/>
              <a:t>РАЙОННЫЕ </a:t>
            </a:r>
          </a:p>
          <a:p>
            <a:pPr algn="ctr"/>
            <a:r>
              <a:rPr lang="ru-RU" b="1" dirty="0"/>
              <a:t>МЕТОДИЧЕСКИЕ ЦЕНТРЫ </a:t>
            </a:r>
          </a:p>
          <a:p>
            <a:pPr algn="ctr"/>
            <a:r>
              <a:rPr lang="ru-RU" sz="1400" b="1" dirty="0">
                <a:solidFill>
                  <a:srgbClr val="24A67A"/>
                </a:solidFill>
              </a:rPr>
              <a:t>Выборгского, Калининского, </a:t>
            </a:r>
            <a:br>
              <a:rPr lang="ru-RU" sz="1400" b="1" dirty="0">
                <a:solidFill>
                  <a:srgbClr val="24A67A"/>
                </a:solidFill>
              </a:rPr>
            </a:br>
            <a:r>
              <a:rPr lang="ru-RU" sz="1400" b="1" dirty="0" smtClean="0">
                <a:solidFill>
                  <a:srgbClr val="24A67A"/>
                </a:solidFill>
              </a:rPr>
              <a:t>Невского, Приморского,</a:t>
            </a:r>
            <a:br>
              <a:rPr lang="ru-RU" sz="1400" b="1" dirty="0" smtClean="0">
                <a:solidFill>
                  <a:srgbClr val="24A67A"/>
                </a:solidFill>
              </a:rPr>
            </a:br>
            <a:r>
              <a:rPr lang="ru-RU" sz="1400" b="1" dirty="0" smtClean="0">
                <a:solidFill>
                  <a:srgbClr val="24A67A"/>
                </a:solidFill>
              </a:rPr>
              <a:t>Василеостровского районов </a:t>
            </a:r>
            <a:endParaRPr lang="ru-RU" sz="1400" b="1" dirty="0">
              <a:solidFill>
                <a:srgbClr val="24A67A"/>
              </a:solidFill>
            </a:endParaRPr>
          </a:p>
          <a:p>
            <a:pPr algn="ctr"/>
            <a:endParaRPr lang="ru-RU" sz="1400" b="1" dirty="0">
              <a:solidFill>
                <a:srgbClr val="24A67A"/>
              </a:solidFill>
            </a:endParaRPr>
          </a:p>
          <a:p>
            <a:pPr algn="ctr"/>
            <a:r>
              <a:rPr lang="ru-RU" sz="1400" b="1" dirty="0"/>
              <a:t>ПО НАЧАЛЬНОЙ ШКОЛЕ, ИНФОРМАТИКЕ и ПРОФОРИЕНТАЦИОННОЙ РАБОТЕ </a:t>
            </a:r>
            <a:endParaRPr lang="ru-RU" sz="1400" b="1" dirty="0">
              <a:solidFill>
                <a:srgbClr val="24A67A"/>
              </a:solidFill>
            </a:endParaRPr>
          </a:p>
        </p:txBody>
      </p:sp>
      <p:sp>
        <p:nvSpPr>
          <p:cNvPr id="8" name="Скругленный прямоугольник 25">
            <a:extLst>
              <a:ext uri="{FF2B5EF4-FFF2-40B4-BE49-F238E27FC236}">
                <a16:creationId xmlns="" xmlns:a16="http://schemas.microsoft.com/office/drawing/2014/main" id="{E8D693D6-1473-9DD0-9B45-87843D012EC3}"/>
              </a:ext>
            </a:extLst>
          </p:cNvPr>
          <p:cNvSpPr/>
          <p:nvPr/>
        </p:nvSpPr>
        <p:spPr>
          <a:xfrm>
            <a:off x="1107706" y="3384527"/>
            <a:ext cx="3185175" cy="129583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24A6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C794C0C-A0CA-C8A3-0D11-48BEB6A9B38A}"/>
              </a:ext>
            </a:extLst>
          </p:cNvPr>
          <p:cNvSpPr txBox="1"/>
          <p:nvPr/>
        </p:nvSpPr>
        <p:spPr>
          <a:xfrm>
            <a:off x="1293010" y="3384527"/>
            <a:ext cx="2903692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 </a:t>
            </a:r>
            <a:r>
              <a:rPr lang="ru-RU" b="1" dirty="0"/>
              <a:t>ЦЕНТРАЛЬНАЯ</a:t>
            </a:r>
          </a:p>
          <a:p>
            <a:pPr algn="ctr"/>
            <a:r>
              <a:rPr lang="ru-RU" b="1" dirty="0"/>
              <a:t>ДЕТСКАЯ БИБЛИОТЕКА</a:t>
            </a:r>
            <a:r>
              <a:rPr lang="ru-RU" sz="1600" b="1" dirty="0"/>
              <a:t> </a:t>
            </a:r>
          </a:p>
          <a:p>
            <a:pPr algn="ctr"/>
            <a:r>
              <a:rPr lang="ru-RU" sz="1600" b="1" dirty="0">
                <a:solidFill>
                  <a:srgbClr val="24A67A"/>
                </a:solidFill>
              </a:rPr>
              <a:t>Выборгского</a:t>
            </a:r>
            <a:r>
              <a:rPr lang="en-US" sz="1600" b="1" dirty="0">
                <a:solidFill>
                  <a:srgbClr val="24A67A"/>
                </a:solidFill>
              </a:rPr>
              <a:t> </a:t>
            </a:r>
            <a:r>
              <a:rPr lang="ru-RU" sz="1600" b="1" dirty="0">
                <a:solidFill>
                  <a:srgbClr val="24A67A"/>
                </a:solidFill>
              </a:rPr>
              <a:t>и Приморского районов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="" xmlns:a16="http://schemas.microsoft.com/office/drawing/2014/main" id="{91F042C2-E006-938D-49AA-679C637C3974}"/>
              </a:ext>
            </a:extLst>
          </p:cNvPr>
          <p:cNvGrpSpPr/>
          <p:nvPr/>
        </p:nvGrpSpPr>
        <p:grpSpPr>
          <a:xfrm>
            <a:off x="1123035" y="1750246"/>
            <a:ext cx="3518248" cy="1214446"/>
            <a:chOff x="109107" y="1845223"/>
            <a:chExt cx="3876702" cy="1214446"/>
          </a:xfrm>
        </p:grpSpPr>
        <p:sp>
          <p:nvSpPr>
            <p:cNvPr id="11" name="Скругленный прямоугольник 28">
              <a:extLst>
                <a:ext uri="{FF2B5EF4-FFF2-40B4-BE49-F238E27FC236}">
                  <a16:creationId xmlns="" xmlns:a16="http://schemas.microsoft.com/office/drawing/2014/main" id="{50320B7C-CA3E-0E78-411D-51352FF660B5}"/>
                </a:ext>
              </a:extLst>
            </p:cNvPr>
            <p:cNvSpPr/>
            <p:nvPr/>
          </p:nvSpPr>
          <p:spPr>
            <a:xfrm>
              <a:off x="109107" y="1845223"/>
              <a:ext cx="3876702" cy="121444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24A67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769A2684-7C50-3D27-6584-5D3125E1683C}"/>
                </a:ext>
              </a:extLst>
            </p:cNvPr>
            <p:cNvSpPr txBox="1"/>
            <p:nvPr/>
          </p:nvSpPr>
          <p:spPr>
            <a:xfrm>
              <a:off x="112709" y="1961550"/>
              <a:ext cx="3857652" cy="9541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/>
                <a:t> </a:t>
              </a:r>
              <a:r>
                <a:rPr lang="ru-RU" b="1" dirty="0"/>
                <a:t>ГОРОДСКАЯ ПУБЛИЧНАЯ БИБЛИОТЕКА им. В.Маяковского </a:t>
              </a:r>
              <a:r>
                <a:rPr lang="ru-RU" sz="1600" b="1" dirty="0">
                  <a:solidFill>
                    <a:srgbClr val="24A67A"/>
                  </a:solidFill>
                </a:rPr>
                <a:t>Калининский район</a:t>
              </a:r>
            </a:p>
          </p:txBody>
        </p:sp>
      </p:grpSp>
      <p:sp>
        <p:nvSpPr>
          <p:cNvPr id="14" name="Скругленный прямоугольник 29">
            <a:extLst>
              <a:ext uri="{FF2B5EF4-FFF2-40B4-BE49-F238E27FC236}">
                <a16:creationId xmlns="" xmlns:a16="http://schemas.microsoft.com/office/drawing/2014/main" id="{3A38E433-0650-ACB1-A281-D66ED8F8E170}"/>
              </a:ext>
            </a:extLst>
          </p:cNvPr>
          <p:cNvSpPr/>
          <p:nvPr/>
        </p:nvSpPr>
        <p:spPr>
          <a:xfrm>
            <a:off x="3782810" y="4873128"/>
            <a:ext cx="4774043" cy="1479545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24A6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B13807FD-97DE-55F5-C59C-2BEF580C5E5F}"/>
              </a:ext>
            </a:extLst>
          </p:cNvPr>
          <p:cNvSpPr txBox="1"/>
          <p:nvPr/>
        </p:nvSpPr>
        <p:spPr>
          <a:xfrm>
            <a:off x="4196702" y="4935866"/>
            <a:ext cx="3762673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 </a:t>
            </a:r>
            <a:r>
              <a:rPr lang="ru-RU" b="1" dirty="0"/>
              <a:t>Более 70 школ </a:t>
            </a:r>
          </a:p>
          <a:p>
            <a:pPr algn="ctr"/>
            <a:r>
              <a:rPr lang="ru-RU" sz="1400" b="1" dirty="0">
                <a:solidFill>
                  <a:srgbClr val="24A67A"/>
                </a:solidFill>
              </a:rPr>
              <a:t>Приморского, Калининского</a:t>
            </a:r>
            <a:r>
              <a:rPr lang="ru-RU" sz="1400" b="1" dirty="0" smtClean="0">
                <a:solidFill>
                  <a:srgbClr val="24A67A"/>
                </a:solidFill>
              </a:rPr>
              <a:t>, Выборгского</a:t>
            </a:r>
            <a:r>
              <a:rPr lang="ru-RU" sz="1400" b="1" dirty="0">
                <a:solidFill>
                  <a:srgbClr val="24A67A"/>
                </a:solidFill>
              </a:rPr>
              <a:t>, </a:t>
            </a:r>
            <a:r>
              <a:rPr lang="ru-RU" sz="1400" b="1" dirty="0" smtClean="0">
                <a:solidFill>
                  <a:srgbClr val="24A67A"/>
                </a:solidFill>
              </a:rPr>
              <a:t>Невского, Красногвардейского, </a:t>
            </a:r>
            <a:r>
              <a:rPr lang="ru-RU" sz="1400" b="1" dirty="0">
                <a:solidFill>
                  <a:srgbClr val="24A67A"/>
                </a:solidFill>
              </a:rPr>
              <a:t>Василеостровского </a:t>
            </a:r>
            <a:r>
              <a:rPr lang="ru-RU" sz="1400" b="1" dirty="0" smtClean="0">
                <a:solidFill>
                  <a:srgbClr val="24A67A"/>
                </a:solidFill>
              </a:rPr>
              <a:t>районов</a:t>
            </a:r>
            <a:endParaRPr lang="ru-RU" sz="1400" b="1" dirty="0">
              <a:solidFill>
                <a:srgbClr val="24A67A"/>
              </a:solidFill>
            </a:endParaRPr>
          </a:p>
        </p:txBody>
      </p:sp>
      <p:sp>
        <p:nvSpPr>
          <p:cNvPr id="19" name="Подзаголовок 2">
            <a:extLst>
              <a:ext uri="{FF2B5EF4-FFF2-40B4-BE49-F238E27FC236}">
                <a16:creationId xmlns="" xmlns:a16="http://schemas.microsoft.com/office/drawing/2014/main" id="{444295E6-89C5-5C45-77EE-6987576448BB}"/>
              </a:ext>
            </a:extLst>
          </p:cNvPr>
          <p:cNvSpPr txBox="1">
            <a:spLocks/>
          </p:cNvSpPr>
          <p:nvPr/>
        </p:nvSpPr>
        <p:spPr>
          <a:xfrm>
            <a:off x="5167674" y="2733338"/>
            <a:ext cx="2035082" cy="827397"/>
          </a:xfrm>
          <a:prstGeom prst="rect">
            <a:avLst/>
          </a:prstGeom>
          <a:ln>
            <a:solidFill>
              <a:srgbClr val="24A67A"/>
            </a:solidFill>
          </a:ln>
        </p:spPr>
        <p:txBody>
          <a:bodyPr vert="horz" lIns="91440" tIns="45720" rIns="91440" bIns="45720" rtlCol="0">
            <a:noAutofit/>
          </a:bodyPr>
          <a:lstStyle/>
          <a:p>
            <a:pPr marR="0" lvl="0" algn="ctr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5">
                  <a:lumMod val="75000"/>
                </a:schemeClr>
              </a:buClr>
              <a:buSzTx/>
              <a:tabLst>
                <a:tab pos="628650" algn="l"/>
              </a:tabLst>
              <a:defRPr/>
            </a:pPr>
            <a:r>
              <a:rPr lang="ru-RU" sz="2400" b="1" dirty="0">
                <a:solidFill>
                  <a:srgbClr val="24A67A"/>
                </a:solidFill>
              </a:rPr>
              <a:t>ПАРТНЕРЫ АКАДЕМИИ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="" xmlns:a16="http://schemas.microsoft.com/office/drawing/2014/main" id="{86835160-FDEC-D64A-B09B-C0EB80B55F0D}"/>
              </a:ext>
            </a:extLst>
          </p:cNvPr>
          <p:cNvCxnSpPr>
            <a:cxnSpLocks/>
          </p:cNvCxnSpPr>
          <p:nvPr/>
        </p:nvCxnSpPr>
        <p:spPr>
          <a:xfrm>
            <a:off x="7233506" y="3172408"/>
            <a:ext cx="722154" cy="0"/>
          </a:xfrm>
          <a:prstGeom prst="straightConnector1">
            <a:avLst/>
          </a:prstGeom>
          <a:ln w="19050">
            <a:solidFill>
              <a:srgbClr val="24A67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="" xmlns:a16="http://schemas.microsoft.com/office/drawing/2014/main" id="{7980DD5F-5693-F31E-236E-93F54BEBAC9D}"/>
              </a:ext>
            </a:extLst>
          </p:cNvPr>
          <p:cNvCxnSpPr>
            <a:cxnSpLocks/>
          </p:cNvCxnSpPr>
          <p:nvPr/>
        </p:nvCxnSpPr>
        <p:spPr>
          <a:xfrm flipV="1">
            <a:off x="4292881" y="3523266"/>
            <a:ext cx="970972" cy="458393"/>
          </a:xfrm>
          <a:prstGeom prst="straightConnector1">
            <a:avLst/>
          </a:prstGeom>
          <a:ln w="19050">
            <a:solidFill>
              <a:srgbClr val="24A67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="" xmlns:a16="http://schemas.microsoft.com/office/drawing/2014/main" id="{10DAC708-E4AB-C381-5192-299605383ABA}"/>
              </a:ext>
            </a:extLst>
          </p:cNvPr>
          <p:cNvCxnSpPr>
            <a:cxnSpLocks/>
          </p:cNvCxnSpPr>
          <p:nvPr/>
        </p:nvCxnSpPr>
        <p:spPr>
          <a:xfrm flipH="1" flipV="1">
            <a:off x="4632175" y="2357469"/>
            <a:ext cx="712202" cy="375869"/>
          </a:xfrm>
          <a:prstGeom prst="straightConnector1">
            <a:avLst/>
          </a:prstGeom>
          <a:ln w="19050">
            <a:solidFill>
              <a:srgbClr val="24A67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="" xmlns:a16="http://schemas.microsoft.com/office/drawing/2014/main" id="{2BF96173-B35D-ED5E-145D-D6E26AF4B118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 flipH="1">
            <a:off x="6169832" y="3560735"/>
            <a:ext cx="15383" cy="1312393"/>
          </a:xfrm>
          <a:prstGeom prst="straightConnector1">
            <a:avLst/>
          </a:prstGeom>
          <a:ln w="19050">
            <a:solidFill>
              <a:srgbClr val="24A67A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627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30"/>
    </mc:Choice>
    <mc:Fallback>
      <p:transition spd="slow" advTm="333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3C12B78-9461-A429-631B-6021ADF11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Мероприятия для школьников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9FC49A64-0E4C-9E23-5DA3-F391A3C2C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7842" y="1581905"/>
            <a:ext cx="5639841" cy="5021415"/>
          </a:xfrm>
        </p:spPr>
        <p:txBody>
          <a:bodyPr>
            <a:normAutofit/>
          </a:bodyPr>
          <a:lstStyle/>
          <a:p>
            <a:r>
              <a:rPr lang="ru-RU" sz="1800" dirty="0"/>
              <a:t>Путешествие в Город знаний</a:t>
            </a:r>
          </a:p>
          <a:p>
            <a:r>
              <a:rPr lang="ru-RU" sz="1800" dirty="0"/>
              <a:t>Фестиваль программирования «</a:t>
            </a:r>
            <a:r>
              <a:rPr lang="ru-RU" sz="1800" dirty="0" err="1"/>
              <a:t>ЮниКод</a:t>
            </a:r>
            <a:r>
              <a:rPr lang="ru-RU" sz="1800" dirty="0"/>
              <a:t>»</a:t>
            </a:r>
          </a:p>
          <a:p>
            <a:r>
              <a:rPr lang="ru-RU" sz="1800" dirty="0"/>
              <a:t>Фестиваль «Цифровая метель»</a:t>
            </a:r>
          </a:p>
          <a:p>
            <a:r>
              <a:rPr lang="ru-RU" sz="1800" dirty="0"/>
              <a:t>Конкурс компьютерной графики и анимации</a:t>
            </a:r>
            <a:br>
              <a:rPr lang="ru-RU" sz="1800" dirty="0"/>
            </a:br>
            <a:r>
              <a:rPr lang="ru-RU" sz="1400" dirty="0"/>
              <a:t>(совместно с Государственным Эрмитажем)</a:t>
            </a:r>
          </a:p>
          <a:p>
            <a:r>
              <a:rPr lang="ru-RU" sz="1800" dirty="0"/>
              <a:t>Олимпиада по английскому языку </a:t>
            </a:r>
            <a:r>
              <a:rPr lang="en-US" sz="1800" dirty="0"/>
              <a:t>Step Up to Success</a:t>
            </a:r>
            <a:endParaRPr lang="ru-RU" sz="1800" dirty="0"/>
          </a:p>
          <a:p>
            <a:r>
              <a:rPr lang="ru-RU" sz="1800" dirty="0"/>
              <a:t>Конкурс  коллажей на </a:t>
            </a:r>
            <a:r>
              <a:rPr lang="ru-RU" sz="1800" dirty="0" smtClean="0"/>
              <a:t>английском языке</a:t>
            </a:r>
          </a:p>
          <a:p>
            <a:r>
              <a:rPr lang="ru-RU" sz="1800" dirty="0"/>
              <a:t>Творческие фестивали и </a:t>
            </a:r>
            <a:r>
              <a:rPr lang="ru-RU" sz="1800" dirty="0" smtClean="0"/>
              <a:t>конкурсы</a:t>
            </a:r>
          </a:p>
          <a:p>
            <a:r>
              <a:rPr lang="ru-RU" sz="1800" dirty="0" smtClean="0"/>
              <a:t>«</a:t>
            </a:r>
            <a:r>
              <a:rPr lang="ru-RU" sz="1800" dirty="0"/>
              <a:t>Ломая линию»</a:t>
            </a:r>
          </a:p>
          <a:p>
            <a:r>
              <a:rPr lang="ru-RU" sz="1800" dirty="0" smtClean="0"/>
              <a:t>«</a:t>
            </a:r>
            <a:r>
              <a:rPr lang="ru-RU" sz="1800" dirty="0"/>
              <a:t>Петровская палитра»</a:t>
            </a:r>
          </a:p>
          <a:p>
            <a:r>
              <a:rPr lang="ru-RU" sz="1800" dirty="0" smtClean="0"/>
              <a:t>«Да здравствует, Санкт-Петербург!»</a:t>
            </a:r>
            <a:endParaRPr lang="ru-RU" sz="1800" dirty="0"/>
          </a:p>
          <a:p>
            <a:r>
              <a:rPr lang="ru-RU" sz="1800" dirty="0"/>
              <a:t>Фестиваль </a:t>
            </a:r>
            <a:r>
              <a:rPr lang="en-US" sz="1800" dirty="0" err="1"/>
              <a:t>iT</a:t>
            </a:r>
            <a:r>
              <a:rPr lang="en-US" sz="1800" dirty="0"/>
              <a:t>-</a:t>
            </a:r>
            <a:r>
              <a:rPr lang="ru-RU" sz="1800" dirty="0"/>
              <a:t>профессий</a:t>
            </a:r>
          </a:p>
          <a:p>
            <a:r>
              <a:rPr lang="ru-RU" sz="1800" dirty="0"/>
              <a:t>День профориентации</a:t>
            </a:r>
          </a:p>
          <a:p>
            <a:endParaRPr lang="ru-RU" sz="1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DDC09E4E-B1B3-436F-CE50-4DD6C4F3D2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792" y="1581905"/>
            <a:ext cx="1272520" cy="18000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="" xmlns:a16="http://schemas.microsoft.com/office/drawing/2014/main" id="{F503BB8A-1657-F53A-4459-17BAF9AD94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864" y="1492046"/>
            <a:ext cx="1272189" cy="1800000"/>
          </a:xfrm>
          <a:prstGeom prst="rect">
            <a:avLst/>
          </a:prstGeom>
        </p:spPr>
      </p:pic>
      <p:pic>
        <p:nvPicPr>
          <p:cNvPr id="9" name="Объект 6">
            <a:extLst>
              <a:ext uri="{FF2B5EF4-FFF2-40B4-BE49-F238E27FC236}">
                <a16:creationId xmlns="" xmlns:a16="http://schemas.microsoft.com/office/drawing/2014/main" id="{179A592E-3B95-8EBC-1623-443BF4B11E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3046" y="1464408"/>
            <a:ext cx="1272585" cy="180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390C8A23-9240-98BA-8E45-CCDB81A7AF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226" y="1485512"/>
            <a:ext cx="1272520" cy="1800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7B185D90-E911-020F-7B94-DAFD6730D2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168" y="2982831"/>
            <a:ext cx="1272585" cy="1800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A61F7D2E-C2B8-8D26-4DED-D01A43969FE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9441" y="1824673"/>
            <a:ext cx="1270898" cy="180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="" xmlns:a16="http://schemas.microsoft.com/office/drawing/2014/main" id="{BFA2BCCF-991B-8592-309A-D7BAF5E02F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638" y="3452037"/>
            <a:ext cx="1272551" cy="180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="" xmlns:a16="http://schemas.microsoft.com/office/drawing/2014/main" id="{DA0E1629-D3D1-7E04-58A6-F508E7D3652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3144" y="3060184"/>
            <a:ext cx="1268924" cy="1800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="" xmlns:a16="http://schemas.microsoft.com/office/drawing/2014/main" id="{80779034-BB3A-6CF6-98D1-F0710F1F0BD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897" y="4340576"/>
            <a:ext cx="1268924" cy="18000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="" xmlns:a16="http://schemas.microsoft.com/office/drawing/2014/main" id="{BF9E7F63-0D9A-6629-1B5F-0FCF29C3A08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210" y="4465954"/>
            <a:ext cx="1272808" cy="18000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="" xmlns:a16="http://schemas.microsoft.com/office/drawing/2014/main" id="{B26B0F3D-39AB-B229-5874-0C40688A5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821" y="3153460"/>
            <a:ext cx="1296094" cy="180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="" xmlns:a16="http://schemas.microsoft.com/office/drawing/2014/main" id="{ADD8FD46-EA63-346D-A556-1127A31BB70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562" y="4260711"/>
            <a:ext cx="13083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84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75"/>
    </mc:Choice>
    <mc:Fallback>
      <p:transition spd="slow" advTm="80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14A09D2-BA92-50D6-7DAD-7C0B674C7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/>
              <a:t>Путешествие в Город знаний</a:t>
            </a:r>
            <a:br>
              <a:rPr lang="ru-RU" sz="4400" dirty="0"/>
            </a:b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D8E8785A-EE95-7D49-869C-DC3ECC95B3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030" y="1327761"/>
            <a:ext cx="2545040" cy="360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2951FAA5-2839-C9C1-8678-3A24333B57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2" t="6650" b="2043"/>
          <a:stretch/>
        </p:blipFill>
        <p:spPr>
          <a:xfrm>
            <a:off x="6285394" y="3793170"/>
            <a:ext cx="3186151" cy="22691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FDD25CB0-F3E9-37A4-1C0C-A62DA82018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494" y="2962484"/>
            <a:ext cx="2880000" cy="216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4E6463EF-6562-7657-93F2-2BE7BCAAFAE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6" t="10082" r="212" b="7229"/>
          <a:stretch/>
        </p:blipFill>
        <p:spPr>
          <a:xfrm>
            <a:off x="6240469" y="1217827"/>
            <a:ext cx="3276000" cy="216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Объект 4">
            <a:extLst>
              <a:ext uri="{FF2B5EF4-FFF2-40B4-BE49-F238E27FC236}">
                <a16:creationId xmlns="" xmlns:a16="http://schemas.microsoft.com/office/drawing/2014/main" id="{07814C56-0646-E10D-757D-F49053E38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738" y="2962484"/>
            <a:ext cx="2545040" cy="3600000"/>
          </a:xfrm>
        </p:spPr>
      </p:pic>
      <p:sp>
        <p:nvSpPr>
          <p:cNvPr id="14" name="Прямоугольник: скругленные углы 13">
            <a:extLst>
              <a:ext uri="{FF2B5EF4-FFF2-40B4-BE49-F238E27FC236}">
                <a16:creationId xmlns="" xmlns:a16="http://schemas.microsoft.com/office/drawing/2014/main" id="{C28CCAD5-DC36-79E5-876E-405EB361003B}"/>
              </a:ext>
            </a:extLst>
          </p:cNvPr>
          <p:cNvSpPr/>
          <p:nvPr/>
        </p:nvSpPr>
        <p:spPr>
          <a:xfrm>
            <a:off x="1599235" y="5189436"/>
            <a:ext cx="1555845" cy="111137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rgbClr val="FF0000"/>
                </a:solidFill>
                <a:latin typeface="Franklin Gothic Demi Cond" panose="020B0706030402020204" pitchFamily="34" charset="0"/>
              </a:rPr>
              <a:t>1 - 4 класс</a:t>
            </a:r>
          </a:p>
        </p:txBody>
      </p:sp>
    </p:spTree>
    <p:extLst>
      <p:ext uri="{BB962C8B-B14F-4D97-AF65-F5344CB8AC3E}">
        <p14:creationId xmlns:p14="http://schemas.microsoft.com/office/powerpoint/2010/main" val="3426119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90"/>
    </mc:Choice>
    <mc:Fallback>
      <p:transition spd="slow" advTm="369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B25F1F81-0153-AE87-6CC3-9A6655F76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490" y="781396"/>
            <a:ext cx="6413309" cy="909292"/>
          </a:xfrm>
        </p:spPr>
        <p:txBody>
          <a:bodyPr>
            <a:normAutofit fontScale="90000"/>
          </a:bodyPr>
          <a:lstStyle/>
          <a:p>
            <a:r>
              <a:rPr lang="ru-RU" sz="4400" dirty="0"/>
              <a:t>Фестиваль программирования «</a:t>
            </a:r>
            <a:r>
              <a:rPr lang="ru-RU" sz="4400" dirty="0" err="1"/>
              <a:t>ЮниКод</a:t>
            </a:r>
            <a:r>
              <a:rPr lang="ru-RU" sz="4400" dirty="0"/>
              <a:t>»</a:t>
            </a:r>
            <a:br>
              <a:rPr lang="ru-RU" sz="4400" dirty="0"/>
            </a:b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C56BF6BC-C30C-0799-CA43-9F8DCD04E2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0" t="4823" r="7197" b="31728"/>
          <a:stretch/>
        </p:blipFill>
        <p:spPr>
          <a:xfrm>
            <a:off x="5438880" y="3844414"/>
            <a:ext cx="4803047" cy="288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49C0E415-036A-BD04-1A6F-F635F3FD35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539" y="2189173"/>
            <a:ext cx="2222815" cy="16671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709F9B09-9DE6-F9D0-EAFA-79ABC7D9E1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0" b="7658"/>
          <a:stretch/>
        </p:blipFill>
        <p:spPr>
          <a:xfrm>
            <a:off x="7471012" y="1538866"/>
            <a:ext cx="4534674" cy="288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Прямоугольник: скругленные углы 2">
            <a:extLst>
              <a:ext uri="{FF2B5EF4-FFF2-40B4-BE49-F238E27FC236}">
                <a16:creationId xmlns="" xmlns:a16="http://schemas.microsoft.com/office/drawing/2014/main" id="{B53039A1-E57A-EEC5-6BDC-14864EF34DA5}"/>
              </a:ext>
            </a:extLst>
          </p:cNvPr>
          <p:cNvSpPr/>
          <p:nvPr/>
        </p:nvSpPr>
        <p:spPr>
          <a:xfrm>
            <a:off x="270424" y="5449972"/>
            <a:ext cx="1555845" cy="111137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rgbClr val="FF0000"/>
                </a:solidFill>
                <a:latin typeface="Franklin Gothic Demi Cond" panose="020B0706030402020204" pitchFamily="34" charset="0"/>
              </a:rPr>
              <a:t>1 - 6 класс</a:t>
            </a:r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412" y="1654320"/>
            <a:ext cx="3136324" cy="4351338"/>
          </a:xfrm>
        </p:spPr>
      </p:pic>
    </p:spTree>
    <p:extLst>
      <p:ext uri="{BB962C8B-B14F-4D97-AF65-F5344CB8AC3E}">
        <p14:creationId xmlns:p14="http://schemas.microsoft.com/office/powerpoint/2010/main" val="29577995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43"/>
    </mc:Choice>
    <mc:Fallback>
      <p:transition spd="slow" advTm="4143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F743468-D525-AA26-646D-B0BCC5F31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336" y="320440"/>
            <a:ext cx="5975465" cy="1975452"/>
          </a:xfrm>
        </p:spPr>
        <p:txBody>
          <a:bodyPr>
            <a:normAutofit/>
          </a:bodyPr>
          <a:lstStyle/>
          <a:p>
            <a:r>
              <a:rPr lang="ru-RU" sz="4400" dirty="0"/>
              <a:t>Конкурс  компьютерной графики и анимации</a:t>
            </a:r>
            <a:br>
              <a:rPr lang="ru-RU" sz="4400" dirty="0"/>
            </a:br>
            <a:r>
              <a:rPr lang="ru-RU" sz="2800" dirty="0"/>
              <a:t>совместно с Эрмитажем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="" xmlns:a16="http://schemas.microsoft.com/office/drawing/2014/main" id="{5146D2A1-5F7E-98E8-B9E6-DDFCCDD0B1B7}"/>
              </a:ext>
            </a:extLst>
          </p:cNvPr>
          <p:cNvSpPr/>
          <p:nvPr/>
        </p:nvSpPr>
        <p:spPr>
          <a:xfrm>
            <a:off x="611596" y="4985041"/>
            <a:ext cx="1731917" cy="1217487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rgbClr val="FF0000"/>
                </a:solidFill>
                <a:latin typeface="Franklin Gothic Demi Cond" panose="020B0706030402020204" pitchFamily="34" charset="0"/>
              </a:rPr>
              <a:t>1 - 11 класс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="" xmlns:a16="http://schemas.microsoft.com/office/drawing/2014/main" id="{3897FACA-95AD-AE64-FDEB-63805E4691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36" y="1090711"/>
            <a:ext cx="2521667" cy="3600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574" y="2196782"/>
            <a:ext cx="3011509" cy="4300076"/>
          </a:xfrm>
          <a:prstGeom prst="rect">
            <a:avLst/>
          </a:prstGeom>
        </p:spPr>
      </p:pic>
      <p:pic>
        <p:nvPicPr>
          <p:cNvPr id="2050" name="Picture 2" descr="https://downloader.disk.yandex.ru/preview/f26e5523c2d77cbc1c78eb36146114e9927c760697641e0a62c441a29a015556/66155b75/klwQEESeEZUwO6V-UIm1kRzuMVU-uAtZZdDIKf0FEkgoAFgyVtax06RyU6UM-YBjxZp0HWe8HIk-t11PLDSVCg%3D%3D?uid=0&amp;filename=IMG_1460.JPG&amp;disposition=inline&amp;hash=&amp;limit=0&amp;content_type=image%2Fjpeg&amp;owner_uid=0&amp;tknv=v2&amp;size=1872x96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670" y="4710964"/>
            <a:ext cx="3164791" cy="21090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downloader.disk.yandex.ru/preview/184731f888d7f5fa60eaff9ef8d473fb4fbf9e6028b392d420b5b1db4feb5b98/66155b75/txgGtYGxSeT8sxCZE7Jhq1SlnwAdNOp2Bve843JGc-r8LYu5ZodNBwIWrueRswcbJZCZ_4Eq4K2LUtpmlm6cyA%3D%3D?uid=0&amp;filename=IMG_1529.JPG&amp;disposition=inline&amp;hash=&amp;limit=0&amp;content_type=image%2Fjpeg&amp;owner_uid=0&amp;tknv=v2&amp;size=1872x964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42" r="12648"/>
          <a:stretch/>
        </p:blipFill>
        <p:spPr bwMode="auto">
          <a:xfrm>
            <a:off x="9415696" y="3100916"/>
            <a:ext cx="2636743" cy="174520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downloader.disk.yandex.ru/preview/c92bd979b5bf45572032ce782a462b56050a14e3c3a53f549d7d455eef50e103/66155b76/CAm2_WW2ssnTBGuUr4SvM_FNt2n6FifYR0b8hXLpOCVhOgKh7aLJ38ISbfMaaTWMd5oHQcAZ9_1OJGlvf8wSrA%3D%3D?uid=0&amp;filename=IMG_1832.JPG&amp;disposition=inline&amp;hash=&amp;limit=0&amp;content_type=image%2Fjpeg&amp;owner_uid=0&amp;tknv=v2&amp;size=1872x96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944" y="2461882"/>
            <a:ext cx="3577752" cy="23842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374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28"/>
    </mc:Choice>
    <mc:Fallback>
      <p:transition spd="slow" advTm="3628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825" y="1236042"/>
            <a:ext cx="3268670" cy="4636690"/>
          </a:xfrm>
        </p:spPr>
      </p:pic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765D45E-78D3-D069-5A5F-3B572CBDD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dirty="0"/>
              <a:t/>
            </a:r>
            <a:br>
              <a:rPr lang="ru-RU" sz="4400" dirty="0"/>
            </a:br>
            <a:r>
              <a:rPr lang="ru-RU" sz="4400" dirty="0"/>
              <a:t>День профориентации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DF57CFF8-FAF2-5199-9FAA-EAC46A4C6A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495" y="1906621"/>
            <a:ext cx="2926387" cy="21947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2A4ED410-3E2A-A037-EFD5-F5E7521D7A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9" b="9915"/>
          <a:stretch/>
        </p:blipFill>
        <p:spPr>
          <a:xfrm>
            <a:off x="8455148" y="1906621"/>
            <a:ext cx="3541985" cy="20709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8B309D08-6955-C8AC-50DA-C12792A558A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45" b="14341"/>
          <a:stretch/>
        </p:blipFill>
        <p:spPr>
          <a:xfrm>
            <a:off x="6332706" y="3804512"/>
            <a:ext cx="5092207" cy="24333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Прямоугольник: скругленные углы 11">
            <a:extLst>
              <a:ext uri="{FF2B5EF4-FFF2-40B4-BE49-F238E27FC236}">
                <a16:creationId xmlns="" xmlns:a16="http://schemas.microsoft.com/office/drawing/2014/main" id="{DA762E03-4925-61B8-880A-BBC8F1BA43B8}"/>
              </a:ext>
            </a:extLst>
          </p:cNvPr>
          <p:cNvSpPr/>
          <p:nvPr/>
        </p:nvSpPr>
        <p:spPr>
          <a:xfrm>
            <a:off x="1021623" y="4910170"/>
            <a:ext cx="1555845" cy="111137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rgbClr val="FF0000"/>
                </a:solidFill>
                <a:latin typeface="Franklin Gothic Demi Cond" panose="020B0706030402020204" pitchFamily="34" charset="0"/>
              </a:rPr>
              <a:t>7 - 11 класс</a:t>
            </a:r>
          </a:p>
        </p:txBody>
      </p:sp>
    </p:spTree>
    <p:extLst>
      <p:ext uri="{BB962C8B-B14F-4D97-AF65-F5344CB8AC3E}">
        <p14:creationId xmlns:p14="http://schemas.microsoft.com/office/powerpoint/2010/main" val="636200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59"/>
    </mc:Choice>
    <mc:Fallback>
      <p:transition spd="slow" advTm="4559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78334" y="232756"/>
            <a:ext cx="5975465" cy="909292"/>
          </a:xfrm>
        </p:spPr>
        <p:txBody>
          <a:bodyPr/>
          <a:lstStyle/>
          <a:p>
            <a:r>
              <a:rPr lang="ru-RU" dirty="0" smtClean="0"/>
              <a:t>Дни открытых дверей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0" t="9584" r="310" b="68959"/>
          <a:stretch/>
        </p:blipFill>
        <p:spPr>
          <a:xfrm>
            <a:off x="6454863" y="2378165"/>
            <a:ext cx="3600000" cy="1081659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97" b="19394"/>
          <a:stretch/>
        </p:blipFill>
        <p:spPr>
          <a:xfrm>
            <a:off x="1315371" y="1764640"/>
            <a:ext cx="3959352" cy="3570974"/>
          </a:xfrm>
          <a:prstGeom prst="rect">
            <a:avLst/>
          </a:prstGeom>
          <a:ln>
            <a:solidFill>
              <a:srgbClr val="24A67A"/>
            </a:solidFill>
          </a:ln>
        </p:spPr>
      </p:pic>
      <p:pic>
        <p:nvPicPr>
          <p:cNvPr id="6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0" t="30819" r="310" b="50158"/>
          <a:stretch/>
        </p:blipFill>
        <p:spPr>
          <a:xfrm>
            <a:off x="5597395" y="1285145"/>
            <a:ext cx="3600000" cy="958991"/>
          </a:xfrm>
          <a:prstGeom prst="rect">
            <a:avLst/>
          </a:prstGeom>
        </p:spPr>
      </p:pic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0" t="50285" r="310" b="28258"/>
          <a:stretch/>
        </p:blipFill>
        <p:spPr>
          <a:xfrm>
            <a:off x="7471843" y="3480253"/>
            <a:ext cx="3600000" cy="1081653"/>
          </a:xfrm>
          <a:prstGeom prst="rect">
            <a:avLst/>
          </a:prstGeom>
        </p:spPr>
      </p:pic>
      <p:pic>
        <p:nvPicPr>
          <p:cNvPr id="8" name="Объект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0" t="72406" r="310" b="7686"/>
          <a:stretch/>
        </p:blipFill>
        <p:spPr>
          <a:xfrm>
            <a:off x="8017376" y="4694562"/>
            <a:ext cx="3600000" cy="10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86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05"/>
    </mc:Choice>
    <mc:Fallback>
      <p:transition spd="slow" advTm="380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CF1DE5B-A1CA-6ADE-63BE-A9E5B0C9D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педагогов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3B568731-CE9A-8F0A-9CEF-76A2D6C2B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Очные и онлайн семинары</a:t>
            </a:r>
          </a:p>
          <a:p>
            <a:r>
              <a:rPr lang="ru-RU" dirty="0"/>
              <a:t>Мастер-классы</a:t>
            </a:r>
          </a:p>
          <a:p>
            <a:r>
              <a:rPr lang="ru-RU" dirty="0"/>
              <a:t>Курсы повышения квалификации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142D606D-E1F2-0541-6108-79F7000A26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52" b="11394"/>
          <a:stretch/>
        </p:blipFill>
        <p:spPr>
          <a:xfrm>
            <a:off x="8366066" y="3107293"/>
            <a:ext cx="3010361" cy="2892842"/>
          </a:xfrm>
          <a:prstGeom prst="rect">
            <a:avLst/>
          </a:prstGeom>
          <a:ln>
            <a:noFill/>
          </a:ln>
          <a:effectLst>
            <a:softEdge rad="50800"/>
          </a:effectLst>
        </p:spPr>
      </p:pic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461F2E99-1FEB-29C5-B3D0-59C53537360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1" t="26621" r="11959"/>
          <a:stretch/>
        </p:blipFill>
        <p:spPr>
          <a:xfrm>
            <a:off x="1630694" y="3649024"/>
            <a:ext cx="3569111" cy="2274910"/>
          </a:xfrm>
          <a:prstGeom prst="rect">
            <a:avLst/>
          </a:prstGeom>
          <a:ln>
            <a:noFill/>
          </a:ln>
          <a:effectLst>
            <a:softEdge rad="50800"/>
          </a:effectLst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C27AD2AD-F802-F688-A988-BB5027074C0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85" r="3548"/>
          <a:stretch/>
        </p:blipFill>
        <p:spPr>
          <a:xfrm>
            <a:off x="7638433" y="1590959"/>
            <a:ext cx="4060724" cy="2251431"/>
          </a:xfrm>
          <a:prstGeom prst="rect">
            <a:avLst/>
          </a:prstGeom>
          <a:ln>
            <a:noFill/>
          </a:ln>
          <a:effectLst>
            <a:softEdge rad="50800"/>
          </a:effectLst>
        </p:spPr>
      </p:pic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828EBA47-7038-2D69-C362-3659FBF759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954" y="4661976"/>
            <a:ext cx="3569112" cy="2007626"/>
          </a:xfrm>
          <a:prstGeom prst="rect">
            <a:avLst/>
          </a:prstGeom>
          <a:ln>
            <a:noFill/>
          </a:ln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863033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71"/>
    </mc:Choice>
    <mc:Fallback>
      <p:transition spd="slow" advTm="607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F2E4E69-6B4D-1775-61B4-A105B1EB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Обучающие вебинары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4E546D54-D8AA-AA24-C52A-6CCC7F821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0" y="1690688"/>
            <a:ext cx="4192757" cy="2176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На обучающих практических </a:t>
            </a:r>
            <a:r>
              <a:rPr lang="ru-RU" dirty="0" err="1"/>
              <a:t>вебинарах</a:t>
            </a:r>
            <a:r>
              <a:rPr lang="ru-RU" dirty="0"/>
              <a:t>  показываем современные цифровые приемы, помогающие педагогу в работе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3CCA7043-2F62-5EEC-452F-3BCCB56066C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07319" y="1677194"/>
            <a:ext cx="5217943" cy="2324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4A79C9E-FA97-A061-465D-52A886A01C3C}"/>
              </a:ext>
            </a:extLst>
          </p:cNvPr>
          <p:cNvSpPr txBox="1"/>
          <p:nvPr/>
        </p:nvSpPr>
        <p:spPr>
          <a:xfrm>
            <a:off x="8929687" y="1825625"/>
            <a:ext cx="257651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vk.com/teach_spb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="" xmlns:a16="http://schemas.microsoft.com/office/drawing/2014/main" id="{63115708-8BAF-D29D-54E7-FF9EEA11EA5E}"/>
              </a:ext>
            </a:extLst>
          </p:cNvPr>
          <p:cNvSpPr txBox="1">
            <a:spLocks/>
          </p:cNvSpPr>
          <p:nvPr/>
        </p:nvSpPr>
        <p:spPr>
          <a:xfrm>
            <a:off x="2118014" y="4227512"/>
            <a:ext cx="9388186" cy="2660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50000"/>
                  </a:schemeClr>
                </a:solidFill>
                <a:latin typeface="Franklin Gothic Medium Cond" panose="020B06060304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Как провести онлайн родительское собрание</a:t>
            </a:r>
            <a:endParaRPr lang="en-US" sz="24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Запись и трансляция онлайн уроков</a:t>
            </a:r>
            <a:endParaRPr lang="en-US" sz="24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Создаем тесты и викторины: быстро, просто, онлайн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Стильный сайт педагога без программирования</a:t>
            </a:r>
            <a:endParaRPr lang="en-US" sz="24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Как настроить </a:t>
            </a:r>
            <a:r>
              <a:rPr lang="en-US" sz="2400" dirty="0" err="1"/>
              <a:t>Youtube</a:t>
            </a:r>
            <a:r>
              <a:rPr lang="en-US" sz="2400" dirty="0"/>
              <a:t>-</a:t>
            </a:r>
            <a:r>
              <a:rPr lang="ru-RU" sz="2400" dirty="0"/>
              <a:t>канал педагога</a:t>
            </a:r>
            <a:endParaRPr lang="en-US" sz="24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sz="2400" dirty="0"/>
              <a:t>Видеомонтаж обучающего ролика</a:t>
            </a:r>
            <a:endParaRPr lang="en-US" sz="24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11" name="Рисунок 10">
            <a:hlinkClick r:id="rId3"/>
            <a:extLst>
              <a:ext uri="{FF2B5EF4-FFF2-40B4-BE49-F238E27FC236}">
                <a16:creationId xmlns="" xmlns:a16="http://schemas.microsoft.com/office/drawing/2014/main" id="{033B0467-7208-0CD3-B636-DFB3F25404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658" y="4227512"/>
            <a:ext cx="1871322" cy="18713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14415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2"/>
    </mc:Choice>
    <mc:Fallback>
      <p:transition spd="slow" advTm="2672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89336631-64A7-788F-8B1B-BEDCB7D69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894" y="781396"/>
            <a:ext cx="7136906" cy="909292"/>
          </a:xfrm>
        </p:spPr>
        <p:txBody>
          <a:bodyPr>
            <a:normAutofit fontScale="90000"/>
          </a:bodyPr>
          <a:lstStyle/>
          <a:p>
            <a:r>
              <a:rPr lang="ru-RU" dirty="0"/>
              <a:t>Курсы повышения квалификации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97FD3669-CE68-84AD-B135-26BB758C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Программы Академии включены в Реестр программ повышения квалификации Комитетом по образованию Санкт-Петербурга по реализации персонифицированной модели повышения квалификации руководящих и педагогических работников государственных образовательных учреждений. </a:t>
            </a:r>
          </a:p>
          <a:p>
            <a:pPr marL="0" indent="0">
              <a:buNone/>
            </a:pPr>
            <a:r>
              <a:rPr lang="ru-RU" dirty="0"/>
              <a:t>Программы:</a:t>
            </a:r>
          </a:p>
          <a:p>
            <a:pPr marL="447675"/>
            <a:r>
              <a:rPr lang="ru-RU" sz="1900" dirty="0"/>
              <a:t>Графические и офисные приложения для решения педагогических задач</a:t>
            </a:r>
          </a:p>
          <a:p>
            <a:pPr marL="447675"/>
            <a:r>
              <a:rPr lang="ru-RU" sz="1900" dirty="0"/>
              <a:t>Демонстрационные, обучающие и промо видеоматериалы в образовательном учреждении</a:t>
            </a:r>
          </a:p>
          <a:p>
            <a:pPr marL="447675"/>
            <a:r>
              <a:rPr lang="ru-RU" sz="1900" dirty="0"/>
              <a:t>Интернет-технологии и сервисы в ИКТ-компетенции современного педагога </a:t>
            </a:r>
            <a:endParaRPr lang="ru-RU" sz="1900" dirty="0" smtClean="0"/>
          </a:p>
          <a:p>
            <a:pPr marL="447675"/>
            <a:r>
              <a:rPr lang="ru-RU" sz="1900" dirty="0" smtClean="0"/>
              <a:t>Цифровой дизайн образовательного контента</a:t>
            </a:r>
          </a:p>
          <a:p>
            <a:pPr marL="447675"/>
            <a:r>
              <a:rPr lang="ru-RU" sz="1900" dirty="0"/>
              <a:t>Функционал операционной системы </a:t>
            </a:r>
            <a:r>
              <a:rPr lang="ru-RU" sz="1900" dirty="0" err="1"/>
              <a:t>AstraLinux</a:t>
            </a:r>
            <a:r>
              <a:rPr lang="ru-RU" sz="1900" dirty="0"/>
              <a:t> в деятельности педагога</a:t>
            </a:r>
          </a:p>
          <a:p>
            <a:pPr marL="447675"/>
            <a:r>
              <a:rPr lang="ru-RU" sz="1900" dirty="0"/>
              <a:t>Английский язык. Развитие рецептивных и продуктивных навыков в соответствии с современными образовательными </a:t>
            </a:r>
            <a:r>
              <a:rPr lang="ru-RU" sz="1900" dirty="0" smtClean="0"/>
              <a:t>стандартами</a:t>
            </a:r>
          </a:p>
          <a:p>
            <a:pPr marL="447675"/>
            <a:r>
              <a:rPr lang="ru-RU" sz="1900" dirty="0" smtClean="0"/>
              <a:t>Реализация моделей наставничества в образовательной организации</a:t>
            </a:r>
          </a:p>
          <a:p>
            <a:pPr marL="447675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4790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82"/>
    </mc:Choice>
    <mc:Fallback>
      <p:transition spd="slow" advTm="3482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CC0A28F7-D0A6-AD26-AFFC-C4986A08D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513" y="187838"/>
            <a:ext cx="5975465" cy="909292"/>
          </a:xfrm>
        </p:spPr>
        <p:txBody>
          <a:bodyPr/>
          <a:lstStyle/>
          <a:p>
            <a:r>
              <a:rPr lang="ru-RU" dirty="0"/>
              <a:t>Контакты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F7B512B3-9865-AD4C-B245-91E9D8DE1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451" y="1248109"/>
            <a:ext cx="10987549" cy="4619419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ru-RU" sz="9800" dirty="0" smtClean="0">
                <a:solidFill>
                  <a:schemeClr val="accent4">
                    <a:lumMod val="50000"/>
                  </a:schemeClr>
                </a:solidFill>
              </a:rPr>
              <a:t>Пащенко</a:t>
            </a:r>
            <a:endParaRPr lang="en-US" sz="9800" dirty="0" smtClean="0">
              <a:solidFill>
                <a:schemeClr val="accent4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ru-RU" sz="9800" dirty="0" smtClean="0">
                <a:solidFill>
                  <a:schemeClr val="accent4">
                    <a:lumMod val="50000"/>
                  </a:schemeClr>
                </a:solidFill>
              </a:rPr>
              <a:t>Александра </a:t>
            </a:r>
            <a:r>
              <a:rPr lang="ru-RU" sz="9800" dirty="0">
                <a:solidFill>
                  <a:schemeClr val="accent4">
                    <a:lumMod val="50000"/>
                  </a:schemeClr>
                </a:solidFill>
              </a:rPr>
              <a:t>Евгеньевна</a:t>
            </a:r>
            <a:r>
              <a:rPr lang="ru-RU" sz="9800" dirty="0"/>
              <a:t> </a:t>
            </a:r>
            <a:endParaRPr lang="en-US" sz="9800" dirty="0"/>
          </a:p>
          <a:p>
            <a:pPr marL="0" indent="0" algn="ctr">
              <a:buNone/>
            </a:pPr>
            <a:endParaRPr lang="ru-RU" sz="4800" dirty="0"/>
          </a:p>
          <a:p>
            <a:pPr algn="ctr">
              <a:buFont typeface="Webdings" panose="05030102010509060703" pitchFamily="18" charset="2"/>
              <a:buChar char="É"/>
            </a:pPr>
            <a:r>
              <a:rPr lang="ru-RU" sz="4500" dirty="0" smtClean="0"/>
              <a:t>(</a:t>
            </a:r>
            <a:r>
              <a:rPr lang="ru-RU" sz="4500" dirty="0"/>
              <a:t>812) 612-11-22, </a:t>
            </a:r>
            <a:r>
              <a:rPr lang="ru-RU" sz="4500" dirty="0">
                <a:sym typeface="Webdings" panose="05030102010509060703" pitchFamily="18" charset="2"/>
              </a:rPr>
              <a:t> </a:t>
            </a:r>
            <a:r>
              <a:rPr lang="ru-RU" sz="4500" dirty="0" smtClean="0"/>
              <a:t>+7(911)840-10-17</a:t>
            </a:r>
          </a:p>
          <a:p>
            <a:pPr marL="0" indent="0" algn="ctr">
              <a:buNone/>
            </a:pPr>
            <a:r>
              <a:rPr lang="en-US" sz="4500" dirty="0"/>
              <a:t>E-mail:</a:t>
            </a:r>
            <a:r>
              <a:rPr lang="ru-RU" sz="4500" dirty="0"/>
              <a:t>  </a:t>
            </a:r>
            <a:r>
              <a:rPr lang="en-US" sz="4500" dirty="0" smtClean="0"/>
              <a:t>ucvt@obuchim.com</a:t>
            </a:r>
            <a:endParaRPr lang="ru-RU" sz="4500" dirty="0"/>
          </a:p>
          <a:p>
            <a:pPr marL="0" indent="0" algn="ctr">
              <a:buNone/>
            </a:pPr>
            <a:endParaRPr lang="en-US" sz="3600" dirty="0" smtClean="0"/>
          </a:p>
          <a:p>
            <a:pPr marL="0" indent="0" algn="ctr">
              <a:buNone/>
            </a:pPr>
            <a:r>
              <a:rPr lang="ru-RU" sz="5800" dirty="0" smtClean="0">
                <a:sym typeface="Webdings" panose="05030102010509060703" pitchFamily="18" charset="2"/>
              </a:rPr>
              <a:t></a:t>
            </a:r>
            <a:r>
              <a:rPr lang="ru-RU" sz="5800" dirty="0"/>
              <a:t>+</a:t>
            </a:r>
            <a:r>
              <a:rPr lang="ru-RU" sz="5800" dirty="0" smtClean="0"/>
              <a:t>7(921)967-23-30</a:t>
            </a:r>
            <a:endParaRPr lang="ru-RU" sz="5800" dirty="0"/>
          </a:p>
          <a:p>
            <a:pPr marL="0" indent="0" algn="ctr">
              <a:buNone/>
            </a:pPr>
            <a:r>
              <a:rPr lang="en-US" sz="5800" dirty="0" smtClean="0"/>
              <a:t>E-mail</a:t>
            </a:r>
            <a:r>
              <a:rPr lang="en-US" sz="5800" dirty="0"/>
              <a:t>:</a:t>
            </a:r>
            <a:r>
              <a:rPr lang="ru-RU" sz="5800" dirty="0"/>
              <a:t>  </a:t>
            </a:r>
            <a:r>
              <a:rPr lang="en-US" sz="5800" dirty="0" smtClean="0"/>
              <a:t>aek61@yandex.ru</a:t>
            </a:r>
            <a:endParaRPr lang="ru-RU" sz="4500" dirty="0"/>
          </a:p>
        </p:txBody>
      </p:sp>
    </p:spTree>
    <p:extLst>
      <p:ext uri="{BB962C8B-B14F-4D97-AF65-F5344CB8AC3E}">
        <p14:creationId xmlns:p14="http://schemas.microsoft.com/office/powerpoint/2010/main" val="728653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34"/>
    </mc:Choice>
    <mc:Fallback>
      <p:transition spd="slow" advTm="10134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Зеленый и желтый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2163</TotalTime>
  <Words>313</Words>
  <Application>Microsoft Office PowerPoint</Application>
  <PresentationFormat>Широкоэкранный</PresentationFormat>
  <Paragraphs>82</Paragraphs>
  <Slides>16</Slides>
  <Notes>3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Calibri</vt:lpstr>
      <vt:lpstr>Franklin Gothic Demi Cond</vt:lpstr>
      <vt:lpstr>Franklin Gothic Medium Cond</vt:lpstr>
      <vt:lpstr>Webdings</vt:lpstr>
      <vt:lpstr>Wingdings</vt:lpstr>
      <vt:lpstr>Тема Office</vt:lpstr>
      <vt:lpstr>PDF</vt:lpstr>
      <vt:lpstr>Презентация PowerPoint</vt:lpstr>
      <vt:lpstr>Структура Академии</vt:lpstr>
      <vt:lpstr>Лицензия</vt:lpstr>
      <vt:lpstr>Учебные площадки</vt:lpstr>
      <vt:lpstr>Сотрудничество</vt:lpstr>
      <vt:lpstr>Сотрудничество</vt:lpstr>
      <vt:lpstr>Мероприятия для школьников</vt:lpstr>
      <vt:lpstr>Путешествие в Город знаний </vt:lpstr>
      <vt:lpstr>Фестиваль программирования «ЮниКод» </vt:lpstr>
      <vt:lpstr>Конкурс  компьютерной графики и анимации совместно с Эрмитажем</vt:lpstr>
      <vt:lpstr> День профориентации</vt:lpstr>
      <vt:lpstr>Дни открытых дверей</vt:lpstr>
      <vt:lpstr>Для педагогов</vt:lpstr>
      <vt:lpstr>Обучающие вебинары</vt:lpstr>
      <vt:lpstr>Курсы повышения квалификации</vt:lpstr>
      <vt:lpstr>Контакты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Петрова Ольга Евгеньевна</dc:creator>
  <cp:lastModifiedBy>Александра Е. Пащенко</cp:lastModifiedBy>
  <cp:revision>152</cp:revision>
  <cp:lastPrinted>2023-02-28T08:17:09Z</cp:lastPrinted>
  <dcterms:created xsi:type="dcterms:W3CDTF">2023-02-20T13:42:10Z</dcterms:created>
  <dcterms:modified xsi:type="dcterms:W3CDTF">2024-09-11T09:45:14Z</dcterms:modified>
</cp:coreProperties>
</file>