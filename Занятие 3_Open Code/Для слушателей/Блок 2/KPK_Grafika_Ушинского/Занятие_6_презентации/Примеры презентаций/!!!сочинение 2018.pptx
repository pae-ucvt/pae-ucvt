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6" r:id="rId3"/>
    <p:sldId id="277"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57" r:id="rId25"/>
    <p:sldId id="258" r:id="rId26"/>
    <p:sldId id="266" r:id="rId27"/>
    <p:sldId id="307" r:id="rId28"/>
    <p:sldId id="267" r:id="rId29"/>
    <p:sldId id="329" r:id="rId30"/>
    <p:sldId id="330" r:id="rId31"/>
    <p:sldId id="331" r:id="rId32"/>
    <p:sldId id="332" r:id="rId33"/>
    <p:sldId id="333" r:id="rId34"/>
    <p:sldId id="334" r:id="rId35"/>
    <p:sldId id="335" r:id="rId36"/>
    <p:sldId id="336" r:id="rId37"/>
    <p:sldId id="337" r:id="rId38"/>
    <p:sldId id="338" r:id="rId39"/>
    <p:sldId id="339" r:id="rId40"/>
    <p:sldId id="340" r:id="rId41"/>
    <p:sldId id="341" r:id="rId42"/>
    <p:sldId id="271" r:id="rId43"/>
    <p:sldId id="260" r:id="rId44"/>
    <p:sldId id="299" r:id="rId45"/>
    <p:sldId id="300" r:id="rId46"/>
    <p:sldId id="301" r:id="rId47"/>
    <p:sldId id="302" r:id="rId48"/>
    <p:sldId id="268" r:id="rId49"/>
    <p:sldId id="308" r:id="rId50"/>
    <p:sldId id="272" r:id="rId51"/>
    <p:sldId id="342" r:id="rId52"/>
    <p:sldId id="343" r:id="rId53"/>
    <p:sldId id="344" r:id="rId54"/>
    <p:sldId id="345" r:id="rId55"/>
    <p:sldId id="346" r:id="rId56"/>
    <p:sldId id="347" r:id="rId57"/>
    <p:sldId id="303" r:id="rId58"/>
    <p:sldId id="304" r:id="rId59"/>
    <p:sldId id="305" r:id="rId60"/>
    <p:sldId id="348" r:id="rId61"/>
    <p:sldId id="261" r:id="rId62"/>
    <p:sldId id="326" r:id="rId63"/>
    <p:sldId id="327" r:id="rId64"/>
    <p:sldId id="328" r:id="rId65"/>
    <p:sldId id="269" r:id="rId66"/>
    <p:sldId id="309" r:id="rId67"/>
    <p:sldId id="273" r:id="rId68"/>
    <p:sldId id="312" r:id="rId69"/>
    <p:sldId id="313" r:id="rId70"/>
    <p:sldId id="314" r:id="rId71"/>
    <p:sldId id="315" r:id="rId72"/>
    <p:sldId id="316" r:id="rId73"/>
    <p:sldId id="317" r:id="rId74"/>
    <p:sldId id="318" r:id="rId75"/>
    <p:sldId id="322" r:id="rId76"/>
    <p:sldId id="319" r:id="rId77"/>
    <p:sldId id="323" r:id="rId78"/>
    <p:sldId id="324" r:id="rId79"/>
    <p:sldId id="320" r:id="rId80"/>
    <p:sldId id="325" r:id="rId81"/>
    <p:sldId id="321" r:id="rId82"/>
    <p:sldId id="262" r:id="rId83"/>
    <p:sldId id="354" r:id="rId84"/>
    <p:sldId id="355" r:id="rId85"/>
    <p:sldId id="356" r:id="rId86"/>
    <p:sldId id="270" r:id="rId87"/>
    <p:sldId id="310" r:id="rId88"/>
    <p:sldId id="274" r:id="rId89"/>
    <p:sldId id="357" r:id="rId90"/>
    <p:sldId id="358" r:id="rId91"/>
    <p:sldId id="359" r:id="rId92"/>
    <p:sldId id="360" r:id="rId93"/>
    <p:sldId id="263" r:id="rId94"/>
    <p:sldId id="264" r:id="rId95"/>
    <p:sldId id="311" r:id="rId96"/>
    <p:sldId id="275" r:id="rId97"/>
    <p:sldId id="361" r:id="rId98"/>
    <p:sldId id="362" r:id="rId99"/>
    <p:sldId id="363" r:id="rId100"/>
    <p:sldId id="364" r:id="rId101"/>
    <p:sldId id="365" r:id="rId102"/>
    <p:sldId id="366" r:id="rId103"/>
    <p:sldId id="349" r:id="rId104"/>
    <p:sldId id="350" r:id="rId105"/>
    <p:sldId id="351" r:id="rId106"/>
    <p:sldId id="352" r:id="rId107"/>
    <p:sldId id="353" r:id="rId108"/>
    <p:sldId id="265" r:id="rId10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71" autoAdjust="0"/>
    <p:restoredTop sz="94660"/>
  </p:normalViewPr>
  <p:slideViewPr>
    <p:cSldViewPr snapToGrid="0">
      <p:cViewPr>
        <p:scale>
          <a:sx n="79" d="100"/>
          <a:sy n="79" d="100"/>
        </p:scale>
        <p:origin x="-504" y="2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ru-RU" smtClean="0"/>
              <a:t>Образец заголовка</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CCACED8-D59A-4431-B862-8EB9F1625A90}" type="datetimeFigureOut">
              <a:rPr lang="ru-RU" smtClean="0"/>
              <a:t>26.09.2017</a:t>
            </a:fld>
            <a:endParaRPr lang="ru-RU"/>
          </a:p>
        </p:txBody>
      </p:sp>
      <p:sp>
        <p:nvSpPr>
          <p:cNvPr id="5" name="Footer Placeholder 4"/>
          <p:cNvSpPr>
            <a:spLocks noGrp="1"/>
          </p:cNvSpPr>
          <p:nvPr>
            <p:ph type="ftr" sz="quarter" idx="11"/>
          </p:nvPr>
        </p:nvSpPr>
        <p:spPr>
          <a:xfrm>
            <a:off x="2692397" y="5037663"/>
            <a:ext cx="5214635" cy="279400"/>
          </a:xfrm>
        </p:spPr>
        <p:txBody>
          <a:bodyPr/>
          <a:lstStyle/>
          <a:p>
            <a:endParaRPr lang="ru-RU"/>
          </a:p>
        </p:txBody>
      </p:sp>
      <p:sp>
        <p:nvSpPr>
          <p:cNvPr id="6" name="Slide Number Placeholder 5"/>
          <p:cNvSpPr>
            <a:spLocks noGrp="1"/>
          </p:cNvSpPr>
          <p:nvPr>
            <p:ph type="sldNum" sz="quarter" idx="12"/>
          </p:nvPr>
        </p:nvSpPr>
        <p:spPr>
          <a:xfrm>
            <a:off x="8956900" y="5037663"/>
            <a:ext cx="551167" cy="279400"/>
          </a:xfrm>
        </p:spPr>
        <p:txBody>
          <a:bodyPr/>
          <a:lstStyle/>
          <a:p>
            <a:fld id="{8B05429D-6B6C-4A71-90E7-04043288F64B}" type="slidenum">
              <a:rPr lang="ru-RU" smtClean="0"/>
              <a:t>‹#›</a:t>
            </a:fld>
            <a:endParaRPr lang="ru-RU"/>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4879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1CCACED8-D59A-4431-B862-8EB9F1625A90}" type="datetimeFigureOut">
              <a:rPr lang="ru-RU" smtClean="0"/>
              <a:t>26.09.2017</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B05429D-6B6C-4A71-90E7-04043288F64B}" type="slidenum">
              <a:rPr lang="ru-RU" smtClean="0"/>
              <a:t>‹#›</a:t>
            </a:fld>
            <a:endParaRPr lang="ru-RU"/>
          </a:p>
        </p:txBody>
      </p:sp>
    </p:spTree>
    <p:extLst>
      <p:ext uri="{BB962C8B-B14F-4D97-AF65-F5344CB8AC3E}">
        <p14:creationId xmlns:p14="http://schemas.microsoft.com/office/powerpoint/2010/main" val="2493249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1CCACED8-D59A-4431-B862-8EB9F1625A90}" type="datetimeFigureOut">
              <a:rPr lang="ru-RU" smtClean="0"/>
              <a:t>26.09.2017</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B05429D-6B6C-4A71-90E7-04043288F64B}" type="slidenum">
              <a:rPr lang="ru-RU" smtClean="0"/>
              <a:t>‹#›</a:t>
            </a:fld>
            <a:endParaRPr lang="ru-RU"/>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5196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1CCACED8-D59A-4431-B862-8EB9F1625A90}" type="datetimeFigureOut">
              <a:rPr lang="ru-RU" smtClean="0"/>
              <a:t>26.09.2017</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B05429D-6B6C-4A71-90E7-04043288F64B}" type="slidenum">
              <a:rPr lang="ru-RU" smtClean="0"/>
              <a:t>‹#›</a:t>
            </a:fld>
            <a:endParaRPr lang="ru-RU"/>
          </a:p>
        </p:txBody>
      </p:sp>
    </p:spTree>
    <p:extLst>
      <p:ext uri="{BB962C8B-B14F-4D97-AF65-F5344CB8AC3E}">
        <p14:creationId xmlns:p14="http://schemas.microsoft.com/office/powerpoint/2010/main" val="2655885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1CCACED8-D59A-4431-B862-8EB9F1625A90}" type="datetimeFigureOut">
              <a:rPr lang="ru-RU" smtClean="0"/>
              <a:t>26.09.2017</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8B05429D-6B6C-4A71-90E7-04043288F64B}" type="slidenum">
              <a:rPr lang="ru-RU" smtClean="0"/>
              <a:t>‹#›</a:t>
            </a:fld>
            <a:endParaRPr lang="ru-RU"/>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74571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1CCACED8-D59A-4431-B862-8EB9F1625A90}" type="datetimeFigureOut">
              <a:rPr lang="ru-RU" smtClean="0"/>
              <a:t>26.09.2017</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8B05429D-6B6C-4A71-90E7-04043288F64B}" type="slidenum">
              <a:rPr lang="ru-RU" smtClean="0"/>
              <a:t>‹#›</a:t>
            </a:fld>
            <a:endParaRPr lang="ru-RU"/>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37224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CACED8-D59A-4431-B862-8EB9F1625A90}" type="datetimeFigureOut">
              <a:rPr lang="ru-RU" smtClean="0"/>
              <a:t>26.09.2017</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8B05429D-6B6C-4A71-90E7-04043288F64B}" type="slidenum">
              <a:rPr lang="ru-RU" smtClean="0"/>
              <a:t>‹#›</a:t>
            </a:fld>
            <a:endParaRPr lang="ru-RU"/>
          </a:p>
        </p:txBody>
      </p:sp>
    </p:spTree>
    <p:extLst>
      <p:ext uri="{BB962C8B-B14F-4D97-AF65-F5344CB8AC3E}">
        <p14:creationId xmlns:p14="http://schemas.microsoft.com/office/powerpoint/2010/main" val="358297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ru-RU" smtClean="0"/>
              <a:t>Образец заголовка</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1CCACED8-D59A-4431-B862-8EB9F1625A90}" type="datetimeFigureOut">
              <a:rPr lang="ru-RU" smtClean="0"/>
              <a:t>26.09.2017</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B05429D-6B6C-4A71-90E7-04043288F64B}" type="slidenum">
              <a:rPr lang="ru-RU" smtClean="0"/>
              <a:t>‹#›</a:t>
            </a:fld>
            <a:endParaRPr lang="ru-RU"/>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47701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ru-RU" smtClean="0"/>
              <a:t>Образец заголовка</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1CCACED8-D59A-4431-B862-8EB9F1625A90}" type="datetimeFigureOut">
              <a:rPr lang="ru-RU" smtClean="0"/>
              <a:t>26.09.2017</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B05429D-6B6C-4A71-90E7-04043288F64B}" type="slidenum">
              <a:rPr lang="ru-RU" smtClean="0"/>
              <a:t>‹#›</a:t>
            </a:fld>
            <a:endParaRPr lang="ru-RU"/>
          </a:p>
        </p:txBody>
      </p:sp>
    </p:spTree>
    <p:extLst>
      <p:ext uri="{BB962C8B-B14F-4D97-AF65-F5344CB8AC3E}">
        <p14:creationId xmlns:p14="http://schemas.microsoft.com/office/powerpoint/2010/main" val="2646395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1CCACED8-D59A-4431-B862-8EB9F1625A90}" type="datetimeFigureOut">
              <a:rPr lang="ru-RU" smtClean="0"/>
              <a:t>26.09.2017</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8B05429D-6B6C-4A71-90E7-04043288F64B}" type="slidenum">
              <a:rPr lang="ru-RU" smtClean="0"/>
              <a:t>‹#›</a:t>
            </a:fld>
            <a:endParaRPr lang="ru-RU"/>
          </a:p>
        </p:txBody>
      </p:sp>
    </p:spTree>
    <p:extLst>
      <p:ext uri="{BB962C8B-B14F-4D97-AF65-F5344CB8AC3E}">
        <p14:creationId xmlns:p14="http://schemas.microsoft.com/office/powerpoint/2010/main" val="1421292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1CCACED8-D59A-4431-B862-8EB9F1625A90}" type="datetimeFigureOut">
              <a:rPr lang="ru-RU" smtClean="0"/>
              <a:t>26.09.2017</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B05429D-6B6C-4A71-90E7-04043288F64B}" type="slidenum">
              <a:rPr lang="ru-RU" smtClean="0"/>
              <a:t>‹#›</a:t>
            </a:fld>
            <a:endParaRPr lang="ru-RU"/>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19005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ru-RU" smtClean="0"/>
              <a:t>Образец заголовка</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smtClean="0"/>
              <a:t>Образец текста</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1CCACED8-D59A-4431-B862-8EB9F1625A90}" type="datetimeFigureOut">
              <a:rPr lang="ru-RU" smtClean="0"/>
              <a:t>26.09.2017</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B05429D-6B6C-4A71-90E7-04043288F64B}" type="slidenum">
              <a:rPr lang="ru-RU" smtClean="0"/>
              <a:t>‹#›</a:t>
            </a:fld>
            <a:endParaRPr lang="ru-RU"/>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496189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1CCACED8-D59A-4431-B862-8EB9F1625A90}" type="datetimeFigureOut">
              <a:rPr lang="ru-RU" smtClean="0"/>
              <a:t>26.09.2017</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B05429D-6B6C-4A71-90E7-04043288F64B}" type="slidenum">
              <a:rPr lang="ru-RU" smtClean="0"/>
              <a:t>‹#›</a:t>
            </a:fld>
            <a:endParaRPr lang="ru-RU"/>
          </a:p>
        </p:txBody>
      </p:sp>
    </p:spTree>
    <p:extLst>
      <p:ext uri="{BB962C8B-B14F-4D97-AF65-F5344CB8AC3E}">
        <p14:creationId xmlns:p14="http://schemas.microsoft.com/office/powerpoint/2010/main" val="27474938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ru-RU" smtClean="0"/>
              <a:t>Образец заголовка</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1CCACED8-D59A-4431-B862-8EB9F1625A90}" type="datetimeFigureOut">
              <a:rPr lang="ru-RU" smtClean="0"/>
              <a:t>26.09.2017</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B05429D-6B6C-4A71-90E7-04043288F64B}" type="slidenum">
              <a:rPr lang="ru-RU" smtClean="0"/>
              <a:t>‹#›</a:t>
            </a:fld>
            <a:endParaRPr lang="ru-RU"/>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08715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ru-RU" smtClean="0"/>
              <a:t>Образец заголовка</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1CCACED8-D59A-4431-B862-8EB9F1625A90}" type="datetimeFigureOut">
              <a:rPr lang="ru-RU" smtClean="0"/>
              <a:t>26.09.2017</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B05429D-6B6C-4A71-90E7-04043288F64B}" type="slidenum">
              <a:rPr lang="ru-RU" smtClean="0"/>
              <a:t>‹#›</a:t>
            </a:fld>
            <a:endParaRPr lang="ru-RU"/>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43047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1CCACED8-D59A-4431-B862-8EB9F1625A90}" type="datetimeFigureOut">
              <a:rPr lang="ru-RU" smtClean="0"/>
              <a:t>26.09.2017</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B05429D-6B6C-4A71-90E7-04043288F64B}" type="slidenum">
              <a:rPr lang="ru-RU" smtClean="0"/>
              <a:t>‹#›</a:t>
            </a:fld>
            <a:endParaRPr lang="ru-RU"/>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98201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1CCACED8-D59A-4431-B862-8EB9F1625A90}" type="datetimeFigureOut">
              <a:rPr lang="ru-RU" smtClean="0"/>
              <a:t>26.09.2017</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8B05429D-6B6C-4A71-90E7-04043288F64B}" type="slidenum">
              <a:rPr lang="ru-RU" smtClean="0"/>
              <a:t>‹#›</a:t>
            </a:fld>
            <a:endParaRPr lang="ru-RU"/>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696784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Заголовок и список">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47461" y="296653"/>
            <a:ext cx="10560000" cy="900113"/>
          </a:xfrm>
        </p:spPr>
        <p:txBody>
          <a:bodyPr/>
          <a:lstStyle>
            <a:lvl1pPr>
              <a:defRPr sz="6000" b="0">
                <a:solidFill>
                  <a:schemeClr val="bg2">
                    <a:lumMod val="25000"/>
                  </a:schemeClr>
                </a:solidFill>
                <a:latin typeface="Cassandra" pitchFamily="66" charset="0"/>
              </a:defRPr>
            </a:lvl1pPr>
          </a:lstStyle>
          <a:p>
            <a:r>
              <a:rPr lang="ru-RU" dirty="0" smtClean="0"/>
              <a:t>Образец заголовка</a:t>
            </a:r>
            <a:endParaRPr lang="ru-RU" dirty="0"/>
          </a:p>
        </p:txBody>
      </p:sp>
      <p:sp>
        <p:nvSpPr>
          <p:cNvPr id="5" name="Текст 4"/>
          <p:cNvSpPr>
            <a:spLocks noGrp="1"/>
          </p:cNvSpPr>
          <p:nvPr>
            <p:ph type="body" sz="quarter" idx="10"/>
          </p:nvPr>
        </p:nvSpPr>
        <p:spPr>
          <a:xfrm>
            <a:off x="1247461" y="1593342"/>
            <a:ext cx="10560000" cy="4428000"/>
          </a:xfrm>
        </p:spPr>
        <p:txBody>
          <a:bodyPr/>
          <a:lstStyle>
            <a:lvl1pPr marL="342000" indent="-342000">
              <a:buSzPct val="80000"/>
              <a:buFont typeface="Wingdings 2" pitchFamily="18" charset="2"/>
              <a:buChar char="·"/>
              <a:defRPr>
                <a:solidFill>
                  <a:schemeClr val="bg2">
                    <a:lumMod val="25000"/>
                  </a:schemeClr>
                </a:solidFill>
                <a:latin typeface="+mj-lt"/>
              </a:defRPr>
            </a:lvl1pPr>
            <a:lvl2pPr marL="741600" indent="-284400">
              <a:buSzPct val="80000"/>
              <a:buFont typeface="Wingdings" pitchFamily="2" charset="2"/>
              <a:buChar char="§"/>
              <a:defRPr>
                <a:solidFill>
                  <a:schemeClr val="bg2">
                    <a:lumMod val="25000"/>
                  </a:schemeClr>
                </a:solidFill>
                <a:latin typeface="+mj-lt"/>
              </a:defRPr>
            </a:lvl2pPr>
            <a:lvl3pPr marL="1144800" indent="-230400">
              <a:buSzPct val="80000"/>
              <a:buFont typeface="Arial" pitchFamily="34" charset="0"/>
              <a:buChar char="•"/>
              <a:defRPr>
                <a:solidFill>
                  <a:schemeClr val="bg2">
                    <a:lumMod val="25000"/>
                  </a:schemeClr>
                </a:solidFill>
                <a:latin typeface="+mj-lt"/>
              </a:defRPr>
            </a:lvl3pPr>
            <a:lvl4pPr>
              <a:buFont typeface="Wingdings 2" pitchFamily="18" charset="2"/>
              <a:buChar char="·"/>
              <a:defRPr>
                <a:solidFill>
                  <a:schemeClr val="bg2">
                    <a:lumMod val="25000"/>
                  </a:schemeClr>
                </a:solidFill>
              </a:defRPr>
            </a:lvl4pPr>
            <a:lvl5pPr>
              <a:buFont typeface="Wingdings 2" pitchFamily="18" charset="2"/>
              <a:buChar char="·"/>
              <a:defRPr>
                <a:solidFill>
                  <a:schemeClr val="bg2">
                    <a:lumMod val="25000"/>
                  </a:schemeClr>
                </a:solidFill>
              </a:defRPr>
            </a:lvl5pPr>
          </a:lstStyle>
          <a:p>
            <a:pPr lvl="0"/>
            <a:r>
              <a:rPr lang="ru-RU" dirty="0" smtClean="0"/>
              <a:t>Образец текста</a:t>
            </a:r>
          </a:p>
          <a:p>
            <a:pPr lvl="1"/>
            <a:r>
              <a:rPr lang="ru-RU" dirty="0" smtClean="0"/>
              <a:t>Второй уровень</a:t>
            </a:r>
          </a:p>
          <a:p>
            <a:pPr lvl="2"/>
            <a:r>
              <a:rPr lang="ru-RU" dirty="0" smtClean="0"/>
              <a:t>Третий уровень</a:t>
            </a:r>
          </a:p>
        </p:txBody>
      </p:sp>
    </p:spTree>
    <p:extLst>
      <p:ext uri="{BB962C8B-B14F-4D97-AF65-F5344CB8AC3E}">
        <p14:creationId xmlns:p14="http://schemas.microsoft.com/office/powerpoint/2010/main" val="39961347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Заголовок и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47461" y="296653"/>
            <a:ext cx="10560000" cy="900113"/>
          </a:xfrm>
        </p:spPr>
        <p:txBody>
          <a:bodyPr/>
          <a:lstStyle>
            <a:lvl1pPr>
              <a:defRPr sz="6000" b="0" baseline="0">
                <a:solidFill>
                  <a:schemeClr val="bg2">
                    <a:lumMod val="25000"/>
                  </a:schemeClr>
                </a:solidFill>
                <a:latin typeface="Cassandra" pitchFamily="66" charset="0"/>
              </a:defRPr>
            </a:lvl1pPr>
          </a:lstStyle>
          <a:p>
            <a:r>
              <a:rPr lang="ru-RU" dirty="0" smtClean="0"/>
              <a:t>Образец заголовка</a:t>
            </a:r>
            <a:endParaRPr lang="ru-RU" dirty="0"/>
          </a:p>
        </p:txBody>
      </p:sp>
      <p:sp>
        <p:nvSpPr>
          <p:cNvPr id="5" name="Текст 4"/>
          <p:cNvSpPr>
            <a:spLocks noGrp="1"/>
          </p:cNvSpPr>
          <p:nvPr>
            <p:ph type="body" sz="quarter" idx="10"/>
          </p:nvPr>
        </p:nvSpPr>
        <p:spPr>
          <a:xfrm>
            <a:off x="1247461" y="1593342"/>
            <a:ext cx="10560000" cy="4248000"/>
          </a:xfrm>
        </p:spPr>
        <p:txBody>
          <a:bodyPr/>
          <a:lstStyle>
            <a:lvl1pPr marL="0" indent="0">
              <a:buNone/>
              <a:defRPr>
                <a:solidFill>
                  <a:schemeClr val="bg2">
                    <a:lumMod val="25000"/>
                  </a:schemeClr>
                </a:solidFill>
                <a:latin typeface="+mj-lt"/>
              </a:defRPr>
            </a:lvl1pPr>
            <a:lvl2pPr marL="108000" indent="0">
              <a:buNone/>
              <a:defRPr/>
            </a:lvl2pPr>
            <a:lvl3pPr marL="108000" indent="0">
              <a:buNone/>
              <a:defRPr/>
            </a:lvl3pPr>
          </a:lstStyle>
          <a:p>
            <a:pPr lvl="0"/>
            <a:r>
              <a:rPr lang="ru-RU" dirty="0" smtClean="0"/>
              <a:t>Образец текста</a:t>
            </a:r>
          </a:p>
        </p:txBody>
      </p:sp>
    </p:spTree>
    <p:extLst>
      <p:ext uri="{BB962C8B-B14F-4D97-AF65-F5344CB8AC3E}">
        <p14:creationId xmlns:p14="http://schemas.microsoft.com/office/powerpoint/2010/main" val="214897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2">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2">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CCACED8-D59A-4431-B862-8EB9F1625A90}" type="datetimeFigureOut">
              <a:rPr lang="ru-RU" smtClean="0"/>
              <a:t>26.09.2017</a:t>
            </a:fld>
            <a:endParaRPr lang="ru-RU"/>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ru-RU"/>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B05429D-6B6C-4A71-90E7-04043288F64B}" type="slidenum">
              <a:rPr lang="ru-RU" smtClean="0"/>
              <a:t>‹#›</a:t>
            </a:fld>
            <a:endParaRPr lang="ru-RU"/>
          </a:p>
        </p:txBody>
      </p:sp>
    </p:spTree>
    <p:extLst>
      <p:ext uri="{BB962C8B-B14F-4D97-AF65-F5344CB8AC3E}">
        <p14:creationId xmlns:p14="http://schemas.microsoft.com/office/powerpoint/2010/main" val="17318738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hyperlink" Target="http://samarus-school.ru/drama-groza-a-n-ostrovskogo-kratkoe-soderzhanie-po-dejjstviyam.html" TargetMode="External"/><Relationship Id="rId3" Type="http://schemas.openxmlformats.org/officeDocument/2006/relationships/hyperlink" Target="http://samarus-school.ru/a-p-chekhov-rasskaz-dama-s-sobachkojj.html" TargetMode="External"/><Relationship Id="rId7" Type="http://schemas.openxmlformats.org/officeDocument/2006/relationships/hyperlink" Target="http://samarus-school.ru/a-s-pushkin-evgenijj-onegin-kratkoe-soderzhanie-po-glavam.html" TargetMode="External"/><Relationship Id="rId2" Type="http://schemas.openxmlformats.org/officeDocument/2006/relationships/hyperlink" Target="http://samarus-school.ru/a-p-chekhov-rasskaz-poprygunya.html" TargetMode="External"/><Relationship Id="rId1" Type="http://schemas.openxmlformats.org/officeDocument/2006/relationships/slideLayout" Target="../slideLayouts/slideLayout2.xml"/><Relationship Id="rId6" Type="http://schemas.openxmlformats.org/officeDocument/2006/relationships/hyperlink" Target="http://samarus-school.ru/a-p-platonov-rasskazvozvrashhenie.html" TargetMode="External"/><Relationship Id="rId5" Type="http://schemas.openxmlformats.org/officeDocument/2006/relationships/hyperlink" Target="http://samarus-school.ru/sudba-cheloveka-kratkoe-soderzhanie-rasskaza-m-a-sholokhova.html" TargetMode="External"/><Relationship Id="rId4" Type="http://schemas.openxmlformats.org/officeDocument/2006/relationships/hyperlink" Target="http://samarus-school.ru/i-a-bunin-temnye-allei.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hyperlink" Target="http://samarus-school.ru/e-i-nosov-kukla-akimych.html" TargetMode="External"/><Relationship Id="rId3" Type="http://schemas.openxmlformats.org/officeDocument/2006/relationships/hyperlink" Target="http://samarus-school.ru/a-s-pushkin-vystrel-iz-povestejj-pokojjnogo-ivana-petrovicha-belkina.html" TargetMode="External"/><Relationship Id="rId7" Type="http://schemas.openxmlformats.org/officeDocument/2006/relationships/hyperlink" Target="http://samarus-school.ru/sudba-cheloveka-kratkoe-soderzhanie-rasskaza-m-a-sholokhova.html" TargetMode="External"/><Relationship Id="rId2" Type="http://schemas.openxmlformats.org/officeDocument/2006/relationships/hyperlink" Target="http://samarus-school.ru/mednyjj-vsadnik-a-s-pushkina-v-kratkom-pereskaze.html" TargetMode="External"/><Relationship Id="rId1" Type="http://schemas.openxmlformats.org/officeDocument/2006/relationships/slideLayout" Target="../slideLayouts/slideLayout2.xml"/><Relationship Id="rId6" Type="http://schemas.openxmlformats.org/officeDocument/2006/relationships/hyperlink" Target="http://ilibrary.ru/text/1192/p.1/index.html" TargetMode="External"/><Relationship Id="rId5" Type="http://schemas.openxmlformats.org/officeDocument/2006/relationships/hyperlink" Target="http://samarus-school.ru/i-a-bunin-rasskaz-lapti.html" TargetMode="External"/><Relationship Id="rId4" Type="http://schemas.openxmlformats.org/officeDocument/2006/relationships/hyperlink" Target="http://samarus-school.ru/a-p-chekhov-toska.html"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hyperlink" Target="http://samarus-school.ru/a-p-chekhov-rasskaz-kryzhovnik.html" TargetMode="External"/><Relationship Id="rId3" Type="http://schemas.openxmlformats.org/officeDocument/2006/relationships/hyperlink" Target="http://samarus-school.ru/vsevolod-garshin-rasskaz-signal.html" TargetMode="External"/><Relationship Id="rId7" Type="http://schemas.openxmlformats.org/officeDocument/2006/relationships/hyperlink" Target="http://samarus-school.ru/a-s-pushkin-vystrel-iz-povestejj-pokojjnogo-ivana-petrovicha-belkina.html" TargetMode="External"/><Relationship Id="rId2" Type="http://schemas.openxmlformats.org/officeDocument/2006/relationships/hyperlink" Target="http://samarus-school.ru/v-t-shalamov-poslednijj-bojj-majjora-pugacheva-kolymskie-rasskazy.html" TargetMode="External"/><Relationship Id="rId1" Type="http://schemas.openxmlformats.org/officeDocument/2006/relationships/slideLayout" Target="../slideLayouts/slideLayout2.xml"/><Relationship Id="rId6" Type="http://schemas.openxmlformats.org/officeDocument/2006/relationships/hyperlink" Target="https://www.e-reading.club/book.php?book=1035901" TargetMode="External"/><Relationship Id="rId5" Type="http://schemas.openxmlformats.org/officeDocument/2006/relationships/hyperlink" Target="http://samarus-school.ru/maksim-gorkijj-rasskaz-chelkash.html" TargetMode="External"/><Relationship Id="rId4" Type="http://schemas.openxmlformats.org/officeDocument/2006/relationships/hyperlink" Target="http://samarus-school.ru/kratkijj-pereskaz-rasskaza-i-a-bunina-gospodin-iz-san-francisko.html" TargetMode="External"/><Relationship Id="rId9" Type="http://schemas.openxmlformats.org/officeDocument/2006/relationships/hyperlink" Target="http://samarus-school.ru/maksim-gorkijj-pesnya-o-sokole.html"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hyperlink" Target="http://samarus-school.ru/v-t-shalamov-poslednijj-bojj-majjora-pugacheva-kolymskie-rasskazy.html" TargetMode="External"/><Relationship Id="rId2" Type="http://schemas.openxmlformats.org/officeDocument/2006/relationships/hyperlink" Target="https://www.e-reading.club/book.php?book=1035901" TargetMode="External"/><Relationship Id="rId1" Type="http://schemas.openxmlformats.org/officeDocument/2006/relationships/slideLayout" Target="../slideLayouts/slideLayout2.xml"/><Relationship Id="rId5" Type="http://schemas.openxmlformats.org/officeDocument/2006/relationships/hyperlink" Target="http://samarus-school.ru/maksim-gorkijj-pesnya-o-sokole.html" TargetMode="External"/><Relationship Id="rId4" Type="http://schemas.openxmlformats.org/officeDocument/2006/relationships/hyperlink" Target="http://samarus-school.ru/a-s-pushkin-vystrel-iz-povestejj-pokojjnogo-ivana-petrovicha-belkina.html"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hyperlink" Target="http://lib.ru/PROZA/SOLZHENICYN/ivandenisych.txt" TargetMode="External"/><Relationship Id="rId2" Type="http://schemas.openxmlformats.org/officeDocument/2006/relationships/hyperlink" Target="http://samarus-school.ru/komediya-a-s-griboedova-gore-ot-uma-kratkoe-soderzhanie.html" TargetMode="External"/><Relationship Id="rId1" Type="http://schemas.openxmlformats.org/officeDocument/2006/relationships/slideLayout" Target="../slideLayouts/slideLayout2.xml"/><Relationship Id="rId5" Type="http://schemas.openxmlformats.org/officeDocument/2006/relationships/hyperlink" Target="https://www.e-reading.club/book.php?book=1035901" TargetMode="External"/><Relationship Id="rId4" Type="http://schemas.openxmlformats.org/officeDocument/2006/relationships/hyperlink" Target="http://ilibrary.ru/text/1192/p.1/index.html" TargetMode="Externa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hyperlink" Target="http://samarus-school.ru/komediya-a-s-griboedova-gore-ot-uma-kratkoe-soderzhanie.html" TargetMode="Externa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hyperlink" Target="http://rustutors.ru/vernost-izmena.html" TargetMode="External"/><Relationship Id="rId2" Type="http://schemas.openxmlformats.org/officeDocument/2006/relationships/hyperlink" Target="http://fipi.ru/ege-i-gve-11/itogovoe-sochineni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b="1" dirty="0">
                <a:solidFill>
                  <a:schemeClr val="accent3">
                    <a:lumMod val="75000"/>
                  </a:schemeClr>
                </a:solidFill>
              </a:rPr>
              <a:t>Итоговое сочинение</a:t>
            </a:r>
            <a:br>
              <a:rPr lang="ru-RU" b="1" dirty="0">
                <a:solidFill>
                  <a:schemeClr val="accent3">
                    <a:lumMod val="75000"/>
                  </a:schemeClr>
                </a:solidFill>
              </a:rPr>
            </a:br>
            <a:endParaRPr lang="ru-RU" dirty="0">
              <a:solidFill>
                <a:schemeClr val="accent3">
                  <a:lumMod val="75000"/>
                </a:schemeClr>
              </a:solidFill>
            </a:endParaRPr>
          </a:p>
        </p:txBody>
      </p:sp>
      <p:sp>
        <p:nvSpPr>
          <p:cNvPr id="3" name="Подзаголовок 2"/>
          <p:cNvSpPr>
            <a:spLocks noGrp="1"/>
          </p:cNvSpPr>
          <p:nvPr>
            <p:ph type="subTitle" idx="1"/>
          </p:nvPr>
        </p:nvSpPr>
        <p:spPr/>
        <p:txBody>
          <a:bodyPr>
            <a:normAutofit/>
          </a:bodyPr>
          <a:lstStyle/>
          <a:p>
            <a:r>
              <a:rPr lang="ru-RU" sz="4000" b="1" dirty="0">
                <a:solidFill>
                  <a:schemeClr val="accent3">
                    <a:lumMod val="75000"/>
                  </a:schemeClr>
                </a:solidFill>
              </a:rPr>
              <a:t>2017-2018 учебный год</a:t>
            </a:r>
            <a:endParaRPr lang="ru-RU" sz="4000" dirty="0">
              <a:solidFill>
                <a:schemeClr val="accent3">
                  <a:lumMod val="75000"/>
                </a:schemeClr>
              </a:solidFill>
            </a:endParaRPr>
          </a:p>
        </p:txBody>
      </p:sp>
    </p:spTree>
    <p:extLst>
      <p:ext uri="{BB962C8B-B14F-4D97-AF65-F5344CB8AC3E}">
        <p14:creationId xmlns:p14="http://schemas.microsoft.com/office/powerpoint/2010/main" val="17244375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09786" y="714357"/>
            <a:ext cx="7643866" cy="1200329"/>
          </a:xfrm>
          <a:prstGeom prst="rect">
            <a:avLst/>
          </a:prstGeom>
          <a:noFill/>
        </p:spPr>
        <p:txBody>
          <a:bodyPr wrap="square" rtlCol="0">
            <a:spAutoFit/>
          </a:bodyPr>
          <a:lstStyle/>
          <a:p>
            <a:pPr algn="ctr"/>
            <a:r>
              <a:rPr lang="ru-RU" sz="3600" b="1" dirty="0">
                <a:solidFill>
                  <a:srgbClr val="C00000"/>
                </a:solidFill>
                <a:latin typeface="Times New Roman" pitchFamily="18" charset="0"/>
                <a:cs typeface="Times New Roman" pitchFamily="18" charset="0"/>
              </a:rPr>
              <a:t>Итоговое сочинение </a:t>
            </a:r>
          </a:p>
          <a:p>
            <a:pPr algn="ctr"/>
            <a:r>
              <a:rPr lang="ru-RU" sz="3600" b="1" dirty="0">
                <a:solidFill>
                  <a:srgbClr val="C00000"/>
                </a:solidFill>
                <a:latin typeface="Times New Roman" pitchFamily="18" charset="0"/>
                <a:cs typeface="Times New Roman" pitchFamily="18" charset="0"/>
              </a:rPr>
              <a:t>по литературе в 11 классе</a:t>
            </a:r>
          </a:p>
        </p:txBody>
      </p:sp>
      <p:pic>
        <p:nvPicPr>
          <p:cNvPr id="25610" name="Picture 10" descr="http://www.vectorizados.com/muestras/cuaderno-y-pluma.jpg"/>
          <p:cNvPicPr>
            <a:picLocks noChangeAspect="1" noChangeArrowheads="1"/>
          </p:cNvPicPr>
          <p:nvPr/>
        </p:nvPicPr>
        <p:blipFill>
          <a:blip r:embed="rId2" cstate="print">
            <a:lum bright="10000" contrast="-10000"/>
          </a:blip>
          <a:srcRect/>
          <a:stretch>
            <a:fillRect/>
          </a:stretch>
        </p:blipFill>
        <p:spPr bwMode="auto">
          <a:xfrm>
            <a:off x="3881422" y="1900110"/>
            <a:ext cx="4500594" cy="4100659"/>
          </a:xfrm>
          <a:prstGeom prst="rect">
            <a:avLst/>
          </a:prstGeom>
          <a:noFill/>
          <a:effectLst>
            <a:softEdge rad="127000"/>
          </a:effectLst>
        </p:spPr>
      </p:pic>
      <p:sp>
        <p:nvSpPr>
          <p:cNvPr id="6" name="Заголовок 5"/>
          <p:cNvSpPr>
            <a:spLocks noGrp="1"/>
          </p:cNvSpPr>
          <p:nvPr>
            <p:ph type="title"/>
          </p:nvPr>
        </p:nvSpPr>
        <p:spPr>
          <a:xfrm>
            <a:off x="5951984" y="5589240"/>
            <a:ext cx="4716016" cy="1080120"/>
          </a:xfrm>
        </p:spPr>
        <p:txBody>
          <a:bodyPr>
            <a:normAutofit/>
          </a:bodyPr>
          <a:lstStyle/>
          <a:p>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36251980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http://img.ntv.ru/home/news/20131231/putin.jpg"/>
          <p:cNvPicPr>
            <a:picLocks noChangeAspect="1" noChangeArrowheads="1"/>
          </p:cNvPicPr>
          <p:nvPr/>
        </p:nvPicPr>
        <p:blipFill>
          <a:blip r:embed="rId2" cstate="print"/>
          <a:srcRect/>
          <a:stretch>
            <a:fillRect/>
          </a:stretch>
        </p:blipFill>
        <p:spPr bwMode="auto">
          <a:xfrm>
            <a:off x="4167174" y="571480"/>
            <a:ext cx="3786214" cy="2512514"/>
          </a:xfrm>
          <a:prstGeom prst="rect">
            <a:avLst/>
          </a:prstGeom>
          <a:noFill/>
          <a:effectLst>
            <a:softEdge rad="31750"/>
          </a:effectLst>
        </p:spPr>
      </p:pic>
      <p:sp>
        <p:nvSpPr>
          <p:cNvPr id="5" name="Прямоугольник 4"/>
          <p:cNvSpPr/>
          <p:nvPr/>
        </p:nvSpPr>
        <p:spPr>
          <a:xfrm>
            <a:off x="2024034" y="3286124"/>
            <a:ext cx="8215370" cy="5570756"/>
          </a:xfrm>
          <a:prstGeom prst="rect">
            <a:avLst/>
          </a:prstGeom>
        </p:spPr>
        <p:txBody>
          <a:bodyPr wrap="square">
            <a:spAutoFit/>
          </a:bodyPr>
          <a:lstStyle/>
          <a:p>
            <a:pPr algn="just"/>
            <a:r>
              <a:rPr lang="ru-RU" sz="3600" dirty="0">
                <a:solidFill>
                  <a:srgbClr val="002060"/>
                </a:solidFill>
                <a:latin typeface="Times New Roman" pitchFamily="18" charset="0"/>
                <a:cs typeface="Times New Roman" pitchFamily="18" charset="0"/>
              </a:rPr>
              <a:t>С 2014/2015 учебного года, в число выпускных экзаменов в российских школах вернется сочинение. Соответствующее поручение президент РФ В. Путин дал правительству в декабре 2013 года. </a:t>
            </a:r>
          </a:p>
          <a:p>
            <a:pPr algn="just"/>
            <a:endParaRPr lang="ru-RU" sz="2000" dirty="0">
              <a:solidFill>
                <a:srgbClr val="002060"/>
              </a:solidFill>
              <a:latin typeface="Times New Roman" pitchFamily="18" charset="0"/>
              <a:cs typeface="Times New Roman" pitchFamily="18" charset="0"/>
            </a:endParaRPr>
          </a:p>
          <a:p>
            <a:pPr algn="just"/>
            <a:endParaRPr lang="ru-RU" sz="2000" dirty="0">
              <a:solidFill>
                <a:srgbClr val="002060"/>
              </a:solidFill>
              <a:latin typeface="Times New Roman" pitchFamily="18" charset="0"/>
              <a:cs typeface="Times New Roman" pitchFamily="18" charset="0"/>
            </a:endParaRPr>
          </a:p>
          <a:p>
            <a:pPr algn="just"/>
            <a:endParaRPr lang="ru-RU" sz="2000" dirty="0">
              <a:solidFill>
                <a:srgbClr val="002060"/>
              </a:solidFill>
              <a:latin typeface="Times New Roman" pitchFamily="18" charset="0"/>
              <a:cs typeface="Times New Roman" pitchFamily="18" charset="0"/>
            </a:endParaRPr>
          </a:p>
          <a:p>
            <a:pPr algn="just"/>
            <a:endParaRPr lang="ru-RU" sz="2000" dirty="0">
              <a:solidFill>
                <a:srgbClr val="002060"/>
              </a:solidFill>
              <a:latin typeface="Times New Roman" pitchFamily="18" charset="0"/>
              <a:cs typeface="Times New Roman" pitchFamily="18" charset="0"/>
            </a:endParaRPr>
          </a:p>
          <a:p>
            <a:pPr algn="just"/>
            <a:endParaRPr lang="ru-RU" sz="2000" dirty="0">
              <a:solidFill>
                <a:srgbClr val="002060"/>
              </a:solidFill>
              <a:latin typeface="Times New Roman" pitchFamily="18" charset="0"/>
              <a:cs typeface="Times New Roman" pitchFamily="18" charset="0"/>
            </a:endParaRPr>
          </a:p>
          <a:p>
            <a:pPr algn="just"/>
            <a:endParaRPr lang="ru-RU" sz="2000" dirty="0">
              <a:solidFill>
                <a:srgbClr val="002060"/>
              </a:solidFill>
              <a:latin typeface="Times New Roman" pitchFamily="18" charset="0"/>
              <a:cs typeface="Times New Roman" pitchFamily="18" charset="0"/>
            </a:endParaRPr>
          </a:p>
          <a:p>
            <a:pPr algn="just"/>
            <a:endParaRPr lang="ru-RU" sz="2000" dirty="0">
              <a:solidFill>
                <a:srgbClr val="002060"/>
              </a:solidFill>
              <a:latin typeface="Times New Roman" pitchFamily="18" charset="0"/>
              <a:cs typeface="Times New Roman" pitchFamily="18" charset="0"/>
            </a:endParaRPr>
          </a:p>
        </p:txBody>
      </p:sp>
    </p:spTree>
    <p:extLst>
      <p:ext uri="{BB962C8B-B14F-4D97-AF65-F5344CB8AC3E}">
        <p14:creationId xmlns:p14="http://schemas.microsoft.com/office/powerpoint/2010/main" val="7423494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1775520" y="1268760"/>
            <a:ext cx="8535354" cy="5016758"/>
          </a:xfrm>
          <a:prstGeom prst="rect">
            <a:avLst/>
          </a:prstGeom>
        </p:spPr>
        <p:txBody>
          <a:bodyPr wrap="square">
            <a:spAutoFit/>
          </a:bodyPr>
          <a:lstStyle/>
          <a:p>
            <a:pPr algn="just"/>
            <a:r>
              <a:rPr lang="ru-RU" sz="4000" dirty="0">
                <a:solidFill>
                  <a:srgbClr val="002060"/>
                </a:solidFill>
                <a:latin typeface="Times New Roman" pitchFamily="18" charset="0"/>
                <a:cs typeface="Times New Roman" pitchFamily="18" charset="0"/>
              </a:rPr>
              <a:t>…</a:t>
            </a:r>
            <a:r>
              <a:rPr lang="ru-RU" sz="4000" b="1" dirty="0">
                <a:solidFill>
                  <a:srgbClr val="002060"/>
                </a:solidFill>
                <a:latin typeface="Times New Roman" pitchFamily="18" charset="0"/>
                <a:cs typeface="Times New Roman" pitchFamily="18" charset="0"/>
              </a:rPr>
              <a:t>проверка способности человека самостоятельно мыслить, аргументировать </a:t>
            </a:r>
            <a:r>
              <a:rPr lang="ru-RU" sz="4000" dirty="0">
                <a:solidFill>
                  <a:srgbClr val="002060"/>
                </a:solidFill>
                <a:latin typeface="Times New Roman" pitchFamily="18" charset="0"/>
                <a:cs typeface="Times New Roman" pitchFamily="18" charset="0"/>
              </a:rPr>
              <a:t>свои выводы с опорой на литературные произведения как русской, так и мировой литературы, как входящих в школьную программу, </a:t>
            </a:r>
            <a:r>
              <a:rPr lang="ru-RU" sz="4000" dirty="0">
                <a:solidFill>
                  <a:srgbClr val="FF0000"/>
                </a:solidFill>
                <a:latin typeface="Times New Roman" pitchFamily="18" charset="0"/>
                <a:cs typeface="Times New Roman" pitchFamily="18" charset="0"/>
              </a:rPr>
              <a:t>так и выходящих за ее рамки…</a:t>
            </a:r>
          </a:p>
        </p:txBody>
      </p:sp>
      <p:sp>
        <p:nvSpPr>
          <p:cNvPr id="6" name="TextBox 5"/>
          <p:cNvSpPr txBox="1"/>
          <p:nvPr/>
        </p:nvSpPr>
        <p:spPr>
          <a:xfrm>
            <a:off x="1524000" y="142853"/>
            <a:ext cx="9144000" cy="954107"/>
          </a:xfrm>
          <a:prstGeom prst="rect">
            <a:avLst/>
          </a:prstGeom>
          <a:noFill/>
        </p:spPr>
        <p:txBody>
          <a:bodyPr wrap="square" rtlCol="0">
            <a:spAutoFit/>
          </a:bodyPr>
          <a:lstStyle/>
          <a:p>
            <a:pPr algn="ctr"/>
            <a:r>
              <a:rPr lang="ru-RU" sz="2800" b="1" dirty="0">
                <a:solidFill>
                  <a:srgbClr val="C00000"/>
                </a:solidFill>
                <a:latin typeface="Times New Roman" pitchFamily="18" charset="0"/>
                <a:cs typeface="Times New Roman" pitchFamily="18" charset="0"/>
              </a:rPr>
              <a:t>Цели и задачи введения сочинения </a:t>
            </a:r>
          </a:p>
          <a:p>
            <a:pPr algn="ctr"/>
            <a:r>
              <a:rPr lang="ru-RU" sz="2800" b="1" dirty="0">
                <a:solidFill>
                  <a:srgbClr val="C00000"/>
                </a:solidFill>
                <a:latin typeface="Times New Roman" pitchFamily="18" charset="0"/>
                <a:cs typeface="Times New Roman" pitchFamily="18" charset="0"/>
              </a:rPr>
              <a:t>по литературе в 11 классе</a:t>
            </a:r>
          </a:p>
        </p:txBody>
      </p:sp>
    </p:spTree>
    <p:extLst>
      <p:ext uri="{BB962C8B-B14F-4D97-AF65-F5344CB8AC3E}">
        <p14:creationId xmlns:p14="http://schemas.microsoft.com/office/powerpoint/2010/main" val="3489652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24000" y="214290"/>
            <a:ext cx="9144000" cy="523220"/>
          </a:xfrm>
          <a:prstGeom prst="rect">
            <a:avLst/>
          </a:prstGeom>
          <a:noFill/>
        </p:spPr>
        <p:txBody>
          <a:bodyPr wrap="square" rtlCol="0">
            <a:spAutoFit/>
          </a:bodyPr>
          <a:lstStyle/>
          <a:p>
            <a:pPr algn="ctr"/>
            <a:r>
              <a:rPr lang="ru-RU" sz="2800" b="1" dirty="0">
                <a:solidFill>
                  <a:srgbClr val="C00000"/>
                </a:solidFill>
                <a:latin typeface="Times New Roman" pitchFamily="18" charset="0"/>
                <a:cs typeface="Times New Roman" pitchFamily="18" charset="0"/>
              </a:rPr>
              <a:t>Дата написания и пересдачи, место проведения</a:t>
            </a:r>
          </a:p>
        </p:txBody>
      </p:sp>
      <p:pic>
        <p:nvPicPr>
          <p:cNvPr id="10242" name="Picture 2" descr="http://top.oprf.ru/storage/c/2013/12/04/1386135575_887771_38.jpg"/>
          <p:cNvPicPr>
            <a:picLocks noChangeAspect="1" noChangeArrowheads="1"/>
          </p:cNvPicPr>
          <p:nvPr/>
        </p:nvPicPr>
        <p:blipFill>
          <a:blip r:embed="rId2" cstate="print"/>
          <a:srcRect/>
          <a:stretch>
            <a:fillRect/>
          </a:stretch>
        </p:blipFill>
        <p:spPr bwMode="auto">
          <a:xfrm flipH="1">
            <a:off x="4511824" y="692697"/>
            <a:ext cx="3240360" cy="2402337"/>
          </a:xfrm>
          <a:prstGeom prst="rect">
            <a:avLst/>
          </a:prstGeom>
          <a:noFill/>
          <a:effectLst>
            <a:softEdge rad="31750"/>
          </a:effectLst>
        </p:spPr>
      </p:pic>
      <p:sp>
        <p:nvSpPr>
          <p:cNvPr id="5" name="Прямоугольник 4"/>
          <p:cNvSpPr/>
          <p:nvPr/>
        </p:nvSpPr>
        <p:spPr>
          <a:xfrm>
            <a:off x="1703512" y="3140968"/>
            <a:ext cx="8607330" cy="3046988"/>
          </a:xfrm>
          <a:prstGeom prst="rect">
            <a:avLst/>
          </a:prstGeom>
        </p:spPr>
        <p:txBody>
          <a:bodyPr wrap="square">
            <a:spAutoFit/>
          </a:bodyPr>
          <a:lstStyle/>
          <a:p>
            <a:pPr algn="just"/>
            <a:r>
              <a:rPr lang="ru-RU" sz="2400" dirty="0">
                <a:solidFill>
                  <a:srgbClr val="002060"/>
                </a:solidFill>
                <a:latin typeface="Times New Roman" pitchFamily="18" charset="0"/>
                <a:cs typeface="Times New Roman" pitchFamily="18" charset="0"/>
              </a:rPr>
              <a:t>Писать итоговое сочинение выпускники будут </a:t>
            </a:r>
            <a:r>
              <a:rPr lang="ru-RU" sz="2400" b="1" dirty="0">
                <a:solidFill>
                  <a:srgbClr val="002060"/>
                </a:solidFill>
                <a:latin typeface="Times New Roman" pitchFamily="18" charset="0"/>
                <a:cs typeface="Times New Roman" pitchFamily="18" charset="0"/>
              </a:rPr>
              <a:t>в первую среду декабря </a:t>
            </a:r>
            <a:r>
              <a:rPr lang="ru-RU" sz="2400" b="1" dirty="0">
                <a:solidFill>
                  <a:srgbClr val="FF0000"/>
                </a:solidFill>
                <a:latin typeface="Times New Roman" pitchFamily="18" charset="0"/>
                <a:cs typeface="Times New Roman" pitchFamily="18" charset="0"/>
              </a:rPr>
              <a:t>в своих школах</a:t>
            </a:r>
            <a:r>
              <a:rPr lang="ru-RU" sz="2400" dirty="0">
                <a:solidFill>
                  <a:srgbClr val="FF0000"/>
                </a:solidFill>
                <a:latin typeface="Times New Roman" pitchFamily="18" charset="0"/>
                <a:cs typeface="Times New Roman" pitchFamily="18" charset="0"/>
              </a:rPr>
              <a:t> </a:t>
            </a:r>
            <a:r>
              <a:rPr lang="ru-RU" sz="2400" dirty="0">
                <a:solidFill>
                  <a:srgbClr val="002060"/>
                </a:solidFill>
                <a:latin typeface="Times New Roman" pitchFamily="18" charset="0"/>
                <a:cs typeface="Times New Roman" pitchFamily="18" charset="0"/>
              </a:rPr>
              <a:t>по темам, сформированным </a:t>
            </a:r>
            <a:r>
              <a:rPr lang="ru-RU" sz="2400" dirty="0" err="1">
                <a:solidFill>
                  <a:srgbClr val="002060"/>
                </a:solidFill>
                <a:latin typeface="Times New Roman" pitchFamily="18" charset="0"/>
                <a:cs typeface="Times New Roman" pitchFamily="18" charset="0"/>
              </a:rPr>
              <a:t>Рособрнадзором</a:t>
            </a:r>
            <a:r>
              <a:rPr lang="ru-RU" sz="2400" dirty="0">
                <a:solidFill>
                  <a:srgbClr val="002060"/>
                </a:solidFill>
                <a:latin typeface="Times New Roman" pitchFamily="18" charset="0"/>
                <a:cs typeface="Times New Roman" pitchFamily="18" charset="0"/>
              </a:rPr>
              <a:t> по часовым поясам. </a:t>
            </a:r>
          </a:p>
          <a:p>
            <a:pPr algn="just"/>
            <a:endParaRPr lang="ru-RU" sz="2400" b="1" dirty="0">
              <a:solidFill>
                <a:srgbClr val="002060"/>
              </a:solidFill>
              <a:latin typeface="Times New Roman" pitchFamily="18" charset="0"/>
              <a:cs typeface="Times New Roman" pitchFamily="18" charset="0"/>
            </a:endParaRPr>
          </a:p>
          <a:p>
            <a:pPr algn="just"/>
            <a:r>
              <a:rPr lang="ru-RU" sz="2400" b="1" dirty="0">
                <a:solidFill>
                  <a:srgbClr val="002060"/>
                </a:solidFill>
                <a:latin typeface="Times New Roman" pitchFamily="18" charset="0"/>
                <a:cs typeface="Times New Roman" pitchFamily="18" charset="0"/>
              </a:rPr>
              <a:t>В первую среду февраля и мая  выпускникам предоставляется возможность пересдачи </a:t>
            </a:r>
            <a:r>
              <a:rPr lang="ru-RU" sz="2400" dirty="0">
                <a:solidFill>
                  <a:srgbClr val="002060"/>
                </a:solidFill>
                <a:latin typeface="Times New Roman" pitchFamily="18" charset="0"/>
                <a:cs typeface="Times New Roman" pitchFamily="18" charset="0"/>
              </a:rPr>
              <a:t> (в т.ч. для пропустивших итоговое сочинение (изложение) по уважительной причине).</a:t>
            </a:r>
          </a:p>
        </p:txBody>
      </p:sp>
    </p:spTree>
    <p:extLst>
      <p:ext uri="{BB962C8B-B14F-4D97-AF65-F5344CB8AC3E}">
        <p14:creationId xmlns:p14="http://schemas.microsoft.com/office/powerpoint/2010/main" val="4464136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38348" y="214290"/>
            <a:ext cx="7572428" cy="523220"/>
          </a:xfrm>
          <a:prstGeom prst="rect">
            <a:avLst/>
          </a:prstGeom>
          <a:noFill/>
        </p:spPr>
        <p:txBody>
          <a:bodyPr wrap="square" rtlCol="0">
            <a:spAutoFit/>
          </a:bodyPr>
          <a:lstStyle/>
          <a:p>
            <a:pPr algn="ctr"/>
            <a:r>
              <a:rPr lang="ru-RU" sz="2800" b="1" dirty="0">
                <a:solidFill>
                  <a:srgbClr val="C00000"/>
                </a:solidFill>
                <a:latin typeface="Times New Roman" pitchFamily="18" charset="0"/>
                <a:cs typeface="Times New Roman" pitchFamily="18" charset="0"/>
              </a:rPr>
              <a:t>Объем работы и</a:t>
            </a:r>
            <a:r>
              <a:rPr lang="en-US" sz="2800" b="1" dirty="0">
                <a:solidFill>
                  <a:srgbClr val="C00000"/>
                </a:solidFill>
                <a:latin typeface="Times New Roman" pitchFamily="18" charset="0"/>
                <a:cs typeface="Times New Roman" pitchFamily="18" charset="0"/>
              </a:rPr>
              <a:t> </a:t>
            </a:r>
            <a:r>
              <a:rPr lang="ru-RU" sz="2800" b="1" dirty="0">
                <a:solidFill>
                  <a:srgbClr val="C00000"/>
                </a:solidFill>
                <a:latin typeface="Times New Roman" pitchFamily="18" charset="0"/>
                <a:cs typeface="Times New Roman" pitchFamily="18" charset="0"/>
              </a:rPr>
              <a:t>время для написания </a:t>
            </a:r>
          </a:p>
        </p:txBody>
      </p:sp>
      <p:pic>
        <p:nvPicPr>
          <p:cNvPr id="9222" name="Picture 6" descr="http://www.mincom.gov.az/assets/Uploads/yaziinsha400_2.jpg"/>
          <p:cNvPicPr>
            <a:picLocks noChangeAspect="1" noChangeArrowheads="1"/>
          </p:cNvPicPr>
          <p:nvPr/>
        </p:nvPicPr>
        <p:blipFill>
          <a:blip r:embed="rId2" cstate="print"/>
          <a:srcRect/>
          <a:stretch>
            <a:fillRect/>
          </a:stretch>
        </p:blipFill>
        <p:spPr bwMode="auto">
          <a:xfrm>
            <a:off x="4079776" y="764705"/>
            <a:ext cx="3816424" cy="2328019"/>
          </a:xfrm>
          <a:prstGeom prst="rect">
            <a:avLst/>
          </a:prstGeom>
          <a:noFill/>
          <a:effectLst>
            <a:softEdge rad="31750"/>
          </a:effectLst>
        </p:spPr>
      </p:pic>
      <p:sp>
        <p:nvSpPr>
          <p:cNvPr id="13313" name="Rectangle 1"/>
          <p:cNvSpPr>
            <a:spLocks noChangeArrowheads="1"/>
          </p:cNvSpPr>
          <p:nvPr/>
        </p:nvSpPr>
        <p:spPr bwMode="auto">
          <a:xfrm>
            <a:off x="1775520" y="3141264"/>
            <a:ext cx="8568952" cy="31085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indent="342900" algn="just" fontAlgn="base">
              <a:spcBef>
                <a:spcPct val="0"/>
              </a:spcBef>
              <a:spcAft>
                <a:spcPct val="0"/>
              </a:spcAft>
            </a:pPr>
            <a:r>
              <a:rPr lang="ru-RU" sz="2800" dirty="0">
                <a:solidFill>
                  <a:srgbClr val="002060"/>
                </a:solidFill>
                <a:latin typeface="Times New Roman" pitchFamily="18" charset="0"/>
                <a:ea typeface="Calibri" pitchFamily="34" charset="0"/>
                <a:cs typeface="Times New Roman" pitchFamily="18" charset="0"/>
              </a:rPr>
              <a:t>При выставлении оценки учитывается объем сочинения. </a:t>
            </a:r>
            <a:r>
              <a:rPr lang="ru-RU" sz="2800" b="1" dirty="0">
                <a:solidFill>
                  <a:srgbClr val="002060"/>
                </a:solidFill>
                <a:latin typeface="Times New Roman" pitchFamily="18" charset="0"/>
                <a:ea typeface="Calibri" pitchFamily="34" charset="0"/>
                <a:cs typeface="Times New Roman" pitchFamily="18" charset="0"/>
              </a:rPr>
              <a:t>Рекомендуемое количество слов – 350. </a:t>
            </a:r>
            <a:r>
              <a:rPr lang="ru-RU" sz="2800" dirty="0">
                <a:solidFill>
                  <a:srgbClr val="002060"/>
                </a:solidFill>
                <a:latin typeface="Times New Roman" pitchFamily="18" charset="0"/>
                <a:ea typeface="Calibri" pitchFamily="34" charset="0"/>
                <a:cs typeface="Times New Roman" pitchFamily="18" charset="0"/>
              </a:rPr>
              <a:t>Если в сочинении </a:t>
            </a:r>
            <a:r>
              <a:rPr lang="ru-RU" sz="2800" b="1" dirty="0">
                <a:solidFill>
                  <a:srgbClr val="002060"/>
                </a:solidFill>
                <a:latin typeface="Times New Roman" pitchFamily="18" charset="0"/>
                <a:ea typeface="Calibri" pitchFamily="34" charset="0"/>
                <a:cs typeface="Times New Roman" pitchFamily="18" charset="0"/>
              </a:rPr>
              <a:t>менее 250 слов </a:t>
            </a:r>
            <a:r>
              <a:rPr lang="ru-RU" sz="2800" dirty="0">
                <a:solidFill>
                  <a:srgbClr val="002060"/>
                </a:solidFill>
                <a:latin typeface="Times New Roman" pitchFamily="18" charset="0"/>
                <a:ea typeface="Calibri" pitchFamily="34" charset="0"/>
                <a:cs typeface="Times New Roman" pitchFamily="18" charset="0"/>
              </a:rPr>
              <a:t>(в подсчёт включаются все слова, </a:t>
            </a:r>
            <a:r>
              <a:rPr lang="ru-RU" sz="2800" dirty="0">
                <a:solidFill>
                  <a:srgbClr val="FF0000"/>
                </a:solidFill>
                <a:latin typeface="Times New Roman" pitchFamily="18" charset="0"/>
                <a:ea typeface="Calibri" pitchFamily="34" charset="0"/>
                <a:cs typeface="Times New Roman" pitchFamily="18" charset="0"/>
              </a:rPr>
              <a:t>в том числе и служебные</a:t>
            </a:r>
            <a:r>
              <a:rPr lang="ru-RU" sz="2800" dirty="0">
                <a:solidFill>
                  <a:srgbClr val="002060"/>
                </a:solidFill>
                <a:latin typeface="Times New Roman" pitchFamily="18" charset="0"/>
                <a:ea typeface="Calibri" pitchFamily="34" charset="0"/>
                <a:cs typeface="Times New Roman" pitchFamily="18" charset="0"/>
              </a:rPr>
              <a:t>), то такая работа считается невыполненной и оценивается </a:t>
            </a:r>
            <a:r>
              <a:rPr lang="ru-RU" sz="2800" b="1" dirty="0">
                <a:solidFill>
                  <a:srgbClr val="002060"/>
                </a:solidFill>
                <a:latin typeface="Times New Roman" pitchFamily="18" charset="0"/>
                <a:ea typeface="Calibri" pitchFamily="34" charset="0"/>
                <a:cs typeface="Times New Roman" pitchFamily="18" charset="0"/>
              </a:rPr>
              <a:t>0 баллов. </a:t>
            </a:r>
          </a:p>
          <a:p>
            <a:pPr indent="342900" algn="ctr" fontAlgn="base">
              <a:spcBef>
                <a:spcPct val="0"/>
              </a:spcBef>
              <a:spcAft>
                <a:spcPct val="0"/>
              </a:spcAft>
            </a:pPr>
            <a:r>
              <a:rPr lang="ru-RU" sz="2800" b="1" dirty="0">
                <a:solidFill>
                  <a:srgbClr val="002060"/>
                </a:solidFill>
                <a:latin typeface="Times New Roman" pitchFamily="18" charset="0"/>
                <a:ea typeface="Calibri" pitchFamily="34" charset="0"/>
                <a:cs typeface="Times New Roman" pitchFamily="18" charset="0"/>
              </a:rPr>
              <a:t>ВРЕМЯ - 3 часа 55 минут. </a:t>
            </a:r>
            <a:endParaRPr lang="ru-RU" sz="2800" b="1" dirty="0">
              <a:solidFill>
                <a:srgbClr val="002060"/>
              </a:solidFill>
              <a:latin typeface="Arial" pitchFamily="34" charset="0"/>
            </a:endParaRPr>
          </a:p>
        </p:txBody>
      </p:sp>
    </p:spTree>
    <p:extLst>
      <p:ext uri="{BB962C8B-B14F-4D97-AF65-F5344CB8AC3E}">
        <p14:creationId xmlns:p14="http://schemas.microsoft.com/office/powerpoint/2010/main" val="20669236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1881158" y="214290"/>
            <a:ext cx="8286808" cy="523220"/>
          </a:xfrm>
          <a:prstGeom prst="rect">
            <a:avLst/>
          </a:prstGeom>
        </p:spPr>
        <p:txBody>
          <a:bodyPr wrap="square">
            <a:spAutoFit/>
          </a:bodyPr>
          <a:lstStyle/>
          <a:p>
            <a:pPr algn="ctr"/>
            <a:r>
              <a:rPr lang="ru-RU" sz="2800" b="1" dirty="0">
                <a:solidFill>
                  <a:srgbClr val="C00000"/>
                </a:solidFill>
                <a:latin typeface="Times New Roman" pitchFamily="18" charset="0"/>
                <a:cs typeface="Times New Roman" pitchFamily="18" charset="0"/>
              </a:rPr>
              <a:t>Границы свободы в сочинении</a:t>
            </a:r>
          </a:p>
        </p:txBody>
      </p:sp>
      <p:sp>
        <p:nvSpPr>
          <p:cNvPr id="4" name="Прямоугольник 3"/>
          <p:cNvSpPr/>
          <p:nvPr/>
        </p:nvSpPr>
        <p:spPr>
          <a:xfrm>
            <a:off x="1775520" y="3429000"/>
            <a:ext cx="8712968" cy="2862322"/>
          </a:xfrm>
          <a:prstGeom prst="rect">
            <a:avLst/>
          </a:prstGeom>
        </p:spPr>
        <p:txBody>
          <a:bodyPr wrap="square">
            <a:spAutoFit/>
          </a:bodyPr>
          <a:lstStyle/>
          <a:p>
            <a:pPr algn="just"/>
            <a:r>
              <a:rPr lang="ru-RU" sz="3600" dirty="0">
                <a:solidFill>
                  <a:srgbClr val="002060"/>
                </a:solidFill>
                <a:latin typeface="Times New Roman" pitchFamily="18" charset="0"/>
                <a:ea typeface="Times New Roman" pitchFamily="18" charset="0"/>
                <a:cs typeface="Times New Roman" pitchFamily="18" charset="0"/>
              </a:rPr>
              <a:t>Для </a:t>
            </a:r>
            <a:r>
              <a:rPr lang="ru-RU" sz="3600" b="1" dirty="0">
                <a:solidFill>
                  <a:srgbClr val="002060"/>
                </a:solidFill>
                <a:latin typeface="Times New Roman" pitchFamily="18" charset="0"/>
                <a:ea typeface="Times New Roman" pitchFamily="18" charset="0"/>
                <a:cs typeface="Times New Roman" pitchFamily="18" charset="0"/>
              </a:rPr>
              <a:t>обоснования своей позиции выпускнику следует привести в сочинении не менее двух ссылок на произведения русской и мировой литературы. </a:t>
            </a:r>
            <a:endParaRPr lang="ru-RU" sz="3600" dirty="0">
              <a:solidFill>
                <a:srgbClr val="002060"/>
              </a:solidFill>
              <a:latin typeface="Times New Roman" pitchFamily="18" charset="0"/>
              <a:cs typeface="Times New Roman" pitchFamily="18" charset="0"/>
            </a:endParaRPr>
          </a:p>
        </p:txBody>
      </p:sp>
      <p:pic>
        <p:nvPicPr>
          <p:cNvPr id="1028" name="Picture 4" descr="http://www.ng.ru/upload/resize_cache/iblock/351/450_320_1/66-8-3.jpg"/>
          <p:cNvPicPr>
            <a:picLocks noChangeAspect="1" noChangeArrowheads="1"/>
          </p:cNvPicPr>
          <p:nvPr/>
        </p:nvPicPr>
        <p:blipFill>
          <a:blip r:embed="rId2" cstate="print"/>
          <a:srcRect/>
          <a:stretch>
            <a:fillRect/>
          </a:stretch>
        </p:blipFill>
        <p:spPr bwMode="auto">
          <a:xfrm>
            <a:off x="4079776" y="980728"/>
            <a:ext cx="3643338" cy="2436988"/>
          </a:xfrm>
          <a:prstGeom prst="rect">
            <a:avLst/>
          </a:prstGeom>
          <a:noFill/>
        </p:spPr>
      </p:pic>
    </p:spTree>
    <p:extLst>
      <p:ext uri="{BB962C8B-B14F-4D97-AF65-F5344CB8AC3E}">
        <p14:creationId xmlns:p14="http://schemas.microsoft.com/office/powerpoint/2010/main" val="36510347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38348" y="214290"/>
            <a:ext cx="7572428" cy="523220"/>
          </a:xfrm>
          <a:prstGeom prst="rect">
            <a:avLst/>
          </a:prstGeom>
          <a:noFill/>
        </p:spPr>
        <p:txBody>
          <a:bodyPr wrap="square" rtlCol="0">
            <a:spAutoFit/>
          </a:bodyPr>
          <a:lstStyle/>
          <a:p>
            <a:pPr algn="ctr"/>
            <a:r>
              <a:rPr lang="ru-RU" sz="2800" b="1" dirty="0">
                <a:solidFill>
                  <a:srgbClr val="C00000"/>
                </a:solidFill>
                <a:latin typeface="Times New Roman" pitchFamily="18" charset="0"/>
                <a:cs typeface="Times New Roman" pitchFamily="18" charset="0"/>
              </a:rPr>
              <a:t>Проверка сочинения</a:t>
            </a:r>
          </a:p>
        </p:txBody>
      </p:sp>
      <p:sp>
        <p:nvSpPr>
          <p:cNvPr id="3" name="Прямоугольник 2"/>
          <p:cNvSpPr/>
          <p:nvPr/>
        </p:nvSpPr>
        <p:spPr>
          <a:xfrm flipH="1">
            <a:off x="10096528" y="2228672"/>
            <a:ext cx="45719" cy="461665"/>
          </a:xfrm>
          <a:prstGeom prst="rect">
            <a:avLst/>
          </a:prstGeom>
        </p:spPr>
        <p:txBody>
          <a:bodyPr wrap="square">
            <a:spAutoFit/>
          </a:bodyPr>
          <a:lstStyle/>
          <a:p>
            <a:pPr algn="just"/>
            <a:r>
              <a:rPr lang="ru-RU" sz="2400" dirty="0">
                <a:solidFill>
                  <a:srgbClr val="002060"/>
                </a:solidFill>
                <a:latin typeface="Times New Roman" pitchFamily="18" charset="0"/>
                <a:cs typeface="Times New Roman" pitchFamily="18" charset="0"/>
              </a:rPr>
              <a:t>.</a:t>
            </a:r>
          </a:p>
        </p:txBody>
      </p:sp>
      <p:sp>
        <p:nvSpPr>
          <p:cNvPr id="4" name="Прямоугольник 3"/>
          <p:cNvSpPr/>
          <p:nvPr/>
        </p:nvSpPr>
        <p:spPr>
          <a:xfrm>
            <a:off x="1847528" y="871350"/>
            <a:ext cx="8320438" cy="2554545"/>
          </a:xfrm>
          <a:prstGeom prst="rect">
            <a:avLst/>
          </a:prstGeom>
        </p:spPr>
        <p:txBody>
          <a:bodyPr wrap="square">
            <a:spAutoFit/>
          </a:bodyPr>
          <a:lstStyle/>
          <a:p>
            <a:pPr algn="just"/>
            <a:r>
              <a:rPr lang="ru-RU" sz="4000" b="1" dirty="0">
                <a:solidFill>
                  <a:srgbClr val="002060"/>
                </a:solidFill>
                <a:latin typeface="Times New Roman" pitchFamily="18" charset="0"/>
                <a:cs typeface="Times New Roman" pitchFamily="18" charset="0"/>
              </a:rPr>
              <a:t>Результатом</a:t>
            </a:r>
            <a:r>
              <a:rPr lang="ru-RU" sz="4000" dirty="0">
                <a:solidFill>
                  <a:srgbClr val="002060"/>
                </a:solidFill>
                <a:latin typeface="Times New Roman" pitchFamily="18" charset="0"/>
                <a:cs typeface="Times New Roman" pitchFamily="18" charset="0"/>
              </a:rPr>
              <a:t> итогового сочинения </a:t>
            </a:r>
            <a:r>
              <a:rPr lang="ru-RU" sz="4000" b="1" dirty="0">
                <a:solidFill>
                  <a:srgbClr val="002060"/>
                </a:solidFill>
                <a:latin typeface="Times New Roman" pitchFamily="18" charset="0"/>
                <a:cs typeface="Times New Roman" pitchFamily="18" charset="0"/>
              </a:rPr>
              <a:t>может быть зачет или незачет. </a:t>
            </a:r>
            <a:r>
              <a:rPr lang="ru-RU" sz="4000" dirty="0">
                <a:solidFill>
                  <a:srgbClr val="002060"/>
                </a:solidFill>
                <a:latin typeface="Times New Roman" pitchFamily="18" charset="0"/>
                <a:cs typeface="Times New Roman" pitchFamily="18" charset="0"/>
              </a:rPr>
              <a:t>К сдаче ЕГЭ допустят только учеников, получивших </a:t>
            </a:r>
            <a:r>
              <a:rPr lang="ru-RU" sz="4000" b="1" dirty="0">
                <a:solidFill>
                  <a:srgbClr val="FF0000"/>
                </a:solidFill>
                <a:latin typeface="Times New Roman" pitchFamily="18" charset="0"/>
                <a:cs typeface="Times New Roman" pitchFamily="18" charset="0"/>
              </a:rPr>
              <a:t>зачет.</a:t>
            </a:r>
          </a:p>
        </p:txBody>
      </p:sp>
      <p:sp>
        <p:nvSpPr>
          <p:cNvPr id="8198" name="AutoShape 6" descr="data:image/jpeg;base64,/9j/4AAQSkZJRgABAQAAAQABAAD/2wCEAAkGBw8PDw8OEBANDw4QDw8ODg8ODw8NDQ8PFBUWFhQVFRQYHCkgGBooGxQUITEhJS0rLi4uFx81ODYsNygtLisBCgoKDg0OGxAQGy8kICUsMCwsLCwsLCwtNTQsLywsLCwsLCwsLCwsLywsLCwsLCwsLCwsLCwsLCwsLCwsLCwsLP/AABEIAMIBAwMBEQACEQEDEQH/xAAbAAEAAgMBAQAAAAAAAAAAAAAAAQIDBQYEB//EAD8QAAIBAwIDBQMKBAQHAAAAAAABAgMEERIhBTFBBhNRYXEigZEHFCMyQlJyobHBQ2LR4TOCkvEVFnOywtLw/8QAGwEBAAIDAQEAAAAAAAAAAAAAAAQFAQIDBgf/xAAxEQEAAgEDAwIDBwQDAQAAAAAAAQIDBBEhEjFBBVETIpEyYXGBobHRI8Hh8EJS8RT/2gAMAwEAAhEDEQA/APuIAAAAAAAAAAAAAAAAAAAAAAAAAAAAAAAAAAAAAAAAAAAAAAAAAAAAAAAAAAAAAAAAAAAAAAAAAAAAAAAAAAAAAAAAAAAAAB5rm8UPZS1S8Fsl6sg6vX0wfL3t7fy648M257Q8c7yt0cF5aW/3Km/qmp7xER+X+UiMOPzuxx4zKDxVitP34Z29Ym+D1uYt05q/nH8N50cXj+nPPtLb0qkZRUotSi1lNbpov6XresWrO8SgWrNZ2lY2YAAAAAAAAAAAAAAAAAAAAAAAAAAAAAAADBe1+7pyn1S29XsvzI+rzxgw2ye3+w6YsfXeKtVR5Ze7e7fizyeO02mbW5mU6/tDLJbZO1+I3c47tZxCSwV2WeUzBE7q9luIONZ2zfszTnT8prmvet/cXfomomJnDPbvH92vqOGJrGSO/aXWHpFOAAAAAAAAAAAAAAAAAAAAAAAAAAAAAAAGq7SyxQT6KpDPp/vgqfWt/wD5Z/GE3QRvl2+6WqoXiweWrk2Tb4eU1b7YzbNMwxXBy1V3dZOPMym48ezz8Dp1Z3lCrGEnSpzk5z5RS0yXv59C79JwXnLF4jiPLhr8tIxTSZ59ndyu/BfE9SoFPnUvL4AZaV1nZ7efQD0gAAAAAAAAAAAAAAAAAAAAAAAAABhq3VOH1pxXq1k4ZNThx8XtEfm3rivbtCkL+jLlVp/6kjFNXgv9m8T+bacGSO9Z+iOIWyr0Z0sr2o4T54lzT+ODOfFXPimk+TFknFeLez567qVOcqVRONSDxJP9V4o8Tm018dpraOYekpauSsWgd5lpLLbeElu2znXFMztDbaIjeW84dwTOJ193zVPovxePoej0Po9a7Xzcz7fz7qjU+oTPy4vr/DdxiksJJJcktki+iIiNoVczvzLHWrwgsykl6gaa/wC01Om9MITqz6Rjz9X1SMbwbSx0eO3Mnn5qlHzqJSMjc8J4/CpPuZqVKr0jPr6PkzWLRvs26Z23b02agAAAAAAAAAAAAAAAAAAAAAADxX1w17EXh/aa6LwKj1LWTT+ljnnzPskYccfalp7ucYroeayTEJ+KJtLR3E030I226ypEw8veyh9SUo/hk4/odseS9PszMfhLaaVt9qN2q45KrW0zc5znH2Vn2pY8M82S6575J2vO7WMdKR8sbOq7J8CdvBVa3tXElnHSlF9F5+LPSaPRVxR1zHzfso9XqpyT0xPH7uibSWXhJbtvZJFghOZ4j2toxnog5d2tpVklLfwguvqQr67HF+nv98JVdLea9UtdC7q3cn3eqjQTw5ve4qe/7C9NzfHlnNM9PFY8+Zc7UjH9rmW0suHwprEYpePVt+LfUlRER2cZndsKdJGWHg45TSVKp9uE04vzw/3SOd6xM1n729ZmIl19hV10qc/vQi/yN2rOAAAAAAAAAAAAAAAAAAAAABjr1FCLk+n5vocs+aMOObz4bUr1Ts01SeE5Pm92ePyZJtM3t3lYVrvxDmuL3+MtvkQ4ib2WmHHFYc9Liye+SRGCXXqg/wCIrxM/Bk6odB2Rte+k7iSzCD00/Bz6v3fuW/pWj3t8W3aO34/4VvqGo2r8Ovnu66TSWXslu2ehUz592m7SSrydGk2qKel42daS/wDEqdXqZtvSnbzKw0+GKR127+Iailb/AGpbvoukfQqpt4hLiJtO8uo7MVouEqf2oy1Y8Yv+5dem5Imk08wga3HMWi3h0EYlkhM0YgaHtBNzq06Md8Zm/V+xBfFy+Br5beHcWlLRThD7sYx+CMsMoAAAAAAAAAAAAAAAAAAAAAGr4lXzLR0ju/xf/fqee9W1PVeMUdo5n8UzBj2r1e7S8Ru1hpFDkvvxCxwYud3zftfxJ5VKL3e8vKJO0WH/AJSk579MdMOfp3EsYJ80hG65ZVWka9MM9cvrPYy9p/N6dttGpCO6ezk3vJ+uWyw9P1VbR8KeJjt9/wDlA1mC0T8TvEsXbHiE9HzajnXUag2ui5yfw/UsMsWmvTXvKJj2i29vDj3aqlUcHziklnwxnJRauvTfojtH+7rTD89eqfL1RWSF2d4h6LXVTnGpB4kuXg/FPyN8ea2O0WqxesXr02djw68jWjlbSX1o9U/6HpNNqaZ6717+YU2bDbFO09kcY4lC1oupLeT9mnBfWqVHyijtadocojdzvZ69p07m2dxJzrXVaTyuSnuov8CeIr+zOEZ6cR7y7fCtO8+z6aSHEAAAAAAAAAAAAAAAAAAAABEnhN+CyYmdo3ZiN5cXcXTll53k3J+8+f5M05LTafM7vQ48UV4aTiNacU3u1h8t2Zx1iZSo2h81u7h1akpvm3y8F0Rf46dNYrCuvfqtMy9PDuHV6zSp0qs8vC0Qk1n15G01tPEQxvEd5dvwfsFVliVw1SWU1CLUpvxy+S/M74tDe3N+HDJrKRxXlur/AIbFV5PVpqOMalKcHpm5JqMovG3WLz/N5EzJocWSertPvCLTV5KR0949mOytXKpOpKWt6mk8beePeTEVl4vwVV4qUcRrRXsvpJfdZF1WljNG8d0nT6icc7T2c7TjKEnCacZx2afM89lx2pO0wt62i0bw99NEdrL0wcqS75NwUft9PTz9CTpa5ZyR8Lv/AL3cstqRWevs1vFr+dzLvpQn3dPMKcIRcpuT5pY+28LL+yvzu8+Wbx0x28zH7R/dBxY9p3n8v5l6eynAbi5uqVzVpTp0qUo1HKpFwzp+pTpp74zjf16kXTYMuTLF7RtEf7CVmy0pj6azvMvqRcqsAAAAAAAAAAAAAAAAAAAABEllY8djExvGxHD5hxrjVtZznTq1Y6oSa0w9ubXTZeXieLn0zP8AEmlY4ie/h6Ouek0i3u2NtCNanGpHeMoqS26NZRCmlqzMT4bTl2fPe23Au5n38ZS7ucsTj0hN+nRl/wCl6qLx8Oe8fq45af8AKHQ/JZx1KnVtaj/wnGdJt793PZx90sf6i9xSq9VXaYmHVXnaanhqn7Wz3I2X1HBj433n7jHost+dtvxaWne3FxVVdR+hpzdKT6qU4tx92Yr4oxp9ZbNfeI+XfZtm0tcVeZ57t5wyKdOLjusIsImJjeEKYmOJbCMTLDx8Y4fTq03KWIzgm4z6ryfivIi6rBTLSd+8eUjT5bUtx2nw5VX1OjhVMynz7qL9v/M/sr138ilpobT82SemPv7/AEWGTUV36acy3thw664lolWSt7SDzCEFpbX8ud/8z39C2x4t69NY6a/rP8fur7Wis7zzP6O1srOnQhGnTiowisJImVrFY2hxmZmd5egywAAAAAAAAAAAAAAAAAAAB5OI8Tt7aHeV61KjDxqTUc+nj7jEzEMxWZ7OD438rVtTzC0pVLmfJTnmlRz7/afwRznLHhIppbT9rhwXGu2PE73KqV3RpP8AhUPoo482vafvZym8ylUwUr4c5phH+Z+Zq6vpXYfi+u0Uc70pOk/wreP5PHuPMepYpx55mO1uUrHWL1/Bj7WV4zt6kG17S2/F0/M56GJrmrZ2yRtjmHJcEpd1JtSlmS0t8ts5/YuNVqJtXprwiYsXO9nWUF7PuKW3dPh3HYWzjKxnqWVWq1G/RYiv+09P6XTbBv7yovULb5tvaHnveDXNCTlR1Si3l6MNP1g+voTZx871nb9voiRfjaY3ebvb97KOH/0Hn9Tbpt/2/Rr1V9v1X/5fvbhfS1amH95qnFe6O4tWduO5FuW14P2OtbdqUl3s1unJeyn5ROdNPWs9VuZ95bWyzMbRxDokju5pAAAAAAAAAAAAAAAAAAFZySTbaSW7beEl6gcnx35RuG2uYqq7mqtu7t8VN/Of1V8TSbxDtTBezguL/KVxK5zG2hC0pv7S+krY/FJYXuRynLM9kmmmrHflx13mpN1LitUrVHzc5yqS+LOc8pEREdnnlcpbQSX6hndays7i6noo06tab6U4uWPXHIzFZlpbJEd3c8C+Sa6q4ldVIW8OsI4q1v8A1X5nWMXujX1Ps21LgNvZqdOn3n1mpTc25SabSb6Hj9ZqcmXNMT4mYj6rjTV2rvHlyfGp66vdwUnjxeyJOCOmvVLbJO87Qmz4VU2a5+gvnqzXFMNqpSpx0zTTx8SNxad4dOz6j2Qp6bC25bw17fzNy/c9Zoq9OCsfc85q7b5rfi3BKRwAAAAAAAAAAAAAAAAAAAAAABx/yq2Eq3DpYlKMaVWnVq6c701mMsrqlqz7jnkj5XfTzEX5fE3VoU9oR1P70v6EdYvPVvJzeN99kl/QbMTaIb/gfYLiV5iSpOjTf8S4zTWPKP1n8DpGOZcL56w+h8C+Sizo4lczndT5uP8AhUc+i3fxOkY4hGtntPZ3VlY0aEFTo06dKC5RpxUF+R02cZmZ7vQGHzbtXN0alZPpJyXmpbr9TxmpwTXVXrPvv9eXo9NeJw1mPb9nOdl7NV5SnLduRjVXmkRWG9J2ibO4o8KjGOUiH8O0xvLjbUzM7NLx+0Tpy8YpteqM4bdN9kmluqGHsF2yjRmrSvLFCb+im+VKb6P+Vv4P1PT6HPOP+nbt4Veswxf56931QuFUAAAAAAAAAAAAAAAAAAAAAAAMdejGpCVOaUoTi4Si+Ti1hoETs+X23yQR76bq3L+b6m6cacfpXDopSeyfxOUYkqdTMx2dzwTsnYWWO5oQU1/En9JV/wBT5e46RWIcLXtbu3ZloAAAHPdr+znz2nmElCvFYi5Z0TX3ZY/UhavR1zbWji0JWm1M4uJ7S5Ls32bu7KrL5wqahNexomp5kufoUHqWntj6Zt5WGPPW9ZirrpyWnBDm3y7OMRzu5vjdRaZejI1ObrPDG0PllGOX5F/adkevL652A7Qy0QtK8s4SjQqSe7XSEn+j9xL0WuibfCv+U/2Q9XpNo+JT8/5d2W6sAAAAAAAAAAAAAAAAACAAAAAAAAAAAAAAaHjtX6aEfuwz75P+x5f13JvmrX2j9/8AxZ6Ov9OZ95a24uNilmyZTHy5vi8atZOjRWurOMlCOcZeG/2JOjxTkyREJOS0Y8czLg7Km84aaaeGmsNNc014lpl4R8XLt+C22YFRmv8AMl9ofQOAcTc13NR/SxXsyf8AEiv3PSel+o/Hj4d/tR+v+fdR6zSxSeunaf0bkuEAAAAAAAAAAAAAAAAAAIyAyAyAyBGQGQGQIyA1ANQEagOW4nW1V6r8Gor3L+uTxXqmTr1V/u4+i801NsNfq1lzUK+OUylWhnfVKVZVaU9E6abUsRljO3JrHVljpslsUxavdnLSuSOm3Zzt/wAV7+772cacZzwpypx0RnP7zXiywzWtlr1T3RsVK456Y7O+7O0lpSfVFJO1r7S66iZiOGyu4OGJxeJReYtdGhvbFeL17w4Yp6vlt2l0tjdqrThUW2qOWvB8mvjk9zp80ZsVckeYUubHOO80nwz6zs5p1ANQE5AZAZAZAnIDIDIDIDIEgAK5AjIDIEZAjUBGoCNYEOYFXUAq6oFXXQGOV0lv4bmJnaN2Yjfhysqmcy+83L47nz3JfrvNveZl6WK7REezw3lTCZmkcutYcjxG7xGpvvJ49y/3LPFj3mGl7bNFQipzXqTbT01R68y+mcEm4Qim84SKHLPz7pOSvVD3X14tLNN5tLnixbS2/AK2m3pp83qnjwUm2vyPbenY5x6akT+P15UmtvFs9pj8Po2SuUTUVZXAFlXAsqwEqqBZVALKYE6wJ1ATqAnIDIE5AZApkCMgQ5AVcgKuYFHMCjqgYpVgMUq4GGdyB56l2B47i82azzTRw1MTOG8V77T+zph2+JXf3h5M7HgXpduWo4vWxFkjDXeXTw5m64bGay86msvDxuezw6ekYq1tHh5vLqLTktas+Wu/4dOnLVF5x0Zpk0VLRtE7N8estWeY3b6z47OCSlSnt1jiSKjL6Lkmd6zErCnqWKftRMPTS4o601qp1FBbvKSz/Y7aX0bpt1ZZ/KHLP6lE12xx+bqLW/ykXyoe+ndMDPC4AzRrgZI1gMsawGSNUC6qAZFUAspgWUwLKQFlICdQE5Ao2BVsCrkBRyApKQGKUwMUpgYJzAwTmB56kmB5auQPDcQm+QGvde5hlOEZx6PViXvKPU+i0vfqxztv4WmD1Ga12vG/3tbeRuKrWYqMfXU2ddJ6VXDPVed2uo9Rm9emkbLQtZ9S3VrPC08gPRCzXgB6aVql0A9dKngD1QAzwYGaMgMsZAZoyAyxkBkjIDJGQGRSAupAXUgLKQFkwJyBDYFWwKNgY5MDHJgY5AYpAYpIDFKIGKUAKOmBjdECkrZMDG7NeAFXZLwAj5ogLK2AsrcC6ogXjSAyRpgZIwAyRiBkjEDJFAZEBkQF0BdAXQFkBZMCwBgUYFWBRoCjQFGgMbiBRwAq6YFHTAjugI7oCO6Ad0BHcgR3IDuQHcgSqQEqkBZUgLKmBZQAsoAXUQLKIF0gLJAXSAsgLICUBYCWBDQFWgKtAVcQKuIFXECrgBDgBGgCNAEaAHdgNADQBHdgO7Ad2A7sCdADQBOgCdAFlECVECVECyiBKQFkgJSAskBKAkCwEYAjAENAVwBGAIwA0gRpAjSA0gRpAaQGkBpAjSA0gNADSBOkBpAaQJ0gTpAaQJwBOAJwBOAJwBOAJwAAsBAEAQAAgCAIAAAIAAAAEAAAAAAAkAAAASBIBASAAkCUBIAD/9k="/>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ru-RU"/>
          </a:p>
        </p:txBody>
      </p:sp>
      <p:pic>
        <p:nvPicPr>
          <p:cNvPr id="8204" name="Picture 12" descr="http://4.bp.blogspot.com/-HDF3rx32mX4/UjBTSSCvgHI/AAAAAAAAAxg/ocqhPqlB-NA/s1600/Remove-Add-to-Compare-Link%5B1%5D.png"/>
          <p:cNvPicPr>
            <a:picLocks noChangeAspect="1" noChangeArrowheads="1"/>
          </p:cNvPicPr>
          <p:nvPr/>
        </p:nvPicPr>
        <p:blipFill>
          <a:blip r:embed="rId2" cstate="print"/>
          <a:srcRect/>
          <a:stretch>
            <a:fillRect/>
          </a:stretch>
        </p:blipFill>
        <p:spPr bwMode="auto">
          <a:xfrm>
            <a:off x="7248128" y="3723872"/>
            <a:ext cx="2919838" cy="2919838"/>
          </a:xfrm>
          <a:prstGeom prst="rect">
            <a:avLst/>
          </a:prstGeom>
          <a:noFill/>
        </p:spPr>
      </p:pic>
    </p:spTree>
    <p:extLst>
      <p:ext uri="{BB962C8B-B14F-4D97-AF65-F5344CB8AC3E}">
        <p14:creationId xmlns:p14="http://schemas.microsoft.com/office/powerpoint/2010/main" val="24273746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459039" y="152401"/>
            <a:ext cx="7920037" cy="720725"/>
          </a:xfrm>
        </p:spPr>
        <p:txBody>
          <a:bodyPr/>
          <a:lstStyle/>
          <a:p>
            <a:pPr>
              <a:defRPr/>
            </a:pPr>
            <a:r>
              <a:rPr lang="ru-RU" altLang="ru-RU" sz="2400" b="1" dirty="0">
                <a:solidFill>
                  <a:schemeClr val="accent6">
                    <a:lumMod val="50000"/>
                  </a:schemeClr>
                </a:solidFill>
                <a:latin typeface="Times New Roman" pitchFamily="18" charset="0"/>
                <a:cs typeface="Times New Roman" pitchFamily="18" charset="0"/>
              </a:rPr>
              <a:t>Требования к классическому выпускному сочинению</a:t>
            </a:r>
            <a:endParaRPr lang="ru-RU" sz="2400" dirty="0">
              <a:solidFill>
                <a:schemeClr val="accent6">
                  <a:lumMod val="50000"/>
                </a:schemeClr>
              </a:solidFill>
              <a:latin typeface="Times New Roman" pitchFamily="18" charset="0"/>
              <a:cs typeface="Times New Roman" pitchFamily="18" charset="0"/>
            </a:endParaRPr>
          </a:p>
        </p:txBody>
      </p:sp>
      <p:sp>
        <p:nvSpPr>
          <p:cNvPr id="3" name="Текст 2"/>
          <p:cNvSpPr>
            <a:spLocks noGrp="1"/>
          </p:cNvSpPr>
          <p:nvPr>
            <p:ph type="body" sz="quarter" idx="10"/>
          </p:nvPr>
        </p:nvSpPr>
        <p:spPr>
          <a:xfrm>
            <a:off x="1739901" y="800101"/>
            <a:ext cx="8748713" cy="5724525"/>
          </a:xfrm>
        </p:spPr>
        <p:txBody>
          <a:bodyPr>
            <a:normAutofit lnSpcReduction="10000"/>
          </a:bodyPr>
          <a:lstStyle/>
          <a:p>
            <a:pPr>
              <a:spcBef>
                <a:spcPct val="0"/>
              </a:spcBef>
              <a:buSzTx/>
              <a:buFont typeface="Arial" pitchFamily="34" charset="0"/>
              <a:buChar char="•"/>
              <a:defRPr/>
            </a:pPr>
            <a:r>
              <a:rPr lang="ru-RU" altLang="ru-RU" dirty="0">
                <a:solidFill>
                  <a:prstClr val="black"/>
                </a:solidFill>
                <a:latin typeface="Times New Roman" pitchFamily="18" charset="0"/>
                <a:cs typeface="Times New Roman" pitchFamily="18" charset="0"/>
              </a:rPr>
              <a:t>Раскрытие темы.</a:t>
            </a:r>
          </a:p>
          <a:p>
            <a:pPr>
              <a:spcBef>
                <a:spcPct val="0"/>
              </a:spcBef>
              <a:buSzTx/>
              <a:buFont typeface="Arial" pitchFamily="34" charset="0"/>
              <a:buChar char="•"/>
              <a:defRPr/>
            </a:pPr>
            <a:r>
              <a:rPr lang="ru-RU" altLang="ru-RU" dirty="0">
                <a:solidFill>
                  <a:prstClr val="black"/>
                </a:solidFill>
                <a:latin typeface="Times New Roman" pitchFamily="18" charset="0"/>
                <a:cs typeface="Times New Roman" pitchFamily="18" charset="0"/>
              </a:rPr>
              <a:t>Умелое использование знания художественных текстов, литературно - критических работ, фактов литературной жизни (эпохи, направления, течения, кружки и т.д.), фактов истории, культуры.</a:t>
            </a:r>
          </a:p>
          <a:p>
            <a:pPr>
              <a:spcBef>
                <a:spcPct val="0"/>
              </a:spcBef>
              <a:buSzTx/>
              <a:buFont typeface="Arial" pitchFamily="34" charset="0"/>
              <a:buChar char="•"/>
              <a:defRPr/>
            </a:pPr>
            <a:r>
              <a:rPr lang="ru-RU" altLang="ru-RU" dirty="0">
                <a:solidFill>
                  <a:prstClr val="black"/>
                </a:solidFill>
                <a:latin typeface="Times New Roman" pitchFamily="18" charset="0"/>
                <a:cs typeface="Times New Roman" pitchFamily="18" charset="0"/>
              </a:rPr>
              <a:t>Анализ художественной формы, эстетическая значимость произведения. Использование минимальной терминологии литературоведения.</a:t>
            </a:r>
          </a:p>
          <a:p>
            <a:pPr>
              <a:spcBef>
                <a:spcPct val="0"/>
              </a:spcBef>
              <a:buSzTx/>
              <a:buFont typeface="Arial" pitchFamily="34" charset="0"/>
              <a:buChar char="•"/>
              <a:defRPr/>
            </a:pPr>
            <a:r>
              <a:rPr lang="ru-RU" altLang="ru-RU" dirty="0">
                <a:solidFill>
                  <a:prstClr val="black"/>
                </a:solidFill>
                <a:latin typeface="Times New Roman" pitchFamily="18" charset="0"/>
                <a:cs typeface="Times New Roman" pitchFamily="18" charset="0"/>
              </a:rPr>
              <a:t>Правильное логическое построение, композиционная стройность.</a:t>
            </a:r>
          </a:p>
          <a:p>
            <a:pPr>
              <a:spcBef>
                <a:spcPct val="0"/>
              </a:spcBef>
              <a:buSzTx/>
              <a:buFont typeface="Arial" pitchFamily="34" charset="0"/>
              <a:buChar char="•"/>
              <a:defRPr/>
            </a:pPr>
            <a:r>
              <a:rPr lang="ru-RU" altLang="ru-RU" dirty="0">
                <a:solidFill>
                  <a:prstClr val="black"/>
                </a:solidFill>
                <a:latin typeface="Times New Roman" pitchFamily="18" charset="0"/>
                <a:cs typeface="Times New Roman" pitchFamily="18" charset="0"/>
              </a:rPr>
              <a:t>Стилевое оформление (сочинение должно быть прежде всего доказательным рассуждением на заданную тему: выдвигается тезис – следует доказательство: примеры из текста, анализ фрагментов текста, анализ образов; - собственные выводы</a:t>
            </a:r>
            <a:r>
              <a:rPr lang="en-US" altLang="ru-RU" dirty="0">
                <a:solidFill>
                  <a:prstClr val="black"/>
                </a:solidFill>
                <a:latin typeface="Times New Roman" pitchFamily="18" charset="0"/>
                <a:cs typeface="Times New Roman" pitchFamily="18" charset="0"/>
              </a:rPr>
              <a:t>)</a:t>
            </a:r>
            <a:r>
              <a:rPr lang="ru-RU" altLang="ru-RU" dirty="0">
                <a:solidFill>
                  <a:prstClr val="black"/>
                </a:solidFill>
                <a:latin typeface="Times New Roman" pitchFamily="18" charset="0"/>
                <a:cs typeface="Times New Roman" pitchFamily="18" charset="0"/>
              </a:rPr>
              <a:t>.</a:t>
            </a:r>
          </a:p>
          <a:p>
            <a:pPr>
              <a:spcBef>
                <a:spcPct val="0"/>
              </a:spcBef>
              <a:buSzTx/>
              <a:buFont typeface="Arial" pitchFamily="34" charset="0"/>
              <a:buChar char="•"/>
              <a:defRPr/>
            </a:pPr>
            <a:r>
              <a:rPr lang="ru-RU" altLang="ru-RU" dirty="0">
                <a:solidFill>
                  <a:prstClr val="black"/>
                </a:solidFill>
                <a:latin typeface="Times New Roman" pitchFamily="18" charset="0"/>
                <a:cs typeface="Times New Roman" pitchFamily="18" charset="0"/>
              </a:rPr>
              <a:t>Следование языковым нормам. </a:t>
            </a:r>
          </a:p>
          <a:p>
            <a:pPr marL="0" indent="0">
              <a:buNone/>
              <a:defRPr/>
            </a:pPr>
            <a:endParaRPr lang="ru-RU" dirty="0">
              <a:latin typeface="Times New Roman" pitchFamily="18" charset="0"/>
              <a:cs typeface="Times New Roman" pitchFamily="18" charset="0"/>
            </a:endParaRPr>
          </a:p>
        </p:txBody>
      </p:sp>
    </p:spTree>
    <p:extLst>
      <p:ext uri="{BB962C8B-B14F-4D97-AF65-F5344CB8AC3E}">
        <p14:creationId xmlns:p14="http://schemas.microsoft.com/office/powerpoint/2010/main" val="2338878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Прямоугольник 1"/>
          <p:cNvSpPr>
            <a:spLocks noChangeArrowheads="1"/>
          </p:cNvSpPr>
          <p:nvPr/>
        </p:nvSpPr>
        <p:spPr bwMode="auto">
          <a:xfrm>
            <a:off x="2027238" y="196851"/>
            <a:ext cx="8172450" cy="655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ru-RU" altLang="ru-RU" sz="2400" b="1">
                <a:solidFill>
                  <a:srgbClr val="984807"/>
                </a:solidFill>
                <a:latin typeface="Times New Roman" panose="02020603050405020304" pitchFamily="18" charset="0"/>
                <a:cs typeface="Times New Roman" panose="02020603050405020304" pitchFamily="18" charset="0"/>
              </a:rPr>
              <a:t>Текстовые умения при написании сочинения </a:t>
            </a:r>
          </a:p>
          <a:p>
            <a:pPr algn="ctr" eaLnBrk="1" hangingPunct="1"/>
            <a:r>
              <a:rPr lang="ru-RU" altLang="ru-RU" sz="2400" b="1">
                <a:solidFill>
                  <a:srgbClr val="984807"/>
                </a:solidFill>
                <a:latin typeface="Times New Roman" panose="02020603050405020304" pitchFamily="18" charset="0"/>
                <a:cs typeface="Times New Roman" panose="02020603050405020304" pitchFamily="18" charset="0"/>
              </a:rPr>
              <a:t>на заданную тему</a:t>
            </a:r>
            <a:endParaRPr lang="ru-RU" altLang="ru-RU" sz="2400">
              <a:solidFill>
                <a:srgbClr val="000000"/>
              </a:solidFill>
              <a:latin typeface="Times New Roman" panose="02020603050405020304" pitchFamily="18" charset="0"/>
              <a:cs typeface="Times New Roman" panose="02020603050405020304" pitchFamily="18" charset="0"/>
            </a:endParaRPr>
          </a:p>
          <a:p>
            <a:pPr eaLnBrk="1" hangingPunct="1"/>
            <a:r>
              <a:rPr lang="ru-RU" altLang="ru-RU" sz="2400">
                <a:solidFill>
                  <a:srgbClr val="000000"/>
                </a:solidFill>
                <a:latin typeface="Times New Roman" panose="02020603050405020304" pitchFamily="18" charset="0"/>
                <a:cs typeface="Times New Roman" panose="02020603050405020304" pitchFamily="18" charset="0"/>
              </a:rPr>
              <a:t>•Умение осознать тему, предмет мысли, то, </a:t>
            </a:r>
            <a:r>
              <a:rPr lang="ru-RU" altLang="ru-RU" sz="2400" i="1">
                <a:solidFill>
                  <a:srgbClr val="000000"/>
                </a:solidFill>
                <a:latin typeface="Times New Roman" panose="02020603050405020304" pitchFamily="18" charset="0"/>
                <a:cs typeface="Times New Roman" panose="02020603050405020304" pitchFamily="18" charset="0"/>
              </a:rPr>
              <a:t>о чѐм следует писать;</a:t>
            </a:r>
            <a:endParaRPr lang="ru-RU" altLang="ru-RU" sz="2400">
              <a:solidFill>
                <a:srgbClr val="000000"/>
              </a:solidFill>
              <a:latin typeface="Times New Roman" panose="02020603050405020304" pitchFamily="18" charset="0"/>
              <a:cs typeface="Times New Roman" panose="02020603050405020304" pitchFamily="18" charset="0"/>
            </a:endParaRPr>
          </a:p>
          <a:p>
            <a:pPr eaLnBrk="1" hangingPunct="1"/>
            <a:r>
              <a:rPr lang="ru-RU" altLang="ru-RU" sz="2400">
                <a:solidFill>
                  <a:srgbClr val="000000"/>
                </a:solidFill>
                <a:latin typeface="Times New Roman" panose="02020603050405020304" pitchFamily="18" charset="0"/>
                <a:cs typeface="Times New Roman" panose="02020603050405020304" pitchFamily="18" charset="0"/>
              </a:rPr>
              <a:t>•умение определить объѐм темы, ограничить рассуждение кругом вопросов, которые необходимо рассмотреть</a:t>
            </a:r>
            <a:r>
              <a:rPr lang="ru-RU" altLang="ru-RU" sz="2400" i="1">
                <a:solidFill>
                  <a:srgbClr val="000000"/>
                </a:solidFill>
                <a:latin typeface="Times New Roman" panose="02020603050405020304" pitchFamily="18" charset="0"/>
                <a:cs typeface="Times New Roman" panose="02020603050405020304" pitchFamily="18" charset="0"/>
              </a:rPr>
              <a:t>в данной теме;</a:t>
            </a:r>
            <a:endParaRPr lang="ru-RU" altLang="ru-RU" sz="2400">
              <a:solidFill>
                <a:srgbClr val="000000"/>
              </a:solidFill>
              <a:latin typeface="Times New Roman" panose="02020603050405020304" pitchFamily="18" charset="0"/>
              <a:cs typeface="Times New Roman" panose="02020603050405020304" pitchFamily="18" charset="0"/>
            </a:endParaRPr>
          </a:p>
          <a:p>
            <a:pPr eaLnBrk="1" hangingPunct="1"/>
            <a:r>
              <a:rPr lang="ru-RU" altLang="ru-RU" sz="2400">
                <a:solidFill>
                  <a:srgbClr val="000000"/>
                </a:solidFill>
                <a:latin typeface="Times New Roman" panose="02020603050405020304" pitchFamily="18" charset="0"/>
                <a:cs typeface="Times New Roman" panose="02020603050405020304" pitchFamily="18" charset="0"/>
              </a:rPr>
              <a:t>•умение сформулировать основную мысль (идею) сочинения –то,</a:t>
            </a:r>
            <a:r>
              <a:rPr lang="ru-RU" altLang="ru-RU" sz="2400" i="1">
                <a:solidFill>
                  <a:srgbClr val="000000"/>
                </a:solidFill>
                <a:latin typeface="Times New Roman" panose="02020603050405020304" pitchFamily="18" charset="0"/>
                <a:cs typeface="Times New Roman" panose="02020603050405020304" pitchFamily="18" charset="0"/>
              </a:rPr>
              <a:t>что нужно утверждать, доказывать;</a:t>
            </a:r>
            <a:endParaRPr lang="ru-RU" altLang="ru-RU" sz="2400">
              <a:solidFill>
                <a:srgbClr val="000000"/>
              </a:solidFill>
              <a:latin typeface="Times New Roman" panose="02020603050405020304" pitchFamily="18" charset="0"/>
              <a:cs typeface="Times New Roman" panose="02020603050405020304" pitchFamily="18" charset="0"/>
            </a:endParaRPr>
          </a:p>
          <a:p>
            <a:pPr eaLnBrk="1" hangingPunct="1"/>
            <a:r>
              <a:rPr lang="ru-RU" altLang="ru-RU" sz="2400">
                <a:solidFill>
                  <a:srgbClr val="000000"/>
                </a:solidFill>
                <a:latin typeface="Times New Roman" panose="02020603050405020304" pitchFamily="18" charset="0"/>
                <a:cs typeface="Times New Roman" panose="02020603050405020304" pitchFamily="18" charset="0"/>
              </a:rPr>
              <a:t>•умение подобрать аргументы для доказательства основной мысли, т.е. ответить на вопрос: </a:t>
            </a:r>
            <a:r>
              <a:rPr lang="ru-RU" altLang="ru-RU" sz="2400" i="1">
                <a:solidFill>
                  <a:srgbClr val="000000"/>
                </a:solidFill>
                <a:latin typeface="Times New Roman" panose="02020603050405020304" pitchFamily="18" charset="0"/>
                <a:cs typeface="Times New Roman" panose="02020603050405020304" pitchFamily="18" charset="0"/>
              </a:rPr>
              <a:t>«Как (с помощью чего) можно доказать основную мысль (идею) сочинения?»;</a:t>
            </a:r>
            <a:endParaRPr lang="ru-RU" altLang="ru-RU" sz="2400">
              <a:solidFill>
                <a:srgbClr val="000000"/>
              </a:solidFill>
              <a:latin typeface="Times New Roman" panose="02020603050405020304" pitchFamily="18" charset="0"/>
              <a:cs typeface="Times New Roman" panose="02020603050405020304" pitchFamily="18" charset="0"/>
            </a:endParaRPr>
          </a:p>
          <a:p>
            <a:pPr eaLnBrk="1" hangingPunct="1"/>
            <a:r>
              <a:rPr lang="ru-RU" altLang="ru-RU" sz="2400">
                <a:solidFill>
                  <a:srgbClr val="000000"/>
                </a:solidFill>
                <a:latin typeface="Times New Roman" panose="02020603050405020304" pitchFamily="18" charset="0"/>
                <a:cs typeface="Times New Roman" panose="02020603050405020304" pitchFamily="18" charset="0"/>
              </a:rPr>
              <a:t>•умение обосновать тему: </a:t>
            </a:r>
            <a:r>
              <a:rPr lang="ru-RU" altLang="ru-RU" sz="2400" i="1">
                <a:solidFill>
                  <a:srgbClr val="000000"/>
                </a:solidFill>
                <a:latin typeface="Times New Roman" panose="02020603050405020304" pitchFamily="18" charset="0"/>
                <a:cs typeface="Times New Roman" panose="02020603050405020304" pitchFamily="18" charset="0"/>
              </a:rPr>
              <a:t>«Почему интересна, актуальна эта тема? Почему выбрана именно она?»;</a:t>
            </a:r>
            <a:endParaRPr lang="ru-RU" altLang="ru-RU" sz="2400">
              <a:solidFill>
                <a:srgbClr val="000000"/>
              </a:solidFill>
              <a:latin typeface="Times New Roman" panose="02020603050405020304" pitchFamily="18" charset="0"/>
              <a:cs typeface="Times New Roman" panose="02020603050405020304" pitchFamily="18" charset="0"/>
            </a:endParaRPr>
          </a:p>
          <a:p>
            <a:pPr eaLnBrk="1" hangingPunct="1"/>
            <a:r>
              <a:rPr lang="ru-RU" altLang="ru-RU" sz="2400">
                <a:solidFill>
                  <a:srgbClr val="000000"/>
                </a:solidFill>
                <a:latin typeface="Times New Roman" panose="02020603050405020304" pitchFamily="18" charset="0"/>
                <a:cs typeface="Times New Roman" panose="02020603050405020304" pitchFamily="18" charset="0"/>
              </a:rPr>
              <a:t>•умение сделать логический вывод из сказанного: </a:t>
            </a:r>
            <a:r>
              <a:rPr lang="ru-RU" altLang="ru-RU" sz="2400" i="1">
                <a:solidFill>
                  <a:srgbClr val="000000"/>
                </a:solidFill>
                <a:latin typeface="Times New Roman" panose="02020603050405020304" pitchFamily="18" charset="0"/>
                <a:cs typeface="Times New Roman" panose="02020603050405020304" pitchFamily="18" charset="0"/>
              </a:rPr>
              <a:t>«Что из этого следует?»</a:t>
            </a:r>
          </a:p>
          <a:p>
            <a:pPr eaLnBrk="1" hangingPunct="1"/>
            <a:endParaRPr lang="ru-RU" altLang="ru-RU" i="1">
              <a:solidFill>
                <a:srgbClr val="000000"/>
              </a:solidFill>
            </a:endParaRPr>
          </a:p>
          <a:p>
            <a:pPr eaLnBrk="1" hangingPunct="1"/>
            <a:endParaRPr lang="ru-RU" altLang="ru-RU">
              <a:solidFill>
                <a:srgbClr val="000000"/>
              </a:solidFill>
            </a:endParaRPr>
          </a:p>
        </p:txBody>
      </p:sp>
    </p:spTree>
    <p:extLst>
      <p:ext uri="{BB962C8B-B14F-4D97-AF65-F5344CB8AC3E}">
        <p14:creationId xmlns:p14="http://schemas.microsoft.com/office/powerpoint/2010/main" val="2901361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Заголовок 1"/>
          <p:cNvSpPr>
            <a:spLocks noGrp="1"/>
          </p:cNvSpPr>
          <p:nvPr>
            <p:ph type="title"/>
          </p:nvPr>
        </p:nvSpPr>
        <p:spPr>
          <a:xfrm>
            <a:off x="2459039" y="0"/>
            <a:ext cx="7920037" cy="1449388"/>
          </a:xfrm>
        </p:spPr>
        <p:txBody>
          <a:bodyPr>
            <a:normAutofit fontScale="90000"/>
          </a:bodyPr>
          <a:lstStyle/>
          <a:p>
            <a:pPr>
              <a:lnSpc>
                <a:spcPct val="115000"/>
              </a:lnSpc>
            </a:pPr>
            <a:r>
              <a:rPr lang="ru-RU" altLang="ru-RU" sz="2400">
                <a:solidFill>
                  <a:srgbClr val="444444"/>
                </a:solidFill>
                <a:latin typeface="Times New Roman" panose="02020603050405020304" pitchFamily="18" charset="0"/>
                <a:cs typeface="Times New Roman" panose="02020603050405020304" pitchFamily="18" charset="0"/>
              </a:rPr>
              <a:t/>
            </a:r>
            <a:br>
              <a:rPr lang="ru-RU" altLang="ru-RU" sz="2400">
                <a:solidFill>
                  <a:srgbClr val="444444"/>
                </a:solidFill>
                <a:latin typeface="Times New Roman" panose="02020603050405020304" pitchFamily="18" charset="0"/>
                <a:cs typeface="Times New Roman" panose="02020603050405020304" pitchFamily="18" charset="0"/>
              </a:rPr>
            </a:br>
            <a:r>
              <a:rPr lang="ru-RU" altLang="ru-RU" sz="2400">
                <a:solidFill>
                  <a:srgbClr val="444444"/>
                </a:solidFill>
                <a:latin typeface="Times New Roman" panose="02020603050405020304" pitchFamily="18" charset="0"/>
                <a:cs typeface="Times New Roman" panose="02020603050405020304" pitchFamily="18" charset="0"/>
              </a:rPr>
              <a:t/>
            </a:r>
            <a:br>
              <a:rPr lang="ru-RU" altLang="ru-RU" sz="2400">
                <a:solidFill>
                  <a:srgbClr val="444444"/>
                </a:solidFill>
                <a:latin typeface="Times New Roman" panose="02020603050405020304" pitchFamily="18" charset="0"/>
                <a:cs typeface="Times New Roman" panose="02020603050405020304" pitchFamily="18" charset="0"/>
              </a:rPr>
            </a:br>
            <a:r>
              <a:rPr lang="ru-RU" altLang="ru-RU" sz="2400">
                <a:solidFill>
                  <a:srgbClr val="444444"/>
                </a:solidFill>
                <a:latin typeface="Times New Roman" panose="02020603050405020304" pitchFamily="18" charset="0"/>
                <a:cs typeface="Times New Roman" panose="02020603050405020304" pitchFamily="18" charset="0"/>
              </a:rPr>
              <a:t/>
            </a:r>
            <a:br>
              <a:rPr lang="ru-RU" altLang="ru-RU" sz="2400">
                <a:solidFill>
                  <a:srgbClr val="444444"/>
                </a:solidFill>
                <a:latin typeface="Times New Roman" panose="02020603050405020304" pitchFamily="18" charset="0"/>
                <a:cs typeface="Times New Roman" panose="02020603050405020304" pitchFamily="18" charset="0"/>
              </a:rPr>
            </a:br>
            <a:r>
              <a:rPr lang="ru-RU" altLang="ru-RU" sz="2400">
                <a:solidFill>
                  <a:srgbClr val="984807"/>
                </a:solidFill>
                <a:latin typeface="Times New Roman" panose="02020603050405020304" pitchFamily="18" charset="0"/>
                <a:cs typeface="Times New Roman" panose="02020603050405020304" pitchFamily="18" charset="0"/>
              </a:rPr>
              <a:t>Сочинение — вид письменной школьной работы — изложение своих мыслей, знаний на заданную тему. </a:t>
            </a:r>
            <a:br>
              <a:rPr lang="ru-RU" altLang="ru-RU" sz="2400">
                <a:solidFill>
                  <a:srgbClr val="984807"/>
                </a:solidFill>
                <a:latin typeface="Times New Roman" panose="02020603050405020304" pitchFamily="18" charset="0"/>
                <a:cs typeface="Times New Roman" panose="02020603050405020304" pitchFamily="18" charset="0"/>
              </a:rPr>
            </a:br>
            <a:r>
              <a:rPr lang="ru-RU" altLang="ru-RU" sz="2400">
                <a:solidFill>
                  <a:srgbClr val="984807"/>
                </a:solidFill>
                <a:latin typeface="Times New Roman" panose="02020603050405020304" pitchFamily="18" charset="0"/>
                <a:cs typeface="Times New Roman" panose="02020603050405020304" pitchFamily="18" charset="0"/>
              </a:rPr>
              <a:t>С. И. Ожегов </a:t>
            </a:r>
            <a:r>
              <a:rPr lang="ru-RU" altLang="ru-RU" sz="4800">
                <a:solidFill>
                  <a:srgbClr val="984807"/>
                </a:solidFill>
                <a:latin typeface="Calibri" panose="020F0502020204030204" pitchFamily="34" charset="0"/>
                <a:ea typeface="Calibri" panose="020F0502020204030204" pitchFamily="34" charset="0"/>
                <a:cs typeface="Times New Roman" panose="02020603050405020304" pitchFamily="18" charset="0"/>
              </a:rPr>
              <a:t/>
            </a:r>
            <a:br>
              <a:rPr lang="ru-RU" altLang="ru-RU" sz="4800">
                <a:solidFill>
                  <a:srgbClr val="984807"/>
                </a:solidFill>
                <a:latin typeface="Calibri" panose="020F0502020204030204" pitchFamily="34" charset="0"/>
                <a:ea typeface="Calibri" panose="020F0502020204030204" pitchFamily="34" charset="0"/>
                <a:cs typeface="Times New Roman" panose="02020603050405020304" pitchFamily="18" charset="0"/>
              </a:rPr>
            </a:br>
            <a:endParaRPr lang="ru-RU" altLang="ru-RU" smtClean="0">
              <a:solidFill>
                <a:srgbClr val="984807"/>
              </a:solidFill>
            </a:endParaRPr>
          </a:p>
        </p:txBody>
      </p:sp>
      <p:sp>
        <p:nvSpPr>
          <p:cNvPr id="6147" name="Текст 2"/>
          <p:cNvSpPr>
            <a:spLocks noGrp="1"/>
          </p:cNvSpPr>
          <p:nvPr>
            <p:ph type="body" sz="quarter" idx="10"/>
          </p:nvPr>
        </p:nvSpPr>
        <p:spPr>
          <a:xfrm>
            <a:off x="2459039" y="1593850"/>
            <a:ext cx="7920037" cy="4248150"/>
          </a:xfrm>
        </p:spPr>
        <p:txBody>
          <a:bodyPr>
            <a:normAutofit lnSpcReduction="10000"/>
          </a:bodyPr>
          <a:lstStyle/>
          <a:p>
            <a:pPr algn="ctr">
              <a:lnSpc>
                <a:spcPct val="115000"/>
              </a:lnSpc>
            </a:pPr>
            <a:r>
              <a:rPr lang="ru-RU" altLang="ru-RU">
                <a:solidFill>
                  <a:srgbClr val="002060"/>
                </a:solidFill>
                <a:latin typeface="Times New Roman" panose="02020603050405020304" pitchFamily="18" charset="0"/>
                <a:cs typeface="Times New Roman" panose="02020603050405020304" pitchFamily="18" charset="0"/>
              </a:rPr>
              <a:t>КОМПОЗИЦИЯ СОЧИНЕНИЯ: </a:t>
            </a:r>
            <a:endParaRPr lang="ru-RU" altLang="ru-RU">
              <a:solidFill>
                <a:srgbClr val="002060"/>
              </a:solidFill>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pPr>
            <a:r>
              <a:rPr lang="ru-RU" altLang="ru-RU">
                <a:solidFill>
                  <a:srgbClr val="002060"/>
                </a:solidFill>
                <a:latin typeface="Times New Roman" panose="02020603050405020304" pitchFamily="18" charset="0"/>
                <a:cs typeface="Times New Roman" panose="02020603050405020304" pitchFamily="18" charset="0"/>
              </a:rPr>
              <a:t>• вступление;</a:t>
            </a:r>
            <a:endParaRPr lang="ru-RU" altLang="ru-RU">
              <a:solidFill>
                <a:srgbClr val="002060"/>
              </a:solidFill>
              <a:latin typeface="Times New Roman" panose="02020603050405020304" pitchFamily="18" charset="0"/>
            </a:endParaRPr>
          </a:p>
          <a:p>
            <a:pPr>
              <a:lnSpc>
                <a:spcPct val="115000"/>
              </a:lnSpc>
            </a:pPr>
            <a:r>
              <a:rPr lang="ru-RU" altLang="ru-RU">
                <a:solidFill>
                  <a:srgbClr val="002060"/>
                </a:solidFill>
                <a:latin typeface="Times New Roman" panose="02020603050405020304" pitchFamily="18" charset="0"/>
                <a:cs typeface="Times New Roman" panose="02020603050405020304" pitchFamily="18" charset="0"/>
              </a:rPr>
              <a:t>• основная часть; </a:t>
            </a:r>
            <a:endParaRPr lang="ru-RU" altLang="ru-RU">
              <a:solidFill>
                <a:srgbClr val="002060"/>
              </a:solidFill>
              <a:latin typeface="Times New Roman" panose="02020603050405020304" pitchFamily="18" charset="0"/>
            </a:endParaRPr>
          </a:p>
          <a:p>
            <a:pPr>
              <a:lnSpc>
                <a:spcPct val="115000"/>
              </a:lnSpc>
            </a:pPr>
            <a:r>
              <a:rPr lang="ru-RU" altLang="ru-RU">
                <a:solidFill>
                  <a:srgbClr val="002060"/>
                </a:solidFill>
                <a:latin typeface="Times New Roman" panose="02020603050405020304" pitchFamily="18" charset="0"/>
                <a:cs typeface="Times New Roman" panose="02020603050405020304" pitchFamily="18" charset="0"/>
              </a:rPr>
              <a:t>• заключение.</a:t>
            </a:r>
            <a:endParaRPr lang="ru-RU" altLang="ru-RU">
              <a:solidFill>
                <a:srgbClr val="002060"/>
              </a:solidFill>
              <a:latin typeface="Times New Roman" panose="02020603050405020304" pitchFamily="18" charset="0"/>
            </a:endParaRPr>
          </a:p>
          <a:p>
            <a:r>
              <a:rPr lang="ru-RU" altLang="ru-RU">
                <a:solidFill>
                  <a:schemeClr val="tx1"/>
                </a:solidFill>
                <a:latin typeface="Times New Roman" panose="02020603050405020304" pitchFamily="18" charset="0"/>
                <a:cs typeface="Times New Roman" panose="02020603050405020304" pitchFamily="18" charset="0"/>
              </a:rPr>
              <a:t>Отсутствие в сочинении одного из элементов композиции рассматривается как ошибка и учитывается при выставлении оценки. Композиция сочинения должна быть продуманной и четкой. Все основные мысли в сочинении необходимо тщательно обосновывать, анализируя текст литературных произведений. </a:t>
            </a:r>
          </a:p>
        </p:txBody>
      </p:sp>
    </p:spTree>
    <p:extLst>
      <p:ext uri="{BB962C8B-B14F-4D97-AF65-F5344CB8AC3E}">
        <p14:creationId xmlns:p14="http://schemas.microsoft.com/office/powerpoint/2010/main" val="2309370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Заголовок 1"/>
          <p:cNvSpPr>
            <a:spLocks noGrp="1"/>
          </p:cNvSpPr>
          <p:nvPr>
            <p:ph type="title"/>
          </p:nvPr>
        </p:nvSpPr>
        <p:spPr>
          <a:xfrm>
            <a:off x="2459039" y="296863"/>
            <a:ext cx="7920037" cy="900112"/>
          </a:xfrm>
        </p:spPr>
        <p:txBody>
          <a:bodyPr>
            <a:normAutofit fontScale="90000"/>
          </a:bodyPr>
          <a:lstStyle/>
          <a:p>
            <a:pPr>
              <a:lnSpc>
                <a:spcPct val="115000"/>
              </a:lnSpc>
            </a:pPr>
            <a:r>
              <a:rPr lang="ru-RU" altLang="ru-RU" sz="2400" i="1">
                <a:solidFill>
                  <a:srgbClr val="984807"/>
                </a:solidFill>
                <a:latin typeface="Times New Roman" panose="02020603050405020304" pitchFamily="18" charset="0"/>
                <a:cs typeface="Times New Roman" panose="02020603050405020304" pitchFamily="18" charset="0"/>
              </a:rPr>
              <a:t>Сочинение — это знание текста, мысли и грамотность. </a:t>
            </a:r>
            <a:r>
              <a:rPr lang="ru-RU" altLang="ru-RU" sz="1800">
                <a:solidFill>
                  <a:srgbClr val="4A452A"/>
                </a:solidFill>
                <a:latin typeface="Calibri" panose="020F0502020204030204" pitchFamily="34" charset="0"/>
                <a:ea typeface="Calibri" panose="020F0502020204030204" pitchFamily="34" charset="0"/>
                <a:cs typeface="Times New Roman" panose="02020603050405020304" pitchFamily="18" charset="0"/>
              </a:rPr>
              <a:t/>
            </a:r>
            <a:br>
              <a:rPr lang="ru-RU" altLang="ru-RU" sz="1800">
                <a:solidFill>
                  <a:srgbClr val="4A452A"/>
                </a:solidFill>
                <a:latin typeface="Calibri" panose="020F0502020204030204" pitchFamily="34" charset="0"/>
                <a:ea typeface="Calibri" panose="020F0502020204030204" pitchFamily="34" charset="0"/>
                <a:cs typeface="Times New Roman" panose="02020603050405020304" pitchFamily="18" charset="0"/>
              </a:rPr>
            </a:br>
            <a:endParaRPr lang="ru-RU" altLang="ru-RU" sz="2400">
              <a:solidFill>
                <a:srgbClr val="4A452A"/>
              </a:solidFill>
              <a:latin typeface="Times New Roman" panose="02020603050405020304" pitchFamily="18" charset="0"/>
              <a:cs typeface="Times New Roman" panose="02020603050405020304" pitchFamily="18" charset="0"/>
            </a:endParaRPr>
          </a:p>
        </p:txBody>
      </p:sp>
      <p:sp>
        <p:nvSpPr>
          <p:cNvPr id="3" name="Текст 2"/>
          <p:cNvSpPr>
            <a:spLocks noGrp="1"/>
          </p:cNvSpPr>
          <p:nvPr>
            <p:ph type="body" sz="quarter" idx="10"/>
          </p:nvPr>
        </p:nvSpPr>
        <p:spPr>
          <a:xfrm>
            <a:off x="1774825" y="873126"/>
            <a:ext cx="8713788" cy="5184775"/>
          </a:xfrm>
        </p:spPr>
        <p:txBody>
          <a:bodyPr>
            <a:normAutofit lnSpcReduction="10000"/>
          </a:bodyPr>
          <a:lstStyle/>
          <a:p>
            <a:pPr marL="0" indent="0">
              <a:buNone/>
              <a:defRPr/>
            </a:pPr>
            <a:r>
              <a:rPr lang="ru-RU" dirty="0"/>
              <a:t> </a:t>
            </a:r>
            <a:r>
              <a:rPr lang="ru-RU" kern="0" dirty="0">
                <a:solidFill>
                  <a:srgbClr val="002060"/>
                </a:solidFill>
                <a:latin typeface="Times New Roman" pitchFamily="18" charset="0"/>
                <a:ea typeface="+mj-ea"/>
                <a:cs typeface="Times New Roman" pitchFamily="18" charset="0"/>
              </a:rPr>
              <a:t>О ЧЁМ ПИСАТЬ ВО ВСТУПЛЕНИИ</a:t>
            </a:r>
            <a:endParaRPr lang="ru-RU" dirty="0">
              <a:solidFill>
                <a:srgbClr val="002060"/>
              </a:solidFill>
              <a:latin typeface="Times New Roman" pitchFamily="18" charset="0"/>
              <a:cs typeface="Times New Roman" pitchFamily="18" charset="0"/>
            </a:endParaRPr>
          </a:p>
          <a:p>
            <a:pPr eaLnBrk="1" hangingPunct="1">
              <a:buClr>
                <a:srgbClr val="660000"/>
              </a:buClr>
              <a:buSzPct val="70000"/>
              <a:buFont typeface="Arial" pitchFamily="34" charset="0"/>
              <a:buChar char="•"/>
              <a:defRPr/>
            </a:pPr>
            <a:r>
              <a:rPr lang="ru-RU" kern="0" dirty="0">
                <a:solidFill>
                  <a:schemeClr val="tx1"/>
                </a:solidFill>
                <a:latin typeface="Times New Roman"/>
              </a:rPr>
              <a:t>Общие сведения об авторе, его месте и значении в русской и мировой литературе.</a:t>
            </a:r>
          </a:p>
          <a:p>
            <a:pPr eaLnBrk="1" hangingPunct="1">
              <a:buClr>
                <a:srgbClr val="660000"/>
              </a:buClr>
              <a:buSzPct val="70000"/>
              <a:buFont typeface="Arial" pitchFamily="34" charset="0"/>
              <a:buChar char="•"/>
              <a:defRPr/>
            </a:pPr>
            <a:r>
              <a:rPr lang="ru-RU" kern="0" dirty="0">
                <a:solidFill>
                  <a:schemeClr val="tx1"/>
                </a:solidFill>
                <a:latin typeface="Times New Roman"/>
              </a:rPr>
              <a:t>Анализ центрального понятия темы. </a:t>
            </a:r>
          </a:p>
          <a:p>
            <a:pPr eaLnBrk="1" hangingPunct="1">
              <a:buClr>
                <a:srgbClr val="660000"/>
              </a:buClr>
              <a:buSzPct val="70000"/>
              <a:buFont typeface="Arial" pitchFamily="34" charset="0"/>
              <a:buChar char="•"/>
              <a:defRPr/>
            </a:pPr>
            <a:r>
              <a:rPr lang="ru-RU" kern="0" dirty="0">
                <a:solidFill>
                  <a:schemeClr val="tx1"/>
                </a:solidFill>
                <a:latin typeface="Times New Roman"/>
              </a:rPr>
              <a:t>Поставить проблемный вопрос по теме и входе сочинения искать ответ на него.</a:t>
            </a:r>
          </a:p>
          <a:p>
            <a:pPr eaLnBrk="1" hangingPunct="1">
              <a:buClr>
                <a:srgbClr val="660000"/>
              </a:buClr>
              <a:buSzPct val="70000"/>
              <a:buFont typeface="Arial" pitchFamily="34" charset="0"/>
              <a:buChar char="•"/>
              <a:defRPr/>
            </a:pPr>
            <a:r>
              <a:rPr lang="ru-RU" kern="0" dirty="0">
                <a:solidFill>
                  <a:schemeClr val="tx1"/>
                </a:solidFill>
                <a:latin typeface="Times New Roman"/>
              </a:rPr>
              <a:t>Создание определённого эмоционального настроя, увязывающего тему сочинения с вашими личными впечатлениями. Какое влияние оказал писатель, его личность и творчество, что заставило полюбить данное произведение, задуматься над его проблематикой, что нового открыл для вас его автор. </a:t>
            </a:r>
          </a:p>
          <a:p>
            <a:pPr eaLnBrk="1" hangingPunct="1">
              <a:buClr>
                <a:srgbClr val="660000"/>
              </a:buClr>
              <a:buSzPct val="70000"/>
              <a:buFont typeface="Arial" pitchFamily="34" charset="0"/>
              <a:buChar char="•"/>
              <a:defRPr/>
            </a:pPr>
            <a:r>
              <a:rPr lang="ru-RU" kern="0" dirty="0">
                <a:solidFill>
                  <a:schemeClr val="tx1"/>
                </a:solidFill>
                <a:latin typeface="Times New Roman"/>
              </a:rPr>
              <a:t>Использовать цитату, связанную с ключевым понятием темы</a:t>
            </a:r>
            <a:endParaRPr lang="ru-RU"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855972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459039" y="296863"/>
            <a:ext cx="7920037" cy="900112"/>
          </a:xfrm>
        </p:spPr>
        <p:txBody>
          <a:bodyPr>
            <a:normAutofit fontScale="90000"/>
          </a:bodyPr>
          <a:lstStyle/>
          <a:p>
            <a:pPr>
              <a:defRPr/>
            </a:pPr>
            <a:r>
              <a:rPr lang="ru-RU" sz="2400" i="1" dirty="0">
                <a:solidFill>
                  <a:srgbClr val="F79646">
                    <a:lumMod val="50000"/>
                  </a:srgbClr>
                </a:solidFill>
                <a:latin typeface="Times New Roman"/>
              </a:rPr>
              <a:t>Если вы желаете себе несокрушимого памятника, вложите в свою душу хорошую книгу. </a:t>
            </a:r>
            <a:r>
              <a:rPr lang="ru-RU" sz="2400" i="1" dirty="0">
                <a:solidFill>
                  <a:srgbClr val="F79646">
                    <a:lumMod val="50000"/>
                  </a:srgbClr>
                </a:solidFill>
              </a:rPr>
              <a:t/>
            </a:r>
            <a:br>
              <a:rPr lang="ru-RU" sz="2400" i="1" dirty="0">
                <a:solidFill>
                  <a:srgbClr val="F79646">
                    <a:lumMod val="50000"/>
                  </a:srgbClr>
                </a:solidFill>
              </a:rPr>
            </a:br>
            <a:r>
              <a:rPr lang="ru-RU" sz="2400" dirty="0">
                <a:solidFill>
                  <a:srgbClr val="F79646">
                    <a:lumMod val="50000"/>
                  </a:srgbClr>
                </a:solidFill>
                <a:latin typeface="Times New Roman"/>
              </a:rPr>
              <a:t>П. </a:t>
            </a:r>
            <a:r>
              <a:rPr lang="ru-RU" sz="2400" dirty="0" err="1">
                <a:solidFill>
                  <a:srgbClr val="F79646">
                    <a:lumMod val="50000"/>
                  </a:srgbClr>
                </a:solidFill>
                <a:latin typeface="Times New Roman"/>
              </a:rPr>
              <a:t>Буаст</a:t>
            </a:r>
            <a:endParaRPr lang="ru-RU" altLang="ru-RU" sz="2400" dirty="0">
              <a:solidFill>
                <a:schemeClr val="accent6">
                  <a:lumMod val="50000"/>
                </a:schemeClr>
              </a:solidFill>
              <a:latin typeface="Times New Roman" pitchFamily="18" charset="0"/>
              <a:ea typeface="+mn-ea"/>
              <a:cs typeface="Times New Roman" pitchFamily="18" charset="0"/>
            </a:endParaRPr>
          </a:p>
        </p:txBody>
      </p:sp>
      <p:sp>
        <p:nvSpPr>
          <p:cNvPr id="8195" name="Текст 2"/>
          <p:cNvSpPr>
            <a:spLocks noGrp="1"/>
          </p:cNvSpPr>
          <p:nvPr>
            <p:ph type="body" sz="quarter" idx="10"/>
          </p:nvPr>
        </p:nvSpPr>
        <p:spPr>
          <a:xfrm>
            <a:off x="1703388" y="1160464"/>
            <a:ext cx="8748712" cy="5437187"/>
          </a:xfrm>
        </p:spPr>
        <p:txBody>
          <a:bodyPr/>
          <a:lstStyle/>
          <a:p>
            <a:pPr>
              <a:lnSpc>
                <a:spcPct val="115000"/>
              </a:lnSpc>
              <a:defRPr/>
            </a:pPr>
            <a:r>
              <a:rPr lang="ru-RU" dirty="0">
                <a:solidFill>
                  <a:srgbClr val="002060"/>
                </a:solidFill>
                <a:latin typeface="Times New Roman" pitchFamily="18" charset="0"/>
                <a:cs typeface="Times New Roman" pitchFamily="18" charset="0"/>
              </a:rPr>
              <a:t>ОСНОВНАЯ ЧАСТЬ </a:t>
            </a:r>
          </a:p>
          <a:p>
            <a:pPr marL="342900" indent="-342900">
              <a:lnSpc>
                <a:spcPct val="115000"/>
              </a:lnSpc>
              <a:buFont typeface="Arial" pitchFamily="34" charset="0"/>
              <a:buChar char="•"/>
              <a:defRPr/>
            </a:pPr>
            <a:r>
              <a:rPr lang="ru-RU" kern="0" dirty="0">
                <a:solidFill>
                  <a:srgbClr val="000000"/>
                </a:solidFill>
                <a:latin typeface="Times New Roman"/>
              </a:rPr>
              <a:t>Раскрывает тему сочинения; в ней ученик выдвигает тезис (ы) и ходом всей работы доказывает его или отвечает на вопрос, содержащийся в теме.</a:t>
            </a:r>
          </a:p>
          <a:p>
            <a:pPr marL="342900" indent="-342900">
              <a:lnSpc>
                <a:spcPct val="115000"/>
              </a:lnSpc>
              <a:buFont typeface="Arial" pitchFamily="34" charset="0"/>
              <a:buChar char="•"/>
              <a:defRPr/>
            </a:pPr>
            <a:r>
              <a:rPr lang="ru-RU" kern="0" dirty="0">
                <a:solidFill>
                  <a:srgbClr val="000000"/>
                </a:solidFill>
                <a:latin typeface="Times New Roman"/>
              </a:rPr>
              <a:t>Здесь  нужно показать знание текстов произведений с помощью цитирования или пересказа, продемонстрировать умение   анализировать и комментировать прочитанное.</a:t>
            </a:r>
          </a:p>
          <a:p>
            <a:pPr marL="342900" indent="-342900">
              <a:lnSpc>
                <a:spcPct val="115000"/>
              </a:lnSpc>
              <a:buFont typeface="Arial" pitchFamily="34" charset="0"/>
              <a:buChar char="•"/>
              <a:defRPr/>
            </a:pPr>
            <a:r>
              <a:rPr lang="ru-RU" kern="0" dirty="0">
                <a:solidFill>
                  <a:srgbClr val="000000"/>
                </a:solidFill>
                <a:latin typeface="Times New Roman"/>
              </a:rPr>
              <a:t>Необходимо использовать литературоведческие термины,</a:t>
            </a:r>
          </a:p>
          <a:p>
            <a:pPr marL="342900" indent="-342900">
              <a:lnSpc>
                <a:spcPct val="115000"/>
              </a:lnSpc>
              <a:buFont typeface="Arial" pitchFamily="34" charset="0"/>
              <a:buChar char="•"/>
              <a:defRPr/>
            </a:pPr>
            <a:r>
              <a:rPr lang="ru-RU" kern="0" dirty="0">
                <a:solidFill>
                  <a:srgbClr val="000000"/>
                </a:solidFill>
                <a:latin typeface="Times New Roman"/>
              </a:rPr>
              <a:t>высказать своё мнение по проблеме, содержащейся в теме. Аргументируя своё мнение, обращаться к фактам истории и культуры.</a:t>
            </a:r>
          </a:p>
          <a:p>
            <a:pPr>
              <a:lnSpc>
                <a:spcPct val="115000"/>
              </a:lnSpc>
              <a:defRPr/>
            </a:pPr>
            <a:endParaRPr lang="ru-RU" dirty="0">
              <a:solidFill>
                <a:schemeClr val="tx1"/>
              </a:solidFill>
              <a:latin typeface="Times New Roman" pitchFamily="18" charset="0"/>
              <a:ea typeface="Calibri" pitchFamily="34" charset="0"/>
              <a:cs typeface="Times New Roman" pitchFamily="18" charset="0"/>
            </a:endParaRPr>
          </a:p>
          <a:p>
            <a:pPr>
              <a:lnSpc>
                <a:spcPct val="115000"/>
              </a:lnSpc>
              <a:defRPr/>
            </a:pPr>
            <a:endParaRPr lang="ru-RU" sz="1800" dirty="0">
              <a:solidFill>
                <a:schemeClr val="tx1"/>
              </a:solidFill>
              <a:ea typeface="Calibri" pitchFamily="34" charset="0"/>
              <a:cs typeface="Times New Roman" pitchFamily="18" charset="0"/>
            </a:endParaRPr>
          </a:p>
          <a:p>
            <a:pPr marL="342900" indent="-342900">
              <a:buFont typeface="Arial" pitchFamily="34" charset="0"/>
              <a:buChar char="•"/>
              <a:defRPr/>
            </a:pPr>
            <a:endParaRPr lang="ru-RU" dirty="0">
              <a:solidFill>
                <a:srgbClr val="4A452A"/>
              </a:solidFill>
              <a:latin typeface="Times New Roman" pitchFamily="18" charset="0"/>
              <a:cs typeface="Times New Roman" pitchFamily="18" charset="0"/>
            </a:endParaRPr>
          </a:p>
        </p:txBody>
      </p:sp>
    </p:spTree>
    <p:extLst>
      <p:ext uri="{BB962C8B-B14F-4D97-AF65-F5344CB8AC3E}">
        <p14:creationId xmlns:p14="http://schemas.microsoft.com/office/powerpoint/2010/main" val="3934046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459039" y="296863"/>
            <a:ext cx="7920037" cy="900112"/>
          </a:xfrm>
        </p:spPr>
        <p:txBody>
          <a:bodyPr>
            <a:normAutofit fontScale="90000"/>
          </a:bodyPr>
          <a:lstStyle/>
          <a:p>
            <a:pPr>
              <a:lnSpc>
                <a:spcPct val="115000"/>
              </a:lnSpc>
              <a:spcAft>
                <a:spcPts val="1000"/>
              </a:spcAft>
              <a:defRPr/>
            </a:pPr>
            <a:r>
              <a:rPr lang="ru-RU" sz="2400" i="1" dirty="0">
                <a:solidFill>
                  <a:srgbClr val="984807"/>
                </a:solidFill>
                <a:latin typeface="Calibri"/>
                <a:cs typeface="Times New Roman"/>
              </a:rPr>
              <a:t/>
            </a:r>
            <a:br>
              <a:rPr lang="ru-RU" sz="2400" i="1" dirty="0">
                <a:solidFill>
                  <a:srgbClr val="984807"/>
                </a:solidFill>
                <a:latin typeface="Calibri"/>
                <a:cs typeface="Times New Roman"/>
              </a:rPr>
            </a:br>
            <a:r>
              <a:rPr lang="ru-RU" sz="2400" i="1" dirty="0">
                <a:solidFill>
                  <a:srgbClr val="984807"/>
                </a:solidFill>
                <a:latin typeface="Times New Roman" pitchFamily="18" charset="0"/>
                <a:cs typeface="Times New Roman" pitchFamily="18" charset="0"/>
              </a:rPr>
              <a:t>Кто ясно мыслит, тот ясно излагает…</a:t>
            </a:r>
            <a:br>
              <a:rPr lang="ru-RU" sz="2400" i="1" dirty="0">
                <a:solidFill>
                  <a:srgbClr val="984807"/>
                </a:solidFill>
                <a:latin typeface="Times New Roman" pitchFamily="18" charset="0"/>
                <a:cs typeface="Times New Roman" pitchFamily="18" charset="0"/>
              </a:rPr>
            </a:br>
            <a:r>
              <a:rPr lang="ru-RU" sz="2400" dirty="0">
                <a:solidFill>
                  <a:srgbClr val="984807"/>
                </a:solidFill>
                <a:latin typeface="Times New Roman" pitchFamily="18" charset="0"/>
                <a:cs typeface="Times New Roman" pitchFamily="18" charset="0"/>
              </a:rPr>
              <a:t>А. Шопенгауэр</a:t>
            </a:r>
            <a:r>
              <a:rPr lang="ru-RU" sz="2400" dirty="0">
                <a:latin typeface="Times New Roman" pitchFamily="18" charset="0"/>
                <a:ea typeface="Calibri"/>
                <a:cs typeface="Times New Roman" pitchFamily="18" charset="0"/>
              </a:rPr>
              <a:t/>
            </a:r>
            <a:br>
              <a:rPr lang="ru-RU" sz="2400" dirty="0">
                <a:latin typeface="Times New Roman" pitchFamily="18" charset="0"/>
                <a:ea typeface="Calibri"/>
                <a:cs typeface="Times New Roman" pitchFamily="18" charset="0"/>
              </a:rPr>
            </a:br>
            <a:endParaRPr lang="ru-RU" sz="2400" dirty="0">
              <a:solidFill>
                <a:schemeClr val="accent6">
                  <a:lumMod val="50000"/>
                </a:schemeClr>
              </a:solidFill>
              <a:latin typeface="Times New Roman" pitchFamily="18" charset="0"/>
              <a:cs typeface="Times New Roman" pitchFamily="18" charset="0"/>
            </a:endParaRPr>
          </a:p>
        </p:txBody>
      </p:sp>
      <p:sp>
        <p:nvSpPr>
          <p:cNvPr id="9219" name="Текст 2"/>
          <p:cNvSpPr>
            <a:spLocks noGrp="1"/>
          </p:cNvSpPr>
          <p:nvPr>
            <p:ph type="body" sz="quarter" idx="10"/>
          </p:nvPr>
        </p:nvSpPr>
        <p:spPr>
          <a:xfrm>
            <a:off x="1919289" y="1376364"/>
            <a:ext cx="8459787" cy="4645025"/>
          </a:xfrm>
        </p:spPr>
        <p:txBody>
          <a:bodyPr>
            <a:normAutofit lnSpcReduction="10000"/>
          </a:bodyPr>
          <a:lstStyle/>
          <a:p>
            <a:pPr marL="0" indent="0">
              <a:lnSpc>
                <a:spcPct val="115000"/>
              </a:lnSpc>
              <a:buNone/>
            </a:pPr>
            <a:r>
              <a:rPr lang="ru-RU" altLang="ru-RU">
                <a:solidFill>
                  <a:schemeClr val="tx1"/>
                </a:solidFill>
                <a:latin typeface="Times New Roman" panose="02020603050405020304" pitchFamily="18" charset="0"/>
                <a:cs typeface="Times New Roman" panose="02020603050405020304" pitchFamily="18" charset="0"/>
              </a:rPr>
              <a:t>Задача </a:t>
            </a:r>
            <a:r>
              <a:rPr lang="ru-RU" altLang="ru-RU">
                <a:solidFill>
                  <a:srgbClr val="002060"/>
                </a:solidFill>
                <a:latin typeface="Times New Roman" panose="02020603050405020304" pitchFamily="18" charset="0"/>
                <a:cs typeface="Times New Roman" panose="02020603050405020304" pitchFamily="18" charset="0"/>
              </a:rPr>
              <a:t>ЗАКЛЮЧЕНИЯ</a:t>
            </a:r>
            <a:r>
              <a:rPr lang="ru-RU" altLang="ru-RU">
                <a:solidFill>
                  <a:schemeClr val="tx1"/>
                </a:solidFill>
                <a:latin typeface="Times New Roman" panose="02020603050405020304" pitchFamily="18" charset="0"/>
                <a:cs typeface="Times New Roman" panose="02020603050405020304" pitchFamily="18" charset="0"/>
              </a:rPr>
              <a:t> — подвести итог, обобщить сказанное, завершить текст, еще раз обратив внимание на самое главное. </a:t>
            </a:r>
            <a:endParaRPr lang="ru-RU" altLang="ru-RU" sz="1800">
              <a:solidFill>
                <a:schemeClr val="tx1"/>
              </a:solidFill>
              <a:ea typeface="Calibri" panose="020F0502020204030204" pitchFamily="34" charset="0"/>
              <a:cs typeface="Times New Roman" panose="02020603050405020304" pitchFamily="18" charset="0"/>
            </a:endParaRPr>
          </a:p>
          <a:p>
            <a:pPr marL="0" indent="0">
              <a:lnSpc>
                <a:spcPct val="115000"/>
              </a:lnSpc>
              <a:buNone/>
            </a:pPr>
            <a:r>
              <a:rPr lang="ru-RU" altLang="ru-RU">
                <a:solidFill>
                  <a:schemeClr val="tx1"/>
                </a:solidFill>
                <a:latin typeface="Times New Roman" panose="02020603050405020304" pitchFamily="18" charset="0"/>
                <a:cs typeface="Times New Roman" panose="02020603050405020304" pitchFamily="18" charset="0"/>
              </a:rPr>
              <a:t>Заключительная часть должна быть:</a:t>
            </a:r>
            <a:endParaRPr lang="ru-RU" altLang="ru-RU" sz="1800">
              <a:solidFill>
                <a:schemeClr val="tx1"/>
              </a:solidFill>
            </a:endParaRPr>
          </a:p>
          <a:p>
            <a:pPr marL="0" indent="0">
              <a:lnSpc>
                <a:spcPct val="115000"/>
              </a:lnSpc>
              <a:buNone/>
            </a:pPr>
            <a:r>
              <a:rPr lang="ru-RU" altLang="ru-RU">
                <a:solidFill>
                  <a:schemeClr val="tx1"/>
                </a:solidFill>
                <a:latin typeface="Times New Roman" panose="02020603050405020304" pitchFamily="18" charset="0"/>
                <a:cs typeface="Times New Roman" panose="02020603050405020304" pitchFamily="18" charset="0"/>
              </a:rPr>
              <a:t> • короткой, но емкой;</a:t>
            </a:r>
            <a:endParaRPr lang="ru-RU" altLang="ru-RU" sz="1800">
              <a:solidFill>
                <a:schemeClr val="tx1"/>
              </a:solidFill>
            </a:endParaRPr>
          </a:p>
          <a:p>
            <a:pPr marL="0" indent="0">
              <a:lnSpc>
                <a:spcPct val="115000"/>
              </a:lnSpc>
              <a:buNone/>
            </a:pPr>
            <a:r>
              <a:rPr lang="ru-RU" altLang="ru-RU">
                <a:solidFill>
                  <a:schemeClr val="tx1"/>
                </a:solidFill>
                <a:latin typeface="Times New Roman" panose="02020603050405020304" pitchFamily="18" charset="0"/>
                <a:cs typeface="Times New Roman" panose="02020603050405020304" pitchFamily="18" charset="0"/>
              </a:rPr>
              <a:t> • органически связана с предыдущим изложением.</a:t>
            </a:r>
            <a:endParaRPr lang="ru-RU" altLang="ru-RU" sz="1800">
              <a:solidFill>
                <a:schemeClr val="tx1"/>
              </a:solidFill>
            </a:endParaRPr>
          </a:p>
          <a:p>
            <a:pPr marL="0" indent="0">
              <a:lnSpc>
                <a:spcPct val="115000"/>
              </a:lnSpc>
              <a:buNone/>
            </a:pPr>
            <a:r>
              <a:rPr lang="ru-RU" altLang="ru-RU">
                <a:solidFill>
                  <a:schemeClr val="tx1"/>
                </a:solidFill>
                <a:latin typeface="Times New Roman" panose="02020603050405020304" pitchFamily="18" charset="0"/>
                <a:cs typeface="Times New Roman" panose="02020603050405020304" pitchFamily="18" charset="0"/>
              </a:rPr>
              <a:t>В заключении может быть выражено личное отношение пишущего к произведению, его героям, проблеме. Оно должно быть изложено корректно, без чрезмерных восторженных оценок, иметь четко выраженный определенный смысл и должно быть подготовлено материалом основной части. </a:t>
            </a:r>
            <a:endParaRPr lang="ru-RU" altLang="ru-RU" sz="1800">
              <a:solidFill>
                <a:schemeClr val="tx1"/>
              </a:solidFill>
            </a:endParaRPr>
          </a:p>
          <a:p>
            <a:pPr marL="0" indent="0">
              <a:buNone/>
            </a:pPr>
            <a:endParaRPr lang="ru-RU" altLang="ru-RU">
              <a:solidFill>
                <a:srgbClr val="4A452A"/>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5764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774826" y="225425"/>
            <a:ext cx="8208963" cy="1200150"/>
          </a:xfrm>
          <a:prstGeom prst="rect">
            <a:avLst/>
          </a:prstGeom>
        </p:spPr>
        <p:txBody>
          <a:bodyPr>
            <a:spAutoFit/>
          </a:bodyPr>
          <a:lstStyle/>
          <a:p>
            <a:pPr algn="ctr">
              <a:defRPr/>
            </a:pPr>
            <a:r>
              <a:rPr lang="ru-RU" sz="2400" i="1" dirty="0">
                <a:solidFill>
                  <a:schemeClr val="accent6">
                    <a:lumMod val="50000"/>
                  </a:schemeClr>
                </a:solidFill>
                <a:latin typeface="Times New Roman" pitchFamily="18" charset="0"/>
                <a:cs typeface="Times New Roman" pitchFamily="18" charset="0"/>
              </a:rPr>
              <a:t>Книги рождают мечту, вызывают ее к жизни, заставляют размышлять, воспитывают самостоятельность суждений. </a:t>
            </a:r>
          </a:p>
          <a:p>
            <a:pPr algn="ctr">
              <a:defRPr/>
            </a:pPr>
            <a:r>
              <a:rPr lang="ru-RU" sz="2400" dirty="0">
                <a:solidFill>
                  <a:schemeClr val="accent6">
                    <a:lumMod val="50000"/>
                  </a:schemeClr>
                </a:solidFill>
                <a:latin typeface="Times New Roman" pitchFamily="18" charset="0"/>
                <a:cs typeface="Times New Roman" pitchFamily="18" charset="0"/>
              </a:rPr>
              <a:t>С.Г. Струмилин</a:t>
            </a:r>
            <a:endParaRPr lang="ru-RU" sz="2400" kern="0" dirty="0">
              <a:solidFill>
                <a:schemeClr val="accent6">
                  <a:lumMod val="50000"/>
                </a:schemeClr>
              </a:solidFill>
              <a:latin typeface="Times New Roman" pitchFamily="18" charset="0"/>
              <a:cs typeface="Times New Roman" pitchFamily="18" charset="0"/>
            </a:endParaRPr>
          </a:p>
        </p:txBody>
      </p:sp>
      <p:sp>
        <p:nvSpPr>
          <p:cNvPr id="4" name="Прямоугольник 3"/>
          <p:cNvSpPr/>
          <p:nvPr/>
        </p:nvSpPr>
        <p:spPr>
          <a:xfrm>
            <a:off x="1774825" y="1628776"/>
            <a:ext cx="8605838" cy="4524375"/>
          </a:xfrm>
          <a:prstGeom prst="rect">
            <a:avLst/>
          </a:prstGeom>
        </p:spPr>
        <p:txBody>
          <a:bodyPr>
            <a:spAutoFit/>
          </a:bodyPr>
          <a:lstStyle/>
          <a:p>
            <a:pPr>
              <a:spcBef>
                <a:spcPct val="20000"/>
              </a:spcBef>
              <a:buClr>
                <a:srgbClr val="660000"/>
              </a:buClr>
              <a:buSzPct val="70000"/>
              <a:defRPr/>
            </a:pPr>
            <a:r>
              <a:rPr lang="ru-RU" sz="2400" kern="0" dirty="0">
                <a:solidFill>
                  <a:srgbClr val="002060"/>
                </a:solidFill>
                <a:latin typeface="Times New Roman"/>
              </a:rPr>
              <a:t>Общие рекомендации</a:t>
            </a:r>
          </a:p>
          <a:p>
            <a:pPr>
              <a:spcBef>
                <a:spcPct val="20000"/>
              </a:spcBef>
              <a:buClr>
                <a:srgbClr val="660000"/>
              </a:buClr>
              <a:buSzPct val="70000"/>
              <a:defRPr/>
            </a:pPr>
            <a:endParaRPr lang="ru-RU" sz="2400" kern="0" dirty="0">
              <a:solidFill>
                <a:srgbClr val="000000"/>
              </a:solidFill>
              <a:latin typeface="Times New Roman"/>
            </a:endParaRPr>
          </a:p>
          <a:p>
            <a:pPr marL="342900" indent="-342900">
              <a:spcBef>
                <a:spcPct val="20000"/>
              </a:spcBef>
              <a:buClr>
                <a:srgbClr val="660000"/>
              </a:buClr>
              <a:buSzPct val="70000"/>
              <a:buFont typeface="Arial" pitchFamily="34" charset="0"/>
              <a:buChar char="•"/>
              <a:defRPr/>
            </a:pPr>
            <a:r>
              <a:rPr lang="ru-RU" sz="2400" kern="0" dirty="0">
                <a:solidFill>
                  <a:srgbClr val="000000"/>
                </a:solidFill>
                <a:latin typeface="Times New Roman"/>
              </a:rPr>
              <a:t>Объём сочинения: 250 </a:t>
            </a:r>
            <a:r>
              <a:rPr lang="ru-RU" sz="2400" kern="0">
                <a:solidFill>
                  <a:srgbClr val="000000"/>
                </a:solidFill>
                <a:latin typeface="Times New Roman"/>
              </a:rPr>
              <a:t>– 350 </a:t>
            </a:r>
            <a:r>
              <a:rPr lang="ru-RU" sz="2400" kern="0" dirty="0">
                <a:solidFill>
                  <a:srgbClr val="000000"/>
                </a:solidFill>
                <a:latin typeface="Times New Roman"/>
              </a:rPr>
              <a:t>слов.</a:t>
            </a:r>
          </a:p>
          <a:p>
            <a:pPr marL="342900" indent="-342900">
              <a:spcBef>
                <a:spcPct val="20000"/>
              </a:spcBef>
              <a:buClr>
                <a:srgbClr val="660000"/>
              </a:buClr>
              <a:buSzPct val="70000"/>
              <a:buFont typeface="Arial" pitchFamily="34" charset="0"/>
              <a:buChar char="•"/>
              <a:defRPr/>
            </a:pPr>
            <a:r>
              <a:rPr lang="ru-RU" sz="2400" kern="0" dirty="0">
                <a:solidFill>
                  <a:srgbClr val="000000"/>
                </a:solidFill>
                <a:latin typeface="Times New Roman"/>
              </a:rPr>
              <a:t>Между частями сочинения и внутри них не должно быть нарушений последовательности изложения мыслей и необоснованных повторов.</a:t>
            </a:r>
          </a:p>
          <a:p>
            <a:pPr marL="342900" indent="-342900">
              <a:spcBef>
                <a:spcPct val="20000"/>
              </a:spcBef>
              <a:buClr>
                <a:srgbClr val="660000"/>
              </a:buClr>
              <a:buSzPct val="70000"/>
              <a:buFont typeface="Arial" pitchFamily="34" charset="0"/>
              <a:buChar char="•"/>
              <a:defRPr/>
            </a:pPr>
            <a:r>
              <a:rPr lang="ru-RU" sz="2400" kern="0" dirty="0">
                <a:solidFill>
                  <a:srgbClr val="000000"/>
                </a:solidFill>
                <a:latin typeface="Times New Roman"/>
              </a:rPr>
              <a:t>Следует стараться не допускать фактических и речевых ошибок.</a:t>
            </a:r>
          </a:p>
          <a:p>
            <a:pPr marL="342900" indent="-342900">
              <a:spcBef>
                <a:spcPct val="20000"/>
              </a:spcBef>
              <a:buClr>
                <a:srgbClr val="660000"/>
              </a:buClr>
              <a:buSzPct val="70000"/>
              <a:buFont typeface="Arial" pitchFamily="34" charset="0"/>
              <a:buChar char="•"/>
              <a:defRPr/>
            </a:pPr>
            <a:r>
              <a:rPr lang="ru-RU" sz="2400" b="1" i="1" u="sng" kern="0" dirty="0">
                <a:latin typeface="Times New Roman"/>
              </a:rPr>
              <a:t>Приветствуется</a:t>
            </a:r>
            <a:r>
              <a:rPr lang="ru-RU" sz="2400" kern="0" dirty="0">
                <a:solidFill>
                  <a:srgbClr val="000000"/>
                </a:solidFill>
                <a:latin typeface="Times New Roman"/>
              </a:rPr>
              <a:t>, если сочинение отличается самостоятельностью суждений, творческим, нестандартным подходом, оригинальностью изложения мыслей.</a:t>
            </a:r>
          </a:p>
        </p:txBody>
      </p:sp>
    </p:spTree>
    <p:extLst>
      <p:ext uri="{BB962C8B-B14F-4D97-AF65-F5344CB8AC3E}">
        <p14:creationId xmlns:p14="http://schemas.microsoft.com/office/powerpoint/2010/main" val="700857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38348" y="214290"/>
            <a:ext cx="7572428" cy="523220"/>
          </a:xfrm>
          <a:prstGeom prst="rect">
            <a:avLst/>
          </a:prstGeom>
          <a:noFill/>
        </p:spPr>
        <p:txBody>
          <a:bodyPr wrap="square" rtlCol="0">
            <a:spAutoFit/>
          </a:bodyPr>
          <a:lstStyle/>
          <a:p>
            <a:pPr algn="ctr"/>
            <a:r>
              <a:rPr lang="ru-RU" sz="2800" b="1" dirty="0">
                <a:solidFill>
                  <a:srgbClr val="C00000"/>
                </a:solidFill>
                <a:latin typeface="Times New Roman" pitchFamily="18" charset="0"/>
                <a:cs typeface="Times New Roman" pitchFamily="18" charset="0"/>
              </a:rPr>
              <a:t>Критерии оценивания </a:t>
            </a:r>
          </a:p>
        </p:txBody>
      </p:sp>
      <p:sp>
        <p:nvSpPr>
          <p:cNvPr id="30721" name="Rectangle 1"/>
          <p:cNvSpPr>
            <a:spLocks noChangeArrowheads="1"/>
          </p:cNvSpPr>
          <p:nvPr/>
        </p:nvSpPr>
        <p:spPr bwMode="auto">
          <a:xfrm>
            <a:off x="1809720" y="857233"/>
            <a:ext cx="821537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indent="342900" algn="ctr" fontAlgn="base">
              <a:spcBef>
                <a:spcPct val="0"/>
              </a:spcBef>
              <a:spcAft>
                <a:spcPct val="0"/>
              </a:spcAft>
            </a:pPr>
            <a:r>
              <a:rPr lang="ru-RU" sz="2400" dirty="0">
                <a:solidFill>
                  <a:srgbClr val="002060"/>
                </a:solidFill>
                <a:latin typeface="Times New Roman" pitchFamily="18" charset="0"/>
                <a:ea typeface="Calibri" pitchFamily="34" charset="0"/>
                <a:cs typeface="Times New Roman" pitchFamily="18" charset="0"/>
              </a:rPr>
              <a:t>Сочинение оценивается по пяти критериям. </a:t>
            </a:r>
          </a:p>
          <a:p>
            <a:pPr indent="342900" algn="ctr" fontAlgn="base">
              <a:spcBef>
                <a:spcPct val="0"/>
              </a:spcBef>
              <a:spcAft>
                <a:spcPct val="0"/>
              </a:spcAft>
            </a:pPr>
            <a:endParaRPr lang="ru-RU" sz="2400" dirty="0">
              <a:solidFill>
                <a:srgbClr val="002060"/>
              </a:solidFill>
              <a:latin typeface="Arial" pitchFamily="34" charset="0"/>
            </a:endParaRPr>
          </a:p>
        </p:txBody>
      </p:sp>
      <p:sp>
        <p:nvSpPr>
          <p:cNvPr id="30722" name="Rectangle 2"/>
          <p:cNvSpPr>
            <a:spLocks noChangeArrowheads="1"/>
          </p:cNvSpPr>
          <p:nvPr/>
        </p:nvSpPr>
        <p:spPr bwMode="auto">
          <a:xfrm>
            <a:off x="2024034" y="1487997"/>
            <a:ext cx="6286544" cy="5232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ru-RU" sz="2800" b="1" dirty="0">
                <a:solidFill>
                  <a:srgbClr val="FF00FF"/>
                </a:solidFill>
                <a:latin typeface="Times New Roman" pitchFamily="18" charset="0"/>
                <a:ea typeface="Calibri" pitchFamily="34" charset="0"/>
                <a:cs typeface="Times New Roman" pitchFamily="18" charset="0"/>
              </a:rPr>
              <a:t>Критерий №1 </a:t>
            </a:r>
            <a:r>
              <a:rPr lang="ru-RU" sz="2800" b="1" dirty="0">
                <a:solidFill>
                  <a:srgbClr val="002060"/>
                </a:solidFill>
                <a:latin typeface="Times New Roman" pitchFamily="18" charset="0"/>
                <a:ea typeface="Calibri" pitchFamily="34" charset="0"/>
                <a:cs typeface="Times New Roman" pitchFamily="18" charset="0"/>
              </a:rPr>
              <a:t>«Соответствие теме»</a:t>
            </a:r>
            <a:endParaRPr lang="ru-RU" sz="2800" dirty="0">
              <a:solidFill>
                <a:srgbClr val="002060"/>
              </a:solidFill>
              <a:latin typeface="Arial" pitchFamily="34" charset="0"/>
            </a:endParaRPr>
          </a:p>
        </p:txBody>
      </p:sp>
      <p:sp>
        <p:nvSpPr>
          <p:cNvPr id="30723" name="Rectangle 3"/>
          <p:cNvSpPr>
            <a:spLocks noChangeArrowheads="1"/>
          </p:cNvSpPr>
          <p:nvPr/>
        </p:nvSpPr>
        <p:spPr bwMode="auto">
          <a:xfrm>
            <a:off x="2024034" y="2169377"/>
            <a:ext cx="7929618"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ru-RU" sz="2800" b="1" dirty="0">
                <a:solidFill>
                  <a:srgbClr val="FF00FF"/>
                </a:solidFill>
                <a:latin typeface="Times New Roman" pitchFamily="18" charset="0"/>
                <a:ea typeface="Calibri" pitchFamily="34" charset="0"/>
                <a:cs typeface="Times New Roman" pitchFamily="18" charset="0"/>
              </a:rPr>
              <a:t>Критерий №2 </a:t>
            </a:r>
            <a:r>
              <a:rPr lang="ru-RU" sz="2800" b="1" dirty="0">
                <a:solidFill>
                  <a:srgbClr val="002060"/>
                </a:solidFill>
                <a:latin typeface="Times New Roman" pitchFamily="18" charset="0"/>
                <a:ea typeface="Calibri" pitchFamily="34" charset="0"/>
                <a:cs typeface="Times New Roman" pitchFamily="18" charset="0"/>
              </a:rPr>
              <a:t>«Аргументация. </a:t>
            </a:r>
          </a:p>
          <a:p>
            <a:pPr fontAlgn="base">
              <a:spcBef>
                <a:spcPct val="0"/>
              </a:spcBef>
              <a:spcAft>
                <a:spcPct val="0"/>
              </a:spcAft>
            </a:pPr>
            <a:r>
              <a:rPr lang="ru-RU" sz="2800" b="1" dirty="0">
                <a:solidFill>
                  <a:srgbClr val="002060"/>
                </a:solidFill>
                <a:latin typeface="Times New Roman" pitchFamily="18" charset="0"/>
                <a:ea typeface="Calibri" pitchFamily="34" charset="0"/>
                <a:cs typeface="Times New Roman" pitchFamily="18" charset="0"/>
              </a:rPr>
              <a:t>            Привлечение литературного материала»</a:t>
            </a:r>
            <a:endParaRPr lang="ru-RU" sz="2800" dirty="0">
              <a:solidFill>
                <a:srgbClr val="002060"/>
              </a:solidFill>
              <a:latin typeface="Arial" pitchFamily="34" charset="0"/>
            </a:endParaRPr>
          </a:p>
        </p:txBody>
      </p:sp>
      <p:sp>
        <p:nvSpPr>
          <p:cNvPr id="30724" name="Rectangle 4"/>
          <p:cNvSpPr>
            <a:spLocks noChangeArrowheads="1"/>
          </p:cNvSpPr>
          <p:nvPr/>
        </p:nvSpPr>
        <p:spPr bwMode="auto">
          <a:xfrm>
            <a:off x="2024034" y="3081694"/>
            <a:ext cx="6929486" cy="5232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pPr>
            <a:r>
              <a:rPr lang="ru-RU" sz="2800" b="1" dirty="0">
                <a:solidFill>
                  <a:srgbClr val="FF0000"/>
                </a:solidFill>
                <a:latin typeface="Times New Roman" pitchFamily="18" charset="0"/>
                <a:ea typeface="Calibri" pitchFamily="34" charset="0"/>
                <a:cs typeface="Times New Roman" pitchFamily="18" charset="0"/>
              </a:rPr>
              <a:t>Критерий №3 </a:t>
            </a:r>
            <a:r>
              <a:rPr lang="ru-RU" sz="2800" b="1" dirty="0">
                <a:solidFill>
                  <a:srgbClr val="002060"/>
                </a:solidFill>
                <a:latin typeface="Times New Roman" pitchFamily="18" charset="0"/>
                <a:ea typeface="Calibri" pitchFamily="34" charset="0"/>
                <a:cs typeface="Times New Roman" pitchFamily="18" charset="0"/>
              </a:rPr>
              <a:t>«Композиция»</a:t>
            </a:r>
            <a:endParaRPr lang="ru-RU" sz="2800" dirty="0">
              <a:solidFill>
                <a:srgbClr val="002060"/>
              </a:solidFill>
              <a:latin typeface="Arial" pitchFamily="34" charset="0"/>
            </a:endParaRPr>
          </a:p>
        </p:txBody>
      </p:sp>
      <p:sp>
        <p:nvSpPr>
          <p:cNvPr id="30725" name="Rectangle 5"/>
          <p:cNvSpPr>
            <a:spLocks noChangeArrowheads="1"/>
          </p:cNvSpPr>
          <p:nvPr/>
        </p:nvSpPr>
        <p:spPr bwMode="auto">
          <a:xfrm>
            <a:off x="2024034" y="3581759"/>
            <a:ext cx="8001056" cy="5232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fontAlgn="base">
              <a:spcBef>
                <a:spcPct val="0"/>
              </a:spcBef>
              <a:spcAft>
                <a:spcPct val="0"/>
              </a:spcAft>
            </a:pPr>
            <a:r>
              <a:rPr lang="ru-RU" sz="2800" b="1" dirty="0">
                <a:solidFill>
                  <a:srgbClr val="FF0000"/>
                </a:solidFill>
                <a:latin typeface="Times New Roman" pitchFamily="18" charset="0"/>
                <a:ea typeface="Calibri" pitchFamily="34" charset="0"/>
                <a:cs typeface="Times New Roman" pitchFamily="18" charset="0"/>
              </a:rPr>
              <a:t>Критерий №4 </a:t>
            </a:r>
            <a:r>
              <a:rPr lang="ru-RU" sz="2800" b="1" dirty="0">
                <a:solidFill>
                  <a:srgbClr val="002060"/>
                </a:solidFill>
                <a:latin typeface="Times New Roman" pitchFamily="18" charset="0"/>
                <a:ea typeface="Calibri" pitchFamily="34" charset="0"/>
                <a:cs typeface="Times New Roman" pitchFamily="18" charset="0"/>
              </a:rPr>
              <a:t>«Качество речи»</a:t>
            </a:r>
            <a:endParaRPr lang="ru-RU" sz="2800" dirty="0">
              <a:solidFill>
                <a:srgbClr val="002060"/>
              </a:solidFill>
              <a:latin typeface="Arial" pitchFamily="34" charset="0"/>
            </a:endParaRPr>
          </a:p>
        </p:txBody>
      </p:sp>
      <p:sp>
        <p:nvSpPr>
          <p:cNvPr id="30726" name="Rectangle 6"/>
          <p:cNvSpPr>
            <a:spLocks noChangeArrowheads="1"/>
          </p:cNvSpPr>
          <p:nvPr/>
        </p:nvSpPr>
        <p:spPr bwMode="auto">
          <a:xfrm>
            <a:off x="2024034" y="4238960"/>
            <a:ext cx="8001056" cy="5232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lang="ru-RU" sz="2800" b="1" dirty="0">
                <a:solidFill>
                  <a:srgbClr val="FF0000"/>
                </a:solidFill>
                <a:latin typeface="Times New Roman" pitchFamily="18" charset="0"/>
                <a:ea typeface="Calibri" pitchFamily="34" charset="0"/>
                <a:cs typeface="Times New Roman" pitchFamily="18" charset="0"/>
              </a:rPr>
              <a:t>Критерий №5 </a:t>
            </a:r>
            <a:r>
              <a:rPr lang="ru-RU" sz="2800" b="1" dirty="0">
                <a:solidFill>
                  <a:srgbClr val="002060"/>
                </a:solidFill>
                <a:latin typeface="Times New Roman" pitchFamily="18" charset="0"/>
                <a:ea typeface="Calibri" pitchFamily="34" charset="0"/>
                <a:cs typeface="Times New Roman" pitchFamily="18" charset="0"/>
              </a:rPr>
              <a:t>«Грамотность»</a:t>
            </a:r>
            <a:endParaRPr lang="ru-RU" sz="2800" dirty="0">
              <a:solidFill>
                <a:srgbClr val="002060"/>
              </a:solidFill>
              <a:latin typeface="Arial" pitchFamily="34" charset="0"/>
            </a:endParaRPr>
          </a:p>
        </p:txBody>
      </p:sp>
      <p:sp>
        <p:nvSpPr>
          <p:cNvPr id="30727" name="Rectangle 7"/>
          <p:cNvSpPr>
            <a:spLocks noChangeArrowheads="1"/>
          </p:cNvSpPr>
          <p:nvPr/>
        </p:nvSpPr>
        <p:spPr bwMode="auto">
          <a:xfrm>
            <a:off x="2095472" y="4865385"/>
            <a:ext cx="8215370" cy="163121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indent="342900" algn="just" fontAlgn="base">
              <a:spcBef>
                <a:spcPct val="0"/>
              </a:spcBef>
              <a:spcAft>
                <a:spcPct val="0"/>
              </a:spcAft>
            </a:pPr>
            <a:r>
              <a:rPr lang="ru-RU" sz="2000" b="1" dirty="0">
                <a:solidFill>
                  <a:srgbClr val="002060"/>
                </a:solidFill>
                <a:latin typeface="Times New Roman" pitchFamily="18" charset="0"/>
                <a:ea typeface="Calibri" pitchFamily="34" charset="0"/>
                <a:cs typeface="Times New Roman" pitchFamily="18" charset="0"/>
              </a:rPr>
              <a:t>Для получения «зачета» за итоговое сочинение необходимо получить «зачет» по критериям №1 и №2 </a:t>
            </a:r>
            <a:r>
              <a:rPr lang="ru-RU" sz="2000" dirty="0">
                <a:solidFill>
                  <a:srgbClr val="002060"/>
                </a:solidFill>
                <a:latin typeface="Times New Roman" pitchFamily="18" charset="0"/>
                <a:ea typeface="Calibri" pitchFamily="34" charset="0"/>
                <a:cs typeface="Times New Roman" pitchFamily="18" charset="0"/>
              </a:rPr>
              <a:t>(выставление «незачета» по одному из этих критериев автоматически ведет к «незачету» за работу в целом), а также дополнительно «зачет» хотя бы по одному из других критериев (№3-№5).</a:t>
            </a:r>
            <a:endParaRPr lang="ru-RU" sz="3200" dirty="0">
              <a:solidFill>
                <a:srgbClr val="002060"/>
              </a:solidFill>
              <a:latin typeface="Arial" pitchFamily="34" charset="0"/>
            </a:endParaRPr>
          </a:p>
        </p:txBody>
      </p:sp>
    </p:spTree>
    <p:extLst>
      <p:ext uri="{BB962C8B-B14F-4D97-AF65-F5344CB8AC3E}">
        <p14:creationId xmlns:p14="http://schemas.microsoft.com/office/powerpoint/2010/main" val="5067671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38348" y="214290"/>
            <a:ext cx="7572428" cy="523220"/>
          </a:xfrm>
          <a:prstGeom prst="rect">
            <a:avLst/>
          </a:prstGeom>
          <a:noFill/>
        </p:spPr>
        <p:txBody>
          <a:bodyPr wrap="square" rtlCol="0">
            <a:spAutoFit/>
          </a:bodyPr>
          <a:lstStyle/>
          <a:p>
            <a:pPr algn="ctr"/>
            <a:r>
              <a:rPr lang="ru-RU" sz="2800" b="1" dirty="0">
                <a:solidFill>
                  <a:srgbClr val="C00000"/>
                </a:solidFill>
                <a:latin typeface="Times New Roman" pitchFamily="18" charset="0"/>
                <a:cs typeface="Times New Roman" pitchFamily="18" charset="0"/>
              </a:rPr>
              <a:t>Критерии оценивания</a:t>
            </a:r>
          </a:p>
        </p:txBody>
      </p:sp>
      <p:sp>
        <p:nvSpPr>
          <p:cNvPr id="31745" name="Rectangle 1"/>
          <p:cNvSpPr>
            <a:spLocks noChangeArrowheads="1"/>
          </p:cNvSpPr>
          <p:nvPr/>
        </p:nvSpPr>
        <p:spPr bwMode="auto">
          <a:xfrm>
            <a:off x="1703512" y="252567"/>
            <a:ext cx="8712968" cy="58785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indent="342900" algn="just" fontAlgn="base">
              <a:spcBef>
                <a:spcPct val="0"/>
              </a:spcBef>
              <a:spcAft>
                <a:spcPct val="0"/>
              </a:spcAft>
            </a:pPr>
            <a:endParaRPr lang="ru-RU" sz="3200" b="1" dirty="0">
              <a:solidFill>
                <a:srgbClr val="002060"/>
              </a:solidFill>
              <a:latin typeface="Times New Roman" pitchFamily="18" charset="0"/>
              <a:ea typeface="Calibri" pitchFamily="34" charset="0"/>
              <a:cs typeface="Times New Roman" pitchFamily="18" charset="0"/>
            </a:endParaRPr>
          </a:p>
          <a:p>
            <a:pPr indent="342900" algn="just" fontAlgn="base">
              <a:spcBef>
                <a:spcPct val="0"/>
              </a:spcBef>
              <a:spcAft>
                <a:spcPct val="0"/>
              </a:spcAft>
            </a:pPr>
            <a:endParaRPr lang="ru-RU" sz="3200" b="1" dirty="0">
              <a:solidFill>
                <a:srgbClr val="002060"/>
              </a:solidFill>
              <a:latin typeface="Times New Roman" pitchFamily="18" charset="0"/>
              <a:ea typeface="Calibri" pitchFamily="34" charset="0"/>
              <a:cs typeface="Times New Roman" pitchFamily="18" charset="0"/>
            </a:endParaRPr>
          </a:p>
          <a:p>
            <a:pPr indent="342900" algn="just" fontAlgn="base">
              <a:spcBef>
                <a:spcPct val="0"/>
              </a:spcBef>
              <a:spcAft>
                <a:spcPct val="0"/>
              </a:spcAft>
            </a:pPr>
            <a:r>
              <a:rPr lang="ru-RU" sz="3200" b="1" dirty="0">
                <a:solidFill>
                  <a:srgbClr val="002060"/>
                </a:solidFill>
                <a:latin typeface="Times New Roman" pitchFamily="18" charset="0"/>
                <a:ea typeface="Calibri" pitchFamily="34" charset="0"/>
                <a:cs typeface="Times New Roman" pitchFamily="18" charset="0"/>
              </a:rPr>
              <a:t>Критерий №1 «Соответствие теме»</a:t>
            </a:r>
            <a:endParaRPr lang="ru-RU" sz="3200" dirty="0">
              <a:solidFill>
                <a:srgbClr val="002060"/>
              </a:solidFill>
              <a:latin typeface="Arial" pitchFamily="34" charset="0"/>
            </a:endParaRPr>
          </a:p>
          <a:p>
            <a:pPr indent="342900" algn="just" eaLnBrk="0" fontAlgn="base" hangingPunct="0">
              <a:spcBef>
                <a:spcPct val="0"/>
              </a:spcBef>
              <a:spcAft>
                <a:spcPct val="0"/>
              </a:spcAft>
            </a:pPr>
            <a:r>
              <a:rPr lang="ru-RU" sz="2800" dirty="0">
                <a:solidFill>
                  <a:srgbClr val="002060"/>
                </a:solidFill>
                <a:latin typeface="Times New Roman" pitchFamily="18" charset="0"/>
                <a:ea typeface="Calibri" pitchFamily="34" charset="0"/>
                <a:cs typeface="Times New Roman" pitchFamily="18" charset="0"/>
              </a:rPr>
              <a:t>Выпускник рассуждает на предложенную тему, выбрав путь её раскрытия (например, отвечает на вопрос, поставленный в теме, или размышляет над предложенной проблемой, или строит высказывание на основе связанных с темой тезисов и т.п.).</a:t>
            </a:r>
            <a:endParaRPr lang="ru-RU" sz="2800" dirty="0">
              <a:solidFill>
                <a:srgbClr val="002060"/>
              </a:solidFill>
              <a:latin typeface="Arial" pitchFamily="34" charset="0"/>
            </a:endParaRPr>
          </a:p>
          <a:p>
            <a:pPr indent="342900" algn="just" eaLnBrk="0" fontAlgn="base" hangingPunct="0">
              <a:spcBef>
                <a:spcPct val="0"/>
              </a:spcBef>
              <a:spcAft>
                <a:spcPct val="0"/>
              </a:spcAft>
            </a:pPr>
            <a:r>
              <a:rPr lang="ru-RU" sz="2800" b="1" i="1" dirty="0">
                <a:solidFill>
                  <a:srgbClr val="002060"/>
                </a:solidFill>
                <a:latin typeface="Times New Roman" pitchFamily="18" charset="0"/>
                <a:ea typeface="Calibri" pitchFamily="34" charset="0"/>
                <a:cs typeface="Times New Roman" pitchFamily="18" charset="0"/>
              </a:rPr>
              <a:t>«Незачет» ставится только при условии, если сочинение </a:t>
            </a:r>
            <a:r>
              <a:rPr lang="ru-RU" sz="2800" b="1" i="1" dirty="0">
                <a:solidFill>
                  <a:srgbClr val="FF0000"/>
                </a:solidFill>
                <a:latin typeface="Times New Roman" pitchFamily="18" charset="0"/>
                <a:ea typeface="Calibri" pitchFamily="34" charset="0"/>
                <a:cs typeface="Times New Roman" pitchFamily="18" charset="0"/>
              </a:rPr>
              <a:t>не соответствует теме </a:t>
            </a:r>
            <a:r>
              <a:rPr lang="ru-RU" sz="2800" b="1" i="1" dirty="0">
                <a:solidFill>
                  <a:srgbClr val="002060"/>
                </a:solidFill>
                <a:latin typeface="Times New Roman" pitchFamily="18" charset="0"/>
                <a:ea typeface="Calibri" pitchFamily="34" charset="0"/>
                <a:cs typeface="Times New Roman" pitchFamily="18" charset="0"/>
              </a:rPr>
              <a:t>или в нем не прослеживается конкретной цели высказывания, т.е. коммуникативного замысла (во всех остальных случаях выставляется «зачет»).</a:t>
            </a:r>
            <a:endParaRPr lang="ru-RU" sz="2800" b="1" dirty="0">
              <a:solidFill>
                <a:srgbClr val="002060"/>
              </a:solidFill>
              <a:latin typeface="Arial" pitchFamily="34" charset="0"/>
            </a:endParaRPr>
          </a:p>
        </p:txBody>
      </p:sp>
      <p:pic>
        <p:nvPicPr>
          <p:cNvPr id="4" name="Picture 12" descr="http://4.bp.blogspot.com/-HDF3rx32mX4/UjBTSSCvgHI/AAAAAAAAAxg/ocqhPqlB-NA/s1600/Remove-Add-to-Compare-Link%5B1%5D.png"/>
          <p:cNvPicPr>
            <a:picLocks noChangeAspect="1" noChangeArrowheads="1"/>
          </p:cNvPicPr>
          <p:nvPr/>
        </p:nvPicPr>
        <p:blipFill>
          <a:blip r:embed="rId2" cstate="print"/>
          <a:srcRect/>
          <a:stretch>
            <a:fillRect/>
          </a:stretch>
        </p:blipFill>
        <p:spPr bwMode="auto">
          <a:xfrm>
            <a:off x="8167670" y="0"/>
            <a:ext cx="2500330" cy="2500330"/>
          </a:xfrm>
          <a:prstGeom prst="rect">
            <a:avLst/>
          </a:prstGeom>
          <a:noFill/>
        </p:spPr>
      </p:pic>
    </p:spTree>
    <p:extLst>
      <p:ext uri="{BB962C8B-B14F-4D97-AF65-F5344CB8AC3E}">
        <p14:creationId xmlns:p14="http://schemas.microsoft.com/office/powerpoint/2010/main" val="15596613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52662" y="142852"/>
            <a:ext cx="7572428" cy="523220"/>
          </a:xfrm>
          <a:prstGeom prst="rect">
            <a:avLst/>
          </a:prstGeom>
          <a:noFill/>
        </p:spPr>
        <p:txBody>
          <a:bodyPr wrap="square" rtlCol="0">
            <a:spAutoFit/>
          </a:bodyPr>
          <a:lstStyle/>
          <a:p>
            <a:pPr algn="ctr"/>
            <a:r>
              <a:rPr lang="ru-RU" sz="2800" b="1" dirty="0">
                <a:solidFill>
                  <a:srgbClr val="C00000"/>
                </a:solidFill>
                <a:latin typeface="Times New Roman" pitchFamily="18" charset="0"/>
                <a:cs typeface="Times New Roman" pitchFamily="18" charset="0"/>
              </a:rPr>
              <a:t>Критерии оценивания</a:t>
            </a:r>
          </a:p>
        </p:txBody>
      </p:sp>
      <p:sp>
        <p:nvSpPr>
          <p:cNvPr id="32769" name="Rectangle 1"/>
          <p:cNvSpPr>
            <a:spLocks noChangeArrowheads="1"/>
          </p:cNvSpPr>
          <p:nvPr/>
        </p:nvSpPr>
        <p:spPr bwMode="auto">
          <a:xfrm>
            <a:off x="1775520" y="1483798"/>
            <a:ext cx="8392446" cy="421653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indent="342900" algn="just" fontAlgn="base">
              <a:spcBef>
                <a:spcPct val="0"/>
              </a:spcBef>
              <a:spcAft>
                <a:spcPct val="0"/>
              </a:spcAft>
            </a:pPr>
            <a:r>
              <a:rPr lang="ru-RU" sz="2400" b="1" dirty="0">
                <a:solidFill>
                  <a:srgbClr val="002060"/>
                </a:solidFill>
                <a:latin typeface="Times New Roman" pitchFamily="18" charset="0"/>
                <a:ea typeface="Calibri" pitchFamily="34" charset="0"/>
                <a:cs typeface="Times New Roman" pitchFamily="18" charset="0"/>
              </a:rPr>
              <a:t>Критерий №2 «Аргументация. </a:t>
            </a:r>
          </a:p>
          <a:p>
            <a:pPr indent="342900" algn="just" fontAlgn="base">
              <a:spcBef>
                <a:spcPct val="0"/>
              </a:spcBef>
              <a:spcAft>
                <a:spcPct val="0"/>
              </a:spcAft>
            </a:pPr>
            <a:r>
              <a:rPr lang="ru-RU" sz="2400" b="1" dirty="0">
                <a:solidFill>
                  <a:srgbClr val="002060"/>
                </a:solidFill>
                <a:latin typeface="Times New Roman" pitchFamily="18" charset="0"/>
                <a:ea typeface="Calibri" pitchFamily="34" charset="0"/>
                <a:cs typeface="Times New Roman" pitchFamily="18" charset="0"/>
              </a:rPr>
              <a:t>Привлечение литературного материала».</a:t>
            </a:r>
            <a:endParaRPr lang="ru-RU" sz="2400" dirty="0">
              <a:solidFill>
                <a:srgbClr val="002060"/>
              </a:solidFill>
              <a:latin typeface="Arial" pitchFamily="34" charset="0"/>
            </a:endParaRPr>
          </a:p>
          <a:p>
            <a:pPr indent="342900" algn="just" eaLnBrk="0" fontAlgn="base" hangingPunct="0">
              <a:spcBef>
                <a:spcPct val="0"/>
              </a:spcBef>
              <a:spcAft>
                <a:spcPct val="0"/>
              </a:spcAft>
            </a:pPr>
            <a:r>
              <a:rPr lang="ru-RU" sz="2000" dirty="0">
                <a:solidFill>
                  <a:srgbClr val="002060"/>
                </a:solidFill>
                <a:latin typeface="Times New Roman" pitchFamily="18" charset="0"/>
                <a:ea typeface="Calibri" pitchFamily="34" charset="0"/>
                <a:cs typeface="Times New Roman" pitchFamily="18" charset="0"/>
              </a:rPr>
              <a:t>Данный критерий нацеливает на проверку </a:t>
            </a:r>
            <a:r>
              <a:rPr lang="ru-RU" sz="2000" b="1" dirty="0">
                <a:solidFill>
                  <a:srgbClr val="002060"/>
                </a:solidFill>
                <a:latin typeface="Times New Roman" pitchFamily="18" charset="0"/>
                <a:ea typeface="Calibri" pitchFamily="34" charset="0"/>
                <a:cs typeface="Times New Roman" pitchFamily="18" charset="0"/>
              </a:rPr>
              <a:t>умения использовать литературный материал для построения рассуждения на предложенную тему и для аргументации  своей позиции.</a:t>
            </a:r>
            <a:endParaRPr lang="ru-RU" sz="2000" b="1" dirty="0">
              <a:solidFill>
                <a:srgbClr val="002060"/>
              </a:solidFill>
              <a:latin typeface="Arial" pitchFamily="34" charset="0"/>
            </a:endParaRPr>
          </a:p>
          <a:p>
            <a:pPr indent="342900" algn="just" eaLnBrk="0" fontAlgn="base" hangingPunct="0">
              <a:spcBef>
                <a:spcPct val="0"/>
              </a:spcBef>
              <a:spcAft>
                <a:spcPct val="0"/>
              </a:spcAft>
            </a:pPr>
            <a:r>
              <a:rPr lang="ru-RU" sz="2000" dirty="0">
                <a:solidFill>
                  <a:srgbClr val="002060"/>
                </a:solidFill>
                <a:latin typeface="Times New Roman" pitchFamily="18" charset="0"/>
                <a:ea typeface="Calibri" pitchFamily="34" charset="0"/>
                <a:cs typeface="Times New Roman" pitchFamily="18" charset="0"/>
              </a:rPr>
              <a:t>Выпускник строит рассуждение, привлекая для аргументации не </a:t>
            </a:r>
            <a:r>
              <a:rPr lang="ru-RU" sz="2000" b="1" dirty="0">
                <a:solidFill>
                  <a:srgbClr val="002060"/>
                </a:solidFill>
                <a:latin typeface="Times New Roman" pitchFamily="18" charset="0"/>
                <a:ea typeface="Calibri" pitchFamily="34" charset="0"/>
                <a:cs typeface="Times New Roman" pitchFamily="18" charset="0"/>
              </a:rPr>
              <a:t>менее одного (лучше 2!) произведения отечественной или мировой литературы.</a:t>
            </a:r>
            <a:endParaRPr lang="ru-RU" sz="2000" dirty="0">
              <a:solidFill>
                <a:srgbClr val="002060"/>
              </a:solidFill>
              <a:latin typeface="Arial" pitchFamily="34" charset="0"/>
            </a:endParaRPr>
          </a:p>
          <a:p>
            <a:pPr indent="342900" algn="just" eaLnBrk="0" fontAlgn="base" hangingPunct="0">
              <a:spcBef>
                <a:spcPct val="0"/>
              </a:spcBef>
              <a:spcAft>
                <a:spcPct val="0"/>
              </a:spcAft>
            </a:pPr>
            <a:r>
              <a:rPr lang="ru-RU" sz="2000" b="1" i="1" dirty="0">
                <a:solidFill>
                  <a:srgbClr val="002060"/>
                </a:solidFill>
                <a:latin typeface="Times New Roman" pitchFamily="18" charset="0"/>
                <a:ea typeface="Calibri" pitchFamily="34" charset="0"/>
                <a:cs typeface="Times New Roman" pitchFamily="18" charset="0"/>
              </a:rPr>
              <a:t>«Незачет» ставится при условии, если сочинение написано без привлечения литературного материала, или в нем существенно искажено содержание произведения, </a:t>
            </a:r>
            <a:r>
              <a:rPr lang="ru-RU" sz="2000" b="1" i="1" dirty="0">
                <a:solidFill>
                  <a:srgbClr val="FF0000"/>
                </a:solidFill>
                <a:latin typeface="Times New Roman" pitchFamily="18" charset="0"/>
                <a:ea typeface="Calibri" pitchFamily="34" charset="0"/>
                <a:cs typeface="Times New Roman" pitchFamily="18" charset="0"/>
              </a:rPr>
              <a:t>или литературные произведения лишь упоминаются в работе, не становясь опорой для рассуждения </a:t>
            </a:r>
            <a:r>
              <a:rPr lang="ru-RU" sz="2000" b="1" i="1" dirty="0">
                <a:solidFill>
                  <a:srgbClr val="002060"/>
                </a:solidFill>
                <a:latin typeface="Times New Roman" pitchFamily="18" charset="0"/>
                <a:ea typeface="Calibri" pitchFamily="34" charset="0"/>
                <a:cs typeface="Times New Roman" pitchFamily="18" charset="0"/>
              </a:rPr>
              <a:t>(во всех остальных случаях выставляется «зачет»).</a:t>
            </a:r>
            <a:endParaRPr lang="ru-RU" sz="2000" b="1" dirty="0">
              <a:solidFill>
                <a:srgbClr val="002060"/>
              </a:solidFill>
              <a:latin typeface="Arial" pitchFamily="34" charset="0"/>
            </a:endParaRPr>
          </a:p>
        </p:txBody>
      </p:sp>
    </p:spTree>
    <p:extLst>
      <p:ext uri="{BB962C8B-B14F-4D97-AF65-F5344CB8AC3E}">
        <p14:creationId xmlns:p14="http://schemas.microsoft.com/office/powerpoint/2010/main" val="213480205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52662" y="357166"/>
            <a:ext cx="7572428" cy="523220"/>
          </a:xfrm>
          <a:prstGeom prst="rect">
            <a:avLst/>
          </a:prstGeom>
          <a:noFill/>
        </p:spPr>
        <p:txBody>
          <a:bodyPr wrap="square" rtlCol="0">
            <a:spAutoFit/>
          </a:bodyPr>
          <a:lstStyle/>
          <a:p>
            <a:pPr algn="ctr"/>
            <a:r>
              <a:rPr lang="ru-RU" sz="2800" b="1" dirty="0">
                <a:solidFill>
                  <a:srgbClr val="C00000"/>
                </a:solidFill>
                <a:latin typeface="Times New Roman" pitchFamily="18" charset="0"/>
                <a:cs typeface="Times New Roman" pitchFamily="18" charset="0"/>
              </a:rPr>
              <a:t>Критерии оценивания</a:t>
            </a:r>
          </a:p>
        </p:txBody>
      </p:sp>
      <p:sp>
        <p:nvSpPr>
          <p:cNvPr id="33793" name="Rectangle 1"/>
          <p:cNvSpPr>
            <a:spLocks noChangeArrowheads="1"/>
          </p:cNvSpPr>
          <p:nvPr/>
        </p:nvSpPr>
        <p:spPr bwMode="auto">
          <a:xfrm>
            <a:off x="1775520" y="265392"/>
            <a:ext cx="8568952" cy="58785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indent="342900" algn="just" fontAlgn="base">
              <a:spcBef>
                <a:spcPct val="0"/>
              </a:spcBef>
              <a:spcAft>
                <a:spcPct val="0"/>
              </a:spcAft>
            </a:pPr>
            <a:endParaRPr lang="ru-RU" sz="2400" b="1" dirty="0">
              <a:solidFill>
                <a:srgbClr val="002060"/>
              </a:solidFill>
              <a:latin typeface="Times New Roman" pitchFamily="18" charset="0"/>
              <a:ea typeface="Calibri" pitchFamily="34" charset="0"/>
              <a:cs typeface="Times New Roman" pitchFamily="18" charset="0"/>
            </a:endParaRPr>
          </a:p>
          <a:p>
            <a:pPr indent="342900" algn="just" fontAlgn="base">
              <a:spcBef>
                <a:spcPct val="0"/>
              </a:spcBef>
              <a:spcAft>
                <a:spcPct val="0"/>
              </a:spcAft>
            </a:pPr>
            <a:endParaRPr lang="ru-RU" sz="3200" b="1" dirty="0">
              <a:solidFill>
                <a:srgbClr val="002060"/>
              </a:solidFill>
              <a:latin typeface="Times New Roman" pitchFamily="18" charset="0"/>
              <a:ea typeface="Calibri" pitchFamily="34" charset="0"/>
              <a:cs typeface="Times New Roman" pitchFamily="18" charset="0"/>
            </a:endParaRPr>
          </a:p>
          <a:p>
            <a:pPr indent="342900" algn="just" fontAlgn="base">
              <a:spcBef>
                <a:spcPct val="0"/>
              </a:spcBef>
              <a:spcAft>
                <a:spcPct val="0"/>
              </a:spcAft>
            </a:pPr>
            <a:r>
              <a:rPr lang="ru-RU" sz="3200" b="1" dirty="0">
                <a:solidFill>
                  <a:srgbClr val="FF00FF"/>
                </a:solidFill>
                <a:latin typeface="Times New Roman" pitchFamily="18" charset="0"/>
                <a:ea typeface="Calibri" pitchFamily="34" charset="0"/>
                <a:cs typeface="Times New Roman" pitchFamily="18" charset="0"/>
              </a:rPr>
              <a:t>Критерий №3 «Композиция»</a:t>
            </a:r>
          </a:p>
          <a:p>
            <a:pPr indent="342900" algn="just" eaLnBrk="0" fontAlgn="base" hangingPunct="0">
              <a:spcBef>
                <a:spcPct val="0"/>
              </a:spcBef>
              <a:spcAft>
                <a:spcPct val="0"/>
              </a:spcAft>
            </a:pPr>
            <a:r>
              <a:rPr lang="ru-RU" sz="3200" dirty="0">
                <a:solidFill>
                  <a:srgbClr val="002060"/>
                </a:solidFill>
                <a:latin typeface="Times New Roman" pitchFamily="18" charset="0"/>
                <a:ea typeface="Calibri" pitchFamily="34" charset="0"/>
                <a:cs typeface="Times New Roman" pitchFamily="18" charset="0"/>
              </a:rPr>
              <a:t>Данный критерий нацеливает на проверку </a:t>
            </a:r>
            <a:r>
              <a:rPr lang="ru-RU" sz="3200" b="1" dirty="0">
                <a:solidFill>
                  <a:srgbClr val="002060"/>
                </a:solidFill>
                <a:latin typeface="Times New Roman" pitchFamily="18" charset="0"/>
                <a:ea typeface="Calibri" pitchFamily="34" charset="0"/>
                <a:cs typeface="Times New Roman" pitchFamily="18" charset="0"/>
              </a:rPr>
              <a:t>умения логично выстраивать рассуждение на предложенную тему. </a:t>
            </a:r>
            <a:endParaRPr lang="ru-RU" sz="3200" b="1" dirty="0">
              <a:solidFill>
                <a:srgbClr val="002060"/>
              </a:solidFill>
              <a:latin typeface="Arial" pitchFamily="34" charset="0"/>
            </a:endParaRPr>
          </a:p>
          <a:p>
            <a:pPr indent="342900" algn="just" eaLnBrk="0" fontAlgn="base" hangingPunct="0">
              <a:spcBef>
                <a:spcPct val="0"/>
              </a:spcBef>
              <a:spcAft>
                <a:spcPct val="0"/>
              </a:spcAft>
            </a:pPr>
            <a:r>
              <a:rPr lang="ru-RU" sz="3200" b="1" i="1" dirty="0">
                <a:solidFill>
                  <a:srgbClr val="002060"/>
                </a:solidFill>
                <a:latin typeface="Times New Roman" pitchFamily="18" charset="0"/>
                <a:ea typeface="Calibri" pitchFamily="34" charset="0"/>
                <a:cs typeface="Times New Roman" pitchFamily="18" charset="0"/>
              </a:rPr>
              <a:t>«Незачет» ставится при условии, если грубые логические нарушения мешают пониманию смысла сказанного или отсутствует </a:t>
            </a:r>
            <a:r>
              <a:rPr lang="ru-RU" sz="3200" b="1" i="1" dirty="0" err="1">
                <a:solidFill>
                  <a:srgbClr val="002060"/>
                </a:solidFill>
                <a:latin typeface="Times New Roman" pitchFamily="18" charset="0"/>
                <a:ea typeface="Calibri" pitchFamily="34" charset="0"/>
                <a:cs typeface="Times New Roman" pitchFamily="18" charset="0"/>
              </a:rPr>
              <a:t>тезисно-доказательная</a:t>
            </a:r>
            <a:r>
              <a:rPr lang="ru-RU" sz="3200" b="1" i="1" dirty="0">
                <a:solidFill>
                  <a:srgbClr val="002060"/>
                </a:solidFill>
                <a:latin typeface="Times New Roman" pitchFamily="18" charset="0"/>
                <a:ea typeface="Calibri" pitchFamily="34" charset="0"/>
                <a:cs typeface="Times New Roman" pitchFamily="18" charset="0"/>
              </a:rPr>
              <a:t> часть (во всех остальных случаях выставляется «зачет»).</a:t>
            </a:r>
            <a:endParaRPr lang="ru-RU" sz="3200" b="1" dirty="0">
              <a:solidFill>
                <a:srgbClr val="002060"/>
              </a:solidFill>
              <a:latin typeface="Arial" pitchFamily="34" charset="0"/>
            </a:endParaRPr>
          </a:p>
        </p:txBody>
      </p:sp>
      <p:pic>
        <p:nvPicPr>
          <p:cNvPr id="4" name="Picture 12" descr="http://4.bp.blogspot.com/-HDF3rx32mX4/UjBTSSCvgHI/AAAAAAAAAxg/ocqhPqlB-NA/s1600/Remove-Add-to-Compare-Link%5B1%5D.png"/>
          <p:cNvPicPr>
            <a:picLocks noChangeAspect="1" noChangeArrowheads="1"/>
          </p:cNvPicPr>
          <p:nvPr/>
        </p:nvPicPr>
        <p:blipFill>
          <a:blip r:embed="rId2" cstate="print"/>
          <a:srcRect/>
          <a:stretch>
            <a:fillRect/>
          </a:stretch>
        </p:blipFill>
        <p:spPr bwMode="auto">
          <a:xfrm>
            <a:off x="8167670" y="-171400"/>
            <a:ext cx="2500330" cy="2500330"/>
          </a:xfrm>
          <a:prstGeom prst="rect">
            <a:avLst/>
          </a:prstGeom>
          <a:noFill/>
        </p:spPr>
      </p:pic>
    </p:spTree>
    <p:extLst>
      <p:ext uri="{BB962C8B-B14F-4D97-AF65-F5344CB8AC3E}">
        <p14:creationId xmlns:p14="http://schemas.microsoft.com/office/powerpoint/2010/main" val="38605000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52662" y="191136"/>
            <a:ext cx="7572428" cy="523220"/>
          </a:xfrm>
          <a:prstGeom prst="rect">
            <a:avLst/>
          </a:prstGeom>
          <a:noFill/>
        </p:spPr>
        <p:txBody>
          <a:bodyPr wrap="square" rtlCol="0">
            <a:spAutoFit/>
          </a:bodyPr>
          <a:lstStyle/>
          <a:p>
            <a:pPr algn="ctr"/>
            <a:r>
              <a:rPr lang="ru-RU" sz="2800" b="1" dirty="0">
                <a:solidFill>
                  <a:srgbClr val="C00000"/>
                </a:solidFill>
                <a:latin typeface="Times New Roman" pitchFamily="18" charset="0"/>
                <a:cs typeface="Times New Roman" pitchFamily="18" charset="0"/>
              </a:rPr>
              <a:t>Критерии оценивания</a:t>
            </a:r>
          </a:p>
        </p:txBody>
      </p:sp>
      <p:sp>
        <p:nvSpPr>
          <p:cNvPr id="34817" name="Rectangle 1"/>
          <p:cNvSpPr>
            <a:spLocks noChangeArrowheads="1"/>
          </p:cNvSpPr>
          <p:nvPr/>
        </p:nvSpPr>
        <p:spPr bwMode="auto">
          <a:xfrm>
            <a:off x="1775520" y="548680"/>
            <a:ext cx="8391876" cy="541686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indent="342900" fontAlgn="base">
              <a:spcBef>
                <a:spcPct val="0"/>
              </a:spcBef>
              <a:spcAft>
                <a:spcPct val="0"/>
              </a:spcAft>
            </a:pPr>
            <a:endParaRPr lang="ru-RU" sz="3200" b="1" dirty="0">
              <a:solidFill>
                <a:srgbClr val="FF0000"/>
              </a:solidFill>
              <a:latin typeface="Times New Roman" pitchFamily="18" charset="0"/>
              <a:ea typeface="Calibri" pitchFamily="34" charset="0"/>
              <a:cs typeface="Times New Roman" pitchFamily="18" charset="0"/>
            </a:endParaRPr>
          </a:p>
          <a:p>
            <a:pPr indent="342900" fontAlgn="base">
              <a:spcBef>
                <a:spcPct val="0"/>
              </a:spcBef>
              <a:spcAft>
                <a:spcPct val="0"/>
              </a:spcAft>
            </a:pPr>
            <a:r>
              <a:rPr lang="ru-RU" sz="3200" b="1" dirty="0">
                <a:solidFill>
                  <a:srgbClr val="FF0000"/>
                </a:solidFill>
                <a:latin typeface="Times New Roman" pitchFamily="18" charset="0"/>
                <a:ea typeface="Calibri" pitchFamily="34" charset="0"/>
                <a:cs typeface="Times New Roman" pitchFamily="18" charset="0"/>
              </a:rPr>
              <a:t>Критерий №4 «Качество речи»</a:t>
            </a:r>
            <a:endParaRPr lang="ru-RU" sz="3200" dirty="0">
              <a:solidFill>
                <a:srgbClr val="FF0000"/>
              </a:solidFill>
              <a:latin typeface="Arial" pitchFamily="34" charset="0"/>
            </a:endParaRPr>
          </a:p>
          <a:p>
            <a:pPr indent="342900" algn="just" eaLnBrk="0" fontAlgn="base" hangingPunct="0">
              <a:spcBef>
                <a:spcPct val="0"/>
              </a:spcBef>
              <a:spcAft>
                <a:spcPct val="0"/>
              </a:spcAft>
            </a:pPr>
            <a:endParaRPr lang="ru-RU" sz="2400" dirty="0">
              <a:solidFill>
                <a:srgbClr val="002060"/>
              </a:solidFill>
              <a:latin typeface="Times New Roman" pitchFamily="18" charset="0"/>
              <a:ea typeface="Calibri" pitchFamily="34" charset="0"/>
              <a:cs typeface="Times New Roman" pitchFamily="18" charset="0"/>
            </a:endParaRPr>
          </a:p>
          <a:p>
            <a:pPr indent="342900" algn="just" eaLnBrk="0" fontAlgn="base" hangingPunct="0">
              <a:spcBef>
                <a:spcPct val="0"/>
              </a:spcBef>
              <a:spcAft>
                <a:spcPct val="0"/>
              </a:spcAft>
            </a:pPr>
            <a:r>
              <a:rPr lang="ru-RU" sz="2400" dirty="0">
                <a:solidFill>
                  <a:srgbClr val="002060"/>
                </a:solidFill>
                <a:latin typeface="Times New Roman" pitchFamily="18" charset="0"/>
                <a:ea typeface="Calibri" pitchFamily="34" charset="0"/>
                <a:cs typeface="Times New Roman" pitchFamily="18" charset="0"/>
              </a:rPr>
              <a:t>Данный критерий нацеливает </a:t>
            </a:r>
            <a:r>
              <a:rPr lang="ru-RU" sz="2400" b="1" dirty="0">
                <a:solidFill>
                  <a:srgbClr val="002060"/>
                </a:solidFill>
                <a:latin typeface="Times New Roman" pitchFamily="18" charset="0"/>
                <a:ea typeface="Calibri" pitchFamily="34" charset="0"/>
                <a:cs typeface="Times New Roman" pitchFamily="18" charset="0"/>
              </a:rPr>
              <a:t>на проверку речевого оформления текста сочинения.</a:t>
            </a:r>
            <a:endParaRPr lang="ru-RU" sz="2400" b="1" dirty="0">
              <a:solidFill>
                <a:srgbClr val="002060"/>
              </a:solidFill>
              <a:latin typeface="Arial" pitchFamily="34" charset="0"/>
            </a:endParaRPr>
          </a:p>
          <a:p>
            <a:pPr indent="342900" algn="just" eaLnBrk="0" fontAlgn="base" hangingPunct="0">
              <a:spcBef>
                <a:spcPct val="0"/>
              </a:spcBef>
              <a:spcAft>
                <a:spcPct val="0"/>
              </a:spcAft>
            </a:pPr>
            <a:r>
              <a:rPr lang="ru-RU" sz="2400" dirty="0">
                <a:solidFill>
                  <a:srgbClr val="002060"/>
                </a:solidFill>
                <a:latin typeface="Times New Roman" pitchFamily="18" charset="0"/>
                <a:ea typeface="Calibri" pitchFamily="34" charset="0"/>
                <a:cs typeface="Times New Roman" pitchFamily="18" charset="0"/>
              </a:rPr>
              <a:t>Выпускник точно выражает мысли, используя разнообразную лексику и различные грамматические конструкции, при необходимости уместно употребляет термины, избегает речевых штампов. </a:t>
            </a:r>
            <a:endParaRPr lang="ru-RU" sz="2400" dirty="0">
              <a:solidFill>
                <a:srgbClr val="002060"/>
              </a:solidFill>
              <a:latin typeface="Arial" pitchFamily="34" charset="0"/>
            </a:endParaRPr>
          </a:p>
          <a:p>
            <a:pPr indent="342900" algn="just" eaLnBrk="0" fontAlgn="base" hangingPunct="0">
              <a:spcBef>
                <a:spcPct val="0"/>
              </a:spcBef>
              <a:spcAft>
                <a:spcPct val="0"/>
              </a:spcAft>
            </a:pPr>
            <a:r>
              <a:rPr lang="ru-RU" sz="2400" b="1" i="1" dirty="0">
                <a:solidFill>
                  <a:srgbClr val="002060"/>
                </a:solidFill>
                <a:latin typeface="Times New Roman" pitchFamily="18" charset="0"/>
                <a:ea typeface="Calibri" pitchFamily="34" charset="0"/>
                <a:cs typeface="Times New Roman" pitchFamily="18" charset="0"/>
              </a:rPr>
              <a:t>«Незачет» ставится при условии, если </a:t>
            </a:r>
            <a:r>
              <a:rPr lang="ru-RU" sz="2400" b="1" i="1" dirty="0">
                <a:solidFill>
                  <a:srgbClr val="FF0000"/>
                </a:solidFill>
                <a:latin typeface="Times New Roman" pitchFamily="18" charset="0"/>
                <a:ea typeface="Calibri" pitchFamily="34" charset="0"/>
                <a:cs typeface="Times New Roman" pitchFamily="18" charset="0"/>
              </a:rPr>
              <a:t>низкое качество речи существенно затрудняет понимание </a:t>
            </a:r>
            <a:r>
              <a:rPr lang="ru-RU" sz="2400" b="1" i="1" dirty="0">
                <a:solidFill>
                  <a:srgbClr val="002060"/>
                </a:solidFill>
                <a:latin typeface="Times New Roman" pitchFamily="18" charset="0"/>
                <a:ea typeface="Calibri" pitchFamily="34" charset="0"/>
                <a:cs typeface="Times New Roman" pitchFamily="18" charset="0"/>
              </a:rPr>
              <a:t>смысла сочинения (во всех остальных случаях выставляется «зачет»).</a:t>
            </a:r>
            <a:endParaRPr lang="ru-RU" sz="2400" b="1" dirty="0">
              <a:solidFill>
                <a:srgbClr val="002060"/>
              </a:solidFill>
              <a:latin typeface="Arial" pitchFamily="34" charset="0"/>
            </a:endParaRPr>
          </a:p>
          <a:p>
            <a:pPr indent="342900" eaLnBrk="0" fontAlgn="base" hangingPunct="0">
              <a:spcBef>
                <a:spcPct val="0"/>
              </a:spcBef>
              <a:spcAft>
                <a:spcPct val="0"/>
              </a:spcAft>
            </a:pPr>
            <a:endParaRPr lang="ru-RU" b="1" dirty="0">
              <a:latin typeface="Arial" pitchFamily="34" charset="0"/>
            </a:endParaRPr>
          </a:p>
        </p:txBody>
      </p:sp>
      <p:pic>
        <p:nvPicPr>
          <p:cNvPr id="4" name="Picture 12" descr="http://4.bp.blogspot.com/-HDF3rx32mX4/UjBTSSCvgHI/AAAAAAAAAxg/ocqhPqlB-NA/s1600/Remove-Add-to-Compare-Link%5B1%5D.png"/>
          <p:cNvPicPr>
            <a:picLocks noChangeAspect="1" noChangeArrowheads="1"/>
          </p:cNvPicPr>
          <p:nvPr/>
        </p:nvPicPr>
        <p:blipFill>
          <a:blip r:embed="rId2" cstate="print"/>
          <a:srcRect/>
          <a:stretch>
            <a:fillRect/>
          </a:stretch>
        </p:blipFill>
        <p:spPr bwMode="auto">
          <a:xfrm>
            <a:off x="8167670" y="0"/>
            <a:ext cx="2104794" cy="2104794"/>
          </a:xfrm>
          <a:prstGeom prst="rect">
            <a:avLst/>
          </a:prstGeom>
          <a:noFill/>
        </p:spPr>
      </p:pic>
    </p:spTree>
    <p:extLst>
      <p:ext uri="{BB962C8B-B14F-4D97-AF65-F5344CB8AC3E}">
        <p14:creationId xmlns:p14="http://schemas.microsoft.com/office/powerpoint/2010/main" val="264668427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1"/>
          <p:cNvSpPr>
            <a:spLocks noChangeArrowheads="1"/>
          </p:cNvSpPr>
          <p:nvPr/>
        </p:nvSpPr>
        <p:spPr bwMode="auto">
          <a:xfrm>
            <a:off x="1775520" y="1539494"/>
            <a:ext cx="8640960" cy="480131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indent="342900" fontAlgn="base">
              <a:spcBef>
                <a:spcPct val="0"/>
              </a:spcBef>
              <a:spcAft>
                <a:spcPct val="0"/>
              </a:spcAft>
            </a:pPr>
            <a:r>
              <a:rPr lang="ru-RU" sz="3200" b="1" dirty="0">
                <a:solidFill>
                  <a:srgbClr val="002060"/>
                </a:solidFill>
                <a:latin typeface="Times New Roman" pitchFamily="18" charset="0"/>
                <a:ea typeface="Calibri" pitchFamily="34" charset="0"/>
                <a:cs typeface="Times New Roman" pitchFamily="18" charset="0"/>
              </a:rPr>
              <a:t>Критерий №5 «Грамотность»</a:t>
            </a:r>
          </a:p>
          <a:p>
            <a:pPr indent="342900" algn="just" eaLnBrk="0" fontAlgn="base" hangingPunct="0">
              <a:spcBef>
                <a:spcPct val="0"/>
              </a:spcBef>
              <a:spcAft>
                <a:spcPct val="0"/>
              </a:spcAft>
            </a:pPr>
            <a:endParaRPr lang="ru-RU" sz="3200" dirty="0">
              <a:solidFill>
                <a:srgbClr val="002060"/>
              </a:solidFill>
              <a:latin typeface="Times New Roman" pitchFamily="18" charset="0"/>
              <a:ea typeface="Calibri" pitchFamily="34" charset="0"/>
              <a:cs typeface="Times New Roman" pitchFamily="18" charset="0"/>
            </a:endParaRPr>
          </a:p>
          <a:p>
            <a:pPr indent="342900" algn="just" eaLnBrk="0" fontAlgn="base" hangingPunct="0">
              <a:spcBef>
                <a:spcPct val="0"/>
              </a:spcBef>
              <a:spcAft>
                <a:spcPct val="0"/>
              </a:spcAft>
            </a:pPr>
            <a:r>
              <a:rPr lang="ru-RU" sz="3200" dirty="0">
                <a:solidFill>
                  <a:srgbClr val="002060"/>
                </a:solidFill>
                <a:latin typeface="Times New Roman" pitchFamily="18" charset="0"/>
                <a:ea typeface="Calibri" pitchFamily="34" charset="0"/>
                <a:cs typeface="Times New Roman" pitchFamily="18" charset="0"/>
              </a:rPr>
              <a:t>Данный критерий позволяет </a:t>
            </a:r>
            <a:r>
              <a:rPr lang="ru-RU" sz="3200" b="1" dirty="0">
                <a:solidFill>
                  <a:srgbClr val="002060"/>
                </a:solidFill>
                <a:latin typeface="Times New Roman" pitchFamily="18" charset="0"/>
                <a:ea typeface="Calibri" pitchFamily="34" charset="0"/>
                <a:cs typeface="Times New Roman" pitchFamily="18" charset="0"/>
              </a:rPr>
              <a:t>оценить грамотность выпускника.</a:t>
            </a:r>
            <a:endParaRPr lang="ru-RU" sz="3200" b="1" dirty="0">
              <a:solidFill>
                <a:srgbClr val="002060"/>
              </a:solidFill>
              <a:latin typeface="Arial" pitchFamily="34" charset="0"/>
            </a:endParaRPr>
          </a:p>
          <a:p>
            <a:pPr indent="342900" algn="just" eaLnBrk="0" fontAlgn="base" hangingPunct="0">
              <a:spcBef>
                <a:spcPct val="0"/>
              </a:spcBef>
              <a:spcAft>
                <a:spcPct val="0"/>
              </a:spcAft>
            </a:pPr>
            <a:r>
              <a:rPr lang="ru-RU" sz="3200" b="1" i="1" dirty="0">
                <a:solidFill>
                  <a:srgbClr val="002060"/>
                </a:solidFill>
                <a:latin typeface="Times New Roman" pitchFamily="18" charset="0"/>
                <a:ea typeface="Calibri" pitchFamily="34" charset="0"/>
                <a:cs typeface="Times New Roman" pitchFamily="18" charset="0"/>
              </a:rPr>
              <a:t>«Незачет» ставится, если речевые, грамматические, а также орфографические и пунктуационные ошибки, допущенные в сочинении, затрудняют чтение и понимание текста (</a:t>
            </a:r>
            <a:r>
              <a:rPr lang="ru-RU" sz="3200" b="1" i="1" dirty="0">
                <a:solidFill>
                  <a:srgbClr val="FF00FF"/>
                </a:solidFill>
                <a:latin typeface="Times New Roman" pitchFamily="18" charset="0"/>
                <a:ea typeface="Calibri" pitchFamily="34" charset="0"/>
                <a:cs typeface="Times New Roman" pitchFamily="18" charset="0"/>
              </a:rPr>
              <a:t>в сумме более 5 ошибок на 100 слов</a:t>
            </a:r>
            <a:r>
              <a:rPr lang="ru-RU" sz="3200" b="1" i="1" dirty="0">
                <a:solidFill>
                  <a:srgbClr val="002060"/>
                </a:solidFill>
                <a:latin typeface="Times New Roman" pitchFamily="18" charset="0"/>
                <a:ea typeface="Calibri" pitchFamily="34" charset="0"/>
                <a:cs typeface="Times New Roman" pitchFamily="18" charset="0"/>
              </a:rPr>
              <a:t>).</a:t>
            </a:r>
            <a:endParaRPr lang="ru-RU" sz="3200" b="1" dirty="0">
              <a:solidFill>
                <a:srgbClr val="002060"/>
              </a:solidFill>
              <a:latin typeface="Arial" pitchFamily="34" charset="0"/>
            </a:endParaRPr>
          </a:p>
          <a:p>
            <a:pPr indent="342900" algn="just" eaLnBrk="0" fontAlgn="base" hangingPunct="0">
              <a:spcBef>
                <a:spcPct val="0"/>
              </a:spcBef>
              <a:spcAft>
                <a:spcPct val="0"/>
              </a:spcAft>
            </a:pPr>
            <a:endParaRPr lang="ru-RU" dirty="0">
              <a:latin typeface="Arial" pitchFamily="34" charset="0"/>
            </a:endParaRPr>
          </a:p>
        </p:txBody>
      </p:sp>
      <p:sp>
        <p:nvSpPr>
          <p:cNvPr id="3" name="TextBox 2"/>
          <p:cNvSpPr txBox="1"/>
          <p:nvPr/>
        </p:nvSpPr>
        <p:spPr>
          <a:xfrm>
            <a:off x="2452662" y="262574"/>
            <a:ext cx="7572428" cy="523220"/>
          </a:xfrm>
          <a:prstGeom prst="rect">
            <a:avLst/>
          </a:prstGeom>
          <a:noFill/>
        </p:spPr>
        <p:txBody>
          <a:bodyPr wrap="square" rtlCol="0">
            <a:spAutoFit/>
          </a:bodyPr>
          <a:lstStyle/>
          <a:p>
            <a:pPr algn="ctr"/>
            <a:r>
              <a:rPr lang="ru-RU" sz="2800" b="1" dirty="0">
                <a:solidFill>
                  <a:srgbClr val="C00000"/>
                </a:solidFill>
                <a:latin typeface="Times New Roman" pitchFamily="18" charset="0"/>
                <a:cs typeface="Times New Roman" pitchFamily="18" charset="0"/>
              </a:rPr>
              <a:t>Критерии оценивания</a:t>
            </a:r>
          </a:p>
        </p:txBody>
      </p:sp>
      <p:pic>
        <p:nvPicPr>
          <p:cNvPr id="4" name="Picture 12" descr="http://4.bp.blogspot.com/-HDF3rx32mX4/UjBTSSCvgHI/AAAAAAAAAxg/ocqhPqlB-NA/s1600/Remove-Add-to-Compare-Link%5B1%5D.png"/>
          <p:cNvPicPr>
            <a:picLocks noChangeAspect="1" noChangeArrowheads="1"/>
          </p:cNvPicPr>
          <p:nvPr/>
        </p:nvPicPr>
        <p:blipFill>
          <a:blip r:embed="rId2" cstate="print"/>
          <a:srcRect/>
          <a:stretch>
            <a:fillRect/>
          </a:stretch>
        </p:blipFill>
        <p:spPr bwMode="auto">
          <a:xfrm>
            <a:off x="7896200" y="260648"/>
            <a:ext cx="2500330" cy="2500330"/>
          </a:xfrm>
          <a:prstGeom prst="rect">
            <a:avLst/>
          </a:prstGeom>
          <a:noFill/>
        </p:spPr>
      </p:pic>
    </p:spTree>
    <p:extLst>
      <p:ext uri="{BB962C8B-B14F-4D97-AF65-F5344CB8AC3E}">
        <p14:creationId xmlns:p14="http://schemas.microsoft.com/office/powerpoint/2010/main" val="240995292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38348" y="214290"/>
            <a:ext cx="7572428" cy="523220"/>
          </a:xfrm>
          <a:prstGeom prst="rect">
            <a:avLst/>
          </a:prstGeom>
          <a:noFill/>
        </p:spPr>
        <p:txBody>
          <a:bodyPr wrap="square" rtlCol="0">
            <a:spAutoFit/>
          </a:bodyPr>
          <a:lstStyle/>
          <a:p>
            <a:pPr algn="ctr"/>
            <a:r>
              <a:rPr lang="ru-RU" sz="2800" b="1" dirty="0">
                <a:solidFill>
                  <a:srgbClr val="C00000"/>
                </a:solidFill>
                <a:latin typeface="Times New Roman" pitchFamily="18" charset="0"/>
                <a:cs typeface="Times New Roman" pitchFamily="18" charset="0"/>
              </a:rPr>
              <a:t>Сохранность работ</a:t>
            </a:r>
          </a:p>
        </p:txBody>
      </p:sp>
      <p:sp>
        <p:nvSpPr>
          <p:cNvPr id="4" name="Прямоугольник 3"/>
          <p:cNvSpPr/>
          <p:nvPr/>
        </p:nvSpPr>
        <p:spPr>
          <a:xfrm>
            <a:off x="1775520" y="1071546"/>
            <a:ext cx="8640960" cy="3539430"/>
          </a:xfrm>
          <a:prstGeom prst="rect">
            <a:avLst/>
          </a:prstGeom>
        </p:spPr>
        <p:txBody>
          <a:bodyPr wrap="square">
            <a:spAutoFit/>
          </a:bodyPr>
          <a:lstStyle/>
          <a:p>
            <a:pPr algn="just"/>
            <a:r>
              <a:rPr lang="ru-RU" sz="2800" b="1" dirty="0">
                <a:solidFill>
                  <a:srgbClr val="002060"/>
                </a:solidFill>
                <a:latin typeface="Times New Roman" pitchFamily="18" charset="0"/>
                <a:cs typeface="Times New Roman" pitchFamily="18" charset="0"/>
              </a:rPr>
              <a:t>Работы сразу же будут </a:t>
            </a:r>
            <a:r>
              <a:rPr lang="ru-RU" sz="2800" b="1" dirty="0">
                <a:solidFill>
                  <a:srgbClr val="FF0000"/>
                </a:solidFill>
                <a:latin typeface="Times New Roman" pitchFamily="18" charset="0"/>
                <a:cs typeface="Times New Roman" pitchFamily="18" charset="0"/>
              </a:rPr>
              <a:t>сканироваться и размещаться </a:t>
            </a:r>
            <a:r>
              <a:rPr lang="ru-RU" sz="2800" b="1" dirty="0">
                <a:solidFill>
                  <a:srgbClr val="002060"/>
                </a:solidFill>
                <a:latin typeface="Times New Roman" pitchFamily="18" charset="0"/>
                <a:cs typeface="Times New Roman" pitchFamily="18" charset="0"/>
              </a:rPr>
              <a:t>в региональных и федеральной информационных системах обеспечения проведения ЕГЭ, </a:t>
            </a:r>
            <a:r>
              <a:rPr lang="ru-RU" sz="2800" b="1" dirty="0">
                <a:solidFill>
                  <a:srgbClr val="FF0000"/>
                </a:solidFill>
                <a:latin typeface="Times New Roman" pitchFamily="18" charset="0"/>
                <a:cs typeface="Times New Roman" pitchFamily="18" charset="0"/>
              </a:rPr>
              <a:t>доступ к которым будут иметь все вузы страны. </a:t>
            </a:r>
          </a:p>
          <a:p>
            <a:pPr algn="just"/>
            <a:r>
              <a:rPr lang="ru-RU" sz="2800" b="1" dirty="0">
                <a:solidFill>
                  <a:srgbClr val="002060"/>
                </a:solidFill>
                <a:latin typeface="Times New Roman" pitchFamily="18" charset="0"/>
                <a:cs typeface="Times New Roman" pitchFamily="18" charset="0"/>
              </a:rPr>
              <a:t>В то же время вузы при объявлении условий приема должны будут указать, станут ли они учитывать выпускные сочинения. </a:t>
            </a:r>
          </a:p>
        </p:txBody>
      </p:sp>
      <p:pic>
        <p:nvPicPr>
          <p:cNvPr id="6146" name="Picture 2" descr="http://shans-online.com/images/news/2012/12/50ceca026be69.jpg"/>
          <p:cNvPicPr>
            <a:picLocks noChangeAspect="1" noChangeArrowheads="1"/>
          </p:cNvPicPr>
          <p:nvPr/>
        </p:nvPicPr>
        <p:blipFill>
          <a:blip r:embed="rId2" cstate="print"/>
          <a:srcRect b="14122"/>
          <a:stretch>
            <a:fillRect/>
          </a:stretch>
        </p:blipFill>
        <p:spPr bwMode="auto">
          <a:xfrm>
            <a:off x="6833238" y="4429132"/>
            <a:ext cx="3188970" cy="2214578"/>
          </a:xfrm>
          <a:prstGeom prst="rect">
            <a:avLst/>
          </a:prstGeom>
          <a:noFill/>
        </p:spPr>
      </p:pic>
    </p:spTree>
    <p:extLst>
      <p:ext uri="{BB962C8B-B14F-4D97-AF65-F5344CB8AC3E}">
        <p14:creationId xmlns:p14="http://schemas.microsoft.com/office/powerpoint/2010/main" val="282999606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847528" y="3501008"/>
            <a:ext cx="8568952" cy="2677656"/>
          </a:xfrm>
          <a:prstGeom prst="rect">
            <a:avLst/>
          </a:prstGeom>
        </p:spPr>
        <p:txBody>
          <a:bodyPr wrap="square">
            <a:spAutoFit/>
          </a:bodyPr>
          <a:lstStyle/>
          <a:p>
            <a:pPr algn="just"/>
            <a:r>
              <a:rPr lang="ru-RU" sz="2400" dirty="0">
                <a:solidFill>
                  <a:srgbClr val="002060"/>
                </a:solidFill>
                <a:latin typeface="Times New Roman" pitchFamily="18" charset="0"/>
                <a:cs typeface="Times New Roman" pitchFamily="18" charset="0"/>
              </a:rPr>
              <a:t>При поступлении в вузы, сочинение (изложение) рассматривается в ряду индивидуальных достижений и  может принести </a:t>
            </a:r>
            <a:r>
              <a:rPr lang="ru-RU" sz="2400" b="1" dirty="0">
                <a:solidFill>
                  <a:srgbClr val="002060"/>
                </a:solidFill>
                <a:latin typeface="Times New Roman" pitchFamily="18" charset="0"/>
                <a:cs typeface="Times New Roman" pitchFamily="18" charset="0"/>
              </a:rPr>
              <a:t>абитуриенту до </a:t>
            </a:r>
            <a:r>
              <a:rPr lang="ru-RU" sz="2400" b="1" dirty="0">
                <a:solidFill>
                  <a:srgbClr val="FF0000"/>
                </a:solidFill>
                <a:latin typeface="Times New Roman" pitchFamily="18" charset="0"/>
                <a:cs typeface="Times New Roman" pitchFamily="18" charset="0"/>
              </a:rPr>
              <a:t>10 дополнительных баллов к ЕГЭ </a:t>
            </a:r>
            <a:r>
              <a:rPr lang="ru-RU" sz="2400" b="1" dirty="0">
                <a:solidFill>
                  <a:srgbClr val="002060"/>
                </a:solidFill>
                <a:latin typeface="Times New Roman" pitchFamily="18" charset="0"/>
                <a:cs typeface="Times New Roman" pitchFamily="18" charset="0"/>
              </a:rPr>
              <a:t>(в случае представления поступающим указанного сочинения).</a:t>
            </a:r>
            <a:r>
              <a:rPr lang="ru-RU" sz="2400" dirty="0">
                <a:solidFill>
                  <a:srgbClr val="002060"/>
                </a:solidFill>
                <a:latin typeface="Times New Roman" pitchFamily="18" charset="0"/>
                <a:cs typeface="Times New Roman" pitchFamily="18" charset="0"/>
              </a:rPr>
              <a:t> </a:t>
            </a:r>
          </a:p>
          <a:p>
            <a:pPr algn="just"/>
            <a:r>
              <a:rPr lang="ru-RU" sz="2400" dirty="0">
                <a:solidFill>
                  <a:srgbClr val="002060"/>
                </a:solidFill>
                <a:latin typeface="Times New Roman" pitchFamily="18" charset="0"/>
                <a:cs typeface="Times New Roman" pitchFamily="18" charset="0"/>
              </a:rPr>
              <a:t>Оценка за сочинение на данном этапе выставляется вузом по утвержденным им критериям.</a:t>
            </a:r>
          </a:p>
        </p:txBody>
      </p:sp>
      <p:sp>
        <p:nvSpPr>
          <p:cNvPr id="4" name="TextBox 3"/>
          <p:cNvSpPr txBox="1"/>
          <p:nvPr/>
        </p:nvSpPr>
        <p:spPr>
          <a:xfrm>
            <a:off x="1524000" y="142853"/>
            <a:ext cx="9144000" cy="954107"/>
          </a:xfrm>
          <a:prstGeom prst="rect">
            <a:avLst/>
          </a:prstGeom>
          <a:noFill/>
        </p:spPr>
        <p:txBody>
          <a:bodyPr wrap="square" rtlCol="0">
            <a:spAutoFit/>
          </a:bodyPr>
          <a:lstStyle/>
          <a:p>
            <a:pPr algn="ctr"/>
            <a:r>
              <a:rPr lang="ru-RU" sz="2800" b="1" dirty="0">
                <a:solidFill>
                  <a:srgbClr val="C00000"/>
                </a:solidFill>
                <a:latin typeface="Times New Roman" pitchFamily="18" charset="0"/>
                <a:cs typeface="Times New Roman" pitchFamily="18" charset="0"/>
              </a:rPr>
              <a:t>Учет результатов сочинения по литературе</a:t>
            </a:r>
          </a:p>
          <a:p>
            <a:pPr algn="ctr"/>
            <a:r>
              <a:rPr lang="ru-RU" sz="2800" b="1" dirty="0">
                <a:solidFill>
                  <a:srgbClr val="C00000"/>
                </a:solidFill>
                <a:latin typeface="Times New Roman" pitchFamily="18" charset="0"/>
                <a:cs typeface="Times New Roman" pitchFamily="18" charset="0"/>
              </a:rPr>
              <a:t> при поступлении в вузы</a:t>
            </a:r>
          </a:p>
        </p:txBody>
      </p:sp>
      <p:pic>
        <p:nvPicPr>
          <p:cNvPr id="10242" name="Picture 2" descr="http://studikam.ru/wp-content/uploads/2014/05/ea36be7c766928fdd18fa237d3ff7d6eb5e62331.jpg"/>
          <p:cNvPicPr>
            <a:picLocks noChangeAspect="1" noChangeArrowheads="1"/>
          </p:cNvPicPr>
          <p:nvPr/>
        </p:nvPicPr>
        <p:blipFill>
          <a:blip r:embed="rId2" cstate="print"/>
          <a:srcRect/>
          <a:stretch>
            <a:fillRect/>
          </a:stretch>
        </p:blipFill>
        <p:spPr bwMode="auto">
          <a:xfrm>
            <a:off x="6840084" y="1196752"/>
            <a:ext cx="2960580" cy="2220436"/>
          </a:xfrm>
          <a:prstGeom prst="rect">
            <a:avLst/>
          </a:prstGeom>
          <a:noFill/>
        </p:spPr>
      </p:pic>
    </p:spTree>
    <p:extLst>
      <p:ext uri="{BB962C8B-B14F-4D97-AF65-F5344CB8AC3E}">
        <p14:creationId xmlns:p14="http://schemas.microsoft.com/office/powerpoint/2010/main" val="2145244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smtClean="0"/>
              <a:t> </a:t>
            </a:r>
            <a:r>
              <a:rPr lang="ru-RU" b="1" dirty="0" smtClean="0">
                <a:solidFill>
                  <a:schemeClr val="accent4">
                    <a:lumMod val="75000"/>
                  </a:schemeClr>
                </a:solidFill>
              </a:rPr>
              <a:t>направления </a:t>
            </a:r>
            <a:r>
              <a:rPr lang="ru-RU" b="1" dirty="0">
                <a:solidFill>
                  <a:schemeClr val="accent4">
                    <a:lumMod val="75000"/>
                  </a:schemeClr>
                </a:solidFill>
              </a:rPr>
              <a:t>тем итогового сочинения на 2017/18 учебный год:</a:t>
            </a:r>
          </a:p>
        </p:txBody>
      </p:sp>
      <p:sp>
        <p:nvSpPr>
          <p:cNvPr id="3" name="Объект 2"/>
          <p:cNvSpPr>
            <a:spLocks noGrp="1"/>
          </p:cNvSpPr>
          <p:nvPr>
            <p:ph idx="1"/>
          </p:nvPr>
        </p:nvSpPr>
        <p:spPr/>
        <p:txBody>
          <a:bodyPr>
            <a:normAutofit fontScale="85000" lnSpcReduction="20000"/>
          </a:bodyPr>
          <a:lstStyle/>
          <a:p>
            <a:pPr algn="ctr">
              <a:buFont typeface="Arial" panose="020B0604020202020204" pitchFamily="34" charset="0"/>
              <a:buChar char="•"/>
            </a:pPr>
            <a:r>
              <a:rPr lang="ru-RU" sz="4400" b="1" dirty="0"/>
              <a:t>«Верность и измена»,</a:t>
            </a:r>
            <a:endParaRPr lang="ru-RU" sz="4400" dirty="0"/>
          </a:p>
          <a:p>
            <a:pPr algn="ctr">
              <a:buFont typeface="Arial" panose="020B0604020202020204" pitchFamily="34" charset="0"/>
              <a:buChar char="•"/>
            </a:pPr>
            <a:r>
              <a:rPr lang="ru-RU" sz="4400" b="1" dirty="0"/>
              <a:t>«Равнодушие и отзывчивость»,</a:t>
            </a:r>
            <a:endParaRPr lang="ru-RU" sz="4400" dirty="0"/>
          </a:p>
          <a:p>
            <a:pPr algn="ctr">
              <a:buFont typeface="Arial" panose="020B0604020202020204" pitchFamily="34" charset="0"/>
              <a:buChar char="•"/>
            </a:pPr>
            <a:r>
              <a:rPr lang="ru-RU" sz="4400" b="1" dirty="0"/>
              <a:t>«Цели и средства»,</a:t>
            </a:r>
            <a:endParaRPr lang="ru-RU" sz="4400" dirty="0"/>
          </a:p>
          <a:p>
            <a:pPr algn="ctr">
              <a:buFont typeface="Arial" panose="020B0604020202020204" pitchFamily="34" charset="0"/>
              <a:buChar char="•"/>
            </a:pPr>
            <a:r>
              <a:rPr lang="ru-RU" sz="4400" b="1" dirty="0"/>
              <a:t>«Смелость и трусость»,</a:t>
            </a:r>
            <a:endParaRPr lang="ru-RU" sz="4400" dirty="0"/>
          </a:p>
          <a:p>
            <a:pPr algn="ctr">
              <a:buFont typeface="Arial" panose="020B0604020202020204" pitchFamily="34" charset="0"/>
              <a:buChar char="•"/>
            </a:pPr>
            <a:r>
              <a:rPr lang="ru-RU" sz="4400" b="1" dirty="0"/>
              <a:t>«Человек и общество».</a:t>
            </a:r>
            <a:endParaRPr lang="ru-RU" sz="4400" dirty="0"/>
          </a:p>
          <a:p>
            <a:endParaRPr lang="ru-RU" dirty="0"/>
          </a:p>
        </p:txBody>
      </p:sp>
    </p:spTree>
    <p:extLst>
      <p:ext uri="{BB962C8B-B14F-4D97-AF65-F5344CB8AC3E}">
        <p14:creationId xmlns:p14="http://schemas.microsoft.com/office/powerpoint/2010/main" val="42550821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571421"/>
            <a:ext cx="9601196" cy="1303867"/>
          </a:xfrm>
        </p:spPr>
        <p:txBody>
          <a:bodyPr/>
          <a:lstStyle/>
          <a:p>
            <a:r>
              <a:rPr lang="ru-RU" b="1" dirty="0">
                <a:solidFill>
                  <a:schemeClr val="accent4">
                    <a:lumMod val="75000"/>
                  </a:schemeClr>
                </a:solidFill>
              </a:rPr>
              <a:t>«Верность и измена</a:t>
            </a:r>
            <a:r>
              <a:rPr lang="ru-RU" b="1" dirty="0" smtClean="0">
                <a:solidFill>
                  <a:schemeClr val="accent4">
                    <a:lumMod val="75000"/>
                  </a:schemeClr>
                </a:solidFill>
              </a:rPr>
              <a:t>»</a:t>
            </a:r>
            <a:r>
              <a:rPr lang="ru-RU" b="1" dirty="0" smtClean="0"/>
              <a:t> </a:t>
            </a:r>
            <a:endParaRPr lang="ru-RU" dirty="0"/>
          </a:p>
        </p:txBody>
      </p:sp>
      <p:sp>
        <p:nvSpPr>
          <p:cNvPr id="3" name="Объект 2"/>
          <p:cNvSpPr>
            <a:spLocks noGrp="1"/>
          </p:cNvSpPr>
          <p:nvPr>
            <p:ph idx="1"/>
          </p:nvPr>
        </p:nvSpPr>
        <p:spPr>
          <a:xfrm>
            <a:off x="676101" y="1709033"/>
            <a:ext cx="11028219" cy="3318936"/>
          </a:xfrm>
        </p:spPr>
        <p:txBody>
          <a:bodyPr>
            <a:noAutofit/>
          </a:bodyPr>
          <a:lstStyle/>
          <a:p>
            <a:r>
              <a:rPr lang="ru-RU" sz="3200" dirty="0"/>
              <a:t>В рамках направления можно рассуждать о верности и измене как противоположных проявлениях человеческой личности, рассматривая их с философской, этической, психологической точек зрения и обращаясь к жизненным и литературным примерам.</a:t>
            </a:r>
            <a:br>
              <a:rPr lang="ru-RU" sz="3200" dirty="0"/>
            </a:br>
            <a:r>
              <a:rPr lang="ru-RU" sz="3200" dirty="0"/>
              <a:t>Понятия «верность» и «измена» оказываются в центре сюжетов многих произведений разных эпох и характеризуют поступки героев в ситуации нравственного выбора как в личностных взаимоотношениях, так и в социальном контексте.</a:t>
            </a:r>
          </a:p>
        </p:txBody>
      </p:sp>
    </p:spTree>
    <p:extLst>
      <p:ext uri="{BB962C8B-B14F-4D97-AF65-F5344CB8AC3E}">
        <p14:creationId xmlns:p14="http://schemas.microsoft.com/office/powerpoint/2010/main" val="7666473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smtClean="0">
                <a:solidFill>
                  <a:schemeClr val="accent4">
                    <a:lumMod val="75000"/>
                  </a:schemeClr>
                </a:solidFill>
              </a:rPr>
              <a:t>Примеры произведений по данному направлению</a:t>
            </a:r>
            <a:endParaRPr lang="ru-RU" b="1" dirty="0">
              <a:solidFill>
                <a:schemeClr val="accent4">
                  <a:lumMod val="75000"/>
                </a:schemeClr>
              </a:solidFill>
            </a:endParaRPr>
          </a:p>
        </p:txBody>
      </p:sp>
      <p:sp>
        <p:nvSpPr>
          <p:cNvPr id="3" name="Объект 2"/>
          <p:cNvSpPr>
            <a:spLocks noGrp="1"/>
          </p:cNvSpPr>
          <p:nvPr>
            <p:ph idx="1"/>
          </p:nvPr>
        </p:nvSpPr>
        <p:spPr/>
        <p:txBody>
          <a:bodyPr>
            <a:normAutofit fontScale="85000" lnSpcReduction="20000"/>
          </a:bodyPr>
          <a:lstStyle/>
          <a:p>
            <a:r>
              <a:rPr lang="ru-RU" dirty="0" smtClean="0"/>
              <a:t>1. </a:t>
            </a:r>
            <a:r>
              <a:rPr lang="ru-RU" sz="2800" dirty="0" smtClean="0"/>
              <a:t>А.С. Пушкин «Капитанская дочка»</a:t>
            </a:r>
          </a:p>
          <a:p>
            <a:r>
              <a:rPr lang="ru-RU" sz="2800" dirty="0" smtClean="0"/>
              <a:t>2. Н.В. Гоголь «Тарас Бульба»</a:t>
            </a:r>
          </a:p>
          <a:p>
            <a:r>
              <a:rPr lang="ru-RU" sz="2800" dirty="0" smtClean="0"/>
              <a:t>3. М.Ю. Лермонтов «Герой нашего времени»</a:t>
            </a:r>
          </a:p>
          <a:p>
            <a:r>
              <a:rPr lang="ru-RU" sz="2800" dirty="0" smtClean="0"/>
              <a:t>4. И. </a:t>
            </a:r>
            <a:r>
              <a:rPr lang="ru-RU" sz="2800" dirty="0"/>
              <a:t>Б</a:t>
            </a:r>
            <a:r>
              <a:rPr lang="ru-RU" sz="2800" dirty="0" smtClean="0"/>
              <a:t>унин «Темные аллеи»</a:t>
            </a:r>
          </a:p>
          <a:p>
            <a:r>
              <a:rPr lang="ru-RU" sz="2800" dirty="0" smtClean="0"/>
              <a:t>5. Г. </a:t>
            </a:r>
            <a:r>
              <a:rPr lang="ru-RU" sz="2800" dirty="0" err="1" smtClean="0"/>
              <a:t>Троепольский</a:t>
            </a:r>
            <a:r>
              <a:rPr lang="ru-RU" sz="2800" dirty="0" smtClean="0"/>
              <a:t> «Белый Бим Черное ухо»</a:t>
            </a:r>
          </a:p>
          <a:p>
            <a:r>
              <a:rPr lang="ru-RU" sz="2800" dirty="0" smtClean="0"/>
              <a:t>«Война </a:t>
            </a:r>
            <a:r>
              <a:rPr lang="ru-RU" sz="2800" dirty="0"/>
              <a:t>и мир» Л.Н. Толстой, «Тихий Дон» Шолохов, «Дама с собачкой», «О любви» А.П. Чехов, «Возвращение» А. Платонов, «Карьер В. Быков) </a:t>
            </a:r>
          </a:p>
          <a:p>
            <a:endParaRPr lang="ru-RU" sz="2800" dirty="0"/>
          </a:p>
        </p:txBody>
      </p:sp>
    </p:spTree>
    <p:extLst>
      <p:ext uri="{BB962C8B-B14F-4D97-AF65-F5344CB8AC3E}">
        <p14:creationId xmlns:p14="http://schemas.microsoft.com/office/powerpoint/2010/main" val="29687334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solidFill>
                  <a:schemeClr val="accent4">
                    <a:lumMod val="75000"/>
                  </a:schemeClr>
                </a:solidFill>
              </a:rPr>
              <a:t>Примеры произведений по данному направлению</a:t>
            </a:r>
            <a:endParaRPr lang="ru-RU" dirty="0"/>
          </a:p>
        </p:txBody>
      </p:sp>
      <p:sp>
        <p:nvSpPr>
          <p:cNvPr id="3" name="Объект 2"/>
          <p:cNvSpPr>
            <a:spLocks noGrp="1"/>
          </p:cNvSpPr>
          <p:nvPr>
            <p:ph idx="1"/>
          </p:nvPr>
        </p:nvSpPr>
        <p:spPr/>
        <p:txBody>
          <a:bodyPr/>
          <a:lstStyle/>
          <a:p>
            <a:pPr fontAlgn="base"/>
            <a:r>
              <a:rPr lang="ru-RU" dirty="0"/>
              <a:t>А.П. </a:t>
            </a:r>
            <a:r>
              <a:rPr lang="ru-RU" dirty="0">
                <a:solidFill>
                  <a:schemeClr val="tx1"/>
                </a:solidFill>
              </a:rPr>
              <a:t>Чехов </a:t>
            </a:r>
            <a:r>
              <a:rPr lang="ru-RU" u="sng" dirty="0">
                <a:solidFill>
                  <a:schemeClr val="tx1"/>
                </a:solidFill>
                <a:hlinkClick r:id="rId2"/>
              </a:rPr>
              <a:t>«Попрыгунья</a:t>
            </a:r>
            <a:r>
              <a:rPr lang="ru-RU" u="sng" dirty="0" smtClean="0">
                <a:solidFill>
                  <a:schemeClr val="tx1"/>
                </a:solidFill>
                <a:hlinkClick r:id="rId2"/>
              </a:rPr>
              <a:t>»</a:t>
            </a:r>
            <a:r>
              <a:rPr lang="ru-RU" dirty="0" smtClean="0">
                <a:solidFill>
                  <a:schemeClr val="tx1"/>
                </a:solidFill>
              </a:rPr>
              <a:t>, </a:t>
            </a:r>
            <a:r>
              <a:rPr lang="ru-RU" u="sng" dirty="0" smtClean="0">
                <a:solidFill>
                  <a:schemeClr val="tx1"/>
                </a:solidFill>
                <a:hlinkClick r:id="rId3"/>
              </a:rPr>
              <a:t>«</a:t>
            </a:r>
            <a:r>
              <a:rPr lang="ru-RU" u="sng" dirty="0">
                <a:solidFill>
                  <a:schemeClr val="tx1"/>
                </a:solidFill>
                <a:hlinkClick r:id="rId3"/>
              </a:rPr>
              <a:t>Дама с собачкой»;</a:t>
            </a:r>
            <a:endParaRPr lang="ru-RU" dirty="0">
              <a:solidFill>
                <a:schemeClr val="tx1"/>
              </a:solidFill>
            </a:endParaRPr>
          </a:p>
          <a:p>
            <a:pPr fontAlgn="base"/>
            <a:r>
              <a:rPr lang="ru-RU" dirty="0">
                <a:solidFill>
                  <a:schemeClr val="tx1"/>
                </a:solidFill>
              </a:rPr>
              <a:t>И.А. Бунин </a:t>
            </a:r>
            <a:r>
              <a:rPr lang="ru-RU" u="sng" dirty="0">
                <a:solidFill>
                  <a:schemeClr val="tx1"/>
                </a:solidFill>
                <a:hlinkClick r:id="rId4"/>
              </a:rPr>
              <a:t>«Тёмные аллеи»;</a:t>
            </a:r>
            <a:endParaRPr lang="ru-RU" dirty="0">
              <a:solidFill>
                <a:schemeClr val="tx1"/>
              </a:solidFill>
            </a:endParaRPr>
          </a:p>
          <a:p>
            <a:pPr fontAlgn="base"/>
            <a:r>
              <a:rPr lang="ru-RU" dirty="0">
                <a:solidFill>
                  <a:schemeClr val="tx1"/>
                </a:solidFill>
              </a:rPr>
              <a:t>М.А. Шолохов </a:t>
            </a:r>
            <a:r>
              <a:rPr lang="ru-RU" u="sng" dirty="0">
                <a:solidFill>
                  <a:schemeClr val="tx1"/>
                </a:solidFill>
                <a:hlinkClick r:id="rId5"/>
              </a:rPr>
              <a:t>«Судьба человека»;</a:t>
            </a:r>
            <a:endParaRPr lang="ru-RU" dirty="0">
              <a:solidFill>
                <a:schemeClr val="tx1"/>
              </a:solidFill>
            </a:endParaRPr>
          </a:p>
          <a:p>
            <a:pPr fontAlgn="base"/>
            <a:r>
              <a:rPr lang="ru-RU" dirty="0">
                <a:solidFill>
                  <a:schemeClr val="tx1"/>
                </a:solidFill>
              </a:rPr>
              <a:t>А.П. Платонов </a:t>
            </a:r>
            <a:r>
              <a:rPr lang="ru-RU" u="sng" dirty="0">
                <a:solidFill>
                  <a:schemeClr val="tx1"/>
                </a:solidFill>
                <a:hlinkClick r:id="rId6"/>
              </a:rPr>
              <a:t>«Возвращение»;</a:t>
            </a:r>
            <a:endParaRPr lang="ru-RU" dirty="0">
              <a:solidFill>
                <a:schemeClr val="tx1"/>
              </a:solidFill>
            </a:endParaRPr>
          </a:p>
          <a:p>
            <a:pPr fontAlgn="base"/>
            <a:r>
              <a:rPr lang="ru-RU" dirty="0">
                <a:solidFill>
                  <a:schemeClr val="tx1"/>
                </a:solidFill>
              </a:rPr>
              <a:t>А.С</a:t>
            </a:r>
            <a:r>
              <a:rPr lang="ru-RU" dirty="0" smtClean="0">
                <a:solidFill>
                  <a:schemeClr val="tx1"/>
                </a:solidFill>
              </a:rPr>
              <a:t>. Пушкин</a:t>
            </a:r>
            <a:r>
              <a:rPr lang="ru-RU" dirty="0">
                <a:solidFill>
                  <a:schemeClr val="tx1"/>
                </a:solidFill>
              </a:rPr>
              <a:t> </a:t>
            </a:r>
            <a:r>
              <a:rPr lang="ru-RU" u="sng" dirty="0">
                <a:solidFill>
                  <a:schemeClr val="tx1"/>
                </a:solidFill>
                <a:hlinkClick r:id="rId7"/>
              </a:rPr>
              <a:t>«Евгений Онегин</a:t>
            </a:r>
            <a:r>
              <a:rPr lang="ru-RU" u="sng" dirty="0">
                <a:solidFill>
                  <a:schemeClr val="tx1"/>
                </a:solidFill>
                <a:hlinkClick r:id="rId4"/>
              </a:rPr>
              <a:t>»;</a:t>
            </a:r>
            <a:endParaRPr lang="ru-RU" dirty="0">
              <a:solidFill>
                <a:schemeClr val="tx1"/>
              </a:solidFill>
            </a:endParaRPr>
          </a:p>
          <a:p>
            <a:pPr fontAlgn="base"/>
            <a:r>
              <a:rPr lang="ru-RU" dirty="0">
                <a:solidFill>
                  <a:schemeClr val="tx1"/>
                </a:solidFill>
              </a:rPr>
              <a:t>А.Н. Островский </a:t>
            </a:r>
            <a:r>
              <a:rPr lang="ru-RU" u="sng" dirty="0">
                <a:solidFill>
                  <a:schemeClr val="tx1"/>
                </a:solidFill>
                <a:hlinkClick r:id="rId8"/>
              </a:rPr>
              <a:t>«Гроза</a:t>
            </a:r>
            <a:r>
              <a:rPr lang="ru-RU" u="sng" dirty="0" smtClean="0">
                <a:solidFill>
                  <a:schemeClr val="tx1"/>
                </a:solidFill>
              </a:rPr>
              <a:t>».</a:t>
            </a:r>
            <a:endParaRPr lang="ru-RU" dirty="0">
              <a:solidFill>
                <a:schemeClr val="tx1"/>
              </a:solidFill>
            </a:endParaRPr>
          </a:p>
          <a:p>
            <a:endParaRPr lang="ru-RU" dirty="0"/>
          </a:p>
        </p:txBody>
      </p:sp>
    </p:spTree>
    <p:extLst>
      <p:ext uri="{BB962C8B-B14F-4D97-AF65-F5344CB8AC3E}">
        <p14:creationId xmlns:p14="http://schemas.microsoft.com/office/powerpoint/2010/main" val="41792344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533245"/>
            <a:ext cx="9601196" cy="1303867"/>
          </a:xfrm>
        </p:spPr>
        <p:txBody>
          <a:bodyPr/>
          <a:lstStyle/>
          <a:p>
            <a:r>
              <a:rPr lang="ru-RU" b="1" dirty="0" smtClean="0">
                <a:solidFill>
                  <a:schemeClr val="accent4">
                    <a:lumMod val="75000"/>
                  </a:schemeClr>
                </a:solidFill>
              </a:rPr>
              <a:t>Расшифровка понятия</a:t>
            </a:r>
            <a:endParaRPr lang="ru-RU" b="1" dirty="0">
              <a:solidFill>
                <a:schemeClr val="accent4">
                  <a:lumMod val="75000"/>
                </a:schemeClr>
              </a:solidFill>
            </a:endParaRPr>
          </a:p>
        </p:txBody>
      </p:sp>
      <p:sp>
        <p:nvSpPr>
          <p:cNvPr id="3" name="Объект 2"/>
          <p:cNvSpPr>
            <a:spLocks noGrp="1"/>
          </p:cNvSpPr>
          <p:nvPr>
            <p:ph idx="1"/>
          </p:nvPr>
        </p:nvSpPr>
        <p:spPr>
          <a:xfrm>
            <a:off x="1295401" y="1546167"/>
            <a:ext cx="9601196" cy="5004261"/>
          </a:xfrm>
        </p:spPr>
        <p:txBody>
          <a:bodyPr>
            <a:normAutofit fontScale="55000" lnSpcReduction="20000"/>
          </a:bodyPr>
          <a:lstStyle/>
          <a:p>
            <a:r>
              <a:rPr lang="ru-RU" sz="3300" dirty="0" smtClean="0"/>
              <a:t>1</a:t>
            </a:r>
            <a:r>
              <a:rPr lang="ru-RU" sz="5100" dirty="0" smtClean="0"/>
              <a:t>. Верность/ измена в широком смысле. </a:t>
            </a:r>
          </a:p>
          <a:p>
            <a:r>
              <a:rPr lang="ru-RU" sz="5100" dirty="0" smtClean="0"/>
              <a:t>2. Верность/ измена в любовной сфере. </a:t>
            </a:r>
          </a:p>
          <a:p>
            <a:r>
              <a:rPr lang="ru-RU" sz="5100" dirty="0" smtClean="0"/>
              <a:t>3. Верность (измена) Родине, государственному долгу </a:t>
            </a:r>
          </a:p>
          <a:p>
            <a:r>
              <a:rPr lang="ru-RU" sz="5100" dirty="0" smtClean="0"/>
              <a:t>4. Верность /измена по отношении к другу, товарищу, человеку, который доверился. </a:t>
            </a:r>
          </a:p>
          <a:p>
            <a:r>
              <a:rPr lang="ru-RU" sz="5100" dirty="0" smtClean="0"/>
              <a:t>5. Верность/измена по отношению к самому себе, своим моральным принципам, своему призванию, целям, слову, религиозным убеждениям. </a:t>
            </a:r>
          </a:p>
          <a:p>
            <a:r>
              <a:rPr lang="ru-RU" sz="5100" dirty="0" smtClean="0"/>
              <a:t>6. Верность животных своим хозяевам.</a:t>
            </a:r>
            <a:br>
              <a:rPr lang="ru-RU" sz="5100" dirty="0" smtClean="0"/>
            </a:br>
            <a:r>
              <a:rPr lang="ru-RU" sz="5100" dirty="0" smtClean="0"/>
              <a:t/>
            </a:r>
            <a:br>
              <a:rPr lang="ru-RU" sz="5100" dirty="0" smtClean="0"/>
            </a:br>
            <a:endParaRPr lang="ru-RU" sz="5100" dirty="0" smtClean="0"/>
          </a:p>
          <a:p>
            <a:endParaRPr lang="ru-RU" dirty="0"/>
          </a:p>
        </p:txBody>
      </p:sp>
    </p:spTree>
    <p:extLst>
      <p:ext uri="{BB962C8B-B14F-4D97-AF65-F5344CB8AC3E}">
        <p14:creationId xmlns:p14="http://schemas.microsoft.com/office/powerpoint/2010/main" val="3969012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Верность и измена в </a:t>
            </a:r>
            <a:r>
              <a:rPr lang="ru-RU" b="1" dirty="0" smtClean="0"/>
              <a:t>любви: аргументы («Евгений Онегин»)</a:t>
            </a:r>
            <a:endParaRPr lang="ru-RU" dirty="0"/>
          </a:p>
        </p:txBody>
      </p:sp>
      <p:sp>
        <p:nvSpPr>
          <p:cNvPr id="3" name="Объект 2"/>
          <p:cNvSpPr>
            <a:spLocks noGrp="1"/>
          </p:cNvSpPr>
          <p:nvPr>
            <p:ph idx="1"/>
          </p:nvPr>
        </p:nvSpPr>
        <p:spPr/>
        <p:txBody>
          <a:bodyPr>
            <a:normAutofit fontScale="70000" lnSpcReduction="20000"/>
          </a:bodyPr>
          <a:lstStyle/>
          <a:p>
            <a:r>
              <a:rPr lang="ru-RU" dirty="0"/>
              <a:t>Татьяна — любимая героиня </a:t>
            </a:r>
            <a:r>
              <a:rPr lang="ru-RU" dirty="0" err="1"/>
              <a:t>А.С.Пушкина</a:t>
            </a:r>
            <a:r>
              <a:rPr lang="ru-RU" dirty="0"/>
              <a:t>. Нежная, честная, открытая, она , как и любая женщина, хочет любви. Придумав для себя образ возлюбленного, начитавшись романов </a:t>
            </a:r>
            <a:r>
              <a:rPr lang="ru-RU" i="1" dirty="0"/>
              <a:t>(«…Ей рано нравились романы; / Они ей заменяли всё…»</a:t>
            </a:r>
            <a:r>
              <a:rPr lang="ru-RU" dirty="0"/>
              <a:t>  ),  она представила, что именно Онегин — её любимый. Героиня  всем сердцем полюбила Онегина ( </a:t>
            </a:r>
            <a:r>
              <a:rPr lang="ru-RU" i="1" dirty="0"/>
              <a:t>«Татьяна любит не шутя…»). </a:t>
            </a:r>
            <a:r>
              <a:rPr lang="ru-RU" dirty="0"/>
              <a:t>Разочарование всегда болью отзывается в душе человека. Получив, в сущности, отказ, Татьяна страдает от отсутствия взаимности. Она продолжает любить Онегина. Это автор показывает во время встречи героев через несколько лет. Но уже многое изменилось, а самое главное — Татьяна замужем. Казалось бы, вот он, рядом, её  возлюбленный,  признаётся в </a:t>
            </a:r>
            <a:r>
              <a:rPr lang="ru-RU" dirty="0" err="1"/>
              <a:t>любви,говорит</a:t>
            </a:r>
            <a:r>
              <a:rPr lang="ru-RU" dirty="0"/>
              <a:t>  о силе своих чувств. Однако героиня остаётся верна мужу. Она не способна на предательство в отношениях, не может сделать больно близкому человеку. Она не выбрала путь измены, оставшись чистой духовно и нравственно. Верность всегда связана с такими качествами личности, как ответственность, долг, исполнение своих обязанностей. Героиня понимает это, оставшись верной мужу ( </a:t>
            </a:r>
            <a:r>
              <a:rPr lang="ru-RU" i="1" dirty="0"/>
              <a:t>«Но я другому отдана и буду век ему верна…»</a:t>
            </a:r>
            <a:r>
              <a:rPr lang="ru-RU" dirty="0"/>
              <a:t>).Можно долго спорить о том, нужно ли было жертвовать любовью ради семейных отношений, ровных, спокойных, построенным только на уважении, но не на любви со стороны Татьяны. Её путь- путь верной, порядочной, честной жены. Это заслуживает уважения.</a:t>
            </a:r>
          </a:p>
        </p:txBody>
      </p:sp>
    </p:spTree>
    <p:extLst>
      <p:ext uri="{BB962C8B-B14F-4D97-AF65-F5344CB8AC3E}">
        <p14:creationId xmlns:p14="http://schemas.microsoft.com/office/powerpoint/2010/main" val="401508287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Верность и измена в </a:t>
            </a:r>
            <a:r>
              <a:rPr lang="ru-RU" b="1" dirty="0" smtClean="0"/>
              <a:t>любви: аргументы («Гроза»)</a:t>
            </a:r>
            <a:endParaRPr lang="ru-RU" dirty="0"/>
          </a:p>
        </p:txBody>
      </p:sp>
      <p:sp>
        <p:nvSpPr>
          <p:cNvPr id="3" name="Объект 2"/>
          <p:cNvSpPr>
            <a:spLocks noGrp="1"/>
          </p:cNvSpPr>
          <p:nvPr>
            <p:ph idx="1"/>
          </p:nvPr>
        </p:nvSpPr>
        <p:spPr/>
        <p:txBody>
          <a:bodyPr>
            <a:normAutofit fontScale="55000" lnSpcReduction="20000"/>
          </a:bodyPr>
          <a:lstStyle/>
          <a:p>
            <a:r>
              <a:rPr lang="ru-RU" dirty="0" smtClean="0"/>
              <a:t>Сложную </a:t>
            </a:r>
            <a:r>
              <a:rPr lang="ru-RU" dirty="0"/>
              <a:t>душевную драму переживает героиня пьесы </a:t>
            </a:r>
            <a:r>
              <a:rPr lang="ru-RU" dirty="0" err="1"/>
              <a:t>А.Островского</a:t>
            </a:r>
            <a:r>
              <a:rPr lang="ru-RU" dirty="0"/>
              <a:t> «Гроза» — Катерина. Оказавшись в доме Кабановых, она хотела и в нём жить  так, как это было в её родительском доме, наполненном любви и уважения близких друг другу, без лжи и обмана (</a:t>
            </a:r>
            <a:r>
              <a:rPr lang="ru-RU" i="1" dirty="0"/>
              <a:t>«…Обманывать-то я не умею; скрыть-то ничего не могу…»)</a:t>
            </a:r>
            <a:br>
              <a:rPr lang="ru-RU" i="1" dirty="0"/>
            </a:br>
            <a:r>
              <a:rPr lang="ru-RU" dirty="0"/>
              <a:t> Однако увидела в новой семье совсем другое: со стороны свекрови —  высокомерие, стремление диктовать свои условия, напрасные обвинения (</a:t>
            </a:r>
            <a:r>
              <a:rPr lang="ru-RU" i="1" dirty="0"/>
              <a:t>«…Напраслину-то терпеть кому ж приятно!..») </a:t>
            </a:r>
            <a:r>
              <a:rPr lang="ru-RU" dirty="0"/>
              <a:t>; со стороны Тихона она не чувствовала поддержки, хотя понимала, что тот любит её по – своему.</a:t>
            </a:r>
          </a:p>
          <a:p>
            <a:r>
              <a:rPr lang="ru-RU" dirty="0"/>
              <a:t>«Отчего люди не летают так, как птицы?»- не случайно задаёт Катерина этот вопрос. Ей хочется свободы, открытости во взаимоотношениях. Измена героини, её тайные встречи  с Борисом — это результат </a:t>
            </a:r>
            <a:r>
              <a:rPr lang="ru-RU" dirty="0" err="1"/>
              <a:t>неудовлётворённости</a:t>
            </a:r>
            <a:r>
              <a:rPr lang="ru-RU" dirty="0"/>
              <a:t> в семейных отношениях, желание любви, взаимопонимания. Всем сердцем полюбила героиня Бориса(«</a:t>
            </a:r>
            <a:r>
              <a:rPr lang="ru-RU" i="1" dirty="0"/>
              <a:t>Как увидела тебя, так уж не своя стала. С первого же раза, кажется, кабы ты поманил меня, я бы и пошла за тобой;…»)</a:t>
            </a:r>
            <a:r>
              <a:rPr lang="ru-RU" dirty="0"/>
              <a:t/>
            </a:r>
            <a:br>
              <a:rPr lang="ru-RU" dirty="0"/>
            </a:br>
            <a:r>
              <a:rPr lang="ru-RU" dirty="0"/>
              <a:t>Конечно, любая измена — это грех. Ложь, обман всегда становятся явными. Героиня понимает это, страдает. Её трагический конец — результат  восприятия ею греховности своих поступков. Оправдываем ли мы Катерину? Однозначно ответить на этот вопрос очень трудно. Каждый человек сам строит свои отношения в семье. Что лучше: верность без тепла, душевности, спокойствия или измена с её кратковременным, но счастьем? Верность и измена — это всегда выбор своего поведения в отношениях с любимым. И за этот выбор  несёт ответственность не один, а оба —  он и она. Во многом в трагедии Катерины виноват её муж — Тихон. Автор заставляет читателей задуматься о том, что и верность, и  измена, к сожалению,  возможны в семье. Но всегда нужно помнить главное — жизнь надо прожить не во лжи.</a:t>
            </a:r>
          </a:p>
          <a:p>
            <a:endParaRPr lang="ru-RU" dirty="0"/>
          </a:p>
        </p:txBody>
      </p:sp>
    </p:spTree>
    <p:extLst>
      <p:ext uri="{BB962C8B-B14F-4D97-AF65-F5344CB8AC3E}">
        <p14:creationId xmlns:p14="http://schemas.microsoft.com/office/powerpoint/2010/main" val="298058941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Верность и измена в </a:t>
            </a:r>
            <a:r>
              <a:rPr lang="ru-RU" b="1" dirty="0" smtClean="0"/>
              <a:t>любви: аргументы («Темные аллеи»)</a:t>
            </a:r>
            <a:endParaRPr lang="ru-RU" dirty="0"/>
          </a:p>
        </p:txBody>
      </p:sp>
      <p:sp>
        <p:nvSpPr>
          <p:cNvPr id="3" name="Объект 2"/>
          <p:cNvSpPr>
            <a:spLocks noGrp="1"/>
          </p:cNvSpPr>
          <p:nvPr>
            <p:ph idx="1"/>
          </p:nvPr>
        </p:nvSpPr>
        <p:spPr/>
        <p:txBody>
          <a:bodyPr>
            <a:normAutofit fontScale="70000" lnSpcReduction="20000"/>
          </a:bodyPr>
          <a:lstStyle/>
          <a:p>
            <a:r>
              <a:rPr lang="ru-RU" dirty="0"/>
              <a:t>Произведения И. Бунина о любви часто наполнены грустью, потому что влюблённые расстаются. Любовь если и проносит им счастливые минуты, но лишь на короткое время. Героиня новеллы «Тёмные аллеи» сумела сохранить в душе верность своей первой и единственной в жизни  любви  — к Николаю. Проходят годы, Надежда становится самостоятельной, крепко стоящей на ногах женщиной. Она хозяйка постоялого двора, </a:t>
            </a:r>
            <a:r>
              <a:rPr lang="ru-RU" i="1" dirty="0"/>
              <a:t>«богата, крута»,</a:t>
            </a:r>
            <a:r>
              <a:rPr lang="ru-RU" dirty="0"/>
              <a:t> энергична, полна сил</a:t>
            </a:r>
            <a:r>
              <a:rPr lang="ru-RU" dirty="0" smtClean="0"/>
              <a:t>, однако </a:t>
            </a:r>
            <a:r>
              <a:rPr lang="ru-RU" dirty="0"/>
              <a:t>  одинока, потому что  где-то в глубине её души теплится огонёк любви, этого прекрасного  чувства, так сильно пережитого ею в молодости к «</a:t>
            </a:r>
            <a:r>
              <a:rPr lang="ru-RU" i="1" dirty="0"/>
              <a:t>Николеньке»</a:t>
            </a:r>
            <a:r>
              <a:rPr lang="ru-RU" dirty="0"/>
              <a:t>, которому,  как говорит героиня, она отдала  </a:t>
            </a:r>
            <a:r>
              <a:rPr lang="ru-RU" i="1" dirty="0"/>
              <a:t>«свою красоту,</a:t>
            </a:r>
            <a:r>
              <a:rPr lang="ru-RU" dirty="0"/>
              <a:t> </a:t>
            </a:r>
            <a:r>
              <a:rPr lang="ru-RU" i="1" dirty="0"/>
              <a:t>свою горячку».</a:t>
            </a:r>
            <a:r>
              <a:rPr lang="ru-RU" dirty="0"/>
              <a:t>  А что же герой? Для него отношения с Надеждой — мимолётное увлечение красавца-барина к горничной. Он даже и не понял, что предал любимую, изменил их любви, когда просто забыл о героине. Но оказалось, что именно эта любовь и была главной в его жизни. Нет счастья у Николая: жена изменила ему и бросила, а сын вырос </a:t>
            </a:r>
            <a:r>
              <a:rPr lang="ru-RU" i="1" dirty="0"/>
              <a:t>«без сердца, без чести, без совести». </a:t>
            </a:r>
            <a:r>
              <a:rPr lang="ru-RU" dirty="0"/>
              <a:t>Ни о каком взаимопонимании с ним не может быть и речи. Как горько осознавать, что счастье было так близко. Как видим, измена любви Николаем делает несчастными обоих, а верность любимому согревает сердце героини, хотя  при встрече она и обвиняет его, не прощая за предательство.</a:t>
            </a:r>
          </a:p>
        </p:txBody>
      </p:sp>
    </p:spTree>
    <p:extLst>
      <p:ext uri="{BB962C8B-B14F-4D97-AF65-F5344CB8AC3E}">
        <p14:creationId xmlns:p14="http://schemas.microsoft.com/office/powerpoint/2010/main" val="250040446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Вывод</a:t>
            </a:r>
            <a:endParaRPr lang="ru-RU" dirty="0"/>
          </a:p>
        </p:txBody>
      </p:sp>
      <p:sp>
        <p:nvSpPr>
          <p:cNvPr id="3" name="Объект 2"/>
          <p:cNvSpPr>
            <a:spLocks noGrp="1"/>
          </p:cNvSpPr>
          <p:nvPr>
            <p:ph idx="1"/>
          </p:nvPr>
        </p:nvSpPr>
        <p:spPr/>
        <p:txBody>
          <a:bodyPr/>
          <a:lstStyle/>
          <a:p>
            <a:r>
              <a:rPr lang="ru-RU" dirty="0"/>
              <a:t>Таким образом, верность в любви делает её настоящей, крепкой, приносящей счастье и радость, наполняет жизнь смыслом. А измена, какими бы причинами она ни была объяснена, это всегда предательство – чувств, доверия, любви. Именно об этом писали классики в своих произведениях, словно подчёркивая мысль, что счастье человека всегда нуждается в верности.</a:t>
            </a:r>
          </a:p>
        </p:txBody>
      </p:sp>
    </p:spTree>
    <p:extLst>
      <p:ext uri="{BB962C8B-B14F-4D97-AF65-F5344CB8AC3E}">
        <p14:creationId xmlns:p14="http://schemas.microsoft.com/office/powerpoint/2010/main" val="186189961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Верность и измена идеалам, </a:t>
            </a:r>
            <a:r>
              <a:rPr lang="ru-RU" b="1" dirty="0" smtClean="0"/>
              <a:t>принципам: аргументы («Горе от ума»)</a:t>
            </a:r>
            <a:endParaRPr lang="ru-RU" dirty="0"/>
          </a:p>
        </p:txBody>
      </p:sp>
      <p:sp>
        <p:nvSpPr>
          <p:cNvPr id="3" name="Объект 2"/>
          <p:cNvSpPr>
            <a:spLocks noGrp="1"/>
          </p:cNvSpPr>
          <p:nvPr>
            <p:ph idx="1"/>
          </p:nvPr>
        </p:nvSpPr>
        <p:spPr/>
        <p:txBody>
          <a:bodyPr>
            <a:normAutofit fontScale="85000" lnSpcReduction="20000"/>
          </a:bodyPr>
          <a:lstStyle/>
          <a:p>
            <a:r>
              <a:rPr lang="ru-RU" dirty="0"/>
              <a:t>Быть верным своим принципам, идеалам, взглядам в обществе, в котором все настроены против, имеют другие ценности — это непросто. А</a:t>
            </a:r>
            <a:r>
              <a:rPr lang="ru-RU" dirty="0" smtClean="0"/>
              <a:t>. Чацкий</a:t>
            </a:r>
            <a:r>
              <a:rPr lang="ru-RU" dirty="0"/>
              <a:t>, герой комедии А.С</a:t>
            </a:r>
            <a:r>
              <a:rPr lang="ru-RU" dirty="0" smtClean="0"/>
              <a:t>. Грибоедова </a:t>
            </a:r>
            <a:r>
              <a:rPr lang="ru-RU" dirty="0"/>
              <a:t>«Горе от ума», оказался именно в такой ситуации. </a:t>
            </a:r>
            <a:r>
              <a:rPr lang="ru-RU" dirty="0" err="1"/>
              <a:t>Фамусовское</a:t>
            </a:r>
            <a:r>
              <a:rPr lang="ru-RU" dirty="0"/>
              <a:t> общество  с его стремлением к наживе, продвижению по служебной лестнице любой ценой, с его низкопоклонством, лестью чуждо герою. Он чувствует себя здесь одиноким. Мало того,  общество ополчилось против него, считая его сумасшедшим </a:t>
            </a:r>
            <a:r>
              <a:rPr lang="ru-RU" i="1" dirty="0"/>
              <a:t>( «Я странен, а не странен кто ж? // Тот, кто на всех глупцов похож…)</a:t>
            </a:r>
            <a:br>
              <a:rPr lang="ru-RU" i="1" dirty="0"/>
            </a:br>
            <a:r>
              <a:rPr lang="ru-RU" dirty="0"/>
              <a:t>Конечно, разве можно иметь взгляды, столь противоречивые, чем  их. Но Чацкий остаётся верен себе. Вот некоторые из его принципов: стремление служить делу, а не лицам </a:t>
            </a:r>
            <a:r>
              <a:rPr lang="ru-RU" i="1" dirty="0"/>
              <a:t>(«служить бы рад, прислуживаться тошно…»</a:t>
            </a:r>
            <a:r>
              <a:rPr lang="ru-RU" dirty="0"/>
              <a:t>); оценка человека не по его служебному и материальному положению, а по тому, каков он как личность; стремление быть честным, открытым, всегда говорить правду в лицо; быть независимым</a:t>
            </a:r>
          </a:p>
        </p:txBody>
      </p:sp>
    </p:spTree>
    <p:extLst>
      <p:ext uri="{BB962C8B-B14F-4D97-AF65-F5344CB8AC3E}">
        <p14:creationId xmlns:p14="http://schemas.microsoft.com/office/powerpoint/2010/main" val="315657959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Верность и измена идеалам, принципам: аргументы («Горе от ума»)</a:t>
            </a:r>
            <a:endParaRPr lang="ru-RU" dirty="0"/>
          </a:p>
        </p:txBody>
      </p:sp>
      <p:sp>
        <p:nvSpPr>
          <p:cNvPr id="3" name="Объект 2"/>
          <p:cNvSpPr>
            <a:spLocks noGrp="1"/>
          </p:cNvSpPr>
          <p:nvPr>
            <p:ph idx="1"/>
          </p:nvPr>
        </p:nvSpPr>
        <p:spPr/>
        <p:txBody>
          <a:bodyPr>
            <a:normAutofit fontScale="70000" lnSpcReduction="20000"/>
          </a:bodyPr>
          <a:lstStyle/>
          <a:p>
            <a:r>
              <a:rPr lang="ru-RU" i="1" dirty="0"/>
              <a:t>(Молчалин.</a:t>
            </a:r>
            <a:endParaRPr lang="ru-RU" dirty="0"/>
          </a:p>
          <a:p>
            <a:r>
              <a:rPr lang="ru-RU" i="1" dirty="0"/>
              <a:t> Ведь надобно ж зависеть от других. </a:t>
            </a:r>
            <a:endParaRPr lang="ru-RU" dirty="0"/>
          </a:p>
          <a:p>
            <a:r>
              <a:rPr lang="ru-RU" i="1" dirty="0"/>
              <a:t>Чацкий.</a:t>
            </a:r>
            <a:endParaRPr lang="ru-RU" dirty="0"/>
          </a:p>
          <a:p>
            <a:r>
              <a:rPr lang="ru-RU" i="1" dirty="0"/>
              <a:t>Зачем же надобно?)</a:t>
            </a:r>
            <a:br>
              <a:rPr lang="ru-RU" i="1" dirty="0"/>
            </a:br>
            <a:r>
              <a:rPr lang="ru-RU" dirty="0"/>
              <a:t> Да, трудно такому человеку в жизни. Но он честен перед своей совестью</a:t>
            </a:r>
            <a:r>
              <a:rPr lang="ru-RU" i="1" dirty="0"/>
              <a:t>(«…к чему обманывать себя мне самого…»),</a:t>
            </a:r>
            <a:r>
              <a:rPr lang="ru-RU" dirty="0"/>
              <a:t> не изменяет своему  выбранному пути, не идёт на поводу  у общества,  взгляды которого совершенно чужды ему, не угождает, не льстит, как это делает Молчалин. Чацкий вызывает уважение и восхищение читателей. Страшно угодничество, подхалимство, свойственное Молчалину и другим  представителям </a:t>
            </a:r>
            <a:r>
              <a:rPr lang="ru-RU" dirty="0" err="1"/>
              <a:t>фамусовского</a:t>
            </a:r>
            <a:r>
              <a:rPr lang="ru-RU" dirty="0"/>
              <a:t>  общества. Они-то уж не изменяют себе, чётко идут по своему пути, используя любые средства, лишь бы добиться цели – знатности, богатства, положения в обществе, опустошая при этом свою душу, становясь жестокими, коварными людьми. Верность облагораживает человека, делает его чище. Измена всегда ведёт к нравственной деградации.</a:t>
            </a:r>
          </a:p>
          <a:p>
            <a:endParaRPr lang="ru-RU" dirty="0"/>
          </a:p>
        </p:txBody>
      </p:sp>
    </p:spTree>
    <p:extLst>
      <p:ext uri="{BB962C8B-B14F-4D97-AF65-F5344CB8AC3E}">
        <p14:creationId xmlns:p14="http://schemas.microsoft.com/office/powerpoint/2010/main" val="309701987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Верность и измена идеалам, принципам: аргументы </a:t>
            </a:r>
            <a:r>
              <a:rPr lang="ru-RU" b="1" dirty="0" smtClean="0"/>
              <a:t>(«Капитанская дочка»)</a:t>
            </a:r>
            <a:endParaRPr lang="ru-RU" dirty="0"/>
          </a:p>
        </p:txBody>
      </p:sp>
      <p:sp>
        <p:nvSpPr>
          <p:cNvPr id="3" name="Объект 2"/>
          <p:cNvSpPr>
            <a:spLocks noGrp="1"/>
          </p:cNvSpPr>
          <p:nvPr>
            <p:ph idx="1"/>
          </p:nvPr>
        </p:nvSpPr>
        <p:spPr/>
        <p:txBody>
          <a:bodyPr>
            <a:normAutofit fontScale="70000" lnSpcReduction="20000"/>
          </a:bodyPr>
          <a:lstStyle/>
          <a:p>
            <a:r>
              <a:rPr lang="ru-RU" dirty="0"/>
              <a:t>Пётр Гринёв — один из главных героев произведения А.С</a:t>
            </a:r>
            <a:r>
              <a:rPr lang="ru-RU" dirty="0" smtClean="0"/>
              <a:t>. Пушкина </a:t>
            </a:r>
            <a:r>
              <a:rPr lang="ru-RU" dirty="0"/>
              <a:t>«Капитанская дочка». Воспитанный в семье, в которой понятия честь, совесть, порядочность – это не просто слова,   а основа жизни, он становится достойным сыном своего отца. В трудные жизненные ситуации попал Гринёв: пленение Пугачёвым, обвинение в предательстве,- но герой с честью вышел из них, потому что не изменил своим нравственным принципам, был верен им до конца </a:t>
            </a:r>
            <a:r>
              <a:rPr lang="ru-RU" i="1" dirty="0"/>
              <a:t>(«…Только не требуй того, что противно чести моей и христианской совести…» ).</a:t>
            </a:r>
            <a:br>
              <a:rPr lang="ru-RU" i="1" dirty="0"/>
            </a:br>
            <a:r>
              <a:rPr lang="ru-RU" dirty="0"/>
              <a:t>В итоге — счастливый конец, семейная жизнь с любимой Машей, незапятнанная честь. Другой же персонаж повести — Швабрин — с лёгкостью изменил  присяге, данной императрице, нарушил моральным законы. Он перешёл на службу к бунтовщику, силой и обманом хотел женить на себе Машу </a:t>
            </a:r>
            <a:r>
              <a:rPr lang="ru-RU" i="1" dirty="0"/>
              <a:t>(«…он обходился со мной очень жестоко»</a:t>
            </a:r>
            <a:r>
              <a:rPr lang="ru-RU" dirty="0"/>
              <a:t>,-скажет Маша Гринёву), клеветал на Гринёва. Такой человек заслуживает резкого осуждения. </a:t>
            </a:r>
            <a:r>
              <a:rPr lang="ru-RU" i="1" dirty="0"/>
              <a:t>«Береги честь смолоду</a:t>
            </a:r>
            <a:r>
              <a:rPr lang="ru-RU" dirty="0"/>
              <a:t>!»- именно эта пословица, народная мудрость взята А.С</a:t>
            </a:r>
            <a:r>
              <a:rPr lang="ru-RU" dirty="0" smtClean="0"/>
              <a:t>. Пушкиным </a:t>
            </a:r>
            <a:r>
              <a:rPr lang="ru-RU" dirty="0"/>
              <a:t>в качестве эпиграфа ко всему произведению. В ней заключён очень важный смысл: человек должен быть верен до конца  жизни тем моральным законам, которые общество выработало своей многотысячелетней историей, жить по которым учат человека  с раннего детства.</a:t>
            </a:r>
          </a:p>
        </p:txBody>
      </p:sp>
    </p:spTree>
    <p:extLst>
      <p:ext uri="{BB962C8B-B14F-4D97-AF65-F5344CB8AC3E}">
        <p14:creationId xmlns:p14="http://schemas.microsoft.com/office/powerpoint/2010/main" val="395984165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Верность и измена идеалам, принципам: аргументы («Капитанская дочка»)</a:t>
            </a:r>
            <a:endParaRPr lang="ru-RU" dirty="0"/>
          </a:p>
        </p:txBody>
      </p:sp>
      <p:sp>
        <p:nvSpPr>
          <p:cNvPr id="3" name="Объект 2"/>
          <p:cNvSpPr>
            <a:spLocks noGrp="1"/>
          </p:cNvSpPr>
          <p:nvPr>
            <p:ph idx="1"/>
          </p:nvPr>
        </p:nvSpPr>
        <p:spPr/>
        <p:txBody>
          <a:bodyPr>
            <a:normAutofit fontScale="70000" lnSpcReduction="20000"/>
          </a:bodyPr>
          <a:lstStyle/>
          <a:p>
            <a:pPr algn="just"/>
            <a:r>
              <a:rPr lang="ru-RU" dirty="0"/>
              <a:t>Тема нравственного падения человека, деградации души — одна из основных в рассказе </a:t>
            </a:r>
            <a:r>
              <a:rPr lang="ru-RU" dirty="0" err="1"/>
              <a:t>А.П.Чехова</a:t>
            </a:r>
            <a:r>
              <a:rPr lang="ru-RU" dirty="0"/>
              <a:t> «</a:t>
            </a:r>
            <a:r>
              <a:rPr lang="ru-RU" dirty="0" err="1"/>
              <a:t>Ионыч</a:t>
            </a:r>
            <a:r>
              <a:rPr lang="ru-RU" dirty="0"/>
              <a:t>». Герой произведения в начале и в конце повествования — это два совершенно разных человека, да и зовут-то их по-разному: Дмитрий Старцев и </a:t>
            </a:r>
            <a:r>
              <a:rPr lang="ru-RU" dirty="0" err="1"/>
              <a:t>Ионыч</a:t>
            </a:r>
            <a:r>
              <a:rPr lang="ru-RU" dirty="0"/>
              <a:t> . Что же произошло с молодым юношей, «</a:t>
            </a:r>
            <a:r>
              <a:rPr lang="ru-RU" i="1" dirty="0"/>
              <a:t>лучшим из людей</a:t>
            </a:r>
            <a:r>
              <a:rPr lang="ru-RU" dirty="0"/>
              <a:t>», по мнению Екатерины Ивановны, окончившим медицинское учреждение, желающим приносить пользу людям, лечить их? А произошло то, что должно произойти, если человек изменяет идеалам юности . Деньги, шелест купюр в кармане со временем сделали героя  чёрствым, жёстким, эгоистичным человеком. Ему совершенно безразлична судьба больных, они его даже раздражают своими жалобами. Главное — получить заветные деньги, ездить на тройке с колокольчиком, быть богатым (у него </a:t>
            </a:r>
            <a:r>
              <a:rPr lang="ru-RU" i="1" dirty="0"/>
              <a:t>« уже есть имение и два дома в городе, и он облюбовывает себе еще третий, повыгоднее…»), </a:t>
            </a:r>
            <a:r>
              <a:rPr lang="ru-RU" dirty="0"/>
              <a:t>всеми почитаемым человеком. Духовное обнищание произошло с героем: он ничем не интересуется, живёт один, главная его страсть — считать деньги, подученные им за день. Да, измена себе, своим принципам, целям делают человека нравственно низким. Верность свойственна сильной личности, способной преодолевать трудности, живущей по законам справедливости и добра. Этого, к сожалению, нет у </a:t>
            </a:r>
            <a:r>
              <a:rPr lang="ru-RU" dirty="0" err="1"/>
              <a:t>Ионыча</a:t>
            </a:r>
            <a:r>
              <a:rPr lang="ru-RU" dirty="0"/>
              <a:t>.</a:t>
            </a:r>
          </a:p>
        </p:txBody>
      </p:sp>
    </p:spTree>
    <p:extLst>
      <p:ext uri="{BB962C8B-B14F-4D97-AF65-F5344CB8AC3E}">
        <p14:creationId xmlns:p14="http://schemas.microsoft.com/office/powerpoint/2010/main" val="145650928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Вывод</a:t>
            </a:r>
            <a:endParaRPr lang="ru-RU" dirty="0"/>
          </a:p>
        </p:txBody>
      </p:sp>
      <p:sp>
        <p:nvSpPr>
          <p:cNvPr id="3" name="Объект 2"/>
          <p:cNvSpPr>
            <a:spLocks noGrp="1"/>
          </p:cNvSpPr>
          <p:nvPr>
            <p:ph idx="1"/>
          </p:nvPr>
        </p:nvSpPr>
        <p:spPr/>
        <p:txBody>
          <a:bodyPr>
            <a:normAutofit fontScale="70000" lnSpcReduction="20000"/>
          </a:bodyPr>
          <a:lstStyle/>
          <a:p>
            <a:r>
              <a:rPr lang="ru-RU" dirty="0"/>
              <a:t>Нравственные принципы — эта основа, которая делает человека настоящей личностью, заслуживающей уважения. В их основе лежат честь, совесть, порядочность, милосердие и многое другое. Остаться верным этим принципам, чётко выделить для себя жизненные идеалы и следовать им — непростое дело. Много соблазнов бывает на пути человека. Но тем и отличается благородный, высоконравственный человек от беспринципного, безнравственного, что он  находит в себе силы идти по верному пути в жизни, не изменять себе, не сворачивать по дороге лжи, обмана, да и просто эгоизма. Верность в данном случае делает человека личностью, уважаемой в обществе, счастливой и самодостаточной. А измена приводит к осуждению окружающих, непониманию, даже презрению. Быть верным именно нравственным принципам учат читателей произведения классиков литературы. Как здесь не вспомнить слова из лирического отступления из поэмы </a:t>
            </a:r>
            <a:r>
              <a:rPr lang="ru-RU" dirty="0" err="1"/>
              <a:t>Н.В.Гоголя</a:t>
            </a:r>
            <a:r>
              <a:rPr lang="ru-RU" dirty="0"/>
              <a:t> « Мёртвые души»!</a:t>
            </a:r>
          </a:p>
          <a:p>
            <a:r>
              <a:rPr lang="ru-RU" b="1" i="1" dirty="0"/>
              <a:t>«Забирайте же с собою в путь, выходя из мягких юношеских лет в суровое, ожесточающее мужество, забирайте с собою все человеческие движения, не оставляйте их на дороге, не подымете потом</a:t>
            </a:r>
            <a:r>
              <a:rPr lang="ru-RU" b="1" i="1" dirty="0" smtClean="0"/>
              <a:t>!»</a:t>
            </a:r>
            <a:endParaRPr lang="ru-RU" dirty="0"/>
          </a:p>
        </p:txBody>
      </p:sp>
    </p:spTree>
    <p:extLst>
      <p:ext uri="{BB962C8B-B14F-4D97-AF65-F5344CB8AC3E}">
        <p14:creationId xmlns:p14="http://schemas.microsoft.com/office/powerpoint/2010/main" val="219454607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Верность и измена Родине, </a:t>
            </a:r>
            <a:r>
              <a:rPr lang="ru-RU" b="1" dirty="0" smtClean="0"/>
              <a:t>народу: аргументы («Севастопольские рассказы»)</a:t>
            </a:r>
            <a:endParaRPr lang="ru-RU" dirty="0"/>
          </a:p>
        </p:txBody>
      </p:sp>
      <p:sp>
        <p:nvSpPr>
          <p:cNvPr id="3" name="Объект 2"/>
          <p:cNvSpPr>
            <a:spLocks noGrp="1"/>
          </p:cNvSpPr>
          <p:nvPr>
            <p:ph idx="1"/>
          </p:nvPr>
        </p:nvSpPr>
        <p:spPr/>
        <p:txBody>
          <a:bodyPr>
            <a:normAutofit fontScale="55000" lnSpcReduction="20000"/>
          </a:bodyPr>
          <a:lstStyle/>
          <a:p>
            <a:pPr marL="0" indent="0">
              <a:buNone/>
            </a:pPr>
            <a:r>
              <a:rPr lang="ru-RU" dirty="0" smtClean="0"/>
              <a:t>«</a:t>
            </a:r>
            <a:r>
              <a:rPr lang="ru-RU" dirty="0"/>
              <a:t>Началась война, то есть совершилось противное человеческой природе событие»,- так написал </a:t>
            </a:r>
            <a:r>
              <a:rPr lang="ru-RU" dirty="0" err="1"/>
              <a:t>Л.Толстой</a:t>
            </a:r>
            <a:r>
              <a:rPr lang="ru-RU" dirty="0"/>
              <a:t>  в одном из своих романов. «Севастопольские рассказы» — это первое произведение в русской литературе, в котором так реалистично, открыто показана война со всеми её ужасами, смертями («</a:t>
            </a:r>
            <a:r>
              <a:rPr lang="ru-RU" i="1" dirty="0"/>
              <a:t>Герой же моей повести, которого я люблю всеми силами души, которого старался воспроизвести во всей красоте его и который всегда был, есть и будет прекрасен, — правда..</a:t>
            </a:r>
            <a:r>
              <a:rPr lang="ru-RU" dirty="0"/>
              <a:t> «)Молодой писатель, офицер </a:t>
            </a:r>
            <a:r>
              <a:rPr lang="ru-RU" dirty="0" err="1"/>
              <a:t>Л.Н.Толстой</a:t>
            </a:r>
            <a:r>
              <a:rPr lang="ru-RU" dirty="0"/>
              <a:t> сам лично участвовал в Крымской войне, именно её он описал в рассказе- оборону Севастополя в 1854 и в 1855 годах. Как по-разному вели себя люди на войне! Восхищает мужество  защитников города, которые спокойно, без суеты, делают своё дело. Верность Отечеству — это их сущность, основа личности («</a:t>
            </a:r>
            <a:r>
              <a:rPr lang="ru-RU" i="1" dirty="0"/>
              <a:t>И эта причина есть чувство, редко проявляющееся, стыдливое в русском, но лежащее в глубине души каждого, – любовь к родине.</a:t>
            </a:r>
            <a:r>
              <a:rPr lang="ru-RU" dirty="0"/>
              <a:t> «) Каждый из защитников- герой: и бойцы, погибающие во время боя, и санитарки, спасающие солдат, и жители, роющие окопы, делающие любую работу для спасения города. Сколько отважных офицеров стояло на защите Севастополя. Многие – и солдаты, и офицеры — героически погибли. Мужество и героизм проявили они  на войне, верность родине. Даже отступая, оставляя город, защитники его с ненавистью думали о враге, в душе уверенные, что вернутся сюда, но уже за победой</a:t>
            </a:r>
          </a:p>
          <a:p>
            <a:pPr marL="0" indent="0">
              <a:buNone/>
            </a:pPr>
            <a:r>
              <a:rPr lang="ru-RU" dirty="0"/>
              <a:t>Но были и такие, для которых война — это возможность быстро получить очередное воинское звание, продвинуться по служебной лестнице (таким показан, </a:t>
            </a:r>
            <a:r>
              <a:rPr lang="ru-RU" dirty="0" err="1"/>
              <a:t>например,офицер</a:t>
            </a:r>
            <a:r>
              <a:rPr lang="ru-RU" dirty="0"/>
              <a:t> Михайлов). Даже такие мысли – это уже измена своей воинской чести,  званию офицера</a:t>
            </a:r>
            <a:r>
              <a:rPr lang="ru-RU" i="1" dirty="0"/>
              <a:t> («…всякий из них маленький Наполеон, маленький изверг и сейчас готов затеять сражение, убить человек сотню для того только, чтоб получить лишнюю звездочку или треть жалованья».</a:t>
            </a:r>
            <a:endParaRPr lang="ru-RU" dirty="0"/>
          </a:p>
          <a:p>
            <a:pPr marL="0" indent="0">
              <a:buNone/>
            </a:pPr>
            <a:r>
              <a:rPr lang="ru-RU" dirty="0"/>
              <a:t>Война поверяет человека, народ, страну. Насколько сильны они, стойки. Верность, преданность стране, любовь к Отечеству – залог мужества, а измена — путь к предательству, пусть моральному.</a:t>
            </a:r>
          </a:p>
          <a:p>
            <a:pPr marL="0" indent="0">
              <a:buNone/>
            </a:pPr>
            <a:endParaRPr lang="ru-RU" dirty="0"/>
          </a:p>
        </p:txBody>
      </p:sp>
    </p:spTree>
    <p:extLst>
      <p:ext uri="{BB962C8B-B14F-4D97-AF65-F5344CB8AC3E}">
        <p14:creationId xmlns:p14="http://schemas.microsoft.com/office/powerpoint/2010/main" val="404826603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Верность и измена Родине, народу: </a:t>
            </a:r>
            <a:r>
              <a:rPr lang="ru-RU" b="1" dirty="0" smtClean="0"/>
              <a:t>аргументы («Судьба человека»)</a:t>
            </a:r>
            <a:endParaRPr lang="ru-RU" dirty="0"/>
          </a:p>
        </p:txBody>
      </p:sp>
      <p:sp>
        <p:nvSpPr>
          <p:cNvPr id="3" name="Объект 2"/>
          <p:cNvSpPr>
            <a:spLocks noGrp="1"/>
          </p:cNvSpPr>
          <p:nvPr>
            <p:ph idx="1"/>
          </p:nvPr>
        </p:nvSpPr>
        <p:spPr/>
        <p:txBody>
          <a:bodyPr>
            <a:normAutofit fontScale="55000" lnSpcReduction="20000"/>
          </a:bodyPr>
          <a:lstStyle/>
          <a:p>
            <a:pPr marL="0" indent="0">
              <a:buNone/>
            </a:pPr>
            <a:r>
              <a:rPr lang="ru-RU" dirty="0"/>
              <a:t>Великая Отечественная война. Она была тяжёлым испытанием для страны, народа, каждого человека в отдельности. Именно в военные годы проявились главные черты личности. Испытания выявили  сущность человека. Одни стойко всё выдержали, остались верны стране, народу. Другие, ради спасения своей жизни, изменяли всему тому, что было, казалось,  так дорого, становились предателями, выживая за счёт жизни других. Об этом — рассказ М. Шолохова «Судьба человека». Автор показал, как на войне проверялся каждый . Главный герой  Андрей Соколов проявил лучшие черты своего характера: смелость, стойкость, выносливость, преданность Родине, близким любимым.  Даже немецкий плен со всеми его ужасами не сломил его. Не случайно даже немецкий офицер Мюллер  удивился  стойкости русского солдата</a:t>
            </a:r>
            <a:r>
              <a:rPr lang="ru-RU" i="1" dirty="0"/>
              <a:t>(«Вот что, Соколов, ты — настоящий русский солдат. Ты храбрый солдат…»)</a:t>
            </a:r>
            <a:br>
              <a:rPr lang="ru-RU" i="1" dirty="0"/>
            </a:br>
            <a:r>
              <a:rPr lang="ru-RU" dirty="0"/>
              <a:t>Потеряв на войне семью, Андрей сохранил в душе любовь, которую отдал мальчику Ванюше, сделав его жизнь счастливой. Мы восхищается героем. Именно такие люди и спасли нашу страну от фашизма, все они — настоящие герои, верные своей Родине.</a:t>
            </a:r>
          </a:p>
          <a:p>
            <a:pPr marL="0" indent="0">
              <a:buNone/>
            </a:pPr>
            <a:r>
              <a:rPr lang="ru-RU" dirty="0"/>
              <a:t>Однако были и изменники, те, кто предательством, жизнью других вымаливал у врагов возможность существовать. Вспомним сцену в плену, когда один из солдат готов был выдать командира, потому что не желал умирать. Жестокая смерть от рук своих ждала его, страшный, незавидный  конец (</a:t>
            </a:r>
            <a:r>
              <a:rPr lang="ru-RU" i="1" dirty="0"/>
              <a:t>«…До того мне стало нехорошо после этого, и страшно захотелось руки помыть, будто я не человека, а какого-то гада ползучего душил… Первый раз в жизни убил, и то своего… Да какой же он свой? Он же худее чужого, предатель…»</a:t>
            </a:r>
            <a:r>
              <a:rPr lang="ru-RU" dirty="0"/>
              <a:t>Это слова Соколова после убийства предателя)</a:t>
            </a:r>
          </a:p>
          <a:p>
            <a:pPr marL="0" indent="0">
              <a:buNone/>
            </a:pPr>
            <a:r>
              <a:rPr lang="ru-RU" dirty="0"/>
              <a:t>Андрей Соколов- человек с большой буквы. Именно такие люди, верные Родине, и спасли страну, защитили её. Им мы благодарны  за мирное небо, да и за своё рождение, за возможность жить на этой прекрасной земле.</a:t>
            </a:r>
          </a:p>
          <a:p>
            <a:endParaRPr lang="ru-RU" dirty="0"/>
          </a:p>
        </p:txBody>
      </p:sp>
    </p:spTree>
    <p:extLst>
      <p:ext uri="{BB962C8B-B14F-4D97-AF65-F5344CB8AC3E}">
        <p14:creationId xmlns:p14="http://schemas.microsoft.com/office/powerpoint/2010/main" val="251662326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Верность и измена Родине, народу: </a:t>
            </a:r>
            <a:r>
              <a:rPr lang="ru-RU" b="1" dirty="0" smtClean="0"/>
              <a:t>аргументы («Сотников»)</a:t>
            </a:r>
            <a:endParaRPr lang="ru-RU" dirty="0"/>
          </a:p>
        </p:txBody>
      </p:sp>
      <p:sp>
        <p:nvSpPr>
          <p:cNvPr id="3" name="Объект 2"/>
          <p:cNvSpPr>
            <a:spLocks noGrp="1"/>
          </p:cNvSpPr>
          <p:nvPr>
            <p:ph idx="1"/>
          </p:nvPr>
        </p:nvSpPr>
        <p:spPr/>
        <p:txBody>
          <a:bodyPr>
            <a:normAutofit fontScale="55000" lnSpcReduction="20000"/>
          </a:bodyPr>
          <a:lstStyle/>
          <a:p>
            <a:r>
              <a:rPr lang="ru-RU" dirty="0"/>
              <a:t>Человек на войне — это тема произведений </a:t>
            </a:r>
            <a:r>
              <a:rPr lang="ru-RU" dirty="0" err="1"/>
              <a:t>В.Быкова</a:t>
            </a:r>
            <a:r>
              <a:rPr lang="ru-RU" dirty="0"/>
              <a:t>. Он не показывает больших сражений, атак, а пытается понять, почему именно так повёл себя герой  в той или иной ситуации, почему один из героев повести «Сотников» стал героем, а другой — предателем. Что движет поведением людей в нечеловеческих условиях? Автор подводит к выводу, что основа мужества, героизма – это верность человека родине, народу. Именно она является той силой, которая помогает  пережить трудности, страдания, боль, сохранить человеческое достоинство даже перед лицом смерти. Именно таков Сотников. Скромный, вроде бы неприметный боец, он шаг за шагом шёл к своему подвигу. Вызвался идти за продуктами для отряда, хотя мог и  не идти, так как был болен. Сколько в нём внутренней силы, стойкости! Как достойно он принял смерть, не став предателем. (</a:t>
            </a:r>
            <a:r>
              <a:rPr lang="ru-RU" i="1" dirty="0"/>
              <a:t>И тогда Сотников вдруг понял, что истекает их последняя ночь на свете. Утро уже будет принадлежать не им. Что ж, надо было собрать в себе последние силы, чтобы с достоинством встретить смерть).</a:t>
            </a:r>
            <a:br>
              <a:rPr lang="ru-RU" i="1" dirty="0"/>
            </a:br>
            <a:r>
              <a:rPr lang="ru-RU" dirty="0"/>
              <a:t>Рыбак же, всю жизнь изворачивавшийся, и здесь, в плену, решил вести себя так же. Спастись, жить —  ради этого он готов на всё. («З</a:t>
            </a:r>
            <a:r>
              <a:rPr lang="ru-RU" i="1" dirty="0"/>
              <a:t>десь все дело в корыстном расчете ради спасения своей шкуры, от которого всегда один шаг до предательства»). </a:t>
            </a:r>
            <a:r>
              <a:rPr lang="ru-RU" dirty="0"/>
              <a:t>Но адская машина смерти уже закрутила его в своём механизме. Идти на сделку с фашистами не получилось. Совершив первое предательство, став полицаем, он совершает следующее, </a:t>
            </a:r>
            <a:r>
              <a:rPr lang="ru-RU" dirty="0" err="1"/>
              <a:t>казня</a:t>
            </a:r>
            <a:r>
              <a:rPr lang="ru-RU" dirty="0"/>
              <a:t> своего боевого товарища Сотникова</a:t>
            </a:r>
            <a:r>
              <a:rPr lang="ru-RU" i="1" dirty="0"/>
              <a:t> («Идя вместе, они уже оказались по разные стороны черты, разделявшей людей на друзей и врагов»). </a:t>
            </a:r>
            <a:endParaRPr lang="ru-RU" dirty="0"/>
          </a:p>
          <a:p>
            <a:r>
              <a:rPr lang="ru-RU" dirty="0"/>
              <a:t>Человек на войне всегда делает выбор: быть с народом, переживать с ним все тяготы военных лет, оставаться верным Отечеству или изменить всему этому ради возможности жить. И от этого выбора зависит, кем он станет: героем, как Сотников, которого, как и миллионы  других солдат, помнит страна, гордится ими,  или предателем, как Рыбак.</a:t>
            </a:r>
          </a:p>
          <a:p>
            <a:endParaRPr lang="ru-RU" dirty="0"/>
          </a:p>
        </p:txBody>
      </p:sp>
    </p:spTree>
    <p:extLst>
      <p:ext uri="{BB962C8B-B14F-4D97-AF65-F5344CB8AC3E}">
        <p14:creationId xmlns:p14="http://schemas.microsoft.com/office/powerpoint/2010/main" val="162814012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Вывод</a:t>
            </a:r>
            <a:endParaRPr lang="ru-RU" dirty="0"/>
          </a:p>
        </p:txBody>
      </p:sp>
      <p:sp>
        <p:nvSpPr>
          <p:cNvPr id="3" name="Объект 2"/>
          <p:cNvSpPr>
            <a:spLocks noGrp="1"/>
          </p:cNvSpPr>
          <p:nvPr>
            <p:ph idx="1"/>
          </p:nvPr>
        </p:nvSpPr>
        <p:spPr/>
        <p:txBody>
          <a:bodyPr>
            <a:normAutofit fontScale="92500" lnSpcReduction="20000"/>
          </a:bodyPr>
          <a:lstStyle/>
          <a:p>
            <a:r>
              <a:rPr lang="ru-RU" dirty="0"/>
              <a:t>Человеку свойственно делать выбор в жизни. Особенно в годы, когда несчастье обрушивается на всю страну. Верность идеалам, на которых он воспитан, ценностям, внушённым им с раннего детства  в семье, школе, патриотизм — всё это становится той силой, которая позволяет ему вместе с народом пережить испытания. Тех , кто изменил всему этому, кто остался за чертой порядочности, чести, отделил себя от народа предательством ,  в любом случае ждёт страшная участь- не жизнь, а прозябание, ненависть и презрение народа. Над этим заставляют задуматься читателей писатели, создающие произведения о войне, чтобы каждый сделал верные выводы, понял, что только верность – стране, народу, семье, близким, самому себе — это залог счастья. А измена — это позор, презрение людей, а значит, не жизнь, а существование в вечном страхе, во лжи.</a:t>
            </a:r>
          </a:p>
        </p:txBody>
      </p:sp>
    </p:spTree>
    <p:extLst>
      <p:ext uri="{BB962C8B-B14F-4D97-AF65-F5344CB8AC3E}">
        <p14:creationId xmlns:p14="http://schemas.microsoft.com/office/powerpoint/2010/main" val="138911082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Примерные темы</a:t>
            </a:r>
            <a:endParaRPr lang="ru-RU" dirty="0"/>
          </a:p>
        </p:txBody>
      </p:sp>
      <p:sp>
        <p:nvSpPr>
          <p:cNvPr id="3" name="Объект 2"/>
          <p:cNvSpPr>
            <a:spLocks noGrp="1"/>
          </p:cNvSpPr>
          <p:nvPr>
            <p:ph idx="1"/>
          </p:nvPr>
        </p:nvSpPr>
        <p:spPr/>
        <p:txBody>
          <a:bodyPr>
            <a:normAutofit fontScale="92500" lnSpcReduction="20000"/>
          </a:bodyPr>
          <a:lstStyle/>
          <a:p>
            <a:r>
              <a:rPr lang="ru-RU" sz="2800" b="1" dirty="0"/>
              <a:t>1. Как Вы считаете, важно ли всегда оставаться верным себе и своим идеалам?</a:t>
            </a:r>
            <a:br>
              <a:rPr lang="ru-RU" sz="2800" b="1" dirty="0"/>
            </a:br>
            <a:r>
              <a:rPr lang="ru-RU" sz="2800" b="1" dirty="0"/>
              <a:t>2. Согласны ли Вы с утверждением </a:t>
            </a:r>
            <a:r>
              <a:rPr lang="ru-RU" sz="2800" b="1" dirty="0" err="1"/>
              <a:t>Луция</a:t>
            </a:r>
            <a:r>
              <a:rPr lang="ru-RU" sz="2800" b="1" dirty="0"/>
              <a:t> Сенеки: «Верность друга нужна и в счастье, в беде же она совершенно необходима»?</a:t>
            </a:r>
            <a:br>
              <a:rPr lang="ru-RU" sz="2800" b="1" dirty="0"/>
            </a:br>
            <a:r>
              <a:rPr lang="ru-RU" sz="2800" b="1" dirty="0"/>
              <a:t>3. « Для измены родине нужна чрезвычайная низость души» (Н. Г</a:t>
            </a:r>
            <a:r>
              <a:rPr lang="ru-RU" sz="2800" b="1" dirty="0" smtClean="0"/>
              <a:t>. Чернышевский</a:t>
            </a:r>
            <a:r>
              <a:rPr lang="ru-RU" sz="2800" b="1" dirty="0"/>
              <a:t>)</a:t>
            </a:r>
            <a:br>
              <a:rPr lang="ru-RU" sz="2800" b="1" dirty="0"/>
            </a:br>
            <a:r>
              <a:rPr lang="ru-RU" sz="2800" b="1" dirty="0"/>
              <a:t>4. Лучше красота верности или красота внешности?</a:t>
            </a:r>
            <a:br>
              <a:rPr lang="ru-RU" sz="2800" b="1" dirty="0"/>
            </a:br>
            <a:r>
              <a:rPr lang="ru-RU" sz="2800" b="1" dirty="0"/>
              <a:t>5. Можно ли простить измену?</a:t>
            </a:r>
          </a:p>
          <a:p>
            <a:endParaRPr lang="ru-RU" dirty="0"/>
          </a:p>
        </p:txBody>
      </p:sp>
    </p:spTree>
    <p:extLst>
      <p:ext uri="{BB962C8B-B14F-4D97-AF65-F5344CB8AC3E}">
        <p14:creationId xmlns:p14="http://schemas.microsoft.com/office/powerpoint/2010/main" val="283980486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450117"/>
            <a:ext cx="9601196" cy="1303867"/>
          </a:xfrm>
        </p:spPr>
        <p:txBody>
          <a:bodyPr/>
          <a:lstStyle/>
          <a:p>
            <a:r>
              <a:rPr lang="ru-RU" b="1" dirty="0">
                <a:solidFill>
                  <a:schemeClr val="accent4">
                    <a:lumMod val="75000"/>
                  </a:schemeClr>
                </a:solidFill>
              </a:rPr>
              <a:t>«Равнодушие и отзывчивость»</a:t>
            </a:r>
            <a:endParaRPr lang="ru-RU" dirty="0">
              <a:solidFill>
                <a:schemeClr val="accent4">
                  <a:lumMod val="75000"/>
                </a:schemeClr>
              </a:solidFill>
            </a:endParaRPr>
          </a:p>
        </p:txBody>
      </p:sp>
      <p:sp>
        <p:nvSpPr>
          <p:cNvPr id="3" name="Объект 2"/>
          <p:cNvSpPr>
            <a:spLocks noGrp="1"/>
          </p:cNvSpPr>
          <p:nvPr>
            <p:ph idx="1"/>
          </p:nvPr>
        </p:nvSpPr>
        <p:spPr>
          <a:xfrm>
            <a:off x="1079270" y="1542779"/>
            <a:ext cx="10026534" cy="3318936"/>
          </a:xfrm>
        </p:spPr>
        <p:txBody>
          <a:bodyPr>
            <a:noAutofit/>
          </a:bodyPr>
          <a:lstStyle/>
          <a:p>
            <a:r>
              <a:rPr lang="ru-RU" sz="2800" dirty="0"/>
              <a:t>Темы данного направления нацеливают учащихся на осмысление разных типов отношения человека к людям и к миру (безразличие к окружающим, нежелание тратить душевные силы на чужую жизнь или искренняя готовность разделить с ближним его радости и беды, оказать ему бескорыстную помощь).</a:t>
            </a:r>
            <a:br>
              <a:rPr lang="ru-RU" sz="2800" dirty="0"/>
            </a:br>
            <a:r>
              <a:rPr lang="ru-RU" sz="2800" dirty="0"/>
              <a:t>В литературе мы встречаем, с одной стороны, героев с горячим сердцем, готовых откликаться на чужие радости и беды, а с другой – персонажей, воплощающих противоположный, эгоистический, тип личности.</a:t>
            </a:r>
          </a:p>
        </p:txBody>
      </p:sp>
    </p:spTree>
    <p:extLst>
      <p:ext uri="{BB962C8B-B14F-4D97-AF65-F5344CB8AC3E}">
        <p14:creationId xmlns:p14="http://schemas.microsoft.com/office/powerpoint/2010/main" val="250824808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Методический конструктор: лексическое значение слова «равнодушие»</a:t>
            </a:r>
            <a:endParaRPr lang="ru-RU" dirty="0"/>
          </a:p>
        </p:txBody>
      </p:sp>
      <p:sp>
        <p:nvSpPr>
          <p:cNvPr id="3" name="Объект 2"/>
          <p:cNvSpPr>
            <a:spLocks noGrp="1"/>
          </p:cNvSpPr>
          <p:nvPr>
            <p:ph idx="1"/>
          </p:nvPr>
        </p:nvSpPr>
        <p:spPr/>
        <p:txBody>
          <a:bodyPr>
            <a:normAutofit/>
          </a:bodyPr>
          <a:lstStyle/>
          <a:p>
            <a:r>
              <a:rPr lang="ru-RU" b="1" dirty="0"/>
              <a:t>Равнодушие - это отрицательное  духовно-нравственное качество личности, это паралич души, это состояние человека, безучастное, пассивное отношение к окружающему.</a:t>
            </a:r>
            <a:endParaRPr lang="ru-RU" dirty="0"/>
          </a:p>
          <a:p>
            <a:r>
              <a:rPr lang="ru-RU" dirty="0" smtClean="0"/>
              <a:t>Синонимы: </a:t>
            </a:r>
            <a:r>
              <a:rPr lang="ru-RU" b="1" dirty="0"/>
              <a:t>пассивность к окружающим </a:t>
            </a:r>
            <a:r>
              <a:rPr lang="ru-RU" b="1" dirty="0" smtClean="0"/>
              <a:t>людям, </a:t>
            </a:r>
            <a:r>
              <a:rPr lang="ru-RU" b="1" dirty="0"/>
              <a:t>безразличное отношение к </a:t>
            </a:r>
            <a:r>
              <a:rPr lang="ru-RU" b="1" dirty="0" smtClean="0"/>
              <a:t>людям, безразличие</a:t>
            </a:r>
            <a:r>
              <a:rPr lang="ru-RU" dirty="0" smtClean="0"/>
              <a:t>, </a:t>
            </a:r>
            <a:r>
              <a:rPr lang="ru-RU" b="1" dirty="0" smtClean="0"/>
              <a:t>душевная </a:t>
            </a:r>
            <a:r>
              <a:rPr lang="ru-RU" b="1" dirty="0"/>
              <a:t>лень </a:t>
            </a:r>
            <a:r>
              <a:rPr lang="ru-RU" b="1" dirty="0" smtClean="0"/>
              <a:t>человека</a:t>
            </a:r>
            <a:r>
              <a:rPr lang="ru-RU" dirty="0" smtClean="0"/>
              <a:t>, </a:t>
            </a:r>
            <a:r>
              <a:rPr lang="ru-RU" b="1" dirty="0" smtClean="0"/>
              <a:t>чёрствость </a:t>
            </a:r>
            <a:r>
              <a:rPr lang="ru-RU" b="1" dirty="0"/>
              <a:t>души </a:t>
            </a:r>
            <a:r>
              <a:rPr lang="ru-RU" b="1" dirty="0" smtClean="0"/>
              <a:t>человека</a:t>
            </a:r>
            <a:r>
              <a:rPr lang="ru-RU" dirty="0" smtClean="0"/>
              <a:t>, </a:t>
            </a:r>
            <a:r>
              <a:rPr lang="ru-RU" b="1" dirty="0" smtClean="0"/>
              <a:t>отсутствие </a:t>
            </a:r>
            <a:r>
              <a:rPr lang="ru-RU" b="1" dirty="0"/>
              <a:t>у человека </a:t>
            </a:r>
            <a:r>
              <a:rPr lang="ru-RU" dirty="0" smtClean="0"/>
              <a:t> </a:t>
            </a:r>
            <a:r>
              <a:rPr lang="ru-RU" b="1" dirty="0" smtClean="0"/>
              <a:t>сострадания</a:t>
            </a:r>
            <a:r>
              <a:rPr lang="ru-RU" b="1" dirty="0"/>
              <a:t>, </a:t>
            </a:r>
            <a:r>
              <a:rPr lang="ru-RU" b="1" dirty="0" smtClean="0"/>
              <a:t>жалости</a:t>
            </a:r>
            <a:r>
              <a:rPr lang="ru-RU" dirty="0" smtClean="0"/>
              <a:t>, </a:t>
            </a:r>
            <a:r>
              <a:rPr lang="ru-RU" b="1" dirty="0" smtClean="0"/>
              <a:t>большой порок</a:t>
            </a:r>
            <a:r>
              <a:rPr lang="ru-RU" dirty="0" smtClean="0"/>
              <a:t>, </a:t>
            </a:r>
            <a:r>
              <a:rPr lang="ru-RU" b="1" dirty="0" smtClean="0"/>
              <a:t>основа </a:t>
            </a:r>
            <a:r>
              <a:rPr lang="ru-RU" b="1" dirty="0"/>
              <a:t>многих </a:t>
            </a:r>
            <a:r>
              <a:rPr lang="ru-RU" b="1" dirty="0" smtClean="0"/>
              <a:t>преступлений</a:t>
            </a:r>
            <a:r>
              <a:rPr lang="ru-RU" dirty="0" smtClean="0"/>
              <a:t>, </a:t>
            </a:r>
            <a:r>
              <a:rPr lang="ru-RU" b="1" dirty="0" smtClean="0"/>
              <a:t>апатия, флегматичность.</a:t>
            </a:r>
            <a:endParaRPr lang="ru-RU" dirty="0"/>
          </a:p>
        </p:txBody>
      </p:sp>
    </p:spTree>
    <p:extLst>
      <p:ext uri="{BB962C8B-B14F-4D97-AF65-F5344CB8AC3E}">
        <p14:creationId xmlns:p14="http://schemas.microsoft.com/office/powerpoint/2010/main" val="16899210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Методический конструктор: мысли великих людей о равнодушии</a:t>
            </a:r>
            <a:endParaRPr lang="ru-RU" dirty="0"/>
          </a:p>
        </p:txBody>
      </p:sp>
      <p:sp>
        <p:nvSpPr>
          <p:cNvPr id="3" name="Объект 2"/>
          <p:cNvSpPr>
            <a:spLocks noGrp="1"/>
          </p:cNvSpPr>
          <p:nvPr>
            <p:ph idx="1"/>
          </p:nvPr>
        </p:nvSpPr>
        <p:spPr/>
        <p:txBody>
          <a:bodyPr>
            <a:normAutofit fontScale="70000" lnSpcReduction="20000"/>
          </a:bodyPr>
          <a:lstStyle/>
          <a:p>
            <a:pPr lvl="0"/>
            <a:r>
              <a:rPr lang="ru-RU" dirty="0"/>
              <a:t>Равнодушие всегда было величайшим  врагом нравственности (Альберт </a:t>
            </a:r>
            <a:r>
              <a:rPr lang="ru-RU" dirty="0" err="1"/>
              <a:t>Швейцер</a:t>
            </a:r>
            <a:r>
              <a:rPr lang="ru-RU" dirty="0"/>
              <a:t>). </a:t>
            </a:r>
          </a:p>
          <a:p>
            <a:pPr lvl="0"/>
            <a:r>
              <a:rPr lang="ru-RU" dirty="0"/>
              <a:t>Нравственное уродство-равнодушие к плохим поступкам и </a:t>
            </a:r>
            <a:r>
              <a:rPr lang="ru-RU" dirty="0" smtClean="0"/>
              <a:t>словам ( </a:t>
            </a:r>
            <a:r>
              <a:rPr lang="ru-RU" dirty="0" err="1"/>
              <a:t>Феофраст</a:t>
            </a:r>
            <a:r>
              <a:rPr lang="ru-RU" dirty="0"/>
              <a:t>).</a:t>
            </a:r>
          </a:p>
          <a:p>
            <a:pPr lvl="0"/>
            <a:r>
              <a:rPr lang="ru-RU" dirty="0"/>
              <a:t>Равнодушие-это паралич души, преждевременная смерть </a:t>
            </a:r>
            <a:r>
              <a:rPr lang="ru-RU" dirty="0" smtClean="0"/>
              <a:t>  </a:t>
            </a:r>
            <a:r>
              <a:rPr lang="ru-RU" dirty="0"/>
              <a:t>(А. П. Чехов). </a:t>
            </a:r>
          </a:p>
          <a:p>
            <a:pPr lvl="0"/>
            <a:r>
              <a:rPr lang="ru-RU" dirty="0"/>
              <a:t>Если ты равнодушен к страданиям других, ты не заслуживаешь звание человека </a:t>
            </a:r>
            <a:r>
              <a:rPr lang="ru-RU" dirty="0" smtClean="0"/>
              <a:t> ( </a:t>
            </a:r>
            <a:r>
              <a:rPr lang="ru-RU" dirty="0" err="1"/>
              <a:t>М.Саади</a:t>
            </a:r>
            <a:r>
              <a:rPr lang="ru-RU" dirty="0"/>
              <a:t>).  </a:t>
            </a:r>
          </a:p>
          <a:p>
            <a:pPr lvl="0"/>
            <a:r>
              <a:rPr lang="ru-RU" dirty="0"/>
              <a:t>Равнодушие - тяжкая болезнь души (</a:t>
            </a:r>
            <a:r>
              <a:rPr lang="ru-RU" dirty="0" err="1"/>
              <a:t>А.де</a:t>
            </a:r>
            <a:r>
              <a:rPr lang="ru-RU" dirty="0"/>
              <a:t> </a:t>
            </a:r>
            <a:r>
              <a:rPr lang="ru-RU" dirty="0" err="1"/>
              <a:t>Токвиль</a:t>
            </a:r>
            <a:r>
              <a:rPr lang="ru-RU" dirty="0"/>
              <a:t>).</a:t>
            </a:r>
          </a:p>
          <a:p>
            <a:pPr lvl="0"/>
            <a:r>
              <a:rPr lang="ru-RU" dirty="0"/>
              <a:t>Равнодушие есть наивысшая жестокость (М. Уилсон</a:t>
            </a:r>
            <a:r>
              <a:rPr lang="ru-RU" dirty="0" smtClean="0"/>
              <a:t>).</a:t>
            </a:r>
            <a:endParaRPr lang="ru-RU" dirty="0"/>
          </a:p>
          <a:p>
            <a:pPr lvl="0"/>
            <a:r>
              <a:rPr lang="ru-RU" dirty="0"/>
              <a:t>Неблагодарный сын хуже чужого: это преступник, так как сын не имеет права быть равнодушным к матери (Ги де Мопассан). </a:t>
            </a:r>
          </a:p>
          <a:p>
            <a:pPr lvl="0"/>
            <a:r>
              <a:rPr lang="ru-RU" dirty="0"/>
              <a:t>Равнодушие страшней войны (М. Лютер).</a:t>
            </a:r>
          </a:p>
          <a:p>
            <a:endParaRPr lang="ru-RU" dirty="0"/>
          </a:p>
        </p:txBody>
      </p:sp>
    </p:spTree>
    <p:extLst>
      <p:ext uri="{BB962C8B-B14F-4D97-AF65-F5344CB8AC3E}">
        <p14:creationId xmlns:p14="http://schemas.microsoft.com/office/powerpoint/2010/main" val="6338352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Методический конструктор: лексическое значение </a:t>
            </a:r>
            <a:r>
              <a:rPr lang="ru-RU" dirty="0" smtClean="0"/>
              <a:t>слова «отзывчивость»</a:t>
            </a:r>
            <a:endParaRPr lang="ru-RU" dirty="0"/>
          </a:p>
        </p:txBody>
      </p:sp>
      <p:sp>
        <p:nvSpPr>
          <p:cNvPr id="3" name="Объект 2"/>
          <p:cNvSpPr>
            <a:spLocks noGrp="1"/>
          </p:cNvSpPr>
          <p:nvPr>
            <p:ph idx="1"/>
          </p:nvPr>
        </p:nvSpPr>
        <p:spPr/>
        <p:txBody>
          <a:bodyPr>
            <a:normAutofit/>
          </a:bodyPr>
          <a:lstStyle/>
          <a:p>
            <a:r>
              <a:rPr lang="ru-RU" b="1" dirty="0" smtClean="0"/>
              <a:t>Отзывчивость - духовно-нравственное </a:t>
            </a:r>
            <a:r>
              <a:rPr lang="ru-RU" b="1" dirty="0"/>
              <a:t>качество человека, легко откликающегося на чужие нужды, готовность </a:t>
            </a:r>
            <a:r>
              <a:rPr lang="ru-RU" b="1" dirty="0" smtClean="0"/>
              <a:t>помочь,</a:t>
            </a:r>
            <a:r>
              <a:rPr lang="ru-RU" dirty="0"/>
              <a:t> </a:t>
            </a:r>
            <a:r>
              <a:rPr lang="ru-RU" b="1" dirty="0" smtClean="0"/>
              <a:t>положительное духовно-нравственное </a:t>
            </a:r>
            <a:r>
              <a:rPr lang="ru-RU" b="1" dirty="0"/>
              <a:t>качество личности, проявляющееся как склонность помогать нуждающимся, видеть нужду, бескорыстие, щедрость, умение прощать, терпимость</a:t>
            </a:r>
            <a:r>
              <a:rPr lang="ru-RU" b="1" dirty="0" smtClean="0"/>
              <a:t>.</a:t>
            </a:r>
          </a:p>
          <a:p>
            <a:r>
              <a:rPr lang="ru-RU" b="1" dirty="0" smtClean="0"/>
              <a:t>Синонимы: </a:t>
            </a:r>
            <a:r>
              <a:rPr lang="ru-RU" b="1" dirty="0"/>
              <a:t>внимание, </a:t>
            </a:r>
            <a:r>
              <a:rPr lang="ru-RU" b="1" dirty="0" smtClean="0"/>
              <a:t>внимательность, </a:t>
            </a:r>
            <a:r>
              <a:rPr lang="ru-RU" dirty="0" smtClean="0"/>
              <a:t> </a:t>
            </a:r>
            <a:r>
              <a:rPr lang="ru-RU" b="1" dirty="0" smtClean="0"/>
              <a:t>доброта</a:t>
            </a:r>
            <a:r>
              <a:rPr lang="ru-RU" dirty="0" smtClean="0"/>
              <a:t>, </a:t>
            </a:r>
            <a:r>
              <a:rPr lang="ru-RU" b="1" dirty="0" smtClean="0"/>
              <a:t>чуткость</a:t>
            </a:r>
            <a:r>
              <a:rPr lang="ru-RU" dirty="0" smtClean="0"/>
              <a:t>, </a:t>
            </a:r>
            <a:r>
              <a:rPr lang="ru-RU" b="1" dirty="0" smtClean="0"/>
              <a:t>добродушие</a:t>
            </a:r>
            <a:r>
              <a:rPr lang="ru-RU" b="1" dirty="0"/>
              <a:t>, </a:t>
            </a:r>
            <a:r>
              <a:rPr lang="ru-RU" b="1" dirty="0" smtClean="0"/>
              <a:t>доброжелательность, сердечность</a:t>
            </a:r>
            <a:r>
              <a:rPr lang="ru-RU" dirty="0" smtClean="0"/>
              <a:t>, </a:t>
            </a:r>
            <a:r>
              <a:rPr lang="ru-RU" b="1" dirty="0" smtClean="0"/>
              <a:t>сопереживание,</a:t>
            </a:r>
            <a:r>
              <a:rPr lang="ru-RU" dirty="0"/>
              <a:t> </a:t>
            </a:r>
            <a:r>
              <a:rPr lang="ru-RU" b="1" dirty="0" smtClean="0"/>
              <a:t>уважение</a:t>
            </a:r>
            <a:r>
              <a:rPr lang="ru-RU" dirty="0" smtClean="0"/>
              <a:t>, </a:t>
            </a:r>
            <a:r>
              <a:rPr lang="ru-RU" b="1" dirty="0" smtClean="0"/>
              <a:t>душевность</a:t>
            </a:r>
            <a:r>
              <a:rPr lang="ru-RU" b="1" dirty="0"/>
              <a:t>, участливость</a:t>
            </a:r>
            <a:endParaRPr lang="ru-RU" dirty="0"/>
          </a:p>
        </p:txBody>
      </p:sp>
    </p:spTree>
    <p:extLst>
      <p:ext uri="{BB962C8B-B14F-4D97-AF65-F5344CB8AC3E}">
        <p14:creationId xmlns:p14="http://schemas.microsoft.com/office/powerpoint/2010/main" val="40509269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Методический конструктор: мысли великих людей </a:t>
            </a:r>
            <a:r>
              <a:rPr lang="ru-RU" dirty="0" smtClean="0"/>
              <a:t>об отзывчивости</a:t>
            </a:r>
            <a:endParaRPr lang="ru-RU" dirty="0"/>
          </a:p>
        </p:txBody>
      </p:sp>
      <p:sp>
        <p:nvSpPr>
          <p:cNvPr id="3" name="Объект 2"/>
          <p:cNvSpPr>
            <a:spLocks noGrp="1"/>
          </p:cNvSpPr>
          <p:nvPr>
            <p:ph idx="1"/>
          </p:nvPr>
        </p:nvSpPr>
        <p:spPr/>
        <p:txBody>
          <a:bodyPr/>
          <a:lstStyle/>
          <a:p>
            <a:pPr lvl="0"/>
            <a:r>
              <a:rPr lang="ru-RU" dirty="0"/>
              <a:t>Отзывчивость ближних - это зачастую лучший психолог или психиатр </a:t>
            </a:r>
            <a:r>
              <a:rPr lang="ru-RU" dirty="0" smtClean="0"/>
              <a:t>(</a:t>
            </a:r>
            <a:r>
              <a:rPr lang="ru-RU" dirty="0" err="1"/>
              <a:t>Л.Виилма</a:t>
            </a:r>
            <a:r>
              <a:rPr lang="ru-RU" dirty="0"/>
              <a:t>).</a:t>
            </a:r>
          </a:p>
          <a:p>
            <a:pPr lvl="0"/>
            <a:r>
              <a:rPr lang="ru-RU" dirty="0"/>
              <a:t>Сочувствие во время несчастья подобно дождю во время засухи (индийская пословица).</a:t>
            </a:r>
          </a:p>
          <a:p>
            <a:endParaRPr lang="ru-RU" dirty="0"/>
          </a:p>
        </p:txBody>
      </p:sp>
    </p:spTree>
    <p:extLst>
      <p:ext uri="{BB962C8B-B14F-4D97-AF65-F5344CB8AC3E}">
        <p14:creationId xmlns:p14="http://schemas.microsoft.com/office/powerpoint/2010/main" val="11389564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4000" b="1" dirty="0">
                <a:solidFill>
                  <a:schemeClr val="accent4">
                    <a:lumMod val="75000"/>
                  </a:schemeClr>
                </a:solidFill>
              </a:rPr>
              <a:t>Примеры произведений по данному направлению</a:t>
            </a:r>
            <a:endParaRPr lang="ru-RU" b="1" dirty="0">
              <a:solidFill>
                <a:schemeClr val="accent4">
                  <a:lumMod val="75000"/>
                </a:schemeClr>
              </a:solidFill>
            </a:endParaRPr>
          </a:p>
        </p:txBody>
      </p:sp>
      <p:sp>
        <p:nvSpPr>
          <p:cNvPr id="3" name="Объект 2"/>
          <p:cNvSpPr>
            <a:spLocks noGrp="1"/>
          </p:cNvSpPr>
          <p:nvPr>
            <p:ph idx="1"/>
          </p:nvPr>
        </p:nvSpPr>
        <p:spPr/>
        <p:txBody>
          <a:bodyPr/>
          <a:lstStyle/>
          <a:p>
            <a:r>
              <a:rPr lang="ru-RU" dirty="0" smtClean="0"/>
              <a:t>1</a:t>
            </a:r>
            <a:r>
              <a:rPr lang="ru-RU" sz="2800" b="1" dirty="0" smtClean="0"/>
              <a:t>. Б. </a:t>
            </a:r>
            <a:r>
              <a:rPr lang="ru-RU" sz="2800" b="1" dirty="0"/>
              <a:t>Е</a:t>
            </a:r>
            <a:r>
              <a:rPr lang="ru-RU" sz="2800" b="1" dirty="0" smtClean="0"/>
              <a:t>кимов  «Ночь исцеления»</a:t>
            </a:r>
          </a:p>
          <a:p>
            <a:r>
              <a:rPr lang="ru-RU" sz="2800" b="1" dirty="0" smtClean="0"/>
              <a:t>2. Ю. </a:t>
            </a:r>
            <a:r>
              <a:rPr lang="ru-RU" sz="2800" b="1" dirty="0"/>
              <a:t>Я</a:t>
            </a:r>
            <a:r>
              <a:rPr lang="ru-RU" sz="2800" b="1" dirty="0" smtClean="0"/>
              <a:t>ковлев  «Мальчик с коньками»</a:t>
            </a:r>
          </a:p>
          <a:p>
            <a:r>
              <a:rPr lang="ru-RU" sz="2800" b="1" dirty="0" smtClean="0"/>
              <a:t>3. В. Короленко «Дети подземелья»</a:t>
            </a:r>
          </a:p>
          <a:p>
            <a:r>
              <a:rPr lang="ru-RU" sz="2800" b="1" dirty="0" smtClean="0"/>
              <a:t>4. А. П. Чехов «Вишневый сад»</a:t>
            </a:r>
          </a:p>
          <a:p>
            <a:r>
              <a:rPr lang="ru-RU" sz="2800" b="1" dirty="0" smtClean="0"/>
              <a:t>5. </a:t>
            </a:r>
            <a:r>
              <a:rPr lang="ru-RU" sz="2800" b="1" dirty="0"/>
              <a:t>Н</a:t>
            </a:r>
            <a:r>
              <a:rPr lang="ru-RU" sz="2800" b="1" dirty="0" smtClean="0"/>
              <a:t>.В Гоголь «Мертвые души»</a:t>
            </a:r>
            <a:endParaRPr lang="ru-RU" sz="2800" b="1" dirty="0"/>
          </a:p>
        </p:txBody>
      </p:sp>
    </p:spTree>
    <p:extLst>
      <p:ext uri="{BB962C8B-B14F-4D97-AF65-F5344CB8AC3E}">
        <p14:creationId xmlns:p14="http://schemas.microsoft.com/office/powerpoint/2010/main" val="40378070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solidFill>
                  <a:schemeClr val="accent4">
                    <a:lumMod val="75000"/>
                  </a:schemeClr>
                </a:solidFill>
              </a:rPr>
              <a:t>Примеры произведений по данному направлению</a:t>
            </a:r>
            <a:endParaRPr lang="ru-RU" dirty="0"/>
          </a:p>
        </p:txBody>
      </p:sp>
      <p:sp>
        <p:nvSpPr>
          <p:cNvPr id="3" name="Объект 2"/>
          <p:cNvSpPr>
            <a:spLocks noGrp="1"/>
          </p:cNvSpPr>
          <p:nvPr>
            <p:ph idx="1"/>
          </p:nvPr>
        </p:nvSpPr>
        <p:spPr/>
        <p:txBody>
          <a:bodyPr/>
          <a:lstStyle/>
          <a:p>
            <a:pPr fontAlgn="base"/>
            <a:r>
              <a:rPr lang="ru-RU" dirty="0"/>
              <a:t>А.С. Пушкин </a:t>
            </a:r>
            <a:r>
              <a:rPr lang="ru-RU" u="sng" dirty="0">
                <a:hlinkClick r:id="rId2"/>
              </a:rPr>
              <a:t>«Медный всадник</a:t>
            </a:r>
            <a:r>
              <a:rPr lang="ru-RU" u="sng" dirty="0">
                <a:hlinkClick r:id="rId3"/>
              </a:rPr>
              <a:t>»;</a:t>
            </a:r>
            <a:endParaRPr lang="ru-RU" dirty="0"/>
          </a:p>
          <a:p>
            <a:pPr fontAlgn="base"/>
            <a:r>
              <a:rPr lang="ru-RU" dirty="0"/>
              <a:t>А.П. Чехов  </a:t>
            </a:r>
            <a:r>
              <a:rPr lang="ru-RU" u="sng" dirty="0">
                <a:hlinkClick r:id="rId4"/>
              </a:rPr>
              <a:t>«Тоска»;</a:t>
            </a:r>
            <a:endParaRPr lang="ru-RU" dirty="0"/>
          </a:p>
          <a:p>
            <a:pPr fontAlgn="base"/>
            <a:r>
              <a:rPr lang="ru-RU" dirty="0"/>
              <a:t>И.А. Бунин  </a:t>
            </a:r>
            <a:r>
              <a:rPr lang="ru-RU" u="sng" dirty="0">
                <a:hlinkClick r:id="rId5"/>
              </a:rPr>
              <a:t>«Лапти»;</a:t>
            </a:r>
            <a:endParaRPr lang="ru-RU" dirty="0"/>
          </a:p>
          <a:p>
            <a:pPr fontAlgn="base"/>
            <a:r>
              <a:rPr lang="ru-RU" dirty="0"/>
              <a:t>А.П. Платонов  </a:t>
            </a:r>
            <a:r>
              <a:rPr lang="ru-RU" u="sng" dirty="0">
                <a:hlinkClick r:id="rId6"/>
              </a:rPr>
              <a:t>«Юшка»;</a:t>
            </a:r>
            <a:endParaRPr lang="ru-RU" dirty="0"/>
          </a:p>
          <a:p>
            <a:pPr fontAlgn="base"/>
            <a:r>
              <a:rPr lang="ru-RU" dirty="0"/>
              <a:t>М.А. Шолохов </a:t>
            </a:r>
            <a:r>
              <a:rPr lang="ru-RU" u="sng" dirty="0">
                <a:hlinkClick r:id="rId7"/>
              </a:rPr>
              <a:t>«Судьба человека» ;</a:t>
            </a:r>
            <a:endParaRPr lang="ru-RU" dirty="0"/>
          </a:p>
          <a:p>
            <a:pPr fontAlgn="base"/>
            <a:r>
              <a:rPr lang="ru-RU" dirty="0"/>
              <a:t>Е.И. Носов </a:t>
            </a:r>
            <a:r>
              <a:rPr lang="ru-RU" u="sng" dirty="0">
                <a:hlinkClick r:id="rId8"/>
              </a:rPr>
              <a:t>«</a:t>
            </a:r>
            <a:r>
              <a:rPr lang="ru-RU" u="sng" dirty="0" err="1">
                <a:hlinkClick r:id="rId8"/>
              </a:rPr>
              <a:t>Акимыч</a:t>
            </a:r>
            <a:r>
              <a:rPr lang="ru-RU" u="sng" dirty="0">
                <a:hlinkClick r:id="rId8"/>
              </a:rPr>
              <a:t> (Кукла)»;</a:t>
            </a:r>
            <a:endParaRPr lang="ru-RU" dirty="0"/>
          </a:p>
          <a:p>
            <a:endParaRPr lang="ru-RU" dirty="0"/>
          </a:p>
        </p:txBody>
      </p:sp>
    </p:spTree>
    <p:extLst>
      <p:ext uri="{BB962C8B-B14F-4D97-AF65-F5344CB8AC3E}">
        <p14:creationId xmlns:p14="http://schemas.microsoft.com/office/powerpoint/2010/main" val="4784245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Примерные темы</a:t>
            </a:r>
            <a:endParaRPr lang="ru-RU" dirty="0"/>
          </a:p>
        </p:txBody>
      </p:sp>
      <p:sp>
        <p:nvSpPr>
          <p:cNvPr id="3" name="Объект 2"/>
          <p:cNvSpPr>
            <a:spLocks noGrp="1"/>
          </p:cNvSpPr>
          <p:nvPr>
            <p:ph idx="1"/>
          </p:nvPr>
        </p:nvSpPr>
        <p:spPr/>
        <p:txBody>
          <a:bodyPr/>
          <a:lstStyle/>
          <a:p>
            <a:r>
              <a:rPr lang="ru-RU" dirty="0" smtClean="0"/>
              <a:t>1. </a:t>
            </a:r>
            <a:r>
              <a:rPr lang="de-DE" dirty="0" err="1" smtClean="0"/>
              <a:t>Согласны</a:t>
            </a:r>
            <a:r>
              <a:rPr lang="de-DE" dirty="0" smtClean="0"/>
              <a:t> </a:t>
            </a:r>
            <a:r>
              <a:rPr lang="de-DE" dirty="0" err="1"/>
              <a:t>ли</a:t>
            </a:r>
            <a:r>
              <a:rPr lang="de-DE" dirty="0"/>
              <a:t> </a:t>
            </a:r>
            <a:r>
              <a:rPr lang="de-DE" dirty="0" err="1"/>
              <a:t>Вы</a:t>
            </a:r>
            <a:r>
              <a:rPr lang="de-DE" dirty="0"/>
              <a:t> с </a:t>
            </a:r>
            <a:r>
              <a:rPr lang="de-DE" dirty="0" err="1"/>
              <a:t>мыслью</a:t>
            </a:r>
            <a:r>
              <a:rPr lang="de-DE" dirty="0"/>
              <a:t> </a:t>
            </a:r>
            <a:r>
              <a:rPr lang="de-DE" dirty="0" err="1"/>
              <a:t>А.П.Чехова</a:t>
            </a:r>
            <a:r>
              <a:rPr lang="de-DE" dirty="0"/>
              <a:t>, </a:t>
            </a:r>
            <a:r>
              <a:rPr lang="de-DE" dirty="0" err="1"/>
              <a:t>что</a:t>
            </a:r>
            <a:r>
              <a:rPr lang="de-DE" dirty="0"/>
              <a:t> «…</a:t>
            </a:r>
            <a:r>
              <a:rPr lang="de-DE" dirty="0" err="1"/>
              <a:t>равнодушие</a:t>
            </a:r>
            <a:r>
              <a:rPr lang="de-DE" dirty="0"/>
              <a:t> — </a:t>
            </a:r>
            <a:r>
              <a:rPr lang="de-DE" dirty="0" err="1"/>
              <a:t>это</a:t>
            </a:r>
            <a:r>
              <a:rPr lang="de-DE" dirty="0"/>
              <a:t> </a:t>
            </a:r>
            <a:r>
              <a:rPr lang="de-DE" dirty="0" err="1"/>
              <a:t>паралич</a:t>
            </a:r>
            <a:r>
              <a:rPr lang="de-DE" dirty="0"/>
              <a:t> </a:t>
            </a:r>
            <a:r>
              <a:rPr lang="de-DE" dirty="0" err="1"/>
              <a:t>души</a:t>
            </a:r>
            <a:r>
              <a:rPr lang="de-DE" dirty="0"/>
              <a:t>, </a:t>
            </a:r>
            <a:r>
              <a:rPr lang="de-DE" dirty="0" err="1"/>
              <a:t>преждевременная</a:t>
            </a:r>
            <a:r>
              <a:rPr lang="de-DE" dirty="0"/>
              <a:t> </a:t>
            </a:r>
            <a:r>
              <a:rPr lang="de-DE" dirty="0" err="1"/>
              <a:t>смерть</a:t>
            </a:r>
            <a:r>
              <a:rPr lang="de-DE" dirty="0"/>
              <a:t>»?</a:t>
            </a:r>
            <a:br>
              <a:rPr lang="de-DE" dirty="0"/>
            </a:br>
            <a:r>
              <a:rPr lang="de-DE" dirty="0"/>
              <a:t>2. </a:t>
            </a:r>
            <a:r>
              <a:rPr lang="de-DE" dirty="0" err="1"/>
              <a:t>Важно</a:t>
            </a:r>
            <a:r>
              <a:rPr lang="de-DE" dirty="0"/>
              <a:t> </a:t>
            </a:r>
            <a:r>
              <a:rPr lang="de-DE" dirty="0" err="1"/>
              <a:t>ли</a:t>
            </a:r>
            <a:r>
              <a:rPr lang="de-DE" dirty="0"/>
              <a:t> в </a:t>
            </a:r>
            <a:r>
              <a:rPr lang="de-DE" dirty="0" err="1"/>
              <a:t>наше</a:t>
            </a:r>
            <a:r>
              <a:rPr lang="de-DE" dirty="0"/>
              <a:t> </a:t>
            </a:r>
            <a:r>
              <a:rPr lang="de-DE" dirty="0" err="1"/>
              <a:t>время</a:t>
            </a:r>
            <a:r>
              <a:rPr lang="de-DE" dirty="0"/>
              <a:t> </a:t>
            </a:r>
            <a:r>
              <a:rPr lang="de-DE" dirty="0" err="1"/>
              <a:t>быть</a:t>
            </a:r>
            <a:r>
              <a:rPr lang="de-DE" dirty="0"/>
              <a:t> </a:t>
            </a:r>
            <a:r>
              <a:rPr lang="de-DE" dirty="0" err="1"/>
              <a:t>отзывчивым</a:t>
            </a:r>
            <a:r>
              <a:rPr lang="de-DE" dirty="0"/>
              <a:t> </a:t>
            </a:r>
            <a:r>
              <a:rPr lang="de-DE" dirty="0" err="1"/>
              <a:t>человеком</a:t>
            </a:r>
            <a:r>
              <a:rPr lang="de-DE" dirty="0"/>
              <a:t>?</a:t>
            </a:r>
            <a:br>
              <a:rPr lang="de-DE" dirty="0"/>
            </a:br>
            <a:r>
              <a:rPr lang="de-DE" dirty="0"/>
              <a:t>3. </a:t>
            </a:r>
            <a:r>
              <a:rPr lang="de-DE" dirty="0" err="1"/>
              <a:t>Согласны</a:t>
            </a:r>
            <a:r>
              <a:rPr lang="de-DE" dirty="0"/>
              <a:t> </a:t>
            </a:r>
            <a:r>
              <a:rPr lang="de-DE" dirty="0" err="1"/>
              <a:t>ли</a:t>
            </a:r>
            <a:r>
              <a:rPr lang="de-DE" dirty="0"/>
              <a:t> </a:t>
            </a:r>
            <a:r>
              <a:rPr lang="de-DE" dirty="0" err="1"/>
              <a:t>Вы</a:t>
            </a:r>
            <a:r>
              <a:rPr lang="de-DE" dirty="0"/>
              <a:t> с </a:t>
            </a:r>
            <a:r>
              <a:rPr lang="de-DE" dirty="0" err="1"/>
              <a:t>утверждением</a:t>
            </a:r>
            <a:r>
              <a:rPr lang="de-DE" dirty="0"/>
              <a:t> </a:t>
            </a:r>
            <a:r>
              <a:rPr lang="de-DE" dirty="0" err="1"/>
              <a:t>Н.С.Лескова</a:t>
            </a:r>
            <a:r>
              <a:rPr lang="de-DE" dirty="0"/>
              <a:t>: «</a:t>
            </a:r>
            <a:r>
              <a:rPr lang="de-DE" dirty="0" err="1"/>
              <a:t>Снисхождение</a:t>
            </a:r>
            <a:r>
              <a:rPr lang="de-DE" dirty="0"/>
              <a:t> к </a:t>
            </a:r>
            <a:r>
              <a:rPr lang="de-DE" dirty="0" err="1"/>
              <a:t>злу</a:t>
            </a:r>
            <a:r>
              <a:rPr lang="de-DE" dirty="0"/>
              <a:t> </a:t>
            </a:r>
            <a:r>
              <a:rPr lang="de-DE" dirty="0" err="1"/>
              <a:t>очень</a:t>
            </a:r>
            <a:r>
              <a:rPr lang="de-DE" dirty="0"/>
              <a:t> </a:t>
            </a:r>
            <a:r>
              <a:rPr lang="de-DE" dirty="0" err="1"/>
              <a:t>тесно</a:t>
            </a:r>
            <a:r>
              <a:rPr lang="de-DE" dirty="0"/>
              <a:t> </a:t>
            </a:r>
            <a:r>
              <a:rPr lang="de-DE" dirty="0" err="1"/>
              <a:t>граничит</a:t>
            </a:r>
            <a:r>
              <a:rPr lang="de-DE" dirty="0"/>
              <a:t> с </a:t>
            </a:r>
            <a:r>
              <a:rPr lang="de-DE" dirty="0" err="1"/>
              <a:t>равнодушием</a:t>
            </a:r>
            <a:r>
              <a:rPr lang="de-DE" dirty="0"/>
              <a:t> к </a:t>
            </a:r>
            <a:r>
              <a:rPr lang="de-DE" dirty="0" err="1"/>
              <a:t>добру</a:t>
            </a:r>
            <a:r>
              <a:rPr lang="de-DE" dirty="0"/>
              <a:t>»?</a:t>
            </a:r>
            <a:br>
              <a:rPr lang="de-DE" dirty="0"/>
            </a:br>
            <a:r>
              <a:rPr lang="de-DE" dirty="0"/>
              <a:t>4. </a:t>
            </a:r>
            <a:r>
              <a:rPr lang="de-DE" dirty="0" err="1"/>
              <a:t>Каким</a:t>
            </a:r>
            <a:r>
              <a:rPr lang="de-DE" dirty="0"/>
              <a:t> </a:t>
            </a:r>
            <a:r>
              <a:rPr lang="de-DE" dirty="0" err="1"/>
              <a:t>стал</a:t>
            </a:r>
            <a:r>
              <a:rPr lang="de-DE" dirty="0"/>
              <a:t> </a:t>
            </a:r>
            <a:r>
              <a:rPr lang="de-DE" dirty="0" err="1"/>
              <a:t>бы</a:t>
            </a:r>
            <a:r>
              <a:rPr lang="de-DE" dirty="0"/>
              <a:t> </a:t>
            </a:r>
            <a:r>
              <a:rPr lang="de-DE" dirty="0" err="1"/>
              <a:t>наш</a:t>
            </a:r>
            <a:r>
              <a:rPr lang="de-DE" dirty="0"/>
              <a:t> </a:t>
            </a:r>
            <a:r>
              <a:rPr lang="de-DE" dirty="0" err="1"/>
              <a:t>мир</a:t>
            </a:r>
            <a:r>
              <a:rPr lang="de-DE" dirty="0"/>
              <a:t>, </a:t>
            </a:r>
            <a:r>
              <a:rPr lang="de-DE" dirty="0" err="1"/>
              <a:t>если</a:t>
            </a:r>
            <a:r>
              <a:rPr lang="de-DE" dirty="0"/>
              <a:t> </a:t>
            </a:r>
            <a:r>
              <a:rPr lang="de-DE" dirty="0" err="1"/>
              <a:t>бы</a:t>
            </a:r>
            <a:r>
              <a:rPr lang="de-DE" dirty="0"/>
              <a:t> </a:t>
            </a:r>
            <a:r>
              <a:rPr lang="de-DE" dirty="0" err="1"/>
              <a:t>исчезли</a:t>
            </a:r>
            <a:r>
              <a:rPr lang="de-DE" dirty="0"/>
              <a:t> </a:t>
            </a:r>
            <a:r>
              <a:rPr lang="de-DE" dirty="0" err="1"/>
              <a:t>доброта</a:t>
            </a:r>
            <a:r>
              <a:rPr lang="de-DE" dirty="0"/>
              <a:t> и </a:t>
            </a:r>
            <a:r>
              <a:rPr lang="de-DE" dirty="0" err="1"/>
              <a:t>отзывчивость</a:t>
            </a:r>
            <a:r>
              <a:rPr lang="de-DE" dirty="0"/>
              <a:t>?</a:t>
            </a:r>
            <a:br>
              <a:rPr lang="de-DE" dirty="0"/>
            </a:br>
            <a:r>
              <a:rPr lang="de-DE" dirty="0"/>
              <a:t>5. </a:t>
            </a:r>
            <a:r>
              <a:rPr lang="de-DE" dirty="0" err="1"/>
              <a:t>Что</a:t>
            </a:r>
            <a:r>
              <a:rPr lang="de-DE" dirty="0"/>
              <a:t>, </a:t>
            </a:r>
            <a:r>
              <a:rPr lang="de-DE" dirty="0" err="1"/>
              <a:t>на</a:t>
            </a:r>
            <a:r>
              <a:rPr lang="de-DE" dirty="0"/>
              <a:t> </a:t>
            </a:r>
            <a:r>
              <a:rPr lang="de-DE" dirty="0" err="1"/>
              <a:t>ваш</a:t>
            </a:r>
            <a:r>
              <a:rPr lang="de-DE" dirty="0"/>
              <a:t> </a:t>
            </a:r>
            <a:r>
              <a:rPr lang="de-DE" dirty="0" err="1"/>
              <a:t>взгляд</a:t>
            </a:r>
            <a:r>
              <a:rPr lang="de-DE" dirty="0"/>
              <a:t>, </a:t>
            </a:r>
            <a:r>
              <a:rPr lang="de-DE" dirty="0" err="1"/>
              <a:t>может</a:t>
            </a:r>
            <a:r>
              <a:rPr lang="de-DE" dirty="0"/>
              <a:t> </a:t>
            </a:r>
            <a:r>
              <a:rPr lang="de-DE" dirty="0" err="1"/>
              <a:t>быть</a:t>
            </a:r>
            <a:r>
              <a:rPr lang="de-DE" dirty="0"/>
              <a:t> </a:t>
            </a:r>
            <a:r>
              <a:rPr lang="de-DE" dirty="0" err="1"/>
              <a:t>хуже</a:t>
            </a:r>
            <a:r>
              <a:rPr lang="de-DE" dirty="0"/>
              <a:t> </a:t>
            </a:r>
            <a:r>
              <a:rPr lang="de-DE" dirty="0" err="1"/>
              <a:t>равнодушия</a:t>
            </a:r>
            <a:r>
              <a:rPr lang="de-DE" dirty="0"/>
              <a:t>?</a:t>
            </a:r>
            <a:endParaRPr lang="ru-RU" dirty="0"/>
          </a:p>
        </p:txBody>
      </p:sp>
    </p:spTree>
    <p:extLst>
      <p:ext uri="{BB962C8B-B14F-4D97-AF65-F5344CB8AC3E}">
        <p14:creationId xmlns:p14="http://schemas.microsoft.com/office/powerpoint/2010/main" val="131543271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smtClean="0"/>
              <a:t>Аргументы: «Преступление и наказание»</a:t>
            </a:r>
            <a:endParaRPr lang="ru-RU" dirty="0"/>
          </a:p>
        </p:txBody>
      </p:sp>
      <p:sp>
        <p:nvSpPr>
          <p:cNvPr id="3" name="Объект 2"/>
          <p:cNvSpPr>
            <a:spLocks noGrp="1"/>
          </p:cNvSpPr>
          <p:nvPr>
            <p:ph idx="1"/>
          </p:nvPr>
        </p:nvSpPr>
        <p:spPr/>
        <p:txBody>
          <a:bodyPr>
            <a:normAutofit fontScale="55000" lnSpcReduction="20000"/>
          </a:bodyPr>
          <a:lstStyle/>
          <a:p>
            <a:r>
              <a:rPr lang="ru-RU" dirty="0"/>
              <a:t>Роман </a:t>
            </a:r>
            <a:r>
              <a:rPr lang="ru-RU" dirty="0" err="1"/>
              <a:t>Ф.М.Достоевского</a:t>
            </a:r>
            <a:r>
              <a:rPr lang="ru-RU" dirty="0"/>
              <a:t> «Преступление и наказание» — многоплановое произведение. Множество проблем – социальных, философских, нравственных — пытается поднять в нём автор. Одна из них – это проблема социального равнодушия, безразличия к судьбам других со стороны  «власть имущих». Это результат  несправедливых законов, а не только особенностей характеров людей. Унижение, оскорбление  было так естественно по отношению к тем, кто стоял значительно ниже их по социальной лестнице. Поэтому и можно было Свидригайлову обвинить в краже Дуняшу, Лужину думать о женитьбе на женщине, которая всю жизнь была бы  ему благодарна. Равнодушие к судьбе другого порождается безнаказанностью, которая творилось в годы, описываемые автором.</a:t>
            </a:r>
          </a:p>
          <a:p>
            <a:r>
              <a:rPr lang="ru-RU" dirty="0"/>
              <a:t>Понять другого, посочувствовать ему, всем сердцем отозваться на чужую боль, горе может человек, сам испытавший подобное. Раскольников , не задумываясь, отдаёт последние деньги Мармеладовым, в семье которых такое горе; Разумихин помогает в трудную минуту своему другу- Раскольникову, сначала предлагая ему  работу, хотя сам был в трудном материальном положении, затем находясь у постели больного друга; Дуняша ради любимого  брата готова на всё, даже на брак с нелюбимым; всё готова сделать для любимого Роди его мама. Соня Мармеладова оказалась рядом в страшный период жизни героя, пошла за ним , когда его отправили на каторгу, поддерживала.  </a:t>
            </a:r>
            <a:r>
              <a:rPr lang="ru-RU" i="1" dirty="0"/>
              <a:t>«Их воскресила любовь, сердце одного заключало бесконечные источники жизни для сердца другого»,</a:t>
            </a:r>
            <a:r>
              <a:rPr lang="ru-RU" dirty="0"/>
              <a:t> — написал автор. Всё это — примеры искренней отзывчивости, милосердия, человечности. Именно такое поведение героев спасло других, помогло им, вселило надежду.</a:t>
            </a:r>
          </a:p>
          <a:p>
            <a:r>
              <a:rPr lang="ru-RU" dirty="0"/>
              <a:t>Отдавая, человек больше получает. </a:t>
            </a:r>
            <a:r>
              <a:rPr lang="ru-RU" dirty="0" err="1"/>
              <a:t>Ф.М.Достоевский</a:t>
            </a:r>
            <a:r>
              <a:rPr lang="ru-RU" dirty="0"/>
              <a:t> показал, что все, кто способен на сочувствие, на взаимопомощь, обретут счастье. Счастливы Разумихин и Дуня, полюбив друг друга, выдержала испытания любовь Раскольникова и Сони. А счастливы ли Лужин с его стремлением к наживе, Свидригайлов с его подлостью? Нет. О многом задумываются читатели романа, в  том числе и о том, что жить надо с открытым сердцем, не проходить мимо чужой беды, не быть равнодушным человеком.</a:t>
            </a:r>
          </a:p>
          <a:p>
            <a:endParaRPr lang="ru-RU" dirty="0"/>
          </a:p>
        </p:txBody>
      </p:sp>
    </p:spTree>
    <p:extLst>
      <p:ext uri="{BB962C8B-B14F-4D97-AF65-F5344CB8AC3E}">
        <p14:creationId xmlns:p14="http://schemas.microsoft.com/office/powerpoint/2010/main" val="301007435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Аргументы</a:t>
            </a:r>
            <a:r>
              <a:rPr lang="ru-RU" b="1" dirty="0" smtClean="0"/>
              <a:t>: «Война и мир»</a:t>
            </a:r>
            <a:endParaRPr lang="ru-RU" dirty="0"/>
          </a:p>
        </p:txBody>
      </p:sp>
      <p:sp>
        <p:nvSpPr>
          <p:cNvPr id="3" name="Объект 2"/>
          <p:cNvSpPr>
            <a:spLocks noGrp="1"/>
          </p:cNvSpPr>
          <p:nvPr>
            <p:ph idx="1"/>
          </p:nvPr>
        </p:nvSpPr>
        <p:spPr/>
        <p:txBody>
          <a:bodyPr>
            <a:normAutofit fontScale="47500" lnSpcReduction="20000"/>
          </a:bodyPr>
          <a:lstStyle/>
          <a:p>
            <a:r>
              <a:rPr lang="ru-RU" dirty="0"/>
              <a:t>Настоящей «энциклопедией» можно назвать роман-эпопею </a:t>
            </a:r>
            <a:r>
              <a:rPr lang="ru-RU" dirty="0" err="1"/>
              <a:t>Л.Н.Толстого</a:t>
            </a:r>
            <a:r>
              <a:rPr lang="ru-RU" dirty="0"/>
              <a:t> «Война и мир». Кажется, нет ни одной стороны жизни, ни одной проблемы, которую в той или иной степени не затронул автор. Каким должен быть человек? Как нужно относиться к людям — к близким и совсем незнакомым? Каким должно быть поведение человека в трудные моменты истории страны и народа? Обо всём этом размышляет  </a:t>
            </a:r>
            <a:r>
              <a:rPr lang="ru-RU" dirty="0" err="1"/>
              <a:t>Л.Толстой</a:t>
            </a:r>
            <a:r>
              <a:rPr lang="ru-RU" dirty="0"/>
              <a:t>  на страницах романа. Многочисленные герои радуются и страдают, любят и разочаровываются, мечтают —  живут каждый своей жизнью. Но всех их объединила одна трагедия — война. Именно она выявила сущность каждого, показала, насколько духовно богат или низок человек.</a:t>
            </a:r>
          </a:p>
          <a:p>
            <a:r>
              <a:rPr lang="ru-RU" dirty="0"/>
              <a:t>Чистая, прямая, добрая, жизнерадостная Наташа Ростова и в сложные минуты жизни народа проявила лучшие свои качества. Она не осталась в стороне, не была равнодушна к происходящему на её земле. Сочувствие, сострадание толкнули её на то, чтобы организовать подводы для раненых во время отступления из Москвы, стать сестрой милосердия, помогая раненым, облегчая по возможности их боль. Война с ещё большей силой раскрыла в Наташе лучшие черты ей характера.</a:t>
            </a:r>
          </a:p>
          <a:p>
            <a:r>
              <a:rPr lang="ru-RU" dirty="0"/>
              <a:t>А видим ли мы среди тех, кому нужна помощь, таких героев, как Элен, Василий и Анатоль Курагин? Где они в минуты испытаний для России? Элен вообще уехала за границу, там дождавшись окончания войны. продолжая блистать в свете. Анатоль, получивший серьёзное ранение, вызывает только жалость. Эти герои думают лишь о себе. Страх за свою жизнь движет их поступками.</a:t>
            </a:r>
          </a:p>
          <a:p>
            <a:r>
              <a:rPr lang="ru-RU" dirty="0"/>
              <a:t>А как низко и бессердечно поступил император Франции Наполеон, когда бросил свою армию на произвол судьбы, спешно покидая Россию, которую он так хотел завоевать. Офицер, оставляющий солдат, — что может быть отвратительнее и позорнее! Равнодушие, эгоизм, безразличие, бесчувственность — вот что свойственно этому правителю, который , в  конечном итоге, потерял всё</a:t>
            </a:r>
            <a:r>
              <a:rPr lang="ru-RU" i="1" dirty="0"/>
              <a:t>.(«…никогда, до конца жизни, не мог понимать он ни добра, ни красоты, ни истины, ни значения своих поступков, которые были слишком противоположны добру и правде…»).</a:t>
            </a:r>
            <a:endParaRPr lang="ru-RU" dirty="0"/>
          </a:p>
          <a:p>
            <a:r>
              <a:rPr lang="ru-RU" dirty="0"/>
              <a:t>Россия была спасена от Наполеона  всем народом, проявившим единство, мужество, героизм, основа которых — неравнодушие, отзывчивость, любовь к людям и своей стране.</a:t>
            </a:r>
          </a:p>
          <a:p>
            <a:endParaRPr lang="ru-RU" dirty="0"/>
          </a:p>
        </p:txBody>
      </p:sp>
    </p:spTree>
    <p:extLst>
      <p:ext uri="{BB962C8B-B14F-4D97-AF65-F5344CB8AC3E}">
        <p14:creationId xmlns:p14="http://schemas.microsoft.com/office/powerpoint/2010/main" val="54955674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Аргументы</a:t>
            </a:r>
            <a:r>
              <a:rPr lang="ru-RU" b="1" dirty="0" smtClean="0"/>
              <a:t>: «Вишневый сад»</a:t>
            </a:r>
            <a:endParaRPr lang="ru-RU" dirty="0"/>
          </a:p>
        </p:txBody>
      </p:sp>
      <p:sp>
        <p:nvSpPr>
          <p:cNvPr id="3" name="Объект 2"/>
          <p:cNvSpPr>
            <a:spLocks noGrp="1"/>
          </p:cNvSpPr>
          <p:nvPr>
            <p:ph idx="1"/>
          </p:nvPr>
        </p:nvSpPr>
        <p:spPr/>
        <p:txBody>
          <a:bodyPr>
            <a:normAutofit fontScale="62500" lnSpcReduction="20000"/>
          </a:bodyPr>
          <a:lstStyle/>
          <a:p>
            <a:r>
              <a:rPr lang="ru-RU" dirty="0"/>
              <a:t>Всегда ли волнует судьба другого человека? Способны ли люди понять, помочь, проявить сочувствие? Ответы на эти вопросы, как и  многие другие, пытается  найти </a:t>
            </a:r>
            <a:r>
              <a:rPr lang="ru-RU" dirty="0" err="1"/>
              <a:t>А.П.Чехов</a:t>
            </a:r>
            <a:r>
              <a:rPr lang="ru-RU" dirty="0"/>
              <a:t> в пьесе «Вишнёвый сад». Но они, к сожалению, неутешительные. Не способен проявить душевную теплоту, отзывчивость к бывшим хозяевам имения Лопахин, который, не дождавшись их отъезда, начинает вырубать вишнёвый сад, так милый сердцу Раневской  и </a:t>
            </a:r>
            <a:r>
              <a:rPr lang="ru-RU" dirty="0" err="1"/>
              <a:t>Гаева</a:t>
            </a:r>
            <a:r>
              <a:rPr lang="ru-RU" dirty="0"/>
              <a:t>.  Да и сама Раневская , думающая лишь о себе, о своих чувствах, фактически вторично бросает на произвол судьбы своих дочерей Варю и Анну, уезжая за границу к возлюбленному. А как трагична судьба слуги Фирса, который полвека честно прослужил своим хозяевам, но оказался забытым ими, запертым в заколоченном доме. Равнодушие никогда не приводит к счастью. Поэтому читатели не могут себе представить, что удачно сложится судьба этих героев. Призрачна любовь Раневской, неясен путь </a:t>
            </a:r>
            <a:r>
              <a:rPr lang="ru-RU" dirty="0" err="1"/>
              <a:t>Гаева</a:t>
            </a:r>
            <a:r>
              <a:rPr lang="ru-RU" dirty="0"/>
              <a:t>,  материальные цели, жажда денег, положения в обществе, свойственные Лопахину, уже начали опустошать его душу </a:t>
            </a:r>
            <a:r>
              <a:rPr lang="ru-RU" i="1" dirty="0"/>
              <a:t>(«За всё могу заплатить!»).</a:t>
            </a:r>
            <a:r>
              <a:rPr lang="ru-RU" dirty="0"/>
              <a:t>Удивительно, что равнодушие к судьбе Фирса проявило и молодое поколение: ни Аня, Ни Трофимов, ни Варя не вспомнили о нём.</a:t>
            </a:r>
          </a:p>
          <a:p>
            <a:r>
              <a:rPr lang="ru-RU" dirty="0"/>
              <a:t>Вишнёвый сад, цветущий, весь белый , красивый,  – это символ не только прекрасного будущего, которое ждёт людей, которое мечтают построить Аня и Петя Трофимов,  но и аллегорическое изображение того, что  и души людей должны быть чисты, непорочны, красивы. Равнодушие, безразличие, эгоизм никогда не помогут стать счастливыми. Только отзывчивость, гуманность, взаимопонимание и поддержка – залог того, что жизнь человека будет прекрасна, интересна, наполнена радостными моментами.</a:t>
            </a:r>
          </a:p>
          <a:p>
            <a:endParaRPr lang="ru-RU" dirty="0"/>
          </a:p>
        </p:txBody>
      </p:sp>
    </p:spTree>
    <p:extLst>
      <p:ext uri="{BB962C8B-B14F-4D97-AF65-F5344CB8AC3E}">
        <p14:creationId xmlns:p14="http://schemas.microsoft.com/office/powerpoint/2010/main" val="109562738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Аргументы</a:t>
            </a:r>
            <a:r>
              <a:rPr lang="ru-RU" b="1" dirty="0" smtClean="0"/>
              <a:t>: «Дети подземелья»</a:t>
            </a:r>
            <a:endParaRPr lang="ru-RU" dirty="0"/>
          </a:p>
        </p:txBody>
      </p:sp>
      <p:sp>
        <p:nvSpPr>
          <p:cNvPr id="3" name="Объект 2"/>
          <p:cNvSpPr>
            <a:spLocks noGrp="1"/>
          </p:cNvSpPr>
          <p:nvPr>
            <p:ph idx="1"/>
          </p:nvPr>
        </p:nvSpPr>
        <p:spPr/>
        <p:txBody>
          <a:bodyPr>
            <a:normAutofit fontScale="55000" lnSpcReduction="20000"/>
          </a:bodyPr>
          <a:lstStyle/>
          <a:p>
            <a:r>
              <a:rPr lang="ru-RU" dirty="0"/>
              <a:t>Два мира — мир богатых и бедных  — это порой как огромная пропасть непонимания, осуждения, безразличия. Взрослые-то не могут разобраться в противоречиях общества, а тем более ребёнок, однажды вдруг столкнувшийся с несправедливостью, увидевший её впервые своими детскими глазам, пытающийся понять, почему у него есть всё, а у других детей нет даже пищи для пропитания. Именно в такую ситуацию попал главный герой повести </a:t>
            </a:r>
            <a:r>
              <a:rPr lang="ru-RU" dirty="0" err="1"/>
              <a:t>В.Г.Короленко</a:t>
            </a:r>
            <a:r>
              <a:rPr lang="ru-RU" dirty="0"/>
              <a:t> «Дети подземелья» Вася. Его знакомство с семилетним  </a:t>
            </a:r>
            <a:r>
              <a:rPr lang="ru-RU" dirty="0" err="1"/>
              <a:t>Валеком</a:t>
            </a:r>
            <a:r>
              <a:rPr lang="ru-RU" dirty="0"/>
              <a:t> и трёхлетней Марусей изменило его жизнь, сделало его взрослее, внимательнее,  серьёзнее. У его </a:t>
            </a:r>
            <a:r>
              <a:rPr lang="ru-RU" i="1" dirty="0"/>
              <a:t>«сжималось сердце</a:t>
            </a:r>
            <a:r>
              <a:rPr lang="ru-RU" dirty="0"/>
              <a:t>», когда он видел, в каких условиях живут дети в подземелье старого замка, где </a:t>
            </a:r>
            <a:r>
              <a:rPr lang="ru-RU" i="1" dirty="0"/>
              <a:t>«две струи света… лились сверху… каменные плиты пола… стены тоже были из камня… тонули совсем в темноте»</a:t>
            </a:r>
            <a:r>
              <a:rPr lang="ru-RU" dirty="0"/>
              <a:t> . Мальчик проявил искреннюю отзывчивость к судьбе детей. Он приносил им еду, даже выпросил для больной девочки у своей сестрёнки её любимую куклу. </a:t>
            </a:r>
            <a:r>
              <a:rPr lang="ru-RU" i="1" dirty="0"/>
              <a:t>«Маленькая кукла сделала почти чудо»</a:t>
            </a:r>
            <a:r>
              <a:rPr lang="ru-RU" dirty="0"/>
              <a:t>- девочка на время повеселела, даже стала ходить. Детская душа оказалась открытой другим людям, стремление помочь, облегчить, скрасить жизнь друзей толкало мальчика даже на ложь. Ведь он не мог рассказать  отцу о своих отношениях с нищими ребятами. А  отец понял Васю, стал ближе к нему,  осознал, что слишком удалился от мальчика после смерти жены, а ребёнку так нужно его взаимопонимание, ведь он </a:t>
            </a:r>
            <a:r>
              <a:rPr lang="ru-RU" i="1" dirty="0"/>
              <a:t>«рос, как дикое деревце в поле»,</a:t>
            </a:r>
            <a:r>
              <a:rPr lang="ru-RU" dirty="0"/>
              <a:t> без отцовской любви и ласки.</a:t>
            </a:r>
          </a:p>
          <a:p>
            <a:r>
              <a:rPr lang="ru-RU" dirty="0"/>
              <a:t>Добрыми, отзывчивыми людьми станут Вася и Соня. Они  ухаживали за могилой Маруси, а когда покидали город навсегда, уже в юности, именно  здесь они </a:t>
            </a:r>
            <a:r>
              <a:rPr lang="ru-RU" i="1" dirty="0"/>
              <a:t>«произносили над маленькой могилкой свои </a:t>
            </a:r>
            <a:r>
              <a:rPr lang="ru-RU" i="1" dirty="0" err="1"/>
              <a:t>обеты».</a:t>
            </a:r>
            <a:r>
              <a:rPr lang="ru-RU" dirty="0" err="1"/>
              <a:t>Читатели</a:t>
            </a:r>
            <a:r>
              <a:rPr lang="ru-RU" dirty="0"/>
              <a:t> понимают, в чём они клялись друг другу, в том, чтобы достойно прожить жизнь на земле, не быть равнодушными, не обходить стороной людей, которым нужна помощь и поддержка.</a:t>
            </a:r>
          </a:p>
          <a:p>
            <a:endParaRPr lang="ru-RU" dirty="0"/>
          </a:p>
        </p:txBody>
      </p:sp>
    </p:spTree>
    <p:extLst>
      <p:ext uri="{BB962C8B-B14F-4D97-AF65-F5344CB8AC3E}">
        <p14:creationId xmlns:p14="http://schemas.microsoft.com/office/powerpoint/2010/main" val="94075383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Аргументы</a:t>
            </a:r>
            <a:r>
              <a:rPr lang="ru-RU" b="1" dirty="0" smtClean="0"/>
              <a:t>: «На дне»</a:t>
            </a:r>
            <a:endParaRPr lang="ru-RU" dirty="0"/>
          </a:p>
        </p:txBody>
      </p:sp>
      <p:sp>
        <p:nvSpPr>
          <p:cNvPr id="3" name="Объект 2"/>
          <p:cNvSpPr>
            <a:spLocks noGrp="1"/>
          </p:cNvSpPr>
          <p:nvPr>
            <p:ph idx="1"/>
          </p:nvPr>
        </p:nvSpPr>
        <p:spPr/>
        <p:txBody>
          <a:bodyPr>
            <a:normAutofit fontScale="47500" lnSpcReduction="20000"/>
          </a:bodyPr>
          <a:lstStyle/>
          <a:p>
            <a:r>
              <a:rPr lang="ru-RU" dirty="0"/>
              <a:t>«От сумы не зарекайся»,- гласит народная пословица. Разными путями пришли в ночлежку </a:t>
            </a:r>
            <a:r>
              <a:rPr lang="ru-RU" dirty="0" err="1"/>
              <a:t>Костылёвых</a:t>
            </a:r>
            <a:r>
              <a:rPr lang="ru-RU" dirty="0"/>
              <a:t> герои пьесы </a:t>
            </a:r>
            <a:r>
              <a:rPr lang="ru-RU" dirty="0" err="1"/>
              <a:t>А.М.Горького</a:t>
            </a:r>
            <a:r>
              <a:rPr lang="ru-RU" dirty="0"/>
              <a:t> « На дне», но их объединила общая судьба- необходимость жить здесь, терпя унижения, боясь за своё будущее. Много проблем поднимает автор в пьесе как социальных, так и нравственных. Актуально звучит его произведение сегодня, хотя совсем другой стала наша страна, прошло более 100 лет со дня  написания произведения. Одна из проблем — это отношение к людям, оказавшимся на дне жизни. Как их воспринимать, нужно ли им помогать, жалеть, сочувствовать?</a:t>
            </a:r>
          </a:p>
          <a:p>
            <a:r>
              <a:rPr lang="ru-RU" dirty="0"/>
              <a:t>Сами ночлежники равнодушны к судьбам друг друга. Он смеются над Настей, читающей любовные романы, над Актёром, спившимся, потерявшим свою профессию, никому не жалко умирающей Анны, даже её мужу Клещу, который дверь-то чуть приоткрыть не хочет, чтобы она подышала свежим воздухом. Злоба, безразличие, недоверие друг к другу, даже жестокость — вот что свойственно этим людям. Совсем иным показан Лука, странник. Он тоже многое пережил в жизни ( </a:t>
            </a:r>
            <a:r>
              <a:rPr lang="ru-RU" i="1" dirty="0"/>
              <a:t>«..мяли много, потому мягок…)</a:t>
            </a:r>
            <a:r>
              <a:rPr lang="ru-RU" dirty="0"/>
              <a:t>. Он пытается каждому сказать доброе слово, успокоить, просто пожалеть, когда вокруг никто этого не делает. </a:t>
            </a:r>
            <a:r>
              <a:rPr lang="ru-RU" i="1" dirty="0"/>
              <a:t>(«…а разве можно человека эдак бросать? Он – каков ни есть – а всегда своей цены стоит…»</a:t>
            </a:r>
            <a:r>
              <a:rPr lang="ru-RU" dirty="0"/>
              <a:t> ) Да, он многое обещает ночлежникам, обнадёживает их, заведомо зная, что этого не будет никогда. Так Насте он внушает, что у неё была настоящая любовь, раз она верит в это; Актёру говорит о бесплатной лечебнице, где его могут вылечить от алкоголизма; Анну утешает, говоря, что скоро настанет покой,  все её страдания закончатся. Что же лучше: ложь во спасение или горькая правда? Конечно, мы скажем, что правда всегда лучше, какой бы она ни была. Но  и пожалеть, посочувствовать человека тоже нужно, просто сказать ему добре слово. </a:t>
            </a:r>
            <a:r>
              <a:rPr lang="ru-RU" i="1" dirty="0"/>
              <a:t>(…Надо, девушка, кому-нибудь и добрым быть… жалеть людей надо! Я те скажу – вовремя человека пожалеть… хорошо бывает!..»)</a:t>
            </a:r>
            <a:r>
              <a:rPr lang="ru-RU" dirty="0"/>
              <a:t> Равнодушие окружающих убивает людей, делает их тяжёлую жизнь невыносимой. Отзывчивость проявляется во всём — и в делах, и  в словах сочувствия. Помочь другому, быть вместе в трудную минуту — это так необходимо не только нуждающемуся, но и  самому человеку, так как это потребность доброй души, открытого сердца. Осуждать или нет Луку за его ложь — решает каждый читатель, но его доброта хоть на немного согрела людей, так нуждающихся в ней.</a:t>
            </a:r>
          </a:p>
          <a:p>
            <a:endParaRPr lang="ru-RU" dirty="0"/>
          </a:p>
        </p:txBody>
      </p:sp>
    </p:spTree>
    <p:extLst>
      <p:ext uri="{BB962C8B-B14F-4D97-AF65-F5344CB8AC3E}">
        <p14:creationId xmlns:p14="http://schemas.microsoft.com/office/powerpoint/2010/main" val="385003289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Вывод</a:t>
            </a:r>
            <a:endParaRPr lang="ru-RU" dirty="0"/>
          </a:p>
        </p:txBody>
      </p:sp>
      <p:sp>
        <p:nvSpPr>
          <p:cNvPr id="3" name="Объект 2"/>
          <p:cNvSpPr>
            <a:spLocks noGrp="1"/>
          </p:cNvSpPr>
          <p:nvPr>
            <p:ph idx="1"/>
          </p:nvPr>
        </p:nvSpPr>
        <p:spPr/>
        <p:txBody>
          <a:bodyPr>
            <a:normAutofit fontScale="92500"/>
          </a:bodyPr>
          <a:lstStyle/>
          <a:p>
            <a:r>
              <a:rPr lang="ru-RU" dirty="0"/>
              <a:t>Человека ценят по его делам и поступкам,  по его отношению  к окружающим людям. Каких бы высот в жизни ни добился человек, если он будет безразличен , равнодушен к людям, стране, ко всему, что происходит вокруг, если будет думать только  о себе, его отвергнет общество, а значит, он не станет поистине счастливым. Нужно стремиться дарить людям тепло своей души, отзываться на чужую боль, страдания. Тогда и мир станет добрее, и  жизнь – полноценнее и насыщеннее, прекраснее. Именно эти мысли хотели донести до читателей писатели, пробуждая в сердцах желание быть человечнее, милосерднее, отзывчивее.</a:t>
            </a:r>
          </a:p>
        </p:txBody>
      </p:sp>
    </p:spTree>
    <p:extLst>
      <p:ext uri="{BB962C8B-B14F-4D97-AF65-F5344CB8AC3E}">
        <p14:creationId xmlns:p14="http://schemas.microsoft.com/office/powerpoint/2010/main" val="255198068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3100" b="1" dirty="0"/>
              <a:t>Отзывчивость ближних-это зачастую лучший психолог или психиатр(</a:t>
            </a:r>
            <a:r>
              <a:rPr lang="ru-RU" sz="3100" b="1" dirty="0" err="1"/>
              <a:t>Л.Виилма</a:t>
            </a:r>
            <a:r>
              <a:rPr lang="ru-RU" sz="3100" b="1" dirty="0" smtClean="0"/>
              <a:t>): вступление</a:t>
            </a:r>
            <a:r>
              <a:rPr lang="ru-RU" dirty="0"/>
              <a:t/>
            </a:r>
            <a:br>
              <a:rPr lang="ru-RU" dirty="0"/>
            </a:br>
            <a:endParaRPr lang="ru-RU" dirty="0"/>
          </a:p>
        </p:txBody>
      </p:sp>
      <p:sp>
        <p:nvSpPr>
          <p:cNvPr id="3" name="Объект 2"/>
          <p:cNvSpPr>
            <a:spLocks noGrp="1"/>
          </p:cNvSpPr>
          <p:nvPr>
            <p:ph idx="1"/>
          </p:nvPr>
        </p:nvSpPr>
        <p:spPr/>
        <p:txBody>
          <a:bodyPr/>
          <a:lstStyle/>
          <a:p>
            <a:r>
              <a:rPr lang="ru-RU" dirty="0"/>
              <a:t>Равнодушие и отзывчивость… Что же это такое? Это такие два противоположных духовно-нравственных качества человека, которые заставляют нас  думать над тем, как относиться к окружающим нас людям и к миру-потратить свои душевные силы на то, чтобы разделить с ближним его радости и беды или остаться в стороне от этого. В литературе встречаются разные герои.</a:t>
            </a:r>
          </a:p>
        </p:txBody>
      </p:sp>
    </p:spTree>
    <p:extLst>
      <p:ext uri="{BB962C8B-B14F-4D97-AF65-F5344CB8AC3E}">
        <p14:creationId xmlns:p14="http://schemas.microsoft.com/office/powerpoint/2010/main" val="214532560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sz="4000" b="1" dirty="0"/>
              <a:t>Отзывчивость ближних-это зачастую лучший психолог или психиатр(</a:t>
            </a:r>
            <a:r>
              <a:rPr lang="ru-RU" sz="4000" b="1" dirty="0" err="1"/>
              <a:t>Л.Виилма</a:t>
            </a:r>
            <a:r>
              <a:rPr lang="ru-RU" sz="4000" b="1" dirty="0" smtClean="0"/>
              <a:t>): основная часть, первый тезис и первый литературный аргумент</a:t>
            </a:r>
            <a:r>
              <a:rPr lang="ru-RU" dirty="0"/>
              <a:t/>
            </a:r>
            <a:br>
              <a:rPr lang="ru-RU" dirty="0"/>
            </a:br>
            <a:endParaRPr lang="ru-RU" dirty="0"/>
          </a:p>
        </p:txBody>
      </p:sp>
      <p:sp>
        <p:nvSpPr>
          <p:cNvPr id="3" name="Объект 2"/>
          <p:cNvSpPr>
            <a:spLocks noGrp="1"/>
          </p:cNvSpPr>
          <p:nvPr>
            <p:ph idx="1"/>
          </p:nvPr>
        </p:nvSpPr>
        <p:spPr/>
        <p:txBody>
          <a:bodyPr>
            <a:normAutofit fontScale="92500" lnSpcReduction="20000"/>
          </a:bodyPr>
          <a:lstStyle/>
          <a:p>
            <a:r>
              <a:rPr lang="ru-RU" dirty="0"/>
              <a:t>Так, в повести Константина Георгиевича Паустовского «Телеграмма» мы видим старую женщину Катерину Петровну, которая  очень больна и сильно тоскует по родной дочери, проживающей в Ленинграде.  Мать, предчувствуя близкую смерть, очень хочет встретиться с Настей. Но дочь, получив письмо из деревни, равнодушно положила его в сумочку.  Поздно вспомнила о нём. Настя  приехала на родину, когда мамочки уже нет. Чёрствость и жестокость родной дочки только усугубили тяжёлое состояние больной женщины. Автор обращает внимание на то, что родственники во что бы то ни стало, </a:t>
            </a:r>
            <a:r>
              <a:rPr lang="ru-RU" b="1" dirty="0"/>
              <a:t>должны найти время и силы на то, чтобы скрасить  нелёгкую жизнь больного человека своим</a:t>
            </a:r>
            <a:r>
              <a:rPr lang="ru-RU" dirty="0"/>
              <a:t> </a:t>
            </a:r>
            <a:r>
              <a:rPr lang="ru-RU" b="1" dirty="0"/>
              <a:t>присутствием, вниманием, </a:t>
            </a:r>
            <a:r>
              <a:rPr lang="ru-RU" b="1" dirty="0" smtClean="0"/>
              <a:t>заботой.</a:t>
            </a:r>
            <a:r>
              <a:rPr lang="ru-RU" dirty="0"/>
              <a:t> </a:t>
            </a:r>
            <a:r>
              <a:rPr lang="ru-RU" b="1" dirty="0" smtClean="0"/>
              <a:t>И </a:t>
            </a:r>
            <a:r>
              <a:rPr lang="ru-RU" b="1" dirty="0"/>
              <a:t>мы, читатели, ещё раз убеждаемся в том, что равнодушие - это  наивысшая жестокость, которая убивает человека.</a:t>
            </a:r>
            <a:r>
              <a:rPr lang="ru-RU" dirty="0"/>
              <a:t> </a:t>
            </a:r>
          </a:p>
        </p:txBody>
      </p:sp>
    </p:spTree>
    <p:extLst>
      <p:ext uri="{BB962C8B-B14F-4D97-AF65-F5344CB8AC3E}">
        <p14:creationId xmlns:p14="http://schemas.microsoft.com/office/powerpoint/2010/main" val="3928696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73460" y="982132"/>
            <a:ext cx="9601196" cy="1303867"/>
          </a:xfrm>
        </p:spPr>
        <p:txBody>
          <a:bodyPr>
            <a:noAutofit/>
          </a:bodyPr>
          <a:lstStyle/>
          <a:p>
            <a:r>
              <a:rPr lang="ru-RU" sz="3200" b="1" dirty="0"/>
              <a:t>Отзывчивость ближних-это зачастую лучший психолог или психиатр(</a:t>
            </a:r>
            <a:r>
              <a:rPr lang="ru-RU" sz="3200" b="1" dirty="0" err="1"/>
              <a:t>Л.Виилма</a:t>
            </a:r>
            <a:r>
              <a:rPr lang="ru-RU" sz="3200" b="1" dirty="0"/>
              <a:t>): основная часть, </a:t>
            </a:r>
            <a:r>
              <a:rPr lang="ru-RU" sz="3200" b="1" dirty="0" smtClean="0"/>
              <a:t>второй </a:t>
            </a:r>
            <a:r>
              <a:rPr lang="ru-RU" sz="3200" b="1" dirty="0"/>
              <a:t>тезис и </a:t>
            </a:r>
            <a:r>
              <a:rPr lang="ru-RU" sz="3200" b="1" dirty="0" smtClean="0"/>
              <a:t>второй литературный </a:t>
            </a:r>
            <a:r>
              <a:rPr lang="ru-RU" sz="3200" b="1" dirty="0"/>
              <a:t>аргумент</a:t>
            </a:r>
            <a:endParaRPr lang="ru-RU" sz="3200" dirty="0"/>
          </a:p>
        </p:txBody>
      </p:sp>
      <p:sp>
        <p:nvSpPr>
          <p:cNvPr id="3" name="Объект 2"/>
          <p:cNvSpPr>
            <a:spLocks noGrp="1"/>
          </p:cNvSpPr>
          <p:nvPr>
            <p:ph idx="1"/>
          </p:nvPr>
        </p:nvSpPr>
        <p:spPr/>
        <p:txBody>
          <a:bodyPr>
            <a:normAutofit fontScale="85000" lnSpcReduction="20000"/>
          </a:bodyPr>
          <a:lstStyle/>
          <a:p>
            <a:r>
              <a:rPr lang="ru-RU" dirty="0"/>
              <a:t>Такие же вопросы ставит в рассказе «Ночь исцеления» русский писатель Борис Екимов. Рассказывая о больной женщине, к которой очень редко приезжают из города дочь и сын, автор подчёркивает что взрослые дети не проявляют должной заботы о своей престарелой матери. Не находят они времени, чтобы окружить свою мамочку теплом, лаской и нежностью. А вот повзрослевший внук Гриша вырос человеком очень отзывчивым, добрым, ласковым  и внимательным. Именно его приезды к любимой бабушке превращали существование женщины в настоящую жизнь. Внук сообразил, что нужно сделать, чтобы бабушке стало намного легче-он разговаривал с ней по ночам, и она успокаивалась. Внук оказался настоящим целителем. И мы, читатели, убеждаемся в том, что  </a:t>
            </a:r>
            <a:r>
              <a:rPr lang="ru-RU" dirty="0" smtClean="0"/>
              <a:t>« </a:t>
            </a:r>
            <a:r>
              <a:rPr lang="ru-RU" dirty="0"/>
              <a:t>отзывчивость-это лучший психолог». </a:t>
            </a:r>
            <a:r>
              <a:rPr lang="ru-RU" b="1" dirty="0"/>
              <a:t>А писатель Борис Екимов обращает серьёзное внимание на  то, что внимание, забота, доброта и отзывчивость обязательно помогут в трудные минуты жизни.</a:t>
            </a:r>
            <a:endParaRPr lang="ru-RU" dirty="0"/>
          </a:p>
        </p:txBody>
      </p:sp>
    </p:spTree>
    <p:extLst>
      <p:ext uri="{BB962C8B-B14F-4D97-AF65-F5344CB8AC3E}">
        <p14:creationId xmlns:p14="http://schemas.microsoft.com/office/powerpoint/2010/main" val="280873685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Отзывчивость ближних-это зачастую лучший психолог или психиатр(</a:t>
            </a:r>
            <a:r>
              <a:rPr lang="ru-RU" b="1" dirty="0" err="1"/>
              <a:t>Л.Виилма</a:t>
            </a:r>
            <a:r>
              <a:rPr lang="ru-RU" b="1" dirty="0"/>
              <a:t>): </a:t>
            </a:r>
            <a:r>
              <a:rPr lang="ru-RU" b="1" dirty="0" smtClean="0"/>
              <a:t>заключение</a:t>
            </a:r>
            <a:r>
              <a:rPr lang="ru-RU" dirty="0"/>
              <a:t/>
            </a:r>
            <a:br>
              <a:rPr lang="ru-RU" dirty="0"/>
            </a:br>
            <a:endParaRPr lang="ru-RU" dirty="0"/>
          </a:p>
        </p:txBody>
      </p:sp>
      <p:sp>
        <p:nvSpPr>
          <p:cNvPr id="3" name="Объект 2"/>
          <p:cNvSpPr>
            <a:spLocks noGrp="1"/>
          </p:cNvSpPr>
          <p:nvPr>
            <p:ph idx="1"/>
          </p:nvPr>
        </p:nvSpPr>
        <p:spPr/>
        <p:txBody>
          <a:bodyPr/>
          <a:lstStyle/>
          <a:p>
            <a:r>
              <a:rPr lang="ru-RU" dirty="0"/>
              <a:t>Какой вывод можно сделать? Любой человек в тот или иной момент своей жизни нуждается в помощи, в отзывчивости окружающих. Только  оказать эту помощь  может  не каждый из нас. И очень хочется надеяться на то, что в нашей сегодняшней жизни будет как можно больше людей, которые не будут забывать об этом и не будут равнодушными к  тем, кто нуждается в отзывчивости.</a:t>
            </a:r>
          </a:p>
        </p:txBody>
      </p:sp>
    </p:spTree>
    <p:extLst>
      <p:ext uri="{BB962C8B-B14F-4D97-AF65-F5344CB8AC3E}">
        <p14:creationId xmlns:p14="http://schemas.microsoft.com/office/powerpoint/2010/main" val="16407408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62399" y="383615"/>
            <a:ext cx="9601196" cy="1303867"/>
          </a:xfrm>
        </p:spPr>
        <p:txBody>
          <a:bodyPr/>
          <a:lstStyle/>
          <a:p>
            <a:r>
              <a:rPr lang="ru-RU" b="1" dirty="0">
                <a:solidFill>
                  <a:schemeClr val="accent4">
                    <a:lumMod val="75000"/>
                  </a:schemeClr>
                </a:solidFill>
              </a:rPr>
              <a:t>«Цели и средства» </a:t>
            </a:r>
            <a:endParaRPr lang="ru-RU" dirty="0">
              <a:solidFill>
                <a:schemeClr val="accent4">
                  <a:lumMod val="75000"/>
                </a:schemeClr>
              </a:solidFill>
            </a:endParaRPr>
          </a:p>
        </p:txBody>
      </p:sp>
      <p:sp>
        <p:nvSpPr>
          <p:cNvPr id="3" name="Объект 2"/>
          <p:cNvSpPr>
            <a:spLocks noGrp="1"/>
          </p:cNvSpPr>
          <p:nvPr>
            <p:ph idx="1"/>
          </p:nvPr>
        </p:nvSpPr>
        <p:spPr>
          <a:xfrm>
            <a:off x="1295401" y="1687482"/>
            <a:ext cx="9601196" cy="4414060"/>
          </a:xfrm>
        </p:spPr>
        <p:txBody>
          <a:bodyPr>
            <a:normAutofit fontScale="92500" lnSpcReduction="10000"/>
          </a:bodyPr>
          <a:lstStyle/>
          <a:p>
            <a:r>
              <a:rPr lang="ru-RU" sz="2800" dirty="0"/>
              <a:t>Понятия данного направления взаимосвязаны и позволяют задуматься о жизненных устремлениях человека, важности осмысленного целеполагания, умении правильно соотносить цель и средства ее достижения, а также об этической оценке действий человека.</a:t>
            </a:r>
            <a:br>
              <a:rPr lang="ru-RU" sz="2800" dirty="0"/>
            </a:br>
            <a:r>
              <a:rPr lang="ru-RU" sz="2800" dirty="0"/>
              <a:t>Во многих литературных произведениях представлены персонажи, намеренно или ошибочно избравшие негодные средства для реализации своих планов. И нередко оказывается, что благая цель служит лишь прикрытием истинных (низменных) планов. Таким персонажам противопоставлены герои, для которых средства достижения высокой цели неотделимы от требований морали</a:t>
            </a:r>
          </a:p>
        </p:txBody>
      </p:sp>
    </p:spTree>
    <p:extLst>
      <p:ext uri="{BB962C8B-B14F-4D97-AF65-F5344CB8AC3E}">
        <p14:creationId xmlns:p14="http://schemas.microsoft.com/office/powerpoint/2010/main" val="413025077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Толкование понятий: цель</a:t>
            </a:r>
            <a:endParaRPr lang="ru-RU" dirty="0"/>
          </a:p>
        </p:txBody>
      </p:sp>
      <p:sp>
        <p:nvSpPr>
          <p:cNvPr id="3" name="Объект 2"/>
          <p:cNvSpPr>
            <a:spLocks noGrp="1"/>
          </p:cNvSpPr>
          <p:nvPr>
            <p:ph idx="1"/>
          </p:nvPr>
        </p:nvSpPr>
        <p:spPr/>
        <p:txBody>
          <a:bodyPr>
            <a:normAutofit fontScale="47500" lnSpcReduction="20000"/>
          </a:bodyPr>
          <a:lstStyle/>
          <a:p>
            <a:pPr marL="0" indent="0">
              <a:spcBef>
                <a:spcPts val="0"/>
              </a:spcBef>
              <a:spcAft>
                <a:spcPts val="0"/>
              </a:spcAft>
              <a:buNone/>
            </a:pPr>
            <a:r>
              <a:rPr lang="ru-RU" sz="2500" dirty="0"/>
              <a:t>Цель – это результат, к которому стремится человек в своей деятельности, ожидаемый итог.</a:t>
            </a:r>
          </a:p>
          <a:p>
            <a:pPr marL="0" indent="0">
              <a:spcBef>
                <a:spcPts val="0"/>
              </a:spcBef>
              <a:spcAft>
                <a:spcPts val="0"/>
              </a:spcAft>
              <a:buNone/>
            </a:pPr>
            <a:r>
              <a:rPr lang="ru-RU" sz="2500" dirty="0"/>
              <a:t>Это осознанный образ предвосхищаемого результата, возникший в сознании человека, представленный им.</a:t>
            </a:r>
          </a:p>
          <a:p>
            <a:pPr marL="0" indent="0">
              <a:spcBef>
                <a:spcPts val="0"/>
              </a:spcBef>
              <a:spcAft>
                <a:spcPts val="0"/>
              </a:spcAft>
              <a:buNone/>
            </a:pPr>
            <a:r>
              <a:rPr lang="ru-RU" sz="2500" dirty="0" smtClean="0"/>
              <a:t>которых </a:t>
            </a:r>
            <a:r>
              <a:rPr lang="ru-RU" sz="2500" dirty="0"/>
              <a:t>– стремление  удовлетворить  лишь свои  потребности без учёта того, приносит деятельность </a:t>
            </a:r>
            <a:r>
              <a:rPr lang="ru-RU" sz="2500" dirty="0" err="1" smtClean="0"/>
              <a:t>по</a:t>
            </a:r>
            <a:r>
              <a:rPr lang="ru-RU" sz="2800" dirty="0" err="1"/>
              <a:t>Цель</a:t>
            </a:r>
            <a:r>
              <a:rPr lang="ru-RU" sz="2800" dirty="0"/>
              <a:t> в жизни с философской точки зрения — это общие ориентиры, которые человек определяет для себя, включающие в себя смысл жизни, назначение своё в ней. Выражаясь более высоко, это миссия, которую каждый видит в своём рождении на земле. Это ответ на вопрос: зачем я живу?</a:t>
            </a:r>
          </a:p>
          <a:p>
            <a:pPr marL="0" indent="0">
              <a:spcBef>
                <a:spcPts val="0"/>
              </a:spcBef>
              <a:spcAft>
                <a:spcPts val="0"/>
              </a:spcAft>
              <a:buNone/>
            </a:pPr>
            <a:r>
              <a:rPr lang="ru-RU" sz="2800" dirty="0"/>
              <a:t>Цель с нравственной, моральной точки зрения – это те нравственные принципы, которым пытается следовать человек, это его личная программа обогащения внутреннего, духовного мира, тот образ, к которому стремится  он в своём движении к </a:t>
            </a:r>
            <a:r>
              <a:rPr lang="ru-RU" sz="2800" dirty="0" err="1"/>
              <a:t>самосовершенству</a:t>
            </a:r>
            <a:r>
              <a:rPr lang="ru-RU" sz="2800" dirty="0"/>
              <a:t>, ответ на вопрос: каким я хочу быть.</a:t>
            </a:r>
          </a:p>
          <a:p>
            <a:pPr marL="0" indent="0">
              <a:spcBef>
                <a:spcPts val="0"/>
              </a:spcBef>
              <a:spcAft>
                <a:spcPts val="0"/>
              </a:spcAft>
              <a:buNone/>
            </a:pPr>
            <a:r>
              <a:rPr lang="ru-RU" sz="2800" dirty="0"/>
              <a:t>Цель с социальной точки зрения – это определение человеком своего места в обществе, его социальной роли, позиции буквально в каждой сфере. Это ответы на вопросы: каково моё место в политической жизни страны, каким я хочу видеть своё материальное положение, какой профессиональной деятельностью буду заниматься, какой я хочу видеть свою семью и др.</a:t>
            </a:r>
          </a:p>
          <a:p>
            <a:pPr marL="0" indent="0">
              <a:spcBef>
                <a:spcPts val="0"/>
              </a:spcBef>
              <a:spcAft>
                <a:spcPts val="0"/>
              </a:spcAft>
              <a:buNone/>
            </a:pPr>
            <a:r>
              <a:rPr lang="ru-RU" sz="2800" dirty="0"/>
              <a:t>Цели бывают глобальные, определяющие направление всей жизни человека, и конкретные, как результат той или иной деятельности. Такие цели человек может ставить пред собой почти ежедневно, составляя программу действий на какое-то время.</a:t>
            </a:r>
          </a:p>
          <a:p>
            <a:pPr marL="0" indent="0">
              <a:spcBef>
                <a:spcPts val="0"/>
              </a:spcBef>
              <a:spcAft>
                <a:spcPts val="0"/>
              </a:spcAft>
              <a:buNone/>
            </a:pPr>
            <a:r>
              <a:rPr lang="ru-RU" sz="2800" dirty="0"/>
              <a:t>Цели определяются уровнем развития, образования, воспитания человека, особенностями его личностных качеств. Поэтому говорят, что цели бывают высокие, нравственные, способствующие дальнейшему формированию лучшего в человеке, направленные на достижение блага близких, народа, страны. Но бывают и низкие, эгоистичные, цели,   в основе </a:t>
            </a:r>
            <a:r>
              <a:rPr lang="ru-RU" sz="2500" dirty="0" err="1" smtClean="0"/>
              <a:t>льзу</a:t>
            </a:r>
            <a:r>
              <a:rPr lang="ru-RU" sz="2500" dirty="0" smtClean="0"/>
              <a:t> </a:t>
            </a:r>
            <a:r>
              <a:rPr lang="ru-RU" sz="2500" dirty="0"/>
              <a:t>окружающим или </a:t>
            </a:r>
            <a:r>
              <a:rPr lang="ru-RU" sz="2500" dirty="0" smtClean="0"/>
              <a:t>нет.</a:t>
            </a:r>
          </a:p>
          <a:p>
            <a:pPr marL="0" indent="0">
              <a:spcBef>
                <a:spcPts val="0"/>
              </a:spcBef>
              <a:spcAft>
                <a:spcPts val="0"/>
              </a:spcAft>
              <a:buNone/>
            </a:pPr>
            <a:r>
              <a:rPr lang="ru-RU" sz="2500" dirty="0" smtClean="0"/>
              <a:t>По </a:t>
            </a:r>
            <a:r>
              <a:rPr lang="ru-RU" sz="2500" dirty="0"/>
              <a:t>целям можно судить о человек, каков он, насколько развит нравственно, сформирован как личность</a:t>
            </a:r>
            <a:r>
              <a:rPr lang="ru-RU" sz="2500" dirty="0" smtClean="0"/>
              <a:t>.</a:t>
            </a:r>
          </a:p>
          <a:p>
            <a:pPr marL="0" indent="0">
              <a:buNone/>
            </a:pPr>
            <a:endParaRPr lang="ru-RU" dirty="0"/>
          </a:p>
        </p:txBody>
      </p:sp>
    </p:spTree>
    <p:extLst>
      <p:ext uri="{BB962C8B-B14F-4D97-AF65-F5344CB8AC3E}">
        <p14:creationId xmlns:p14="http://schemas.microsoft.com/office/powerpoint/2010/main" val="3053998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Толкование понятий</a:t>
            </a:r>
            <a:r>
              <a:rPr lang="ru-RU" dirty="0" smtClean="0"/>
              <a:t>: средства</a:t>
            </a:r>
            <a:endParaRPr lang="ru-RU" dirty="0"/>
          </a:p>
        </p:txBody>
      </p:sp>
      <p:sp>
        <p:nvSpPr>
          <p:cNvPr id="3" name="Объект 2"/>
          <p:cNvSpPr>
            <a:spLocks noGrp="1"/>
          </p:cNvSpPr>
          <p:nvPr>
            <p:ph idx="1"/>
          </p:nvPr>
        </p:nvSpPr>
        <p:spPr/>
        <p:txBody>
          <a:bodyPr>
            <a:normAutofit fontScale="62500" lnSpcReduction="20000"/>
          </a:bodyPr>
          <a:lstStyle/>
          <a:p>
            <a:pPr marL="0" indent="0" algn="just">
              <a:spcBef>
                <a:spcPts val="0"/>
              </a:spcBef>
              <a:spcAft>
                <a:spcPts val="0"/>
              </a:spcAft>
              <a:buNone/>
            </a:pPr>
            <a:r>
              <a:rPr lang="ru-RU" dirty="0"/>
              <a:t>Средства — это те методы, приёмы, пути, которые использует человек для достижения своих целей.</a:t>
            </a:r>
          </a:p>
          <a:p>
            <a:pPr marL="0" indent="0" algn="just">
              <a:spcBef>
                <a:spcPts val="0"/>
              </a:spcBef>
              <a:spcAft>
                <a:spcPts val="0"/>
              </a:spcAft>
              <a:buNone/>
            </a:pPr>
            <a:r>
              <a:rPr lang="ru-RU" dirty="0"/>
              <a:t>К</a:t>
            </a:r>
            <a:r>
              <a:rPr lang="ru-RU" dirty="0" smtClean="0"/>
              <a:t>онкретная </a:t>
            </a:r>
            <a:r>
              <a:rPr lang="ru-RU" dirty="0"/>
              <a:t>цель определяет средства, которые использует человек. Поэтому средствами могут быть </a:t>
            </a:r>
            <a:r>
              <a:rPr lang="ru-RU" b="1" dirty="0"/>
              <a:t>действия</a:t>
            </a:r>
            <a:r>
              <a:rPr lang="ru-RU" dirty="0"/>
              <a:t> человека (например, изучение материала, самоподготовка для удачной сдачи экзамена), </a:t>
            </a:r>
            <a:r>
              <a:rPr lang="ru-RU" b="1" dirty="0"/>
              <a:t>слова</a:t>
            </a:r>
            <a:r>
              <a:rPr lang="ru-RU" dirty="0"/>
              <a:t>, поддержка кого-то в трудную минуту (например, стремление успокоить человека, переживающего сильное эмоциональное волнение), наконец, средством могут быть </a:t>
            </a:r>
            <a:r>
              <a:rPr lang="ru-RU" b="1" dirty="0"/>
              <a:t>предметы</a:t>
            </a:r>
            <a:r>
              <a:rPr lang="ru-RU" dirty="0"/>
              <a:t> , используемые в конкретной деятельности (например, доски в столярной мастерской)</a:t>
            </a:r>
          </a:p>
          <a:p>
            <a:pPr marL="0" indent="0" algn="just">
              <a:spcBef>
                <a:spcPts val="0"/>
              </a:spcBef>
              <a:spcAft>
                <a:spcPts val="0"/>
              </a:spcAft>
              <a:buNone/>
            </a:pPr>
            <a:r>
              <a:rPr lang="ru-RU" dirty="0"/>
              <a:t>С точки зрения юридической, средства бывают законные и незаконные. Первые не нарушают порядка жизни общества, не наносят вреда окружающим. Вторые угрожают спокойствию и даже жизни людей, несут опасность.</a:t>
            </a:r>
          </a:p>
          <a:p>
            <a:pPr marL="0" indent="0" algn="just">
              <a:spcBef>
                <a:spcPts val="0"/>
              </a:spcBef>
              <a:spcAft>
                <a:spcPts val="0"/>
              </a:spcAft>
              <a:buNone/>
            </a:pPr>
            <a:r>
              <a:rPr lang="ru-RU" dirty="0"/>
              <a:t>С моральной точки зрения есть средства, не нарушающие законов морали, построенные по принципам добра, справедливости, человечности, а есть безнравственные средства, попирающие честь, достоинство людей, несущие в себе зло, переходящие все границы дозволенного.</a:t>
            </a:r>
          </a:p>
          <a:p>
            <a:pPr marL="0" indent="0" algn="just">
              <a:spcBef>
                <a:spcPts val="0"/>
              </a:spcBef>
              <a:spcAft>
                <a:spcPts val="0"/>
              </a:spcAft>
              <a:buNone/>
            </a:pPr>
            <a:r>
              <a:rPr lang="ru-RU" dirty="0"/>
              <a:t>Средства, как и цели, зависят от того, каков человек, насколько он порядочен, сформирован нравственно, социально.</a:t>
            </a:r>
          </a:p>
          <a:p>
            <a:pPr marL="0" indent="0" algn="just">
              <a:spcBef>
                <a:spcPts val="0"/>
              </a:spcBef>
              <a:spcAft>
                <a:spcPts val="0"/>
              </a:spcAft>
              <a:buNone/>
            </a:pPr>
            <a:r>
              <a:rPr lang="ru-RU" dirty="0"/>
              <a:t>Необходимо чётко продумывать средства достижения цели, чтобы не навредить окружающим, не унизить самого себя аморальными поступками.</a:t>
            </a:r>
          </a:p>
          <a:p>
            <a:pPr marL="0" indent="0" algn="just">
              <a:spcBef>
                <a:spcPts val="0"/>
              </a:spcBef>
              <a:spcAft>
                <a:spcPts val="0"/>
              </a:spcAft>
              <a:buNone/>
            </a:pPr>
            <a:r>
              <a:rPr lang="ru-RU" dirty="0"/>
              <a:t>Цель оправдывает средства. Всегда ли верно данное утверждение? Конечно, нет. Любая, на первый взгляд, благородная цель, достигнутая низкими, грязными, беззаконными способами, перестаёт быть таковой, так как достигается болью и страданиями других людей.</a:t>
            </a:r>
          </a:p>
          <a:p>
            <a:pPr algn="just">
              <a:spcBef>
                <a:spcPts val="0"/>
              </a:spcBef>
              <a:spcAft>
                <a:spcPts val="0"/>
              </a:spcAft>
            </a:pPr>
            <a:endParaRPr lang="ru-RU" dirty="0"/>
          </a:p>
        </p:txBody>
      </p:sp>
    </p:spTree>
    <p:extLst>
      <p:ext uri="{BB962C8B-B14F-4D97-AF65-F5344CB8AC3E}">
        <p14:creationId xmlns:p14="http://schemas.microsoft.com/office/powerpoint/2010/main" val="414837774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2000" dirty="0"/>
              <a:t>Человек должен ставить цели, стремится к их достижению. Но необходимо чётко продумывать каждый шаг по пути к ней, взвешивая свои поступки, слова, думая не только о себе, но и о людях, живущих рядом. Всегда необходимо стремиться оставаться личностью</a:t>
            </a:r>
          </a:p>
        </p:txBody>
      </p:sp>
      <p:sp>
        <p:nvSpPr>
          <p:cNvPr id="3" name="Объект 2"/>
          <p:cNvSpPr>
            <a:spLocks noGrp="1"/>
          </p:cNvSpPr>
          <p:nvPr>
            <p:ph sz="half" idx="1"/>
          </p:nvPr>
        </p:nvSpPr>
        <p:spPr/>
        <p:txBody>
          <a:bodyPr>
            <a:normAutofit fontScale="32500" lnSpcReduction="20000"/>
          </a:bodyPr>
          <a:lstStyle/>
          <a:p>
            <a:pPr marL="0" indent="0">
              <a:buNone/>
            </a:pPr>
            <a:r>
              <a:rPr lang="ru-RU" sz="5600" b="1" i="1" dirty="0" smtClean="0"/>
              <a:t>Синонимы </a:t>
            </a:r>
            <a:r>
              <a:rPr lang="ru-RU" sz="5600" b="1" i="1" dirty="0"/>
              <a:t>к слову «средства»</a:t>
            </a:r>
            <a:endParaRPr lang="ru-RU" sz="5600" dirty="0"/>
          </a:p>
          <a:p>
            <a:r>
              <a:rPr lang="ru-RU" sz="5600" dirty="0"/>
              <a:t>способ</a:t>
            </a:r>
          </a:p>
          <a:p>
            <a:r>
              <a:rPr lang="ru-RU" sz="5600" dirty="0"/>
              <a:t>метод</a:t>
            </a:r>
          </a:p>
          <a:p>
            <a:r>
              <a:rPr lang="ru-RU" sz="5600" dirty="0"/>
              <a:t>орудие</a:t>
            </a:r>
          </a:p>
          <a:p>
            <a:r>
              <a:rPr lang="ru-RU" sz="5600" dirty="0"/>
              <a:t>путь</a:t>
            </a:r>
          </a:p>
          <a:p>
            <a:r>
              <a:rPr lang="ru-RU" sz="5600" dirty="0"/>
              <a:t>ресурс</a:t>
            </a:r>
          </a:p>
          <a:p>
            <a:r>
              <a:rPr lang="ru-RU" sz="5600" dirty="0" smtClean="0"/>
              <a:t>возможность</a:t>
            </a:r>
          </a:p>
          <a:p>
            <a:endParaRPr lang="ru-RU" dirty="0"/>
          </a:p>
        </p:txBody>
      </p:sp>
      <p:sp>
        <p:nvSpPr>
          <p:cNvPr id="4" name="Объект 3"/>
          <p:cNvSpPr>
            <a:spLocks noGrp="1"/>
          </p:cNvSpPr>
          <p:nvPr>
            <p:ph sz="half" idx="2"/>
          </p:nvPr>
        </p:nvSpPr>
        <p:spPr/>
        <p:txBody>
          <a:bodyPr>
            <a:normAutofit fontScale="32500" lnSpcReduction="20000"/>
          </a:bodyPr>
          <a:lstStyle/>
          <a:p>
            <a:r>
              <a:rPr lang="ru-RU" sz="5000" b="1" i="1" dirty="0"/>
              <a:t>Синонимы к слову «цель»</a:t>
            </a:r>
            <a:endParaRPr lang="ru-RU" sz="5000" dirty="0"/>
          </a:p>
          <a:p>
            <a:r>
              <a:rPr lang="ru-RU" sz="5000" dirty="0"/>
              <a:t>итог</a:t>
            </a:r>
          </a:p>
          <a:p>
            <a:r>
              <a:rPr lang="ru-RU" sz="5000" dirty="0"/>
              <a:t>результат</a:t>
            </a:r>
          </a:p>
          <a:p>
            <a:r>
              <a:rPr lang="ru-RU" sz="5000" dirty="0"/>
              <a:t>мечта</a:t>
            </a:r>
          </a:p>
          <a:p>
            <a:r>
              <a:rPr lang="ru-RU" sz="5000" dirty="0"/>
              <a:t>назначение</a:t>
            </a:r>
          </a:p>
          <a:p>
            <a:r>
              <a:rPr lang="ru-RU" sz="5000" dirty="0"/>
              <a:t>замысел</a:t>
            </a:r>
          </a:p>
          <a:p>
            <a:r>
              <a:rPr lang="ru-RU" sz="5000" dirty="0"/>
              <a:t>миссия</a:t>
            </a:r>
          </a:p>
          <a:p>
            <a:r>
              <a:rPr lang="ru-RU" sz="5000" dirty="0"/>
              <a:t>установка</a:t>
            </a:r>
          </a:p>
          <a:p>
            <a:r>
              <a:rPr lang="ru-RU" sz="5000" dirty="0"/>
              <a:t>идеал</a:t>
            </a:r>
          </a:p>
          <a:p>
            <a:r>
              <a:rPr lang="ru-RU" sz="5000" dirty="0"/>
              <a:t>ориентир</a:t>
            </a:r>
          </a:p>
          <a:p>
            <a:endParaRPr lang="ru-RU" dirty="0"/>
          </a:p>
        </p:txBody>
      </p:sp>
    </p:spTree>
    <p:extLst>
      <p:ext uri="{BB962C8B-B14F-4D97-AF65-F5344CB8AC3E}">
        <p14:creationId xmlns:p14="http://schemas.microsoft.com/office/powerpoint/2010/main" val="278878103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z="3600" b="1" dirty="0">
                <a:solidFill>
                  <a:schemeClr val="accent4">
                    <a:lumMod val="75000"/>
                  </a:schemeClr>
                </a:solidFill>
              </a:rPr>
              <a:t>Примеры произведений по данному направлению</a:t>
            </a:r>
            <a:endParaRPr lang="ru-RU" b="1" dirty="0">
              <a:solidFill>
                <a:schemeClr val="accent4">
                  <a:lumMod val="75000"/>
                </a:schemeClr>
              </a:solidFill>
            </a:endParaRPr>
          </a:p>
        </p:txBody>
      </p:sp>
      <p:sp>
        <p:nvSpPr>
          <p:cNvPr id="3" name="Объект 2"/>
          <p:cNvSpPr>
            <a:spLocks noGrp="1"/>
          </p:cNvSpPr>
          <p:nvPr>
            <p:ph idx="1"/>
          </p:nvPr>
        </p:nvSpPr>
        <p:spPr/>
        <p:txBody>
          <a:bodyPr>
            <a:noAutofit/>
          </a:bodyPr>
          <a:lstStyle/>
          <a:p>
            <a:pPr>
              <a:spcBef>
                <a:spcPts val="0"/>
              </a:spcBef>
              <a:spcAft>
                <a:spcPts val="0"/>
              </a:spcAft>
            </a:pPr>
            <a:r>
              <a:rPr lang="ru-RU" sz="2800" b="1" dirty="0" smtClean="0"/>
              <a:t>1. Ф. Достоевский «Преступление и наказание»</a:t>
            </a:r>
          </a:p>
          <a:p>
            <a:pPr>
              <a:spcBef>
                <a:spcPts val="0"/>
              </a:spcBef>
              <a:spcAft>
                <a:spcPts val="0"/>
              </a:spcAft>
            </a:pPr>
            <a:r>
              <a:rPr lang="ru-RU" sz="2800" b="1" dirty="0" smtClean="0"/>
              <a:t>2. Л. Толстой «Война и мир»</a:t>
            </a:r>
          </a:p>
          <a:p>
            <a:pPr>
              <a:spcBef>
                <a:spcPts val="0"/>
              </a:spcBef>
              <a:spcAft>
                <a:spcPts val="0"/>
              </a:spcAft>
            </a:pPr>
            <a:r>
              <a:rPr lang="ru-RU" sz="2800" b="1" dirty="0" smtClean="0"/>
              <a:t>3. М. </a:t>
            </a:r>
            <a:r>
              <a:rPr lang="ru-RU" sz="2800" b="1" dirty="0"/>
              <a:t>Б</a:t>
            </a:r>
            <a:r>
              <a:rPr lang="ru-RU" sz="2800" b="1" dirty="0" smtClean="0"/>
              <a:t>улгаков «Собачье сердце», «Мастер и Маргарита»</a:t>
            </a:r>
          </a:p>
          <a:p>
            <a:pPr>
              <a:spcBef>
                <a:spcPts val="0"/>
              </a:spcBef>
              <a:spcAft>
                <a:spcPts val="0"/>
              </a:spcAft>
            </a:pPr>
            <a:r>
              <a:rPr lang="ru-RU" sz="2800" b="1" dirty="0" smtClean="0"/>
              <a:t>4. В. Каверин «Два капитана»</a:t>
            </a:r>
          </a:p>
          <a:p>
            <a:pPr>
              <a:spcBef>
                <a:spcPts val="0"/>
              </a:spcBef>
              <a:spcAft>
                <a:spcPts val="0"/>
              </a:spcAft>
            </a:pPr>
            <a:r>
              <a:rPr lang="ru-RU" sz="2800" b="1" dirty="0" smtClean="0"/>
              <a:t>5. Ю. Герман «Дело, которому ты служишь»</a:t>
            </a:r>
          </a:p>
          <a:p>
            <a:pPr>
              <a:spcBef>
                <a:spcPts val="0"/>
              </a:spcBef>
              <a:spcAft>
                <a:spcPts val="0"/>
              </a:spcAft>
            </a:pPr>
            <a:r>
              <a:rPr lang="ru-RU" sz="2800" b="1" dirty="0" smtClean="0"/>
              <a:t>А. Чехов « </a:t>
            </a:r>
            <a:r>
              <a:rPr lang="ru-RU" sz="2800" b="1" dirty="0" err="1" smtClean="0"/>
              <a:t>Ионыч</a:t>
            </a:r>
            <a:r>
              <a:rPr lang="ru-RU" sz="2800" b="1" dirty="0" smtClean="0"/>
              <a:t>»</a:t>
            </a:r>
          </a:p>
          <a:p>
            <a:r>
              <a:rPr lang="ru-RU" dirty="0" smtClean="0"/>
              <a:t>«Живи </a:t>
            </a:r>
            <a:r>
              <a:rPr lang="ru-RU" dirty="0"/>
              <a:t>и помни», «Уроки французского» В. Распутин, рассказ Астафьева «Конь с розовой гривой»</a:t>
            </a:r>
            <a:endParaRPr lang="ru-RU" b="1" dirty="0"/>
          </a:p>
        </p:txBody>
      </p:sp>
    </p:spTree>
    <p:extLst>
      <p:ext uri="{BB962C8B-B14F-4D97-AF65-F5344CB8AC3E}">
        <p14:creationId xmlns:p14="http://schemas.microsoft.com/office/powerpoint/2010/main" val="141587711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solidFill>
                  <a:schemeClr val="accent4">
                    <a:lumMod val="75000"/>
                  </a:schemeClr>
                </a:solidFill>
              </a:rPr>
              <a:t>Примеры произведений по данному направлению</a:t>
            </a:r>
            <a:endParaRPr lang="ru-RU" dirty="0"/>
          </a:p>
        </p:txBody>
      </p:sp>
      <p:sp>
        <p:nvSpPr>
          <p:cNvPr id="3" name="Объект 2"/>
          <p:cNvSpPr>
            <a:spLocks noGrp="1"/>
          </p:cNvSpPr>
          <p:nvPr>
            <p:ph idx="1"/>
          </p:nvPr>
        </p:nvSpPr>
        <p:spPr/>
        <p:txBody>
          <a:bodyPr>
            <a:normAutofit fontScale="85000" lnSpcReduction="20000"/>
          </a:bodyPr>
          <a:lstStyle/>
          <a:p>
            <a:pPr fontAlgn="base"/>
            <a:r>
              <a:rPr lang="ru-RU" dirty="0"/>
              <a:t>В. М. Гаршин </a:t>
            </a:r>
            <a:r>
              <a:rPr lang="ru-RU" u="sng" dirty="0">
                <a:hlinkClick r:id="rId2"/>
              </a:rPr>
              <a:t>«</a:t>
            </a:r>
            <a:r>
              <a:rPr lang="ru-RU" u="sng" dirty="0">
                <a:hlinkClick r:id="rId3"/>
              </a:rPr>
              <a:t>Сигнал»;</a:t>
            </a:r>
            <a:endParaRPr lang="ru-RU" dirty="0"/>
          </a:p>
          <a:p>
            <a:pPr fontAlgn="base"/>
            <a:r>
              <a:rPr lang="ru-RU" dirty="0"/>
              <a:t>В.Т. Шаламов </a:t>
            </a:r>
            <a:r>
              <a:rPr lang="ru-RU" u="sng" dirty="0">
                <a:hlinkClick r:id="rId2"/>
              </a:rPr>
              <a:t>«Последний бой майора Пугачева»;</a:t>
            </a:r>
            <a:endParaRPr lang="ru-RU" dirty="0"/>
          </a:p>
          <a:p>
            <a:pPr fontAlgn="base"/>
            <a:r>
              <a:rPr lang="ru-RU" dirty="0"/>
              <a:t>И.А. Бунин </a:t>
            </a:r>
            <a:r>
              <a:rPr lang="ru-RU" u="sng" dirty="0">
                <a:hlinkClick r:id="rId4"/>
              </a:rPr>
              <a:t>«Господин из Сан-Франциско»;</a:t>
            </a:r>
            <a:endParaRPr lang="ru-RU" dirty="0"/>
          </a:p>
          <a:p>
            <a:pPr fontAlgn="base"/>
            <a:r>
              <a:rPr lang="ru-RU" dirty="0"/>
              <a:t>М. Горький </a:t>
            </a:r>
            <a:r>
              <a:rPr lang="ru-RU" u="sng" dirty="0">
                <a:hlinkClick r:id="rId5"/>
              </a:rPr>
              <a:t>«</a:t>
            </a:r>
            <a:r>
              <a:rPr lang="ru-RU" u="sng" dirty="0" err="1">
                <a:hlinkClick r:id="rId5"/>
              </a:rPr>
              <a:t>Челкаш</a:t>
            </a:r>
            <a:r>
              <a:rPr lang="ru-RU" u="sng" dirty="0">
                <a:hlinkClick r:id="rId5"/>
              </a:rPr>
              <a:t>»;</a:t>
            </a:r>
            <a:endParaRPr lang="ru-RU" dirty="0"/>
          </a:p>
          <a:p>
            <a:pPr fontAlgn="base"/>
            <a:r>
              <a:rPr lang="ru-RU" dirty="0"/>
              <a:t>Р. </a:t>
            </a:r>
            <a:r>
              <a:rPr lang="ru-RU" dirty="0" err="1"/>
              <a:t>Брэдбери</a:t>
            </a:r>
            <a:r>
              <a:rPr lang="ru-RU" dirty="0"/>
              <a:t> </a:t>
            </a:r>
            <a:r>
              <a:rPr lang="ru-RU" u="sng" dirty="0">
                <a:hlinkClick r:id="rId6"/>
              </a:rPr>
              <a:t>«Лед и пламя»;</a:t>
            </a:r>
            <a:endParaRPr lang="ru-RU" dirty="0"/>
          </a:p>
          <a:p>
            <a:pPr fontAlgn="base"/>
            <a:r>
              <a:rPr lang="ru-RU" dirty="0"/>
              <a:t>А.С. Пушкин </a:t>
            </a:r>
            <a:r>
              <a:rPr lang="ru-RU" u="sng" dirty="0">
                <a:hlinkClick r:id="rId7"/>
              </a:rPr>
              <a:t>«Выстрел»;</a:t>
            </a:r>
            <a:endParaRPr lang="ru-RU" dirty="0"/>
          </a:p>
          <a:p>
            <a:pPr fontAlgn="base"/>
            <a:r>
              <a:rPr lang="ru-RU" dirty="0"/>
              <a:t>А.П. Чехов </a:t>
            </a:r>
            <a:r>
              <a:rPr lang="ru-RU" u="sng" dirty="0">
                <a:hlinkClick r:id="rId8"/>
              </a:rPr>
              <a:t>«Крыжовник»;</a:t>
            </a:r>
            <a:endParaRPr lang="ru-RU" dirty="0"/>
          </a:p>
          <a:p>
            <a:pPr fontAlgn="base"/>
            <a:r>
              <a:rPr lang="ru-RU" dirty="0"/>
              <a:t>М. Горький  «</a:t>
            </a:r>
            <a:r>
              <a:rPr lang="ru-RU" u="sng" dirty="0">
                <a:hlinkClick r:id="rId9"/>
              </a:rPr>
              <a:t>Песня о Соколе»;</a:t>
            </a:r>
            <a:endParaRPr lang="ru-RU" dirty="0"/>
          </a:p>
          <a:p>
            <a:endParaRPr lang="ru-RU" dirty="0"/>
          </a:p>
        </p:txBody>
      </p:sp>
    </p:spTree>
    <p:extLst>
      <p:ext uri="{BB962C8B-B14F-4D97-AF65-F5344CB8AC3E}">
        <p14:creationId xmlns:p14="http://schemas.microsoft.com/office/powerpoint/2010/main" val="270883110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Примерные темы</a:t>
            </a:r>
            <a:endParaRPr lang="ru-RU" dirty="0"/>
          </a:p>
        </p:txBody>
      </p:sp>
      <p:sp>
        <p:nvSpPr>
          <p:cNvPr id="3" name="Объект 2"/>
          <p:cNvSpPr>
            <a:spLocks noGrp="1"/>
          </p:cNvSpPr>
          <p:nvPr>
            <p:ph idx="1"/>
          </p:nvPr>
        </p:nvSpPr>
        <p:spPr/>
        <p:txBody>
          <a:bodyPr/>
          <a:lstStyle/>
          <a:p>
            <a:r>
              <a:rPr lang="ru-RU" dirty="0"/>
              <a:t>1. Как Вы понимаете мысль Б. Паскаля: «Прошлое и настоящее — наши средства: только будущее — наша цель»?</a:t>
            </a:r>
            <a:br>
              <a:rPr lang="ru-RU" dirty="0"/>
            </a:br>
            <a:r>
              <a:rPr lang="ru-RU" dirty="0"/>
              <a:t>2. Бесцельное существование или невыполнимая цель?</a:t>
            </a:r>
            <a:br>
              <a:rPr lang="ru-RU" dirty="0"/>
            </a:br>
            <a:r>
              <a:rPr lang="ru-RU" dirty="0"/>
              <a:t>3. Как найти цель своей жизни?</a:t>
            </a:r>
            <a:br>
              <a:rPr lang="ru-RU" dirty="0"/>
            </a:br>
            <a:r>
              <a:rPr lang="ru-RU" dirty="0"/>
              <a:t>4. Согласны ли Вы с О. Хаксли, что «…средства определяют природу цели»?</a:t>
            </a:r>
            <a:br>
              <a:rPr lang="ru-RU" dirty="0"/>
            </a:br>
            <a:r>
              <a:rPr lang="ru-RU" dirty="0"/>
              <a:t>5. «Ценить людей надо по тем целям, которые они перед собой ставят». Н. Н. Миклухо-Маклай</a:t>
            </a:r>
          </a:p>
          <a:p>
            <a:endParaRPr lang="ru-RU" dirty="0"/>
          </a:p>
        </p:txBody>
      </p:sp>
    </p:spTree>
    <p:extLst>
      <p:ext uri="{BB962C8B-B14F-4D97-AF65-F5344CB8AC3E}">
        <p14:creationId xmlns:p14="http://schemas.microsoft.com/office/powerpoint/2010/main" val="355126415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Цель оправдывает средства («Горе от ума»)</a:t>
            </a:r>
            <a:endParaRPr lang="ru-RU" dirty="0"/>
          </a:p>
        </p:txBody>
      </p:sp>
      <p:sp>
        <p:nvSpPr>
          <p:cNvPr id="3" name="Объект 2"/>
          <p:cNvSpPr>
            <a:spLocks noGrp="1"/>
          </p:cNvSpPr>
          <p:nvPr>
            <p:ph idx="1"/>
          </p:nvPr>
        </p:nvSpPr>
        <p:spPr/>
        <p:txBody>
          <a:bodyPr>
            <a:normAutofit fontScale="85000" lnSpcReduction="20000"/>
          </a:bodyPr>
          <a:lstStyle/>
          <a:p>
            <a:r>
              <a:rPr lang="ru-RU" dirty="0" smtClean="0"/>
              <a:t>Для </a:t>
            </a:r>
            <a:r>
              <a:rPr lang="ru-RU" dirty="0"/>
              <a:t>чего человек живёт, чему стремится посвятить свою жизнь, какими путями он идёт к достижению свой цели? Эти философские вопросы пытается осветить А.С</a:t>
            </a:r>
            <a:r>
              <a:rPr lang="ru-RU" dirty="0" smtClean="0"/>
              <a:t>. Грибоедов </a:t>
            </a:r>
            <a:r>
              <a:rPr lang="ru-RU" dirty="0"/>
              <a:t>в пьесе «Горе от ума». Цели «</a:t>
            </a:r>
            <a:r>
              <a:rPr lang="ru-RU" dirty="0" err="1"/>
              <a:t>фамусовского</a:t>
            </a:r>
            <a:r>
              <a:rPr lang="ru-RU" dirty="0"/>
              <a:t> общества» — достижение материального благополучия, высокого положения, продвижение по карьерной лестнице. В принципе, цели-то неплохие. Достойное место   среди людей желает занять каждый человек, стремящийся интересно, насыщенно прожить жизнь. Однако средства, избираемые «</a:t>
            </a:r>
            <a:r>
              <a:rPr lang="ru-RU" dirty="0" err="1"/>
              <a:t>фамусовским</a:t>
            </a:r>
            <a:r>
              <a:rPr lang="ru-RU" dirty="0"/>
              <a:t> обществом», низкие. Яркий пример тому — </a:t>
            </a:r>
            <a:r>
              <a:rPr lang="ru-RU" dirty="0" err="1"/>
              <a:t>А.Молчалин</a:t>
            </a:r>
            <a:r>
              <a:rPr lang="ru-RU" dirty="0"/>
              <a:t>, человек, который ради продвижения по службе, денег, благополучия готов пойти на всё. Он пытается всем угодить, нравиться, льстить, лицемерить. Герой хорошо усвоил уроки своего отца, который учил сына угождать всем: «</a:t>
            </a:r>
            <a:r>
              <a:rPr lang="ru-RU" i="1" dirty="0"/>
              <a:t>Во- первых, угождать всем людям без изъятья: Хозяину, где доведется жить, Начальнику, с кем буду я служить, Слуге его, который чистит платья; Швейцару, дворнику для </a:t>
            </a:r>
            <a:r>
              <a:rPr lang="ru-RU" i="1" dirty="0" err="1"/>
              <a:t>избежанья</a:t>
            </a:r>
            <a:r>
              <a:rPr lang="ru-RU" i="1" dirty="0"/>
              <a:t> зла, Собаке дворника, чтоб ласкова была».</a:t>
            </a:r>
            <a:endParaRPr lang="ru-RU" dirty="0"/>
          </a:p>
        </p:txBody>
      </p:sp>
    </p:spTree>
    <p:extLst>
      <p:ext uri="{BB962C8B-B14F-4D97-AF65-F5344CB8AC3E}">
        <p14:creationId xmlns:p14="http://schemas.microsoft.com/office/powerpoint/2010/main" val="46737742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Цель оправдывает средства</a:t>
            </a:r>
          </a:p>
        </p:txBody>
      </p:sp>
      <p:sp>
        <p:nvSpPr>
          <p:cNvPr id="3" name="Объект 2"/>
          <p:cNvSpPr>
            <a:spLocks noGrp="1"/>
          </p:cNvSpPr>
          <p:nvPr>
            <p:ph idx="1"/>
          </p:nvPr>
        </p:nvSpPr>
        <p:spPr/>
        <p:txBody>
          <a:bodyPr>
            <a:normAutofit fontScale="77500" lnSpcReduction="20000"/>
          </a:bodyPr>
          <a:lstStyle/>
          <a:p>
            <a:r>
              <a:rPr lang="ru-RU" dirty="0"/>
              <a:t>Цель  Чацкого – достойно прожить жизнь. Он хочет служить Отечеству честно, без лести и угодничества </a:t>
            </a:r>
            <a:r>
              <a:rPr lang="ru-RU" i="1" dirty="0"/>
              <a:t>( «…Служить бы рад , прислуживаться</a:t>
            </a:r>
            <a:r>
              <a:rPr lang="ru-RU" dirty="0"/>
              <a:t> </a:t>
            </a:r>
            <a:r>
              <a:rPr lang="ru-RU" i="1" dirty="0"/>
              <a:t>тошно…»),</a:t>
            </a:r>
            <a:r>
              <a:rPr lang="ru-RU" dirty="0"/>
              <a:t> мечтает об искренней любви, стремится быть честным, иметь свою позицию,  принципы и не изменять им, как бы они ни противоречили обществу. Да, его цель и средства благородны, однако какой гнев вызывают они в обществе! «Горе от ума» испытывает Чацкий, непонятый окружающими, признанный ими сумасшедшим. Но именно так, по  мнению автора ,надо жить- честно, достойно. Да и не одинок герой , есть такие, как он, не подчиняющиеся ложным ценностям. Их нет среди персонажей пьесы, но о них упоминают герои произведения. Это и двоюродный брат Скалозуба ( </a:t>
            </a:r>
            <a:r>
              <a:rPr lang="ru-RU" i="1" dirty="0"/>
              <a:t>“…крепко набрался каких-то новых правил. Чин следовал ему: он службу вдруг оставил, в деревне книги стал читать</a:t>
            </a:r>
            <a:r>
              <a:rPr lang="ru-RU" dirty="0"/>
              <a:t>”),   и племянник княгини </a:t>
            </a:r>
            <a:r>
              <a:rPr lang="ru-RU" dirty="0" err="1"/>
              <a:t>Тугоуховской</a:t>
            </a:r>
            <a:r>
              <a:rPr lang="ru-RU" i="1" dirty="0"/>
              <a:t>, </a:t>
            </a:r>
            <a:r>
              <a:rPr lang="ru-RU" dirty="0"/>
              <a:t>который</a:t>
            </a:r>
            <a:r>
              <a:rPr lang="ru-RU" i="1" dirty="0"/>
              <a:t> “чинов не хочет знать! Он химик, он ботаник, князь Федор…”, </a:t>
            </a:r>
            <a:r>
              <a:rPr lang="ru-RU" dirty="0"/>
              <a:t>и вся передовая молодёжь, представляющая </a:t>
            </a:r>
            <a:r>
              <a:rPr lang="ru-RU" i="1" dirty="0"/>
              <a:t>«век нынешний</a:t>
            </a:r>
            <a:r>
              <a:rPr lang="ru-RU" dirty="0"/>
              <a:t>», ведь именно от её лица говорит Чацкий </a:t>
            </a:r>
            <a:r>
              <a:rPr lang="ru-RU" i="1" dirty="0"/>
              <a:t>(«Где, укажите нам ,отечества отцы…»)</a:t>
            </a:r>
            <a:endParaRPr lang="ru-RU" dirty="0"/>
          </a:p>
        </p:txBody>
      </p:sp>
    </p:spTree>
    <p:extLst>
      <p:ext uri="{BB962C8B-B14F-4D97-AF65-F5344CB8AC3E}">
        <p14:creationId xmlns:p14="http://schemas.microsoft.com/office/powerpoint/2010/main" val="360221868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Цель оправдывает средства</a:t>
            </a:r>
            <a:endParaRPr lang="ru-RU" dirty="0"/>
          </a:p>
        </p:txBody>
      </p:sp>
      <p:sp>
        <p:nvSpPr>
          <p:cNvPr id="3" name="Объект 2"/>
          <p:cNvSpPr>
            <a:spLocks noGrp="1"/>
          </p:cNvSpPr>
          <p:nvPr>
            <p:ph idx="1"/>
          </p:nvPr>
        </p:nvSpPr>
        <p:spPr/>
        <p:txBody>
          <a:bodyPr/>
          <a:lstStyle/>
          <a:p>
            <a:r>
              <a:rPr lang="ru-RU" dirty="0"/>
              <a:t>Так что не все такие, как Молчалин и ему подобные.</a:t>
            </a:r>
          </a:p>
          <a:p>
            <a:r>
              <a:rPr lang="ru-RU" dirty="0"/>
              <a:t>Выбрать достойную цель в жизни, использовать для её достижения соответствующие средства, не ошибиться, не пойти по пути мнимых ценностей — это так важно, чтобы стать личностью, быть честным перед самим собой и людьми. Именно  к этому выводу приходят читатели пьесы </a:t>
            </a:r>
            <a:r>
              <a:rPr lang="ru-RU" dirty="0" err="1"/>
              <a:t>А.С.Грибоедова</a:t>
            </a:r>
            <a:r>
              <a:rPr lang="ru-RU" dirty="0"/>
              <a:t>.</a:t>
            </a:r>
          </a:p>
          <a:p>
            <a:endParaRPr lang="ru-RU" dirty="0"/>
          </a:p>
        </p:txBody>
      </p:sp>
    </p:spTree>
    <p:extLst>
      <p:ext uri="{BB962C8B-B14F-4D97-AF65-F5344CB8AC3E}">
        <p14:creationId xmlns:p14="http://schemas.microsoft.com/office/powerpoint/2010/main" val="315619123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Цель оправдывает средства («Мертвые души»</a:t>
            </a:r>
            <a:endParaRPr lang="ru-RU" dirty="0"/>
          </a:p>
        </p:txBody>
      </p:sp>
      <p:sp>
        <p:nvSpPr>
          <p:cNvPr id="3" name="Объект 2"/>
          <p:cNvSpPr>
            <a:spLocks noGrp="1"/>
          </p:cNvSpPr>
          <p:nvPr>
            <p:ph idx="1"/>
          </p:nvPr>
        </p:nvSpPr>
        <p:spPr/>
        <p:txBody>
          <a:bodyPr>
            <a:normAutofit fontScale="92500"/>
          </a:bodyPr>
          <a:lstStyle/>
          <a:p>
            <a:r>
              <a:rPr lang="ru-RU" dirty="0"/>
              <a:t>«Цель оправдывает средства».  К герою поэмы Н.В</a:t>
            </a:r>
            <a:r>
              <a:rPr lang="ru-RU" dirty="0" smtClean="0"/>
              <a:t>. Гоголя </a:t>
            </a:r>
            <a:r>
              <a:rPr lang="ru-RU" dirty="0"/>
              <a:t>Чичикову так подходят эти слова! Цель поставлена героем чётко (она уже в детстве была  указана его отцом : «</a:t>
            </a:r>
            <a:r>
              <a:rPr lang="ru-RU" i="1" dirty="0"/>
              <a:t>больше всего береги и копи копейку: эта вещь надежнее всего на свете…») </a:t>
            </a:r>
            <a:r>
              <a:rPr lang="ru-RU" dirty="0"/>
              <a:t>- богатство, знатность, положение в обществе. Шаг за шагом идёт герой  к своей цели. Уже в школьные годы он использует  определённые средства для её достижения, занимается накопительством: продаёт  товарищам угощенье, снегиря, которого слепил из воска, бережно зашивает  в мешочки по 5 копеек. А позже любые махинации, если они приводили к деньгам или продвижению по службе , для героя были хороши. </a:t>
            </a:r>
          </a:p>
        </p:txBody>
      </p:sp>
    </p:spTree>
    <p:extLst>
      <p:ext uri="{BB962C8B-B14F-4D97-AF65-F5344CB8AC3E}">
        <p14:creationId xmlns:p14="http://schemas.microsoft.com/office/powerpoint/2010/main" val="71246698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Цель оправдывает средства («Мертвые души»</a:t>
            </a:r>
          </a:p>
        </p:txBody>
      </p:sp>
      <p:sp>
        <p:nvSpPr>
          <p:cNvPr id="3" name="Объект 2"/>
          <p:cNvSpPr>
            <a:spLocks noGrp="1"/>
          </p:cNvSpPr>
          <p:nvPr>
            <p:ph idx="1"/>
          </p:nvPr>
        </p:nvSpPr>
        <p:spPr/>
        <p:txBody>
          <a:bodyPr>
            <a:normAutofit fontScale="92500" lnSpcReduction="20000"/>
          </a:bodyPr>
          <a:lstStyle/>
          <a:p>
            <a:r>
              <a:rPr lang="ru-RU" dirty="0"/>
              <a:t>Вспомним, как ловко он обманул начальника, пообещав жениться на его дочери. Но после получения очередного чина  забыл об  этом ( </a:t>
            </a:r>
            <a:r>
              <a:rPr lang="ru-RU" i="1" dirty="0"/>
              <a:t>«…надул, надул, чертов сын!»)</a:t>
            </a:r>
            <a:r>
              <a:rPr lang="ru-RU" dirty="0"/>
              <a:t> Казалось, что может быть ужаснее продажи «мёртвых душ», а Чичиков продаёт их, не брезгуя ничем, ведь это может принести ему значительный доход. Даже светское общество, развращённое погоней за деньгами,  не понимает героя, и ему чужд такой метод наживы. Чичиков может найти подход к любому, буквально очаровать собой всё общество. Входя в доверие к помещикам, он совершает противозаконные сделки. И  всё бы хорошо, если бы не Коробочка, решившая в городе узнать , не продешевила ли она при продаже мёртвых душ, если бы не  </a:t>
            </a:r>
            <a:r>
              <a:rPr lang="ru-RU" dirty="0" err="1"/>
              <a:t>Ноздрёв</a:t>
            </a:r>
            <a:r>
              <a:rPr lang="ru-RU" dirty="0"/>
              <a:t> с его прямотой, прилюдно поинтересовавшийся , как идут дела с покупкой  этих душ. </a:t>
            </a:r>
          </a:p>
        </p:txBody>
      </p:sp>
    </p:spTree>
    <p:extLst>
      <p:ext uri="{BB962C8B-B14F-4D97-AF65-F5344CB8AC3E}">
        <p14:creationId xmlns:p14="http://schemas.microsoft.com/office/powerpoint/2010/main" val="422906952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Цель оправдывает средства («Мертвые души»</a:t>
            </a:r>
          </a:p>
        </p:txBody>
      </p:sp>
      <p:sp>
        <p:nvSpPr>
          <p:cNvPr id="3" name="Объект 2"/>
          <p:cNvSpPr>
            <a:spLocks noGrp="1"/>
          </p:cNvSpPr>
          <p:nvPr>
            <p:ph idx="1"/>
          </p:nvPr>
        </p:nvSpPr>
        <p:spPr/>
        <p:txBody>
          <a:bodyPr>
            <a:normAutofit fontScale="92500" lnSpcReduction="20000"/>
          </a:bodyPr>
          <a:lstStyle/>
          <a:p>
            <a:r>
              <a:rPr lang="ru-RU" dirty="0"/>
              <a:t>На этот раз афера не удалась. Но впереди у героя ещё столько возможностей, и, кто знает , может,  очередное сомнительное предприятие ему удастся. Конечно, автор надеялся, что может измениться человек. Не случайно он написал 2-ой том, в котором показал положительных героев. Но сам </a:t>
            </a:r>
            <a:r>
              <a:rPr lang="ru-RU" dirty="0" err="1"/>
              <a:t>Н.Гоголь</a:t>
            </a:r>
            <a:r>
              <a:rPr lang="ru-RU" dirty="0"/>
              <a:t> понял, что слишком нереальными получились герои, что очень трудно изжить в людях их пороки, поэтому он сжёг этот том.</a:t>
            </a:r>
          </a:p>
          <a:p>
            <a:r>
              <a:rPr lang="ru-RU" dirty="0"/>
              <a:t>Желание быть богатым всегда свойственно людям. Цель эта хорошо понятна. Но вот всегда ли человек использует достойные средства? Не опускается ли он до низости, беззакония, несправедливости? Об этом должен  думать каждый, определяя средства достижения своих целей, чтобы быть уважаемым и достойным  человеком в обществе.</a:t>
            </a:r>
          </a:p>
          <a:p>
            <a:endParaRPr lang="ru-RU" dirty="0"/>
          </a:p>
          <a:p>
            <a:endParaRPr lang="ru-RU" dirty="0"/>
          </a:p>
        </p:txBody>
      </p:sp>
    </p:spTree>
    <p:extLst>
      <p:ext uri="{BB962C8B-B14F-4D97-AF65-F5344CB8AC3E}">
        <p14:creationId xmlns:p14="http://schemas.microsoft.com/office/powerpoint/2010/main" val="77043190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Цель оправдывает </a:t>
            </a:r>
            <a:r>
              <a:rPr lang="ru-RU" dirty="0" smtClean="0"/>
              <a:t>средства («Преступление и наказание»)</a:t>
            </a:r>
            <a:endParaRPr lang="ru-RU" dirty="0"/>
          </a:p>
        </p:txBody>
      </p:sp>
      <p:sp>
        <p:nvSpPr>
          <p:cNvPr id="3" name="Объект 2"/>
          <p:cNvSpPr>
            <a:spLocks noGrp="1"/>
          </p:cNvSpPr>
          <p:nvPr>
            <p:ph idx="1"/>
          </p:nvPr>
        </p:nvSpPr>
        <p:spPr/>
        <p:txBody>
          <a:bodyPr>
            <a:normAutofit fontScale="92500" lnSpcReduction="20000"/>
          </a:bodyPr>
          <a:lstStyle/>
          <a:p>
            <a:r>
              <a:rPr lang="ru-RU" dirty="0"/>
              <a:t>Цели человек ставит в своей жизни постоянно — от небольших, ежедневных до жизненных, составляющих сущность  всего, что он делает . Хорошо, если эти цели приносят радость, успех, удачу не только человеку, но и окружающим. Если же они эгоистичны, то страдают все,  и в первую очередь сам человек. Так и герой романа </a:t>
            </a:r>
            <a:r>
              <a:rPr lang="ru-RU" dirty="0" err="1"/>
              <a:t>Ф.М.Достоевского</a:t>
            </a:r>
            <a:r>
              <a:rPr lang="ru-RU" dirty="0"/>
              <a:t> «Преступление  и наказание» Родион Раскольников тоже ставит цель – проверить себя, кто он — </a:t>
            </a:r>
            <a:r>
              <a:rPr lang="ru-RU" i="1" dirty="0"/>
              <a:t>«тварь ли дрожащая</a:t>
            </a:r>
            <a:r>
              <a:rPr lang="ru-RU" dirty="0"/>
              <a:t>» или </a:t>
            </a:r>
            <a:r>
              <a:rPr lang="ru-RU" i="1" dirty="0"/>
              <a:t>«право име</a:t>
            </a:r>
            <a:r>
              <a:rPr lang="ru-RU" dirty="0"/>
              <a:t>ет». О каком «праве» рассуждает  в своей теории герой? О праве личности на преступление ради великих целей, ради спасения человечества. Размышляя о </a:t>
            </a:r>
            <a:r>
              <a:rPr lang="ru-RU" i="1" dirty="0"/>
              <a:t>«необыкновенных людях»,</a:t>
            </a:r>
            <a:r>
              <a:rPr lang="ru-RU" dirty="0"/>
              <a:t> он считает, что они могут  </a:t>
            </a:r>
            <a:r>
              <a:rPr lang="ru-RU" i="1" dirty="0"/>
              <a:t>«…разрешить своей совести перешагнуть… через иные препятствия, и единственно в том случае, если исполнение идеи (иногда спасительной, может быть, для всего человечества) того потребует»</a:t>
            </a:r>
            <a:r>
              <a:rPr lang="ru-RU" dirty="0"/>
              <a:t>. </a:t>
            </a:r>
          </a:p>
        </p:txBody>
      </p:sp>
    </p:spTree>
    <p:extLst>
      <p:ext uri="{BB962C8B-B14F-4D97-AF65-F5344CB8AC3E}">
        <p14:creationId xmlns:p14="http://schemas.microsoft.com/office/powerpoint/2010/main" val="287256653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Цель оправдывает средства («Преступление и наказание»)</a:t>
            </a:r>
          </a:p>
        </p:txBody>
      </p:sp>
      <p:sp>
        <p:nvSpPr>
          <p:cNvPr id="3" name="Объект 2"/>
          <p:cNvSpPr>
            <a:spLocks noGrp="1"/>
          </p:cNvSpPr>
          <p:nvPr>
            <p:ph idx="1"/>
          </p:nvPr>
        </p:nvSpPr>
        <p:spPr/>
        <p:txBody>
          <a:bodyPr>
            <a:normAutofit fontScale="70000" lnSpcReduction="20000"/>
          </a:bodyPr>
          <a:lstStyle/>
          <a:p>
            <a:r>
              <a:rPr lang="ru-RU" dirty="0"/>
              <a:t>И здесь все средства хороши — вплоть до убийства, которое он и совершает, убив Алёну Ивановну , старуху-процентщицу. Однако преступление  тем и страшно, что тянет за собой другое — гибель сестры процентщицы – Лизаветы, ради которой, казалось, и совершал герой убийство, пытаясь спасти её и других от этой отвратительной женщины. Но идея, теория Раскольникова возникает в его уме лишь под тяжестью безвыходности лично своего положения и положения Дуни, сестры, которая хочет ради брата выйти замуж за нелюбимого Лужина. То есть идея  спасения человечества оказывается, в сущности, идеей  спасения самого себя. Совершив преступлении , герой понял, что отгородил себя от людей, оказался </a:t>
            </a:r>
            <a:r>
              <a:rPr lang="ru-RU" i="1" dirty="0"/>
              <a:t>«по ту сторону добра и зла</a:t>
            </a:r>
            <a:r>
              <a:rPr lang="ru-RU" dirty="0"/>
              <a:t>». Пройдет немало времени, чтобы Раскольников до конца осознал чудовищность своей теории, когда любовь Сони возродит его к жизни.</a:t>
            </a:r>
          </a:p>
          <a:p>
            <a:r>
              <a:rPr lang="ru-RU" dirty="0"/>
              <a:t>Читая роман, каждый делает выводы о том, что важно в этой жизни, к чему нужно стремиться, какие цели ставить и как этого добиваться, как надо выходить из трудных жизненных ситуаций. Только жизнь по законам добра и справедливости способна помочь человеку всё преодолеть. Зло, жестокость, убийство – это  всегда приведёт в пропасть, сделает человека  несчастным.</a:t>
            </a:r>
          </a:p>
          <a:p>
            <a:endParaRPr lang="ru-RU" dirty="0"/>
          </a:p>
        </p:txBody>
      </p:sp>
    </p:spTree>
    <p:extLst>
      <p:ext uri="{BB962C8B-B14F-4D97-AF65-F5344CB8AC3E}">
        <p14:creationId xmlns:p14="http://schemas.microsoft.com/office/powerpoint/2010/main" val="93376941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Цель оправдывает средства («Война и мир»)</a:t>
            </a:r>
            <a:endParaRPr lang="ru-RU" dirty="0"/>
          </a:p>
        </p:txBody>
      </p:sp>
      <p:sp>
        <p:nvSpPr>
          <p:cNvPr id="3" name="Объект 2"/>
          <p:cNvSpPr>
            <a:spLocks noGrp="1"/>
          </p:cNvSpPr>
          <p:nvPr>
            <p:ph idx="1"/>
          </p:nvPr>
        </p:nvSpPr>
        <p:spPr/>
        <p:txBody>
          <a:bodyPr>
            <a:normAutofit/>
          </a:bodyPr>
          <a:lstStyle/>
          <a:p>
            <a:r>
              <a:rPr lang="ru-RU" dirty="0"/>
              <a:t>Характер человека формируется всю жизнь. Порой одни цели и ценности сменяются другими. Многое зависит от окружения, от изменений как в жизни самого человека, так и всей страны, народа. Герой романа </a:t>
            </a:r>
            <a:r>
              <a:rPr lang="ru-RU" dirty="0" err="1"/>
              <a:t>Л.Н.Толстого</a:t>
            </a:r>
            <a:r>
              <a:rPr lang="ru-RU" dirty="0"/>
              <a:t> «Война и мир» Андрей Болконский постоянно находится в поисках своего места в жизни. Автор показывает, как менялись его цели, средства, которые он использовал для их достижения.</a:t>
            </a:r>
          </a:p>
          <a:p>
            <a:r>
              <a:rPr lang="ru-RU" dirty="0"/>
              <a:t> </a:t>
            </a:r>
          </a:p>
        </p:txBody>
      </p:sp>
    </p:spTree>
    <p:extLst>
      <p:ext uri="{BB962C8B-B14F-4D97-AF65-F5344CB8AC3E}">
        <p14:creationId xmlns:p14="http://schemas.microsoft.com/office/powerpoint/2010/main" val="1191907026"/>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Цель оправдывает средства («Война и мир»)</a:t>
            </a:r>
          </a:p>
        </p:txBody>
      </p:sp>
      <p:sp>
        <p:nvSpPr>
          <p:cNvPr id="3" name="Объект 2"/>
          <p:cNvSpPr>
            <a:spLocks noGrp="1"/>
          </p:cNvSpPr>
          <p:nvPr>
            <p:ph idx="1"/>
          </p:nvPr>
        </p:nvSpPr>
        <p:spPr/>
        <p:txBody>
          <a:bodyPr>
            <a:normAutofit fontScale="92500" lnSpcReduction="20000"/>
          </a:bodyPr>
          <a:lstStyle/>
          <a:p>
            <a:r>
              <a:rPr lang="ru-RU" dirty="0"/>
              <a:t>В начале романа герой мечтает о славе, идёт на войну с Наполеоном, чтобы найти свой «Тулон», то есть ту точку отсчёта, которая положит начало его известности(</a:t>
            </a:r>
            <a:r>
              <a:rPr lang="ru-RU" i="1" dirty="0"/>
              <a:t> “Хочу славы, хочу быть известным людям, хочу быть любимым ими”). </a:t>
            </a:r>
            <a:r>
              <a:rPr lang="ru-RU" dirty="0"/>
              <a:t>Однако война показала ничтожность его мечтаний. Увидев огромное небо, облака, плывущие по нему, он понял, что надо жить по законам природы, что все его цели такие низменные, никчемные. Встреча с Наташей в Отрадном, подслушанные её слова о красоте ночи, в которых столько желания жить полной грудью, — всё это  повлияло на Андрея. Ему захотелось быть полезным людям, приносить им пользу( </a:t>
            </a:r>
            <a:r>
              <a:rPr lang="ru-RU" i="1" dirty="0"/>
              <a:t>«…надо, чтобы все знали меня, чтобы не для одного меня шла моя жизнь… чтобы на всех она отражалась и чтобы все они жили со мною вместе). </a:t>
            </a:r>
            <a:r>
              <a:rPr lang="ru-RU" dirty="0"/>
              <a:t> </a:t>
            </a:r>
          </a:p>
        </p:txBody>
      </p:sp>
    </p:spTree>
    <p:extLst>
      <p:ext uri="{BB962C8B-B14F-4D97-AF65-F5344CB8AC3E}">
        <p14:creationId xmlns:p14="http://schemas.microsoft.com/office/powerpoint/2010/main" val="2860804522"/>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Цель оправдывает средства («Война и мир»)</a:t>
            </a:r>
          </a:p>
        </p:txBody>
      </p:sp>
      <p:sp>
        <p:nvSpPr>
          <p:cNvPr id="3" name="Объект 2"/>
          <p:cNvSpPr>
            <a:spLocks noGrp="1"/>
          </p:cNvSpPr>
          <p:nvPr>
            <p:ph idx="1"/>
          </p:nvPr>
        </p:nvSpPr>
        <p:spPr/>
        <p:txBody>
          <a:bodyPr>
            <a:normAutofit fontScale="92500" lnSpcReduction="20000"/>
          </a:bodyPr>
          <a:lstStyle/>
          <a:p>
            <a:r>
              <a:rPr lang="ru-RU" dirty="0"/>
              <a:t>Он продумывает и средства для этого, входя в законодательную комиссию </a:t>
            </a:r>
            <a:r>
              <a:rPr lang="ru-RU" dirty="0" err="1"/>
              <a:t>А.Сперанского</a:t>
            </a:r>
            <a:r>
              <a:rPr lang="ru-RU" dirty="0"/>
              <a:t>. В конце романа это уже совсем другой человек, понявший, что человек счастлив , живя единой жизнью  с народом, Отечеством, внося свой вклад в великие дела. А ещё ой осознал, что надо уметь прощать, ведь именно то, что он не сумел когда-то понять и простить Наташу, лишило его любви такой женщины!  Перед смертью Андрей понял это</a:t>
            </a:r>
            <a:r>
              <a:rPr lang="ru-RU" i="1" dirty="0"/>
              <a:t>, «…ему открылась та терпеливая любовь к людям, которой учила его сестра!»</a:t>
            </a:r>
            <a:endParaRPr lang="ru-RU" dirty="0"/>
          </a:p>
          <a:p>
            <a:r>
              <a:rPr lang="ru-RU" dirty="0"/>
              <a:t>Обо многом заставляет задуматься автор своих читателей и прежде всего о том, как нужно жить на этой земле, каким быть человеком. Любимые герои  </a:t>
            </a:r>
            <a:r>
              <a:rPr lang="ru-RU" dirty="0" err="1"/>
              <a:t>Л.Толстого</a:t>
            </a:r>
            <a:r>
              <a:rPr lang="ru-RU" dirty="0"/>
              <a:t> словно подсказывают ответы на эти вопросы.</a:t>
            </a:r>
          </a:p>
          <a:p>
            <a:endParaRPr lang="ru-RU" dirty="0"/>
          </a:p>
        </p:txBody>
      </p:sp>
    </p:spTree>
    <p:extLst>
      <p:ext uri="{BB962C8B-B14F-4D97-AF65-F5344CB8AC3E}">
        <p14:creationId xmlns:p14="http://schemas.microsoft.com/office/powerpoint/2010/main" val="388326735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Цель оправдывает средства </a:t>
            </a:r>
            <a:r>
              <a:rPr lang="ru-RU" dirty="0" smtClean="0"/>
              <a:t>(«Прощание с Матерой»)</a:t>
            </a:r>
            <a:endParaRPr lang="ru-RU" dirty="0"/>
          </a:p>
        </p:txBody>
      </p:sp>
      <p:sp>
        <p:nvSpPr>
          <p:cNvPr id="3" name="Объект 2"/>
          <p:cNvSpPr>
            <a:spLocks noGrp="1"/>
          </p:cNvSpPr>
          <p:nvPr>
            <p:ph idx="1"/>
          </p:nvPr>
        </p:nvSpPr>
        <p:spPr/>
        <p:txBody>
          <a:bodyPr>
            <a:normAutofit fontScale="70000" lnSpcReduction="20000"/>
          </a:bodyPr>
          <a:lstStyle/>
          <a:p>
            <a:r>
              <a:rPr lang="ru-RU" dirty="0"/>
              <a:t>Цели ставит перед собой не только конкретный человек, но и государство. Хорошо, если эти цели служит улучшению жизни людей, направлены  на их благо, если продуманы средства, не приносящие людям вреда. Однако иногда, выполняя , на первый взгляд, благородное дело, государство не замечает, сколько боли  и страдания приносит людям, так или иначе  вовлечённым в данное мероприятие. Об этом — повесть </a:t>
            </a:r>
            <a:r>
              <a:rPr lang="ru-RU" dirty="0" err="1"/>
              <a:t>В.Г.Распутина</a:t>
            </a:r>
            <a:r>
              <a:rPr lang="ru-RU" dirty="0"/>
              <a:t> «Прощание с Матёрой». В основе сюжета лежит конкретный факт — строительство нового водохранилища, ГЭС на Ангаре , для чего были затоплены некоторые населённые пункты, а люди переселены в другие места .Почти 300 лет  </a:t>
            </a:r>
            <a:r>
              <a:rPr lang="ru-RU" dirty="0" err="1"/>
              <a:t>Матёре</a:t>
            </a:r>
            <a:r>
              <a:rPr lang="ru-RU" dirty="0"/>
              <a:t>. В этой деревне, находящейся на острове, прошла жизнь многих поколений, здесь же они и похоронены, а потомки бережно хранят о них память. Тяжела жизнь людей, наполненная постоянной работой. Но  любят жители свои родные места, ощущают благодать родной земли, особенно пожилое поколение. И вдруг им предстоит покинуть всё, что им так дорого. Тяжело переживают старики это событие. </a:t>
            </a:r>
            <a:r>
              <a:rPr lang="ru-RU" i="1" dirty="0"/>
              <a:t>«Я там в одну неделю с тоски помру. Посередь чужих-то! Кто ж старое дерево пересаживает?!» — </a:t>
            </a:r>
            <a:r>
              <a:rPr lang="ru-RU" dirty="0"/>
              <a:t>жалуется Настасья Дарье. Как тяжело покинуть родные места, оставить под затопление могилы близких!</a:t>
            </a:r>
          </a:p>
          <a:p>
            <a:endParaRPr lang="ru-RU" dirty="0"/>
          </a:p>
        </p:txBody>
      </p:sp>
    </p:spTree>
    <p:extLst>
      <p:ext uri="{BB962C8B-B14F-4D97-AF65-F5344CB8AC3E}">
        <p14:creationId xmlns:p14="http://schemas.microsoft.com/office/powerpoint/2010/main" val="126176329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Цель оправдывает средства («Прощание с Матерой»)</a:t>
            </a:r>
          </a:p>
        </p:txBody>
      </p:sp>
      <p:sp>
        <p:nvSpPr>
          <p:cNvPr id="3" name="Объект 2"/>
          <p:cNvSpPr>
            <a:spLocks noGrp="1"/>
          </p:cNvSpPr>
          <p:nvPr>
            <p:ph idx="1"/>
          </p:nvPr>
        </p:nvSpPr>
        <p:spPr/>
        <p:txBody>
          <a:bodyPr>
            <a:normAutofit fontScale="70000" lnSpcReduction="20000"/>
          </a:bodyPr>
          <a:lstStyle/>
          <a:p>
            <a:pPr marL="0" indent="0">
              <a:buNone/>
            </a:pPr>
            <a:r>
              <a:rPr lang="ru-RU" dirty="0"/>
              <a:t>Цель, как сказано было выше, благородная — людям нужно электричество. Но как жестоко, бессердечно она выполняется. Вспомним ужасную сцену, когда представители </a:t>
            </a:r>
            <a:r>
              <a:rPr lang="ru-RU" dirty="0" err="1"/>
              <a:t>санэпидемстанции</a:t>
            </a:r>
            <a:r>
              <a:rPr lang="ru-RU" dirty="0"/>
              <a:t> буквально разрушают могилы предков, занимаясь  «санитарной очисткой ложа водохранилища». И всё это делается  на глазах жителей. Не случайно с палкой бросилась старуха Дарья на одного  из здоровенных мужчин, который осквернял </a:t>
            </a:r>
            <a:r>
              <a:rPr lang="ru-RU" dirty="0" smtClean="0"/>
              <a:t>могилы. Жизнь </a:t>
            </a:r>
            <a:r>
              <a:rPr lang="ru-RU" dirty="0"/>
              <a:t>стала какая-то суетная, торопливая,  некогда подумать о близких,  понять их (</a:t>
            </a:r>
            <a:r>
              <a:rPr lang="ru-RU" i="1" dirty="0"/>
              <a:t>«Все сломя голову вперед бегут. Запыхались уж, запинаются на каждом шагу — нет, бегут»).</a:t>
            </a:r>
            <a:r>
              <a:rPr lang="ru-RU" dirty="0"/>
              <a:t> Люди покидаю дома, а они, словно понимающие, «страдают от разлуки со своими обитателями</a:t>
            </a:r>
            <a:r>
              <a:rPr lang="ru-RU" dirty="0" smtClean="0"/>
              <a:t>». Не </a:t>
            </a:r>
            <a:r>
              <a:rPr lang="ru-RU" dirty="0"/>
              <a:t>подумали чиновники не только  о чувствах людей, но и том, а в каких условиях  они будут жить. Посёлок, в который переезжают жители, стоит на каменистой местности, где  и расти-то ничего не будет. Печален вид этого нового селения, построенного </a:t>
            </a:r>
            <a:r>
              <a:rPr lang="ru-RU" dirty="0" smtClean="0"/>
              <a:t>кое-как. </a:t>
            </a:r>
          </a:p>
          <a:p>
            <a:pPr marL="0" indent="0">
              <a:buNone/>
            </a:pPr>
            <a:r>
              <a:rPr lang="ru-RU" dirty="0" smtClean="0"/>
              <a:t>Забота </a:t>
            </a:r>
            <a:r>
              <a:rPr lang="ru-RU" dirty="0"/>
              <a:t>о людях — это первейшее назначение  людей, обладающих властью. Всё, что они делают, должно идти во  благо людям. Поэтому необходимо продумывать до мелочей цели и средства, судьбу каждого человека, в которую государство врывается , выполняя свои задачи. Только тогда будет доверие народа к власти, только тогда человек будет считать себя защищённым в своей стране.</a:t>
            </a:r>
          </a:p>
          <a:p>
            <a:endParaRPr lang="ru-RU" dirty="0"/>
          </a:p>
        </p:txBody>
      </p:sp>
    </p:spTree>
    <p:extLst>
      <p:ext uri="{BB962C8B-B14F-4D97-AF65-F5344CB8AC3E}">
        <p14:creationId xmlns:p14="http://schemas.microsoft.com/office/powerpoint/2010/main" val="373456944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Вывод</a:t>
            </a:r>
            <a:endParaRPr lang="ru-RU" dirty="0"/>
          </a:p>
        </p:txBody>
      </p:sp>
      <p:sp>
        <p:nvSpPr>
          <p:cNvPr id="3" name="Объект 2"/>
          <p:cNvSpPr>
            <a:spLocks noGrp="1"/>
          </p:cNvSpPr>
          <p:nvPr>
            <p:ph idx="1"/>
          </p:nvPr>
        </p:nvSpPr>
        <p:spPr/>
        <p:txBody>
          <a:bodyPr/>
          <a:lstStyle/>
          <a:p>
            <a:r>
              <a:rPr lang="ru-RU" dirty="0"/>
              <a:t>Цель в жизни, средства для её осуществления. Как их выбрать ? Это непросто. Человеку свойственно и ошибаться при выборе жизненных ориентиров. Но главное — сможет он или нет найти верный путь, поставить перед собой достойную цель, используя справедливые средства для ей достижения. По делам, поступка ценят человека. Жить нужно прожить не бесцельно, а с пользой для себя, близких, народа и Родины. Только тогда человек будет поистине счастлив.</a:t>
            </a:r>
          </a:p>
        </p:txBody>
      </p:sp>
    </p:spTree>
    <p:extLst>
      <p:ext uri="{BB962C8B-B14F-4D97-AF65-F5344CB8AC3E}">
        <p14:creationId xmlns:p14="http://schemas.microsoft.com/office/powerpoint/2010/main" val="202016211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433492"/>
            <a:ext cx="9601196" cy="1303867"/>
          </a:xfrm>
        </p:spPr>
        <p:txBody>
          <a:bodyPr/>
          <a:lstStyle/>
          <a:p>
            <a:r>
              <a:rPr lang="ru-RU" b="1" dirty="0">
                <a:solidFill>
                  <a:schemeClr val="accent4">
                    <a:lumMod val="75000"/>
                  </a:schemeClr>
                </a:solidFill>
              </a:rPr>
              <a:t>«Смелость и трусость» </a:t>
            </a:r>
            <a:endParaRPr lang="ru-RU" dirty="0">
              <a:solidFill>
                <a:schemeClr val="accent4">
                  <a:lumMod val="75000"/>
                </a:schemeClr>
              </a:solidFill>
            </a:endParaRPr>
          </a:p>
        </p:txBody>
      </p:sp>
      <p:sp>
        <p:nvSpPr>
          <p:cNvPr id="3" name="Объект 2"/>
          <p:cNvSpPr>
            <a:spLocks noGrp="1"/>
          </p:cNvSpPr>
          <p:nvPr>
            <p:ph idx="1"/>
          </p:nvPr>
        </p:nvSpPr>
        <p:spPr>
          <a:xfrm>
            <a:off x="1295401" y="1737359"/>
            <a:ext cx="9601196" cy="4138509"/>
          </a:xfrm>
        </p:spPr>
        <p:txBody>
          <a:bodyPr>
            <a:normAutofit/>
          </a:bodyPr>
          <a:lstStyle/>
          <a:p>
            <a:r>
              <a:rPr lang="ru-RU" sz="2800" dirty="0"/>
              <a:t>В основе данного направления лежит сопоставление противоположных проявлений человеческого «я»: готовности к решительным поступкам и стремления спрятаться от опасности, уклониться от разрешения сложных, порой экстремальных жизненных ситуаций.</a:t>
            </a:r>
            <a:br>
              <a:rPr lang="ru-RU" sz="2800" dirty="0"/>
            </a:br>
            <a:r>
              <a:rPr lang="ru-RU" sz="2800" dirty="0"/>
              <a:t>На страницах многих литературных произведений представлены как герои, способные к смелым действиям, так и персонажи, демонстрирующие слабость духа и отсутствие воли.</a:t>
            </a:r>
          </a:p>
        </p:txBody>
      </p:sp>
    </p:spTree>
    <p:extLst>
      <p:ext uri="{BB962C8B-B14F-4D97-AF65-F5344CB8AC3E}">
        <p14:creationId xmlns:p14="http://schemas.microsoft.com/office/powerpoint/2010/main" val="441973257"/>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Толкование понятий: смелость</a:t>
            </a:r>
            <a:endParaRPr lang="ru-RU" dirty="0"/>
          </a:p>
        </p:txBody>
      </p:sp>
      <p:sp>
        <p:nvSpPr>
          <p:cNvPr id="3" name="Объект 2"/>
          <p:cNvSpPr>
            <a:spLocks noGrp="1"/>
          </p:cNvSpPr>
          <p:nvPr>
            <p:ph idx="1"/>
          </p:nvPr>
        </p:nvSpPr>
        <p:spPr/>
        <p:txBody>
          <a:bodyPr>
            <a:normAutofit fontScale="47500" lnSpcReduction="20000"/>
          </a:bodyPr>
          <a:lstStyle/>
          <a:p>
            <a:r>
              <a:rPr lang="ru-RU" dirty="0"/>
              <a:t>Смелость – это способность человека, преодолевая страх, совершать отчаянные поступки, порой рискуя собственной жизнью.</a:t>
            </a:r>
          </a:p>
          <a:p>
            <a:r>
              <a:rPr lang="ru-RU" dirty="0"/>
              <a:t>Смелость проявляет человек на войне, когда мужественно, храбро сражается с врагом, не допускает того, чтобы страх одолел им, думает  о товарищах, близких, народе, стране. Смелость помогает ему преодолевать все тяготы войны, выйдя победителем или погибнув за родину.</a:t>
            </a:r>
          </a:p>
          <a:p>
            <a:r>
              <a:rPr lang="ru-RU" dirty="0"/>
              <a:t>Смелость – это качество человека, выражающееся в том, что он всегда до конца отстаивает свои взгляды, принципы, открыто может высказать в глаза  людям свою позицию, если не согласен с ними. Смелые люди способны отстаивать свои идеалы, двигаться вперёд, ведя за собой других, преобразуя общество.</a:t>
            </a:r>
          </a:p>
          <a:p>
            <a:r>
              <a:rPr lang="ru-RU" dirty="0"/>
              <a:t>Профессиональная смелость толкает на риск, люди  стремятся воплотить в жизнь свои проекты, мечты, порой преодолевая препятствия, которые могут чинить им представители власти.</a:t>
            </a:r>
          </a:p>
          <a:p>
            <a:r>
              <a:rPr lang="ru-RU" dirty="0"/>
              <a:t>Смелость долго может не проявляться в человеке. Даже наоборот, он иногда внешне бывает очень скромным и тихим. Однако в трудную минуту именно смелые люди берут ответственность на себя, спасая других, помогая им. И часто это бывают не только взрослые, но дети, поражающие своей решительностью и смелостью, например, спасая тонущего друга.</a:t>
            </a:r>
          </a:p>
          <a:p>
            <a:r>
              <a:rPr lang="ru-RU" dirty="0"/>
              <a:t>Смелые люди способны вершить великие дела. А если этих людей много или весь народ, то такое государство непобедимо.</a:t>
            </a:r>
          </a:p>
          <a:p>
            <a:r>
              <a:rPr lang="ru-RU" dirty="0"/>
              <a:t>Смелость проявляется и в том, что человек непримирим к любой несправедливости как по отношению к себе, так и по отношению к другим людям. Смелый человек не будет смотреть равнодушно или безучастно на то, так унижают, оскорбляют других, например, сослуживцев. Он всегда вступится за них, так как не приемлет любое проявление несправедливости и зла.</a:t>
            </a:r>
          </a:p>
          <a:p>
            <a:r>
              <a:rPr lang="ru-RU" dirty="0"/>
              <a:t>Смелость – одно из высших нравственных качеств человека. Необходимо стремиться к тому, чтобы в жизни быть поистине смелым во всём: делах, поступках, отношениях, думая при этом об окружающих</a:t>
            </a:r>
            <a:r>
              <a:rPr lang="ru-RU" dirty="0" smtClean="0"/>
              <a:t>.</a:t>
            </a:r>
            <a:endParaRPr lang="ru-RU" dirty="0"/>
          </a:p>
        </p:txBody>
      </p:sp>
    </p:spTree>
    <p:extLst>
      <p:ext uri="{BB962C8B-B14F-4D97-AF65-F5344CB8AC3E}">
        <p14:creationId xmlns:p14="http://schemas.microsoft.com/office/powerpoint/2010/main" val="161167812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Толкование понятий: трусость</a:t>
            </a:r>
            <a:endParaRPr lang="ru-RU" dirty="0"/>
          </a:p>
        </p:txBody>
      </p:sp>
      <p:sp>
        <p:nvSpPr>
          <p:cNvPr id="3" name="Объект 2"/>
          <p:cNvSpPr>
            <a:spLocks noGrp="1"/>
          </p:cNvSpPr>
          <p:nvPr>
            <p:ph idx="1"/>
          </p:nvPr>
        </p:nvSpPr>
        <p:spPr/>
        <p:txBody>
          <a:bodyPr>
            <a:normAutofit fontScale="55000" lnSpcReduction="20000"/>
          </a:bodyPr>
          <a:lstStyle/>
          <a:p>
            <a:r>
              <a:rPr lang="ru-RU" dirty="0"/>
              <a:t>Трусость – это такое состояние человека, когда он боится буквально всего: новой обстановки, изменений в жизни, знакомства с новыми людьми. Страх сковывает все его движения, мешая жить достойно, радостно.</a:t>
            </a:r>
          </a:p>
          <a:p>
            <a:r>
              <a:rPr lang="ru-RU" dirty="0"/>
              <a:t>В основе трусости часто бывает низкая самооценка человека, боязнь показаться смешным, оказаться в неловком положении. Человек лучше промолчит, постарается быть незаметным.</a:t>
            </a:r>
          </a:p>
          <a:p>
            <a:r>
              <a:rPr lang="ru-RU" dirty="0"/>
              <a:t>Трусливый человек никогда не возьмёт ответственность на себя, будет прятаться за чужие спины, чтобы, в случае чего, не быть виноватым.</a:t>
            </a:r>
          </a:p>
          <a:p>
            <a:r>
              <a:rPr lang="ru-RU" dirty="0"/>
              <a:t>Трусость мешает продвижению по службе, в осуществлении своей мечты, в реализации поставленных целей. Нерешительность, свойственная такому человеку, не позволит ему дойти до конца по намеченному пути, так как всегда найдутся причины, не позволяющие это сделать.</a:t>
            </a:r>
          </a:p>
          <a:p>
            <a:r>
              <a:rPr lang="ru-RU" dirty="0"/>
              <a:t>Трусливый человек делает свою жизнь безрадостной. Он всегда словно зависти от кого-то и чего-то, живёт с оглядкой.</a:t>
            </a:r>
          </a:p>
          <a:p>
            <a:r>
              <a:rPr lang="ru-RU" dirty="0"/>
              <a:t>Однако страшен трус во время трудных испытаний для народа, страны. Именно трусливые люди становятся предателями, так как они думают прежде всего о себе, о своей жизни. Страх толкает их на преступление.</a:t>
            </a:r>
          </a:p>
          <a:p>
            <a:r>
              <a:rPr lang="ru-RU" dirty="0"/>
              <a:t>Трусость – одна из самых негативных черт характера человека, необходимо стараться изживать её в себе.</a:t>
            </a:r>
          </a:p>
        </p:txBody>
      </p:sp>
    </p:spTree>
    <p:extLst>
      <p:ext uri="{BB962C8B-B14F-4D97-AF65-F5344CB8AC3E}">
        <p14:creationId xmlns:p14="http://schemas.microsoft.com/office/powerpoint/2010/main" val="277352917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smtClean="0"/>
              <a:t>Сочинение по направлению «Смелость и трусость»</a:t>
            </a:r>
            <a:endParaRPr lang="ru-RU" dirty="0"/>
          </a:p>
        </p:txBody>
      </p:sp>
      <p:sp>
        <p:nvSpPr>
          <p:cNvPr id="3" name="Объект 2"/>
          <p:cNvSpPr>
            <a:spLocks noGrp="1"/>
          </p:cNvSpPr>
          <p:nvPr>
            <p:ph idx="1"/>
          </p:nvPr>
        </p:nvSpPr>
        <p:spPr/>
        <p:txBody>
          <a:bodyPr>
            <a:normAutofit fontScale="62500" lnSpcReduction="20000"/>
          </a:bodyPr>
          <a:lstStyle/>
          <a:p>
            <a:r>
              <a:rPr lang="ru-RU" dirty="0"/>
              <a:t>Смелость как качество личности способность подавлять защитные реакции, сохранять самообладание при появлении страха и качественно выполнять свои обязанности в объективно или субъективно опасных для жизни, здоровья и престижа ситуациях.</a:t>
            </a:r>
          </a:p>
          <a:p>
            <a:r>
              <a:rPr lang="ru-RU" dirty="0"/>
              <a:t>Преодолев трусость, она подтверждает свое верховенство и власть над страхом. Смелый человек знает об опасности, но, вопреки этому, сознательно принимает вызов жизненных обстоятельств и идет навстречу страху.</a:t>
            </a:r>
            <a:br>
              <a:rPr lang="ru-RU" dirty="0"/>
            </a:br>
            <a:r>
              <a:rPr lang="ru-RU" dirty="0"/>
              <a:t>Он не упивается, как храбрец, наслажденьем битвы жизни, но и гром ударов его не пугает. Эмоциональные переживания храбреца, вызванные возбуждением от перипетий боя, ему чужды. Опасность ему не по душе, но он превозмогает себя, душит страх и делает то, что требуется.</a:t>
            </a:r>
            <a:br>
              <a:rPr lang="ru-RU" dirty="0"/>
            </a:br>
            <a:r>
              <a:rPr lang="ru-RU" dirty="0"/>
              <a:t>Смелости для поступка не нужна, как отваге, общественно значимая цель, она добровольно выходит из общего строя, секундой назад посоветовавшись со своим внутренним судьей совестью.</a:t>
            </a:r>
          </a:p>
          <a:p>
            <a:r>
              <a:rPr lang="ru-RU" dirty="0"/>
              <a:t>Бесстрашных, в буквальном смысле этого слова, разумных людей не бывает.</a:t>
            </a:r>
            <a:br>
              <a:rPr lang="ru-RU" dirty="0"/>
            </a:br>
            <a:r>
              <a:rPr lang="ru-RU" dirty="0"/>
              <a:t>Страх в критической, безнадежной ситуации неизбежно появляется у любого нормального человека. Смелость проявляется не в бесстрашии, а в способности человека стать сильнее страха и действовать в минуты роковые расчетливо и хладнокровно, проявляя смекалку и самообладание.</a:t>
            </a:r>
          </a:p>
          <a:p>
            <a:endParaRPr lang="ru-RU" dirty="0"/>
          </a:p>
        </p:txBody>
      </p:sp>
    </p:spTree>
    <p:extLst>
      <p:ext uri="{BB962C8B-B14F-4D97-AF65-F5344CB8AC3E}">
        <p14:creationId xmlns:p14="http://schemas.microsoft.com/office/powerpoint/2010/main" val="234381968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z="3600" b="1" dirty="0">
                <a:solidFill>
                  <a:schemeClr val="accent4">
                    <a:lumMod val="75000"/>
                  </a:schemeClr>
                </a:solidFill>
              </a:rPr>
              <a:t>Примеры произведений по данному направлению</a:t>
            </a:r>
            <a:endParaRPr lang="ru-RU" b="1" dirty="0">
              <a:solidFill>
                <a:schemeClr val="accent4">
                  <a:lumMod val="75000"/>
                </a:schemeClr>
              </a:solidFill>
            </a:endParaRPr>
          </a:p>
        </p:txBody>
      </p:sp>
      <p:sp>
        <p:nvSpPr>
          <p:cNvPr id="3" name="Объект 2"/>
          <p:cNvSpPr>
            <a:spLocks noGrp="1"/>
          </p:cNvSpPr>
          <p:nvPr>
            <p:ph idx="1"/>
          </p:nvPr>
        </p:nvSpPr>
        <p:spPr/>
        <p:txBody>
          <a:bodyPr>
            <a:normAutofit fontScale="92500" lnSpcReduction="20000"/>
          </a:bodyPr>
          <a:lstStyle/>
          <a:p>
            <a:r>
              <a:rPr lang="ru-RU" dirty="0" smtClean="0"/>
              <a:t>1</a:t>
            </a:r>
            <a:r>
              <a:rPr lang="ru-RU" sz="2800" b="1" dirty="0" smtClean="0"/>
              <a:t>. А.С. Пушкин «Капитанская дочка»</a:t>
            </a:r>
          </a:p>
          <a:p>
            <a:r>
              <a:rPr lang="ru-RU" sz="2800" b="1" dirty="0" smtClean="0"/>
              <a:t>2. В. Быков «Сотников»</a:t>
            </a:r>
          </a:p>
          <a:p>
            <a:r>
              <a:rPr lang="ru-RU" sz="2800" b="1" dirty="0" smtClean="0"/>
              <a:t>3. М. Шолохов «Судьба человека»</a:t>
            </a:r>
          </a:p>
          <a:p>
            <a:r>
              <a:rPr lang="ru-RU" sz="2800" b="1" dirty="0" smtClean="0"/>
              <a:t>4. М. Горький «Старуха </a:t>
            </a:r>
            <a:r>
              <a:rPr lang="ru-RU" sz="2800" b="1" dirty="0" err="1" smtClean="0"/>
              <a:t>Изергиль</a:t>
            </a:r>
            <a:r>
              <a:rPr lang="ru-RU" sz="2800" b="1" dirty="0" smtClean="0"/>
              <a:t>»</a:t>
            </a:r>
          </a:p>
          <a:p>
            <a:r>
              <a:rPr lang="ru-RU" sz="2800" b="1" dirty="0" smtClean="0"/>
              <a:t>5. А. И Гончаров «Обломов»</a:t>
            </a:r>
          </a:p>
          <a:p>
            <a:r>
              <a:rPr lang="ru-RU" sz="2800" dirty="0"/>
              <a:t>А. Алексин «Поздний ребёнок», Дина Рубина «Адам и </a:t>
            </a:r>
            <a:r>
              <a:rPr lang="ru-RU" sz="2800" dirty="0" err="1"/>
              <a:t>Мирьям</a:t>
            </a:r>
            <a:r>
              <a:rPr lang="ru-RU" sz="2800" dirty="0"/>
              <a:t>», произведения о войне.</a:t>
            </a:r>
          </a:p>
          <a:p>
            <a:endParaRPr lang="ru-RU" sz="2800" b="1" dirty="0" smtClean="0"/>
          </a:p>
          <a:p>
            <a:endParaRPr lang="ru-RU" sz="2800" b="1" dirty="0"/>
          </a:p>
        </p:txBody>
      </p:sp>
    </p:spTree>
    <p:extLst>
      <p:ext uri="{BB962C8B-B14F-4D97-AF65-F5344CB8AC3E}">
        <p14:creationId xmlns:p14="http://schemas.microsoft.com/office/powerpoint/2010/main" val="137637982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solidFill>
                  <a:schemeClr val="accent4">
                    <a:lumMod val="75000"/>
                  </a:schemeClr>
                </a:solidFill>
              </a:rPr>
              <a:t>Примеры произведений по данному направлению</a:t>
            </a:r>
            <a:endParaRPr lang="ru-RU" dirty="0"/>
          </a:p>
        </p:txBody>
      </p:sp>
      <p:sp>
        <p:nvSpPr>
          <p:cNvPr id="3" name="Объект 2"/>
          <p:cNvSpPr>
            <a:spLocks noGrp="1"/>
          </p:cNvSpPr>
          <p:nvPr>
            <p:ph idx="1"/>
          </p:nvPr>
        </p:nvSpPr>
        <p:spPr/>
        <p:txBody>
          <a:bodyPr/>
          <a:lstStyle/>
          <a:p>
            <a:pPr fontAlgn="base"/>
            <a:r>
              <a:rPr lang="ru-RU" dirty="0"/>
              <a:t>Р. </a:t>
            </a:r>
            <a:r>
              <a:rPr lang="ru-RU" dirty="0" err="1"/>
              <a:t>Брэдбери</a:t>
            </a:r>
            <a:r>
              <a:rPr lang="ru-RU" dirty="0"/>
              <a:t> </a:t>
            </a:r>
            <a:r>
              <a:rPr lang="ru-RU" u="sng" dirty="0">
                <a:hlinkClick r:id="rId2"/>
              </a:rPr>
              <a:t>«Лед и пламя»;</a:t>
            </a:r>
            <a:endParaRPr lang="ru-RU" dirty="0"/>
          </a:p>
          <a:p>
            <a:pPr fontAlgn="base"/>
            <a:r>
              <a:rPr lang="ru-RU" dirty="0"/>
              <a:t>В.Т. Шаламов </a:t>
            </a:r>
            <a:r>
              <a:rPr lang="ru-RU" u="sng" dirty="0">
                <a:hlinkClick r:id="rId3"/>
              </a:rPr>
              <a:t>«Последний бой майора Пугачева»;</a:t>
            </a:r>
            <a:endParaRPr lang="ru-RU" dirty="0"/>
          </a:p>
          <a:p>
            <a:pPr fontAlgn="base"/>
            <a:r>
              <a:rPr lang="ru-RU" dirty="0"/>
              <a:t>А.С. Пушкин </a:t>
            </a:r>
            <a:r>
              <a:rPr lang="ru-RU" u="sng" dirty="0">
                <a:hlinkClick r:id="rId4"/>
              </a:rPr>
              <a:t>«Выстрел»;</a:t>
            </a:r>
            <a:endParaRPr lang="ru-RU" dirty="0"/>
          </a:p>
          <a:p>
            <a:pPr fontAlgn="base"/>
            <a:r>
              <a:rPr lang="ru-RU" dirty="0"/>
              <a:t>М. Горький  «</a:t>
            </a:r>
            <a:r>
              <a:rPr lang="ru-RU" u="sng" dirty="0">
                <a:hlinkClick r:id="rId5"/>
              </a:rPr>
              <a:t>Песня о Соколе»;</a:t>
            </a:r>
            <a:endParaRPr lang="ru-RU" dirty="0"/>
          </a:p>
          <a:p>
            <a:endParaRPr lang="ru-RU" dirty="0"/>
          </a:p>
        </p:txBody>
      </p:sp>
    </p:spTree>
    <p:extLst>
      <p:ext uri="{BB962C8B-B14F-4D97-AF65-F5344CB8AC3E}">
        <p14:creationId xmlns:p14="http://schemas.microsoft.com/office/powerpoint/2010/main" val="2684315927"/>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Примерные темы</a:t>
            </a:r>
            <a:endParaRPr lang="ru-RU" dirty="0"/>
          </a:p>
        </p:txBody>
      </p:sp>
      <p:sp>
        <p:nvSpPr>
          <p:cNvPr id="3" name="Объект 2"/>
          <p:cNvSpPr>
            <a:spLocks noGrp="1"/>
          </p:cNvSpPr>
          <p:nvPr>
            <p:ph idx="1"/>
          </p:nvPr>
        </p:nvSpPr>
        <p:spPr/>
        <p:txBody>
          <a:bodyPr>
            <a:normAutofit/>
          </a:bodyPr>
          <a:lstStyle/>
          <a:p>
            <a:r>
              <a:rPr lang="ru-RU" sz="2800" dirty="0"/>
              <a:t>1. Согласны ли Вы с утверждением А.В. Суворова: «Только трусы жестокосердны»?</a:t>
            </a:r>
            <a:br>
              <a:rPr lang="ru-RU" sz="2800" dirty="0"/>
            </a:br>
            <a:r>
              <a:rPr lang="ru-RU" sz="2800" dirty="0"/>
              <a:t>2. Как отличить трусость от благоразумия, а смелость от безрассудства?</a:t>
            </a:r>
            <a:br>
              <a:rPr lang="ru-RU" sz="2800" dirty="0"/>
            </a:br>
            <a:r>
              <a:rPr lang="ru-RU" sz="2800" dirty="0"/>
              <a:t>3. Трусливый друг страшнее смелого врага?</a:t>
            </a:r>
            <a:br>
              <a:rPr lang="ru-RU" sz="2800" dirty="0"/>
            </a:br>
            <a:r>
              <a:rPr lang="ru-RU" sz="2800" dirty="0"/>
              <a:t>4. Где смелость, там и победа.</a:t>
            </a:r>
            <a:br>
              <a:rPr lang="ru-RU" sz="2800" dirty="0"/>
            </a:br>
            <a:r>
              <a:rPr lang="ru-RU" sz="2800" dirty="0"/>
              <a:t>5. Всегда говорить правду – смелость или глупость</a:t>
            </a:r>
            <a:r>
              <a:rPr lang="ru-RU" sz="2800" dirty="0" smtClean="0"/>
              <a:t>?</a:t>
            </a:r>
            <a:endParaRPr lang="ru-RU" sz="2800" dirty="0"/>
          </a:p>
        </p:txBody>
      </p:sp>
    </p:spTree>
    <p:extLst>
      <p:ext uri="{BB962C8B-B14F-4D97-AF65-F5344CB8AC3E}">
        <p14:creationId xmlns:p14="http://schemas.microsoft.com/office/powerpoint/2010/main" val="1440167371"/>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3200" b="1" dirty="0"/>
              <a:t>Пример итогового сочинения 2017-2018: «Как отличить трусость от благоразумия, а смелость от безрассудства?</a:t>
            </a:r>
            <a:br>
              <a:rPr lang="ru-RU" sz="3200" b="1" dirty="0"/>
            </a:br>
            <a:endParaRPr lang="ru-RU" sz="3200" dirty="0"/>
          </a:p>
        </p:txBody>
      </p:sp>
      <p:sp>
        <p:nvSpPr>
          <p:cNvPr id="3" name="Объект 2"/>
          <p:cNvSpPr>
            <a:spLocks noGrp="1"/>
          </p:cNvSpPr>
          <p:nvPr>
            <p:ph idx="1"/>
          </p:nvPr>
        </p:nvSpPr>
        <p:spPr/>
        <p:txBody>
          <a:bodyPr>
            <a:normAutofit fontScale="92500" lnSpcReduction="20000"/>
          </a:bodyPr>
          <a:lstStyle/>
          <a:p>
            <a:pPr fontAlgn="base"/>
            <a:r>
              <a:rPr lang="ru-RU" dirty="0"/>
              <a:t>Часто ли мы задумываемся об истинном значении слов? Казалось бы, что может быть проще, чем объяснить понятия «смелость» и «трусость»? Тот, кто способен рискнуть своей жизнью, конечно же смельчак, малый не из робкого десятка. А если человек в случае опасности отступает, скорее всего боязлив и малодушен…</a:t>
            </a:r>
          </a:p>
          <a:p>
            <a:pPr fontAlgn="base"/>
            <a:r>
              <a:rPr lang="ru-RU" dirty="0"/>
              <a:t>Но так ли всё просто на самом деле?  Храбрость или глупость управляют теми, кто в поисках сильных эмоций катаются на крышах мчащихся поездов? Нерешительность или благоразумие стоит усмотреть в действиях врача, отправляющего пациента на обследование перед операцией? Мне кажется, что смелость и трусость — это качества, которые можно определить только в свете конечной цели поступка.</a:t>
            </a:r>
          </a:p>
          <a:p>
            <a:endParaRPr lang="ru-RU" dirty="0"/>
          </a:p>
        </p:txBody>
      </p:sp>
    </p:spTree>
    <p:extLst>
      <p:ext uri="{BB962C8B-B14F-4D97-AF65-F5344CB8AC3E}">
        <p14:creationId xmlns:p14="http://schemas.microsoft.com/office/powerpoint/2010/main" val="102831227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Пример итогового сочинения 2017-2018: «Как отличить трусость от благоразумия, а смелость от безрассудства?</a:t>
            </a:r>
            <a:endParaRPr lang="ru-RU" dirty="0"/>
          </a:p>
        </p:txBody>
      </p:sp>
      <p:sp>
        <p:nvSpPr>
          <p:cNvPr id="3" name="Объект 2"/>
          <p:cNvSpPr>
            <a:spLocks noGrp="1"/>
          </p:cNvSpPr>
          <p:nvPr>
            <p:ph idx="1"/>
          </p:nvPr>
        </p:nvSpPr>
        <p:spPr/>
        <p:txBody>
          <a:bodyPr>
            <a:normAutofit fontScale="92500" lnSpcReduction="20000"/>
          </a:bodyPr>
          <a:lstStyle/>
          <a:p>
            <a:r>
              <a:rPr lang="ru-RU" dirty="0"/>
              <a:t>Литература подарила нам множество героев, о смелости или трусости которых интересно порассуждать. Рассмотрим персонажей замечательного романа  </a:t>
            </a:r>
            <a:r>
              <a:rPr lang="ru-RU" dirty="0" err="1"/>
              <a:t>А.С.Пушкина</a:t>
            </a:r>
            <a:r>
              <a:rPr lang="ru-RU" dirty="0"/>
              <a:t> «Капитанская дочка». Трудно поспорить с тем, что Швабрин, спасающий свою жалкую жизнь предательством, — это трус. Понятна и смелость Петра Гринёва, готового отдать жизнь за то, что ему дорого</a:t>
            </a:r>
            <a:r>
              <a:rPr lang="ru-RU" dirty="0" smtClean="0"/>
              <a:t>. </a:t>
            </a:r>
            <a:endParaRPr lang="ru-RU" dirty="0"/>
          </a:p>
          <a:p>
            <a:r>
              <a:rPr lang="ru-RU" dirty="0"/>
              <a:t>А Маша Миронова? «Трусиха» ли она, как называет её мать? Или она благоразумная девушка, какой считает её возлюбленный? Чтобы ответить на этот вопрос, надо дочитать произведение до конца. Мы помним, что робость капитанской дочки исчезает, когда Петру грозит смертная казнь: Маша смело отправляется за милостью к самой императрице</a:t>
            </a:r>
            <a:r>
              <a:rPr lang="ru-RU" dirty="0" smtClean="0"/>
              <a:t>.</a:t>
            </a:r>
            <a:endParaRPr lang="ru-RU" dirty="0"/>
          </a:p>
        </p:txBody>
      </p:sp>
    </p:spTree>
    <p:extLst>
      <p:ext uri="{BB962C8B-B14F-4D97-AF65-F5344CB8AC3E}">
        <p14:creationId xmlns:p14="http://schemas.microsoft.com/office/powerpoint/2010/main" val="162349895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Пример итогового сочинения 2017-2018: «Как отличить трусость от благоразумия, а смелость от безрассудства?</a:t>
            </a:r>
            <a:endParaRPr lang="ru-RU" dirty="0"/>
          </a:p>
        </p:txBody>
      </p:sp>
      <p:sp>
        <p:nvSpPr>
          <p:cNvPr id="3" name="Объект 2"/>
          <p:cNvSpPr>
            <a:spLocks noGrp="1"/>
          </p:cNvSpPr>
          <p:nvPr>
            <p:ph idx="1"/>
          </p:nvPr>
        </p:nvSpPr>
        <p:spPr/>
        <p:txBody>
          <a:bodyPr/>
          <a:lstStyle/>
          <a:p>
            <a:r>
              <a:rPr lang="ru-RU" dirty="0"/>
              <a:t>Также можно обратиться к роману Л.Н. Толстого «Война и </a:t>
            </a:r>
            <a:r>
              <a:rPr lang="ru-RU" dirty="0" smtClean="0"/>
              <a:t>мир». </a:t>
            </a:r>
            <a:r>
              <a:rPr lang="ru-RU" dirty="0"/>
              <a:t>Вспомним хладнокровного и жестокого Долохова,  способного вызвать человека на дуэль без причины. Фёдор рискует жизнью, но цель этого риска — самоутверждение, а не самопожертвование. На мой взгляд, это не смелость, а безрассудные шалости эгоиста, которому ничего не стоит убить человека.</a:t>
            </a:r>
          </a:p>
          <a:p>
            <a:endParaRPr lang="ru-RU" dirty="0"/>
          </a:p>
        </p:txBody>
      </p:sp>
    </p:spTree>
    <p:extLst>
      <p:ext uri="{BB962C8B-B14F-4D97-AF65-F5344CB8AC3E}">
        <p14:creationId xmlns:p14="http://schemas.microsoft.com/office/powerpoint/2010/main" val="399827174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Пример итогового сочинения 2017-2018: «Как отличить трусость от благоразумия, а смелость от безрассудства?</a:t>
            </a:r>
            <a:endParaRPr lang="ru-RU" dirty="0"/>
          </a:p>
        </p:txBody>
      </p:sp>
      <p:sp>
        <p:nvSpPr>
          <p:cNvPr id="3" name="Объект 2"/>
          <p:cNvSpPr>
            <a:spLocks noGrp="1"/>
          </p:cNvSpPr>
          <p:nvPr>
            <p:ph idx="1"/>
          </p:nvPr>
        </p:nvSpPr>
        <p:spPr/>
        <p:txBody>
          <a:bodyPr>
            <a:normAutofit fontScale="92500" lnSpcReduction="10000"/>
          </a:bodyPr>
          <a:lstStyle/>
          <a:p>
            <a:pPr fontAlgn="base"/>
            <a:r>
              <a:rPr lang="ru-RU" dirty="0"/>
              <a:t>А что можно сказать о решении Кутузова об отступлении русской армии? Разве можно назвать это трусостью? Нет, великий полководец проявил мудрость и благоразумие, отдав французам разорённую Москву. Пока солдаты Наполеона превращались в мародёров, русские войска пополнили припасы и окрепли, что решило исход войны.</a:t>
            </a:r>
          </a:p>
          <a:p>
            <a:pPr fontAlgn="base"/>
            <a:r>
              <a:rPr lang="ru-RU" dirty="0"/>
              <a:t>Вопрос о том, что считать смелостью или безрассудством, трусостью или благоразумием каждый решает для себя сам. Но может быть, любой поступок должен быть обдуманным, а риск — оправданным?</a:t>
            </a:r>
          </a:p>
          <a:p>
            <a:pPr fontAlgn="base"/>
            <a:r>
              <a:rPr lang="ru-RU" dirty="0"/>
              <a:t>(316 слов)</a:t>
            </a:r>
          </a:p>
          <a:p>
            <a:endParaRPr lang="ru-RU" dirty="0"/>
          </a:p>
        </p:txBody>
      </p:sp>
    </p:spTree>
    <p:extLst>
      <p:ext uri="{BB962C8B-B14F-4D97-AF65-F5344CB8AC3E}">
        <p14:creationId xmlns:p14="http://schemas.microsoft.com/office/powerpoint/2010/main" val="54828084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5401" y="483369"/>
            <a:ext cx="9601196" cy="1303867"/>
          </a:xfrm>
        </p:spPr>
        <p:txBody>
          <a:bodyPr/>
          <a:lstStyle/>
          <a:p>
            <a:r>
              <a:rPr lang="ru-RU" b="1" dirty="0">
                <a:solidFill>
                  <a:schemeClr val="accent4">
                    <a:lumMod val="75000"/>
                  </a:schemeClr>
                </a:solidFill>
              </a:rPr>
              <a:t>«Человек и общество» </a:t>
            </a:r>
            <a:endParaRPr lang="ru-RU" dirty="0">
              <a:solidFill>
                <a:schemeClr val="accent4">
                  <a:lumMod val="75000"/>
                </a:schemeClr>
              </a:solidFill>
            </a:endParaRPr>
          </a:p>
        </p:txBody>
      </p:sp>
      <p:sp>
        <p:nvSpPr>
          <p:cNvPr id="3" name="Объект 2"/>
          <p:cNvSpPr>
            <a:spLocks noGrp="1"/>
          </p:cNvSpPr>
          <p:nvPr>
            <p:ph idx="1"/>
          </p:nvPr>
        </p:nvSpPr>
        <p:spPr>
          <a:xfrm>
            <a:off x="947651" y="1596044"/>
            <a:ext cx="9948946" cy="4279824"/>
          </a:xfrm>
        </p:spPr>
        <p:txBody>
          <a:bodyPr>
            <a:normAutofit/>
          </a:bodyPr>
          <a:lstStyle/>
          <a:p>
            <a:r>
              <a:rPr lang="ru-RU" dirty="0"/>
              <a:t>Для тем данного направления актуален взгляд на человека как представителя социума. Общество во многом формирует личность, но и личность способна оказывать влияние на социум. Темы позволят рассмотреть проблему личности и общества с разных сторон: с точки зрения их гармоничного взаимодействия, сложного противостояния или непримиримого конфликта. Не менее важно задуматься об условиях, при которых человек должен подчиниться общественным законам, а общество – учитывать интересы каждого человека. Литература всегда проявляла интерес к проблеме взаимоотношений человека и общества, созидательным или разрушительным последствиям этого взаимодействия для отдельной личности и для человеческой цивилизации.</a:t>
            </a:r>
          </a:p>
        </p:txBody>
      </p:sp>
    </p:spTree>
    <p:extLst>
      <p:ext uri="{BB962C8B-B14F-4D97-AF65-F5344CB8AC3E}">
        <p14:creationId xmlns:p14="http://schemas.microsoft.com/office/powerpoint/2010/main" val="61916042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z="3600" b="1" dirty="0">
                <a:solidFill>
                  <a:schemeClr val="accent4">
                    <a:lumMod val="75000"/>
                  </a:schemeClr>
                </a:solidFill>
              </a:rPr>
              <a:t>Примеры произведений по данному направлению</a:t>
            </a:r>
            <a:endParaRPr lang="ru-RU" b="1" dirty="0">
              <a:solidFill>
                <a:schemeClr val="accent4">
                  <a:lumMod val="75000"/>
                </a:schemeClr>
              </a:solidFill>
            </a:endParaRPr>
          </a:p>
        </p:txBody>
      </p:sp>
      <p:sp>
        <p:nvSpPr>
          <p:cNvPr id="3" name="Объект 2"/>
          <p:cNvSpPr>
            <a:spLocks noGrp="1"/>
          </p:cNvSpPr>
          <p:nvPr>
            <p:ph idx="1"/>
          </p:nvPr>
        </p:nvSpPr>
        <p:spPr/>
        <p:txBody>
          <a:bodyPr>
            <a:normAutofit fontScale="77500" lnSpcReduction="20000"/>
          </a:bodyPr>
          <a:lstStyle/>
          <a:p>
            <a:r>
              <a:rPr lang="ru-RU" sz="2800" b="1" dirty="0" smtClean="0"/>
              <a:t>1.А.И. Солженицын «Матренин двор», «Один день </a:t>
            </a:r>
            <a:r>
              <a:rPr lang="ru-RU" sz="2800" b="1" dirty="0"/>
              <a:t>И</a:t>
            </a:r>
            <a:r>
              <a:rPr lang="ru-RU" sz="2800" b="1" dirty="0" smtClean="0"/>
              <a:t>вана Денисовича»</a:t>
            </a:r>
          </a:p>
          <a:p>
            <a:r>
              <a:rPr lang="ru-RU" sz="2800" b="1" dirty="0" smtClean="0"/>
              <a:t>2. А.С. Пушкин «Евгений Онегин»</a:t>
            </a:r>
          </a:p>
          <a:p>
            <a:r>
              <a:rPr lang="ru-RU" sz="2800" b="1" dirty="0" smtClean="0"/>
              <a:t>3. М.Ю. Лермонтов «Герой нашего времени»</a:t>
            </a:r>
          </a:p>
          <a:p>
            <a:r>
              <a:rPr lang="ru-RU" sz="2800" b="1" dirty="0" smtClean="0"/>
              <a:t>4. Ф. Достоевский «Преступление и наказание»</a:t>
            </a:r>
          </a:p>
          <a:p>
            <a:r>
              <a:rPr lang="ru-RU" sz="2800" b="1" dirty="0" smtClean="0"/>
              <a:t>5. Д. С. Лихачёв «Письма о добром и прекрасном»</a:t>
            </a:r>
          </a:p>
          <a:p>
            <a:r>
              <a:rPr lang="ru-RU" sz="2800" dirty="0"/>
              <a:t>Гранатовый браслет» А.И. Куприн, «Пожар» В. </a:t>
            </a:r>
            <a:r>
              <a:rPr lang="ru-RU" sz="2800" dirty="0" smtClean="0"/>
              <a:t>Распутин, </a:t>
            </a:r>
            <a:r>
              <a:rPr lang="ru-RU" sz="2800" dirty="0"/>
              <a:t>В. Шаламов «Колымские рассказы» («Детские картинки» и др.), Б. Васильев «Не стреляйте белых лебедей»</a:t>
            </a:r>
            <a:endParaRPr lang="ru-RU" sz="2800" b="1" dirty="0" smtClean="0"/>
          </a:p>
          <a:p>
            <a:endParaRPr lang="ru-RU" dirty="0"/>
          </a:p>
        </p:txBody>
      </p:sp>
    </p:spTree>
    <p:extLst>
      <p:ext uri="{BB962C8B-B14F-4D97-AF65-F5344CB8AC3E}">
        <p14:creationId xmlns:p14="http://schemas.microsoft.com/office/powerpoint/2010/main" val="186217079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solidFill>
                  <a:schemeClr val="accent4">
                    <a:lumMod val="75000"/>
                  </a:schemeClr>
                </a:solidFill>
              </a:rPr>
              <a:t>Примеры произведений по данному направлению</a:t>
            </a:r>
            <a:endParaRPr lang="ru-RU" dirty="0"/>
          </a:p>
        </p:txBody>
      </p:sp>
      <p:sp>
        <p:nvSpPr>
          <p:cNvPr id="3" name="Объект 2"/>
          <p:cNvSpPr>
            <a:spLocks noGrp="1"/>
          </p:cNvSpPr>
          <p:nvPr>
            <p:ph idx="1"/>
          </p:nvPr>
        </p:nvSpPr>
        <p:spPr/>
        <p:txBody>
          <a:bodyPr/>
          <a:lstStyle/>
          <a:p>
            <a:pPr fontAlgn="base"/>
            <a:r>
              <a:rPr lang="ru-RU" dirty="0"/>
              <a:t>А.С. Грибоедов </a:t>
            </a:r>
            <a:r>
              <a:rPr lang="ru-RU" u="sng" dirty="0">
                <a:hlinkClick r:id="rId2"/>
              </a:rPr>
              <a:t>«Горе от ума» ;</a:t>
            </a:r>
            <a:endParaRPr lang="ru-RU" dirty="0"/>
          </a:p>
          <a:p>
            <a:pPr fontAlgn="base"/>
            <a:r>
              <a:rPr lang="ru-RU" dirty="0"/>
              <a:t>А.И. Солженицын </a:t>
            </a:r>
            <a:r>
              <a:rPr lang="ru-RU" u="sng" dirty="0">
                <a:hlinkClick r:id="rId3"/>
              </a:rPr>
              <a:t>«Один день Ивана Денисовича»;</a:t>
            </a:r>
            <a:endParaRPr lang="ru-RU" dirty="0"/>
          </a:p>
          <a:p>
            <a:pPr fontAlgn="base"/>
            <a:r>
              <a:rPr lang="ru-RU" dirty="0"/>
              <a:t>А.П. Платонов  </a:t>
            </a:r>
            <a:r>
              <a:rPr lang="ru-RU" u="sng" dirty="0">
                <a:hlinkClick r:id="rId4"/>
              </a:rPr>
              <a:t>«Юшка»;</a:t>
            </a:r>
            <a:endParaRPr lang="ru-RU" dirty="0"/>
          </a:p>
          <a:p>
            <a:pPr fontAlgn="base"/>
            <a:r>
              <a:rPr lang="ru-RU" dirty="0"/>
              <a:t>Р. </a:t>
            </a:r>
            <a:r>
              <a:rPr lang="ru-RU" dirty="0" err="1"/>
              <a:t>Брэдбери</a:t>
            </a:r>
            <a:r>
              <a:rPr lang="ru-RU" dirty="0"/>
              <a:t> </a:t>
            </a:r>
            <a:r>
              <a:rPr lang="ru-RU" u="sng" dirty="0">
                <a:hlinkClick r:id="rId5"/>
              </a:rPr>
              <a:t>«Лед и пламя».</a:t>
            </a:r>
            <a:endParaRPr lang="ru-RU" dirty="0"/>
          </a:p>
          <a:p>
            <a:endParaRPr lang="ru-RU" dirty="0"/>
          </a:p>
        </p:txBody>
      </p:sp>
    </p:spTree>
    <p:extLst>
      <p:ext uri="{BB962C8B-B14F-4D97-AF65-F5344CB8AC3E}">
        <p14:creationId xmlns:p14="http://schemas.microsoft.com/office/powerpoint/2010/main" val="2127140833"/>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Примерные темы</a:t>
            </a:r>
            <a:endParaRPr lang="ru-RU" dirty="0"/>
          </a:p>
        </p:txBody>
      </p:sp>
      <p:sp>
        <p:nvSpPr>
          <p:cNvPr id="3" name="Объект 2"/>
          <p:cNvSpPr>
            <a:spLocks noGrp="1"/>
          </p:cNvSpPr>
          <p:nvPr>
            <p:ph idx="1"/>
          </p:nvPr>
        </p:nvSpPr>
        <p:spPr/>
        <p:txBody>
          <a:bodyPr>
            <a:normAutofit lnSpcReduction="10000"/>
          </a:bodyPr>
          <a:lstStyle/>
          <a:p>
            <a:r>
              <a:rPr lang="ru-RU" sz="2800" b="1" dirty="0"/>
              <a:t>1. Человек для общества или общество для человека?</a:t>
            </a:r>
            <a:br>
              <a:rPr lang="ru-RU" sz="2800" b="1" dirty="0"/>
            </a:br>
            <a:r>
              <a:rPr lang="ru-RU" sz="2800" b="1" dirty="0"/>
              <a:t>2. Согласны ли Вы с мнением Л.Н. Толстого: «Человек немыслим вне общества»?</a:t>
            </a:r>
            <a:br>
              <a:rPr lang="ru-RU" sz="2800" b="1" dirty="0"/>
            </a:br>
            <a:r>
              <a:rPr lang="ru-RU" sz="2800" b="1" dirty="0"/>
              <a:t>3. Какие книги, на ваш взгляд, способны влиять на общество?</a:t>
            </a:r>
            <a:br>
              <a:rPr lang="ru-RU" sz="2800" b="1" dirty="0"/>
            </a:br>
            <a:r>
              <a:rPr lang="ru-RU" sz="2800" b="1" dirty="0"/>
              <a:t>4. «Уровень массы зависит от сознания единиц». (Ф. Кафка)</a:t>
            </a:r>
            <a:br>
              <a:rPr lang="ru-RU" sz="2800" b="1" dirty="0"/>
            </a:br>
            <a:r>
              <a:rPr lang="ru-RU" sz="2800" b="1" dirty="0"/>
              <a:t>5. Может ли один человек изменить общество?</a:t>
            </a:r>
          </a:p>
          <a:p>
            <a:endParaRPr lang="ru-RU" dirty="0"/>
          </a:p>
        </p:txBody>
      </p:sp>
    </p:spTree>
    <p:extLst>
      <p:ext uri="{BB962C8B-B14F-4D97-AF65-F5344CB8AC3E}">
        <p14:creationId xmlns:p14="http://schemas.microsoft.com/office/powerpoint/2010/main" val="93783444"/>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fontAlgn="base"/>
            <a:r>
              <a:rPr lang="ru-RU" b="1" dirty="0"/>
              <a:t> «Человек для общества или общество для человека»?</a:t>
            </a:r>
          </a:p>
        </p:txBody>
      </p:sp>
      <p:sp>
        <p:nvSpPr>
          <p:cNvPr id="3" name="Объект 2"/>
          <p:cNvSpPr>
            <a:spLocks noGrp="1"/>
          </p:cNvSpPr>
          <p:nvPr>
            <p:ph idx="1"/>
          </p:nvPr>
        </p:nvSpPr>
        <p:spPr/>
        <p:txBody>
          <a:bodyPr>
            <a:normAutofit fontScale="92500" lnSpcReduction="10000"/>
          </a:bodyPr>
          <a:lstStyle/>
          <a:p>
            <a:pPr fontAlgn="base"/>
            <a:r>
              <a:rPr lang="ru-RU" dirty="0"/>
              <a:t>Человек становится человеком только в обществе. Нельзя обрести мышление и речь, то есть то, что отличает нас от животных, не находясь в обществе себе подобных. Но и социум состоит из совокупности отдельных людей. Мыслящая личность время от времени задаётся вопросом, который звучит примерно так: «Человек для общества или общество для человека»?</a:t>
            </a:r>
          </a:p>
          <a:p>
            <a:pPr fontAlgn="base"/>
            <a:r>
              <a:rPr lang="ru-RU" dirty="0"/>
              <a:t>На первый взгляд, всё просто. Конечно, человек для общества, потому что оно обладает более серьёзными рычагами влияния на отдельного индивида, чем он на общество. Естественно, это благо, когда надо обезвредить преступника, но часто под социальный пресс попадают яркие прогрессивные личности</a:t>
            </a:r>
            <a:r>
              <a:rPr lang="ru-RU" dirty="0" smtClean="0"/>
              <a:t>.</a:t>
            </a:r>
            <a:endParaRPr lang="ru-RU" dirty="0"/>
          </a:p>
        </p:txBody>
      </p:sp>
    </p:spTree>
    <p:extLst>
      <p:ext uri="{BB962C8B-B14F-4D97-AF65-F5344CB8AC3E}">
        <p14:creationId xmlns:p14="http://schemas.microsoft.com/office/powerpoint/2010/main" val="49430202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«Человек для общества или общество для человека»?</a:t>
            </a:r>
            <a:endParaRPr lang="ru-RU" dirty="0"/>
          </a:p>
        </p:txBody>
      </p:sp>
      <p:sp>
        <p:nvSpPr>
          <p:cNvPr id="3" name="Объект 2"/>
          <p:cNvSpPr>
            <a:spLocks noGrp="1"/>
          </p:cNvSpPr>
          <p:nvPr>
            <p:ph idx="1"/>
          </p:nvPr>
        </p:nvSpPr>
        <p:spPr/>
        <p:txBody>
          <a:bodyPr>
            <a:normAutofit fontScale="85000" lnSpcReduction="10000"/>
          </a:bodyPr>
          <a:lstStyle/>
          <a:p>
            <a:r>
              <a:rPr lang="ru-RU" dirty="0"/>
              <a:t>В литературе есть примеры столкновения личности и большинства, и часто этот конфликт заканчивался поражением героя. И неважно, насколько передовые взгляды у человека: если общество не готово воспринять новые идеи, оно будет «выдавливать» из своих рядов инакомыслящего. Сразу вспоминается главный герой комедии </a:t>
            </a:r>
            <a:r>
              <a:rPr lang="ru-RU" i="1" u="sng" dirty="0">
                <a:hlinkClick r:id="rId2"/>
              </a:rPr>
              <a:t>«Горе от ума»</a:t>
            </a:r>
            <a:r>
              <a:rPr lang="ru-RU" dirty="0"/>
              <a:t>  А.С. Грибоедова. Чацкий, получивший образование заграницей, обличает пороки </a:t>
            </a:r>
            <a:r>
              <a:rPr lang="ru-RU" dirty="0" err="1"/>
              <a:t>фамусовского</a:t>
            </a:r>
            <a:r>
              <a:rPr lang="ru-RU" dirty="0"/>
              <a:t> общества: чинопочитание, </a:t>
            </a:r>
            <a:r>
              <a:rPr lang="ru-RU" dirty="0" err="1" smtClean="0"/>
              <a:t>взятоничество</a:t>
            </a:r>
            <a:r>
              <a:rPr lang="ru-RU" dirty="0"/>
              <a:t>, невежество. Понятно, что делает он это резко, с юношеской горячностью, но Александр Андреевич смело бросает некрасивую правду представителям «века минувшего» в лицо. Ответ не заставил себя ждать: пылкого обличителя объявляют сумасшедшим. Это трагическая история о том, когда человек, пытавшийся показать обществу дорогу к лучшему его обустройству, оказался за непробиваемой стеной непонимания.</a:t>
            </a:r>
          </a:p>
        </p:txBody>
      </p:sp>
    </p:spTree>
    <p:extLst>
      <p:ext uri="{BB962C8B-B14F-4D97-AF65-F5344CB8AC3E}">
        <p14:creationId xmlns:p14="http://schemas.microsoft.com/office/powerpoint/2010/main" val="326985425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«Человек для общества или общество для человека»?</a:t>
            </a:r>
            <a:endParaRPr lang="ru-RU" dirty="0"/>
          </a:p>
        </p:txBody>
      </p:sp>
      <p:sp>
        <p:nvSpPr>
          <p:cNvPr id="3" name="Объект 2"/>
          <p:cNvSpPr>
            <a:spLocks noGrp="1"/>
          </p:cNvSpPr>
          <p:nvPr>
            <p:ph idx="1"/>
          </p:nvPr>
        </p:nvSpPr>
        <p:spPr/>
        <p:txBody>
          <a:bodyPr>
            <a:normAutofit fontScale="85000" lnSpcReduction="20000"/>
          </a:bodyPr>
          <a:lstStyle/>
          <a:p>
            <a:r>
              <a:rPr lang="ru-RU" dirty="0"/>
              <a:t>Правда, в мировой истории есть случаи, когда отдельная личность помогает сделать обществу огромный скачок в развитии. Майклу Фарадею мы обязаны приручением электричества, жизнь без которого сейчас трудно представить. И.П. Павлову — созданием науки о высшей нервной деятельности. А.С. Пушкина мы помним и чтим, как основоположника современного русского языка и литературы. Примеры сильного влияния отдельной личности на общество в литературе тоже встречаются. Так, Сим из рассказа </a:t>
            </a:r>
            <a:r>
              <a:rPr lang="ru-RU" dirty="0" err="1"/>
              <a:t>Р.Брэдбери</a:t>
            </a:r>
            <a:r>
              <a:rPr lang="ru-RU" i="1" dirty="0"/>
              <a:t> «Лёд и пламя</a:t>
            </a:r>
            <a:r>
              <a:rPr lang="ru-RU" dirty="0"/>
              <a:t>» благодаря своему упорству и храбрости  спас людей от скорой смерти, приведя их к космическому кораблю. Герой мог бы вместе с другими членами племени тихо провести свою короткую восьмидневную жизнь, но он предпочёл посвятить её борьбе за спасение с адской планеты. Такие личности, как Сим, преодолевают недоверие общества и ведут людей за собой к лучшему будущему. Но не стоит забывать, что любой гений вырастает не в вакууме, а среди других людей, влияющих на него.</a:t>
            </a:r>
          </a:p>
        </p:txBody>
      </p:sp>
    </p:spTree>
    <p:extLst>
      <p:ext uri="{BB962C8B-B14F-4D97-AF65-F5344CB8AC3E}">
        <p14:creationId xmlns:p14="http://schemas.microsoft.com/office/powerpoint/2010/main" val="25185824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«Человек для общества или общество для человека»?</a:t>
            </a:r>
            <a:endParaRPr lang="ru-RU" dirty="0"/>
          </a:p>
        </p:txBody>
      </p:sp>
      <p:sp>
        <p:nvSpPr>
          <p:cNvPr id="3" name="Объект 2"/>
          <p:cNvSpPr>
            <a:spLocks noGrp="1"/>
          </p:cNvSpPr>
          <p:nvPr>
            <p:ph idx="1"/>
          </p:nvPr>
        </p:nvSpPr>
        <p:spPr/>
        <p:txBody>
          <a:bodyPr/>
          <a:lstStyle/>
          <a:p>
            <a:pPr fontAlgn="base"/>
            <a:r>
              <a:rPr lang="ru-RU" dirty="0"/>
              <a:t>По моему мнению, в философском уравнении «человек для общества» или «общество для человека» нужно поставить равенство, потому что любая личность нуждается в других людях,  а развитие социума зависит от вклада каждого здравомыслящего человека</a:t>
            </a:r>
            <a:r>
              <a:rPr lang="ru-RU" dirty="0" smtClean="0"/>
              <a:t>.</a:t>
            </a:r>
            <a:endParaRPr lang="ru-RU" dirty="0"/>
          </a:p>
          <a:p>
            <a:pPr fontAlgn="base"/>
            <a:r>
              <a:rPr lang="ru-RU" dirty="0"/>
              <a:t>(381 слово)</a:t>
            </a:r>
          </a:p>
          <a:p>
            <a:endParaRPr lang="ru-RU" dirty="0"/>
          </a:p>
        </p:txBody>
      </p:sp>
    </p:spTree>
    <p:extLst>
      <p:ext uri="{BB962C8B-B14F-4D97-AF65-F5344CB8AC3E}">
        <p14:creationId xmlns:p14="http://schemas.microsoft.com/office/powerpoint/2010/main" val="384052671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title"/>
          </p:nvPr>
        </p:nvSpPr>
        <p:spPr/>
        <p:txBody>
          <a:bodyPr/>
          <a:lstStyle/>
          <a:p>
            <a:r>
              <a:rPr lang="ru-RU" dirty="0" smtClean="0"/>
              <a:t>Методика оценивания: критерии 1-2</a:t>
            </a:r>
            <a:endParaRPr lang="ru-RU" dirty="0"/>
          </a:p>
        </p:txBody>
      </p:sp>
      <p:sp>
        <p:nvSpPr>
          <p:cNvPr id="5" name="Объект 4"/>
          <p:cNvSpPr>
            <a:spLocks noGrp="1"/>
          </p:cNvSpPr>
          <p:nvPr>
            <p:ph sz="half" idx="1"/>
          </p:nvPr>
        </p:nvSpPr>
        <p:spPr/>
        <p:txBody>
          <a:bodyPr>
            <a:noAutofit/>
          </a:bodyPr>
          <a:lstStyle/>
          <a:p>
            <a:pPr marL="0" indent="0" algn="just">
              <a:buNone/>
            </a:pPr>
            <a:r>
              <a:rPr lang="ru-RU" sz="1600" b="1" dirty="0"/>
              <a:t>Критерий № 1 «Соответствие теме</a:t>
            </a:r>
            <a:r>
              <a:rPr lang="ru-RU" sz="1600" b="1" dirty="0" smtClean="0"/>
              <a:t>»</a:t>
            </a:r>
          </a:p>
          <a:p>
            <a:pPr algn="just"/>
            <a:r>
              <a:rPr lang="ru-RU" sz="1600" dirty="0" smtClean="0"/>
              <a:t>Данный </a:t>
            </a:r>
            <a:r>
              <a:rPr lang="ru-RU" sz="1600" dirty="0"/>
              <a:t>критерий нацеливает на проверку содержания сочинения. Участник должен рассуждать на предложенную тему, выбрав путь ее раскрытия (например, отвечает на вопрос, поставленный в теме, или размышляет над предложенной проблемой, или строит высказывание на основе связанных с темой тезисов и т.п.). «Незачет» ставится только в случае, если сочинение не соответствует теме или в нем не прослеживается конкретной цели высказывания, т.е. коммуникативного замысла. Во всех остальных случаях выставляется «зачет</a:t>
            </a:r>
            <a:r>
              <a:rPr lang="ru-RU" sz="1600" dirty="0" smtClean="0"/>
              <a:t>».</a:t>
            </a:r>
            <a:endParaRPr lang="ru-RU" sz="1600" dirty="0"/>
          </a:p>
        </p:txBody>
      </p:sp>
      <p:sp>
        <p:nvSpPr>
          <p:cNvPr id="6" name="Объект 5"/>
          <p:cNvSpPr>
            <a:spLocks noGrp="1"/>
          </p:cNvSpPr>
          <p:nvPr>
            <p:ph sz="half" idx="2"/>
          </p:nvPr>
        </p:nvSpPr>
        <p:spPr/>
        <p:txBody>
          <a:bodyPr>
            <a:noAutofit/>
          </a:bodyPr>
          <a:lstStyle/>
          <a:p>
            <a:pPr marL="0" indent="0" algn="just">
              <a:buNone/>
            </a:pPr>
            <a:r>
              <a:rPr lang="ru-RU" sz="1400" b="1" dirty="0"/>
              <a:t>Критерий № 2 «</a:t>
            </a:r>
            <a:r>
              <a:rPr lang="ru-RU" sz="1400" b="1" dirty="0" smtClean="0"/>
              <a:t>Аргументация</a:t>
            </a:r>
          </a:p>
          <a:p>
            <a:pPr marL="0" indent="0" algn="just">
              <a:buNone/>
            </a:pPr>
            <a:r>
              <a:rPr lang="ru-RU" sz="1400" dirty="0" smtClean="0"/>
              <a:t>Привлечение </a:t>
            </a:r>
            <a:r>
              <a:rPr lang="ru-RU" sz="1400" dirty="0"/>
              <a:t>литературного материала» Данный критерий нацеливает на проверку умения использовать литературный материал (художественные произведения, дневники, мемуары, публицистику, произведения устного народного творчества (за исключением малых жанров), другие литературные источники) для построения рассуждения на предложенную тему и для аргументации своей позиции. Участник должен строить рассуждение, привлекая для аргументации не менее одного произведения отечественной или мировой литературы, избирая свой путь использования литературного материала; при этом он может показать разный уровень осмысления художественного текста: от элементов смыслового анализа (например, тематика, проблематика, сюжет, характеры и т.п.) до комплексного анализа произведения в единстве формы и содержания и его интерпретации в аспекте выбранной темы. «Незачет» ставится при том условии, что сочинение написано без привлечения литературного материала, или в нем существенно искажено содержание произведения, или литературные произведения лишь упоминаются в работе, не становясь опорой для рассуждения. Во всех остальных случаях выставляется «зачет</a:t>
            </a:r>
            <a:r>
              <a:rPr lang="ru-RU" sz="1400" dirty="0" smtClean="0"/>
              <a:t>».</a:t>
            </a:r>
            <a:endParaRPr lang="ru-RU" sz="1400" dirty="0"/>
          </a:p>
        </p:txBody>
      </p:sp>
    </p:spTree>
    <p:extLst>
      <p:ext uri="{BB962C8B-B14F-4D97-AF65-F5344CB8AC3E}">
        <p14:creationId xmlns:p14="http://schemas.microsoft.com/office/powerpoint/2010/main" val="244423838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Методика оценивания: </a:t>
            </a:r>
            <a:r>
              <a:rPr lang="ru-RU" dirty="0" smtClean="0"/>
              <a:t>критерии 3-5</a:t>
            </a:r>
            <a:endParaRPr lang="ru-RU" dirty="0"/>
          </a:p>
        </p:txBody>
      </p:sp>
      <p:sp>
        <p:nvSpPr>
          <p:cNvPr id="3" name="Объект 2"/>
          <p:cNvSpPr>
            <a:spLocks noGrp="1"/>
          </p:cNvSpPr>
          <p:nvPr>
            <p:ph sz="half" idx="1"/>
          </p:nvPr>
        </p:nvSpPr>
        <p:spPr/>
        <p:txBody>
          <a:bodyPr>
            <a:noAutofit/>
          </a:bodyPr>
          <a:lstStyle/>
          <a:p>
            <a:pPr marL="0" indent="0" algn="just">
              <a:buNone/>
            </a:pPr>
            <a:r>
              <a:rPr lang="ru-RU" sz="1800" dirty="0"/>
              <a:t>Критерий № 3 «Композиция и логика рассуждения» Данный критерий нацеливает на проверку умения логично выстраивать рассуждение на предложенную тему. Участник должен аргументировать высказанные мысли, стараясь выдерживать соотношение между тезисом и доказательствами. «Незачет» ставится при условии, если грубые логические нарушения мешают пониманию смысла сказанного или отсутствует </a:t>
            </a:r>
            <a:r>
              <a:rPr lang="ru-RU" sz="1800" dirty="0" err="1"/>
              <a:t>тезисно</a:t>
            </a:r>
            <a:r>
              <a:rPr lang="ru-RU" sz="1800" dirty="0"/>
              <a:t>-доказательная часть. Во всех остальных случаях выставляется «зачет». </a:t>
            </a:r>
          </a:p>
        </p:txBody>
      </p:sp>
      <p:sp>
        <p:nvSpPr>
          <p:cNvPr id="4" name="Объект 3"/>
          <p:cNvSpPr>
            <a:spLocks noGrp="1"/>
          </p:cNvSpPr>
          <p:nvPr>
            <p:ph sz="half" idx="2"/>
          </p:nvPr>
        </p:nvSpPr>
        <p:spPr/>
        <p:txBody>
          <a:bodyPr>
            <a:noAutofit/>
          </a:bodyPr>
          <a:lstStyle/>
          <a:p>
            <a:pPr marL="0" indent="0" algn="just">
              <a:spcBef>
                <a:spcPts val="0"/>
              </a:spcBef>
              <a:spcAft>
                <a:spcPts val="0"/>
              </a:spcAft>
              <a:buNone/>
            </a:pPr>
            <a:r>
              <a:rPr lang="ru-RU" sz="1600" dirty="0"/>
              <a:t>Критерий № 4 «Качество письменной речи» Данный критерий нацеливает на проверку речевого оформления текста сочинения. Участник должен точно выражать мысли, используя разнообразную лексику и различные грамматические конструкции, при необходимости уместно употреблять термины, избегать речевых штампов. «Незачет» ставится при условии, если низкое качество речи, в том числе речевые ошибки, существенно затрудняет понимание смысла сочинения. Во всех остальных случаях выставляется «зачет». </a:t>
            </a:r>
            <a:endParaRPr lang="ru-RU" sz="1600" dirty="0" smtClean="0"/>
          </a:p>
          <a:p>
            <a:pPr marL="0" indent="0" algn="just">
              <a:spcBef>
                <a:spcPts val="0"/>
              </a:spcBef>
              <a:spcAft>
                <a:spcPts val="0"/>
              </a:spcAft>
              <a:buNone/>
            </a:pPr>
            <a:r>
              <a:rPr lang="ru-RU" sz="1600" dirty="0" smtClean="0"/>
              <a:t>Критерий </a:t>
            </a:r>
            <a:r>
              <a:rPr lang="ru-RU" sz="1600" dirty="0"/>
              <a:t>№5 «Грамотность» Данный критерий позволяет оценить </a:t>
            </a:r>
            <a:r>
              <a:rPr lang="ru-RU" sz="1600" dirty="0" smtClean="0"/>
              <a:t>грамотность выпускника</a:t>
            </a:r>
            <a:r>
              <a:rPr lang="ru-RU" sz="1600" dirty="0"/>
              <a:t>. «Незачет» ставится, если грамматические, орфографические и пунктуационные ошибки, допущенные в сочинении, затрудняют чтение и понимание текста (в сумме более 5 ошибок на 100 слов</a:t>
            </a:r>
            <a:r>
              <a:rPr lang="ru-RU" sz="1600" dirty="0" smtClean="0"/>
              <a:t>).</a:t>
            </a:r>
            <a:endParaRPr lang="ru-RU" sz="1600" dirty="0"/>
          </a:p>
        </p:txBody>
      </p:sp>
    </p:spTree>
    <p:extLst>
      <p:ext uri="{BB962C8B-B14F-4D97-AF65-F5344CB8AC3E}">
        <p14:creationId xmlns:p14="http://schemas.microsoft.com/office/powerpoint/2010/main" val="250070908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i="1" dirty="0"/>
              <a:t>Рекомендации по написанию сочинения</a:t>
            </a:r>
            <a:r>
              <a:rPr lang="ru-RU" dirty="0"/>
              <a:t/>
            </a:r>
            <a:br>
              <a:rPr lang="ru-RU" dirty="0"/>
            </a:br>
            <a:endParaRPr lang="ru-RU" dirty="0"/>
          </a:p>
        </p:txBody>
      </p:sp>
      <p:sp>
        <p:nvSpPr>
          <p:cNvPr id="3" name="Объект 2"/>
          <p:cNvSpPr>
            <a:spLocks noGrp="1"/>
          </p:cNvSpPr>
          <p:nvPr>
            <p:ph idx="1"/>
          </p:nvPr>
        </p:nvSpPr>
        <p:spPr/>
        <p:txBody>
          <a:bodyPr>
            <a:normAutofit fontScale="92500" lnSpcReduction="10000"/>
          </a:bodyPr>
          <a:lstStyle/>
          <a:p>
            <a:r>
              <a:rPr lang="ru-RU" i="1" dirty="0" smtClean="0"/>
              <a:t>«Человек для общества или общество для человека – </a:t>
            </a:r>
            <a:r>
              <a:rPr lang="ru-RU" i="1" dirty="0"/>
              <a:t>одна из проблем художественной литературы</a:t>
            </a:r>
            <a:r>
              <a:rPr lang="ru-RU" i="1" dirty="0" smtClean="0"/>
              <a:t>»</a:t>
            </a:r>
            <a:endParaRPr lang="ru-RU" dirty="0"/>
          </a:p>
          <a:p>
            <a:r>
              <a:rPr lang="ru-RU" i="1" dirty="0" smtClean="0"/>
              <a:t>«Человек и общество — </a:t>
            </a:r>
            <a:r>
              <a:rPr lang="ru-RU" i="1" dirty="0"/>
              <a:t>две силы, </a:t>
            </a:r>
            <a:r>
              <a:rPr lang="ru-RU" i="1" dirty="0" smtClean="0"/>
              <a:t>нуждающиеся </a:t>
            </a:r>
            <a:r>
              <a:rPr lang="ru-RU" i="1" dirty="0"/>
              <a:t>друг в друге</a:t>
            </a:r>
            <a:r>
              <a:rPr lang="ru-RU" i="1" dirty="0" smtClean="0"/>
              <a:t>».</a:t>
            </a:r>
            <a:endParaRPr lang="ru-RU" dirty="0"/>
          </a:p>
          <a:p>
            <a:r>
              <a:rPr lang="ru-RU" dirty="0"/>
              <a:t>1.</a:t>
            </a:r>
            <a:r>
              <a:rPr lang="ru-RU" b="1" dirty="0"/>
              <a:t>Внимательно вдумайтесь в тему, поймите смысл каждого слова в ней.</a:t>
            </a:r>
            <a:endParaRPr lang="ru-RU" dirty="0"/>
          </a:p>
          <a:p>
            <a:r>
              <a:rPr lang="ru-RU" dirty="0" smtClean="0"/>
              <a:t>В </a:t>
            </a:r>
            <a:r>
              <a:rPr lang="ru-RU" dirty="0"/>
              <a:t>первой речь идёт об одной </a:t>
            </a:r>
            <a:r>
              <a:rPr lang="ru-RU" b="1" dirty="0"/>
              <a:t>из проблем в литературе</a:t>
            </a:r>
            <a:r>
              <a:rPr lang="ru-RU" dirty="0"/>
              <a:t>. Поэтому во вступлении это обязательно надо будет отметить.</a:t>
            </a:r>
          </a:p>
          <a:p>
            <a:r>
              <a:rPr lang="ru-RU" dirty="0"/>
              <a:t>Во второй — </a:t>
            </a:r>
            <a:r>
              <a:rPr lang="ru-RU" b="1" dirty="0"/>
              <a:t>слова «литература» нет вообще</a:t>
            </a:r>
            <a:r>
              <a:rPr lang="ru-RU" dirty="0"/>
              <a:t>. Поэтому аргументы будут лишь </a:t>
            </a:r>
            <a:r>
              <a:rPr lang="ru-RU" b="1" dirty="0"/>
              <a:t>средством раскрытия проблемы</a:t>
            </a:r>
            <a:r>
              <a:rPr lang="ru-RU" dirty="0"/>
              <a:t>, отражающейся в теме.</a:t>
            </a:r>
          </a:p>
          <a:p>
            <a:endParaRPr lang="ru-RU" dirty="0"/>
          </a:p>
        </p:txBody>
      </p:sp>
    </p:spTree>
    <p:extLst>
      <p:ext uri="{BB962C8B-B14F-4D97-AF65-F5344CB8AC3E}">
        <p14:creationId xmlns:p14="http://schemas.microsoft.com/office/powerpoint/2010/main" val="79290322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a:t>Вступление. Основные </a:t>
            </a:r>
            <a:r>
              <a:rPr lang="ru-RU" b="1" dirty="0" smtClean="0"/>
              <a:t>требования</a:t>
            </a:r>
            <a:endParaRPr lang="ru-RU" dirty="0"/>
          </a:p>
        </p:txBody>
      </p:sp>
      <p:sp>
        <p:nvSpPr>
          <p:cNvPr id="3" name="Объект 2"/>
          <p:cNvSpPr>
            <a:spLocks noGrp="1"/>
          </p:cNvSpPr>
          <p:nvPr>
            <p:ph idx="1"/>
          </p:nvPr>
        </p:nvSpPr>
        <p:spPr/>
        <p:txBody>
          <a:bodyPr>
            <a:normAutofit/>
          </a:bodyPr>
          <a:lstStyle/>
          <a:p>
            <a:r>
              <a:rPr lang="ru-RU" dirty="0" smtClean="0"/>
              <a:t>Во </a:t>
            </a:r>
            <a:r>
              <a:rPr lang="ru-RU" dirty="0"/>
              <a:t>вступлении необходимо показать , как вы поняли тему сочинения, </a:t>
            </a:r>
            <a:r>
              <a:rPr lang="ru-RU" b="1" dirty="0"/>
              <a:t>какова её проблема</a:t>
            </a:r>
            <a:r>
              <a:rPr lang="ru-RU" dirty="0"/>
              <a:t>, основная мысль</a:t>
            </a:r>
          </a:p>
          <a:p>
            <a:r>
              <a:rPr lang="ru-RU" dirty="0"/>
              <a:t>Обязательно сузьте тему </a:t>
            </a:r>
            <a:r>
              <a:rPr lang="ru-RU" b="1" dirty="0"/>
              <a:t>ВОПРОСАМИ</a:t>
            </a:r>
            <a:r>
              <a:rPr lang="ru-RU" dirty="0"/>
              <a:t>, на которые вы будете отвечать в сочинении</a:t>
            </a:r>
          </a:p>
          <a:p>
            <a:r>
              <a:rPr lang="ru-RU" dirty="0"/>
              <a:t>Запомните принцип написания вступления, который никогда вас не подведёт: </a:t>
            </a:r>
            <a:r>
              <a:rPr lang="ru-RU" b="1" dirty="0"/>
              <a:t>«От общего к частному».</a:t>
            </a:r>
            <a:r>
              <a:rPr lang="ru-RU" dirty="0"/>
              <a:t> Это значит, что начать рассуждать необходимо с общих мыслей, постепенно переходя к теме.</a:t>
            </a:r>
          </a:p>
          <a:p>
            <a:endParaRPr lang="ru-RU" dirty="0"/>
          </a:p>
        </p:txBody>
      </p:sp>
    </p:spTree>
    <p:extLst>
      <p:ext uri="{BB962C8B-B14F-4D97-AF65-F5344CB8AC3E}">
        <p14:creationId xmlns:p14="http://schemas.microsoft.com/office/powerpoint/2010/main" val="60051906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b="1" dirty="0"/>
              <a:t>Вступление к теме №</a:t>
            </a:r>
            <a:r>
              <a:rPr lang="ru-RU" b="1" dirty="0" smtClean="0"/>
              <a:t>1 и № 2</a:t>
            </a:r>
            <a:endParaRPr lang="ru-RU" dirty="0"/>
          </a:p>
        </p:txBody>
      </p:sp>
      <p:sp>
        <p:nvSpPr>
          <p:cNvPr id="3" name="Объект 2"/>
          <p:cNvSpPr>
            <a:spLocks noGrp="1"/>
          </p:cNvSpPr>
          <p:nvPr>
            <p:ph idx="1"/>
          </p:nvPr>
        </p:nvSpPr>
        <p:spPr/>
        <p:txBody>
          <a:bodyPr>
            <a:normAutofit/>
          </a:bodyPr>
          <a:lstStyle/>
          <a:p>
            <a:r>
              <a:rPr lang="ru-RU" dirty="0" smtClean="0"/>
              <a:t>Художественная </a:t>
            </a:r>
            <a:r>
              <a:rPr lang="ru-RU" dirty="0"/>
              <a:t>литература не случайно называется «учебником жизни». Много различных актуальных тем и проблем поднимают в ней авторы </a:t>
            </a:r>
            <a:r>
              <a:rPr lang="ru-RU" b="1" i="1" dirty="0"/>
              <a:t>(это общее)</a:t>
            </a:r>
            <a:r>
              <a:rPr lang="ru-RU" dirty="0"/>
              <a:t> .Одна из </a:t>
            </a:r>
            <a:r>
              <a:rPr lang="ru-RU" dirty="0" smtClean="0"/>
              <a:t>них - как влияют друг на друга человек и общество. </a:t>
            </a:r>
            <a:r>
              <a:rPr lang="ru-RU" dirty="0"/>
              <a:t> </a:t>
            </a:r>
            <a:r>
              <a:rPr lang="ru-RU" b="1" i="1" dirty="0"/>
              <a:t>( переход к частному). </a:t>
            </a:r>
            <a:r>
              <a:rPr lang="ru-RU" b="1" i="1" dirty="0" smtClean="0"/>
              <a:t> </a:t>
            </a:r>
            <a:r>
              <a:rPr lang="ru-RU" i="1" dirty="0" smtClean="0"/>
              <a:t>Человек для общества или общество для человека? </a:t>
            </a:r>
            <a:r>
              <a:rPr lang="ru-RU" dirty="0" smtClean="0"/>
              <a:t> </a:t>
            </a:r>
            <a:r>
              <a:rPr lang="ru-RU" dirty="0"/>
              <a:t>Рассмотрим на примерах,  как авторы освещают эту проблему, какой выбор делают их герои и почему (</a:t>
            </a:r>
            <a:r>
              <a:rPr lang="ru-RU" b="1" i="1" dirty="0"/>
              <a:t>ставим вопросы, которые определят круг ваших рассуждений</a:t>
            </a:r>
            <a:r>
              <a:rPr lang="ru-RU" dirty="0"/>
              <a:t>)</a:t>
            </a:r>
          </a:p>
          <a:p>
            <a:r>
              <a:rPr lang="ru-RU" b="1" dirty="0"/>
              <a:t>Всего  63 слова</a:t>
            </a:r>
            <a:r>
              <a:rPr lang="ru-RU" dirty="0"/>
              <a:t>.</a:t>
            </a:r>
          </a:p>
          <a:p>
            <a:endParaRPr lang="ru-RU" dirty="0"/>
          </a:p>
        </p:txBody>
      </p:sp>
    </p:spTree>
    <p:extLst>
      <p:ext uri="{BB962C8B-B14F-4D97-AF65-F5344CB8AC3E}">
        <p14:creationId xmlns:p14="http://schemas.microsoft.com/office/powerpoint/2010/main" val="358996323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Основная часть. Рекомендации</a:t>
            </a:r>
            <a:endParaRPr lang="ru-RU" dirty="0"/>
          </a:p>
        </p:txBody>
      </p:sp>
      <p:sp>
        <p:nvSpPr>
          <p:cNvPr id="3" name="Объект 2"/>
          <p:cNvSpPr>
            <a:spLocks noGrp="1"/>
          </p:cNvSpPr>
          <p:nvPr>
            <p:ph idx="1"/>
          </p:nvPr>
        </p:nvSpPr>
        <p:spPr/>
        <p:txBody>
          <a:bodyPr>
            <a:normAutofit fontScale="77500" lnSpcReduction="20000"/>
          </a:bodyPr>
          <a:lstStyle/>
          <a:p>
            <a:pPr algn="just">
              <a:spcBef>
                <a:spcPts val="0"/>
              </a:spcBef>
              <a:spcAft>
                <a:spcPts val="0"/>
              </a:spcAft>
            </a:pPr>
            <a:r>
              <a:rPr lang="ru-RU" dirty="0" smtClean="0"/>
              <a:t>В </a:t>
            </a:r>
            <a:r>
              <a:rPr lang="ru-RU" dirty="0"/>
              <a:t>основной части должно быть </a:t>
            </a:r>
            <a:r>
              <a:rPr lang="ru-RU" b="1" dirty="0"/>
              <a:t>два аргумента</a:t>
            </a:r>
            <a:r>
              <a:rPr lang="ru-RU" dirty="0"/>
              <a:t>. </a:t>
            </a:r>
            <a:endParaRPr lang="ru-RU" dirty="0" smtClean="0"/>
          </a:p>
          <a:p>
            <a:pPr algn="just">
              <a:spcBef>
                <a:spcPts val="0"/>
              </a:spcBef>
              <a:spcAft>
                <a:spcPts val="0"/>
              </a:spcAft>
            </a:pPr>
            <a:r>
              <a:rPr lang="ru-RU" dirty="0" smtClean="0"/>
              <a:t>Приводите </a:t>
            </a:r>
            <a:r>
              <a:rPr lang="ru-RU" dirty="0"/>
              <a:t>примеры, в которых </a:t>
            </a:r>
            <a:r>
              <a:rPr lang="ru-RU" dirty="0" smtClean="0"/>
              <a:t>показано, как человек влияет на общество и общество на человека. Постарайтесь </a:t>
            </a:r>
            <a:r>
              <a:rPr lang="ru-RU" dirty="0"/>
              <a:t>привести </a:t>
            </a:r>
            <a:r>
              <a:rPr lang="ru-RU" b="1" dirty="0"/>
              <a:t>примеры, разные</a:t>
            </a:r>
            <a:r>
              <a:rPr lang="ru-RU" dirty="0"/>
              <a:t> по своей сути. Например, в одном покажите , как </a:t>
            </a:r>
            <a:r>
              <a:rPr lang="ru-RU" dirty="0" smtClean="0"/>
              <a:t> герой влияет на общество, </a:t>
            </a:r>
            <a:r>
              <a:rPr lang="ru-RU" dirty="0"/>
              <a:t>а в </a:t>
            </a:r>
            <a:r>
              <a:rPr lang="ru-RU" dirty="0" smtClean="0"/>
              <a:t>другом- как общество влияет на человека.</a:t>
            </a:r>
            <a:endParaRPr lang="ru-RU" dirty="0"/>
          </a:p>
          <a:p>
            <a:pPr algn="just">
              <a:spcBef>
                <a:spcPts val="0"/>
              </a:spcBef>
              <a:spcAft>
                <a:spcPts val="0"/>
              </a:spcAft>
            </a:pPr>
            <a:r>
              <a:rPr lang="ru-RU" dirty="0"/>
              <a:t>Ни в коем случае </a:t>
            </a:r>
            <a:r>
              <a:rPr lang="ru-RU" b="1" dirty="0"/>
              <a:t>не переходите на пересказ содержания</a:t>
            </a:r>
            <a:r>
              <a:rPr lang="ru-RU" dirty="0"/>
              <a:t>. Приводите </a:t>
            </a:r>
            <a:r>
              <a:rPr lang="ru-RU" b="1" dirty="0"/>
              <a:t>только свои мысли</a:t>
            </a:r>
            <a:r>
              <a:rPr lang="ru-RU" dirty="0"/>
              <a:t> по поводу произведения.</a:t>
            </a:r>
          </a:p>
          <a:p>
            <a:pPr algn="just">
              <a:spcBef>
                <a:spcPts val="0"/>
              </a:spcBef>
              <a:spcAft>
                <a:spcPts val="0"/>
              </a:spcAft>
            </a:pPr>
            <a:r>
              <a:rPr lang="ru-RU" dirty="0"/>
              <a:t>Важным является ещё одно. Помните, </a:t>
            </a:r>
            <a:r>
              <a:rPr lang="ru-RU" b="1" dirty="0"/>
              <a:t>ваша задача </a:t>
            </a:r>
            <a:r>
              <a:rPr lang="ru-RU" dirty="0"/>
              <a:t>- это </a:t>
            </a:r>
            <a:r>
              <a:rPr lang="ru-RU" b="1" dirty="0"/>
              <a:t>не </a:t>
            </a:r>
            <a:r>
              <a:rPr lang="ru-RU" b="1" dirty="0" smtClean="0"/>
              <a:t>анализ произведения</a:t>
            </a:r>
            <a:r>
              <a:rPr lang="ru-RU" b="1" dirty="0"/>
              <a:t> </a:t>
            </a:r>
            <a:r>
              <a:rPr lang="ru-RU" dirty="0"/>
              <a:t>( вы не литературоведы, да и до вас многие учёные уже давно это сделали</a:t>
            </a:r>
            <a:r>
              <a:rPr lang="ru-RU" dirty="0" smtClean="0"/>
              <a:t>). Вы </a:t>
            </a:r>
            <a:r>
              <a:rPr lang="ru-RU" dirty="0"/>
              <a:t>должны </a:t>
            </a:r>
            <a:r>
              <a:rPr lang="ru-RU" b="1" dirty="0"/>
              <a:t>показать своё видение проблемы</a:t>
            </a:r>
            <a:r>
              <a:rPr lang="ru-RU" dirty="0"/>
              <a:t>, подтверждая это примерами из произведений. Чётко должна прослеживаться </a:t>
            </a:r>
            <a:r>
              <a:rPr lang="ru-RU" b="1" dirty="0"/>
              <a:t>ваша позиция</a:t>
            </a:r>
            <a:r>
              <a:rPr lang="ru-RU" dirty="0"/>
              <a:t>. Просто стороннее комментирование текста, где нет вашей оценки, — это тоже </a:t>
            </a:r>
            <a:r>
              <a:rPr lang="ru-RU" b="1" dirty="0"/>
              <a:t>самый худший вариант аргументирования проблемы</a:t>
            </a:r>
            <a:r>
              <a:rPr lang="ru-RU" dirty="0"/>
              <a:t>. В таких случаях я всегда спрашиваю своих учеников: «А где же здесь вы</a:t>
            </a:r>
            <a:r>
              <a:rPr lang="ru-RU" dirty="0" smtClean="0"/>
              <a:t>?»</a:t>
            </a:r>
            <a:endParaRPr lang="ru-RU" dirty="0"/>
          </a:p>
        </p:txBody>
      </p:sp>
    </p:spTree>
    <p:extLst>
      <p:ext uri="{BB962C8B-B14F-4D97-AF65-F5344CB8AC3E}">
        <p14:creationId xmlns:p14="http://schemas.microsoft.com/office/powerpoint/2010/main" val="80852436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i="1" dirty="0" smtClean="0"/>
              <a:t>Заключение</a:t>
            </a:r>
            <a:r>
              <a:rPr lang="ru-RU" b="1" i="1" dirty="0"/>
              <a:t>. Рекомендации</a:t>
            </a:r>
            <a:r>
              <a:rPr lang="ru-RU" dirty="0"/>
              <a:t/>
            </a:r>
            <a:br>
              <a:rPr lang="ru-RU" dirty="0"/>
            </a:br>
            <a:endParaRPr lang="ru-RU" dirty="0"/>
          </a:p>
        </p:txBody>
      </p:sp>
      <p:sp>
        <p:nvSpPr>
          <p:cNvPr id="3" name="Объект 2"/>
          <p:cNvSpPr>
            <a:spLocks noGrp="1"/>
          </p:cNvSpPr>
          <p:nvPr>
            <p:ph idx="1"/>
          </p:nvPr>
        </p:nvSpPr>
        <p:spPr/>
        <p:txBody>
          <a:bodyPr/>
          <a:lstStyle/>
          <a:p>
            <a:r>
              <a:rPr lang="ru-RU" dirty="0" smtClean="0"/>
              <a:t>В </a:t>
            </a:r>
            <a:r>
              <a:rPr lang="ru-RU" dirty="0"/>
              <a:t>заключении необходимо </a:t>
            </a:r>
            <a:r>
              <a:rPr lang="ru-RU" b="1" dirty="0"/>
              <a:t>подвести итоги </a:t>
            </a:r>
            <a:r>
              <a:rPr lang="ru-RU" dirty="0"/>
              <a:t>всему тому, что было сказано во вступлении: </a:t>
            </a:r>
            <a:r>
              <a:rPr lang="ru-RU" b="1" dirty="0"/>
              <a:t>ответить на поставленные вопросы, подытожить мысли по проблеме.</a:t>
            </a:r>
            <a:endParaRPr lang="ru-RU" dirty="0"/>
          </a:p>
          <a:p>
            <a:r>
              <a:rPr lang="ru-RU" dirty="0"/>
              <a:t>Здесь тоже важен принцип, но уже другой: « </a:t>
            </a:r>
            <a:r>
              <a:rPr lang="ru-RU" b="1" dirty="0"/>
              <a:t>от частного к общему».</a:t>
            </a:r>
            <a:endParaRPr lang="ru-RU" dirty="0"/>
          </a:p>
          <a:p>
            <a:r>
              <a:rPr lang="ru-RU" dirty="0"/>
              <a:t>Здесь обязательно </a:t>
            </a:r>
            <a:r>
              <a:rPr lang="ru-RU" b="1" dirty="0"/>
              <a:t>«должны быть вы», </a:t>
            </a:r>
            <a:r>
              <a:rPr lang="ru-RU" dirty="0"/>
              <a:t>то есть чётко должна звучать именно  ваша позиция.</a:t>
            </a:r>
          </a:p>
          <a:p>
            <a:endParaRPr lang="ru-RU" dirty="0"/>
          </a:p>
        </p:txBody>
      </p:sp>
    </p:spTree>
    <p:extLst>
      <p:ext uri="{BB962C8B-B14F-4D97-AF65-F5344CB8AC3E}">
        <p14:creationId xmlns:p14="http://schemas.microsoft.com/office/powerpoint/2010/main" val="315530488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Источники</a:t>
            </a:r>
            <a:endParaRPr lang="ru-RU" dirty="0"/>
          </a:p>
        </p:txBody>
      </p:sp>
      <p:sp>
        <p:nvSpPr>
          <p:cNvPr id="3" name="Объект 2"/>
          <p:cNvSpPr>
            <a:spLocks noGrp="1"/>
          </p:cNvSpPr>
          <p:nvPr>
            <p:ph idx="1"/>
          </p:nvPr>
        </p:nvSpPr>
        <p:spPr/>
        <p:txBody>
          <a:bodyPr/>
          <a:lstStyle/>
          <a:p>
            <a:r>
              <a:rPr lang="en-US" dirty="0">
                <a:hlinkClick r:id="rId2"/>
              </a:rPr>
              <a:t>http://</a:t>
            </a:r>
            <a:r>
              <a:rPr lang="en-US" dirty="0" smtClean="0">
                <a:hlinkClick r:id="rId2"/>
              </a:rPr>
              <a:t>fipi.ru/ege-i-gve-11/itogovoe-sochinenie</a:t>
            </a:r>
            <a:endParaRPr lang="ru-RU" dirty="0" smtClean="0"/>
          </a:p>
          <a:p>
            <a:r>
              <a:rPr lang="ru-RU" dirty="0" smtClean="0">
                <a:solidFill>
                  <a:prstClr val="black">
                    <a:lumMod val="85000"/>
                    <a:lumOff val="15000"/>
                  </a:prstClr>
                </a:solidFill>
              </a:rPr>
              <a:t> </a:t>
            </a:r>
            <a:r>
              <a:rPr lang="ru-RU" dirty="0">
                <a:solidFill>
                  <a:prstClr val="black">
                    <a:lumMod val="85000"/>
                    <a:lumOff val="15000"/>
                  </a:prstClr>
                </a:solidFill>
                <a:hlinkClick r:id="rId3"/>
              </a:rPr>
              <a:t>http://rustutors.ru/vernost-izmena.html</a:t>
            </a:r>
            <a:r>
              <a:rPr lang="ru-RU" dirty="0">
                <a:solidFill>
                  <a:prstClr val="black">
                    <a:lumMod val="85000"/>
                    <a:lumOff val="15000"/>
                  </a:prstClr>
                </a:solidFill>
              </a:rPr>
              <a:t/>
            </a:r>
            <a:br>
              <a:rPr lang="ru-RU" dirty="0">
                <a:solidFill>
                  <a:prstClr val="black">
                    <a:lumMod val="85000"/>
                    <a:lumOff val="15000"/>
                  </a:prstClr>
                </a:solidFill>
              </a:rPr>
            </a:br>
            <a:endParaRPr lang="ru-RU" dirty="0" smtClean="0"/>
          </a:p>
          <a:p>
            <a:endParaRPr lang="ru-RU" dirty="0"/>
          </a:p>
        </p:txBody>
      </p:sp>
    </p:spTree>
    <p:extLst>
      <p:ext uri="{BB962C8B-B14F-4D97-AF65-F5344CB8AC3E}">
        <p14:creationId xmlns:p14="http://schemas.microsoft.com/office/powerpoint/2010/main" val="427498446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Натуральные материалы">
  <a:themeElements>
    <a:clrScheme name="Натуральные материалы">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Натуральные материалы">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Натуральные материалы">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xmlns=""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272</TotalTime>
  <Words>6199</Words>
  <Application>Microsoft Office PowerPoint</Application>
  <PresentationFormat>Произвольный</PresentationFormat>
  <Paragraphs>450</Paragraphs>
  <Slides>108</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108</vt:i4>
      </vt:variant>
    </vt:vector>
  </HeadingPairs>
  <TitlesOfParts>
    <vt:vector size="109" baseType="lpstr">
      <vt:lpstr>Натуральные материалы</vt:lpstr>
      <vt:lpstr>Итоговое сочинение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Требования к классическому выпускному сочинению</vt:lpstr>
      <vt:lpstr>Презентация PowerPoint</vt:lpstr>
      <vt:lpstr>   Сочинение — вид письменной школьной работы — изложение своих мыслей, знаний на заданную тему.  С. И. Ожегов  </vt:lpstr>
      <vt:lpstr>Сочинение — это знание текста, мысли и грамотность.  </vt:lpstr>
      <vt:lpstr>Если вы желаете себе несокрушимого памятника, вложите в свою душу хорошую книгу.  П. Буаст</vt:lpstr>
      <vt:lpstr> Кто ясно мыслит, тот ясно излагает… А. Шопенгауэр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 направления тем итогового сочинения на 2017/18 учебный год:</vt:lpstr>
      <vt:lpstr>«Верность и измена» </vt:lpstr>
      <vt:lpstr>Примеры произведений по данному направлению</vt:lpstr>
      <vt:lpstr>Примеры произведений по данному направлению</vt:lpstr>
      <vt:lpstr>Расшифровка понятия</vt:lpstr>
      <vt:lpstr>Верность и измена в любви: аргументы («Евгений Онегин»)</vt:lpstr>
      <vt:lpstr>Верность и измена в любви: аргументы («Гроза»)</vt:lpstr>
      <vt:lpstr>Верность и измена в любви: аргументы («Темные аллеи»)</vt:lpstr>
      <vt:lpstr>Вывод</vt:lpstr>
      <vt:lpstr>Верность и измена идеалам, принципам: аргументы («Горе от ума»)</vt:lpstr>
      <vt:lpstr>Верность и измена идеалам, принципам: аргументы («Горе от ума»)</vt:lpstr>
      <vt:lpstr>Верность и измена идеалам, принципам: аргументы («Капитанская дочка»)</vt:lpstr>
      <vt:lpstr>Верность и измена идеалам, принципам: аргументы («Капитанская дочка»)</vt:lpstr>
      <vt:lpstr>Вывод</vt:lpstr>
      <vt:lpstr>Верность и измена Родине, народу: аргументы («Севастопольские рассказы»)</vt:lpstr>
      <vt:lpstr>Верность и измена Родине, народу: аргументы («Судьба человека»)</vt:lpstr>
      <vt:lpstr>Верность и измена Родине, народу: аргументы («Сотников»)</vt:lpstr>
      <vt:lpstr>Вывод</vt:lpstr>
      <vt:lpstr>Примерные темы</vt:lpstr>
      <vt:lpstr>«Равнодушие и отзывчивость»</vt:lpstr>
      <vt:lpstr>Методический конструктор: лексическое значение слова «равнодушие»</vt:lpstr>
      <vt:lpstr>Методический конструктор: мысли великих людей о равнодушии</vt:lpstr>
      <vt:lpstr>Методический конструктор: лексическое значение слова «отзывчивость»</vt:lpstr>
      <vt:lpstr>Методический конструктор: мысли великих людей об отзывчивости</vt:lpstr>
      <vt:lpstr>Примеры произведений по данному направлению</vt:lpstr>
      <vt:lpstr>Примеры произведений по данному направлению</vt:lpstr>
      <vt:lpstr>Примерные темы</vt:lpstr>
      <vt:lpstr>Аргументы: «Преступление и наказание»</vt:lpstr>
      <vt:lpstr>Аргументы: «Война и мир»</vt:lpstr>
      <vt:lpstr>Аргументы: «Вишневый сад»</vt:lpstr>
      <vt:lpstr>Аргументы: «Дети подземелья»</vt:lpstr>
      <vt:lpstr>Аргументы: «На дне»</vt:lpstr>
      <vt:lpstr>Вывод</vt:lpstr>
      <vt:lpstr>Отзывчивость ближних-это зачастую лучший психолог или психиатр(Л.Виилма): вступление </vt:lpstr>
      <vt:lpstr>Отзывчивость ближних-это зачастую лучший психолог или психиатр(Л.Виилма): основная часть, первый тезис и первый литературный аргумент </vt:lpstr>
      <vt:lpstr>Отзывчивость ближних-это зачастую лучший психолог или психиатр(Л.Виилма): основная часть, второй тезис и второй литературный аргумент</vt:lpstr>
      <vt:lpstr>Отзывчивость ближних-это зачастую лучший психолог или психиатр(Л.Виилма): заключение </vt:lpstr>
      <vt:lpstr>«Цели и средства» </vt:lpstr>
      <vt:lpstr>Толкование понятий: цель</vt:lpstr>
      <vt:lpstr>Толкование понятий: средства</vt:lpstr>
      <vt:lpstr>Человек должен ставить цели, стремится к их достижению. Но необходимо чётко продумывать каждый шаг по пути к ней, взвешивая свои поступки, слова, думая не только о себе, но и о людях, живущих рядом. Всегда необходимо стремиться оставаться личностью</vt:lpstr>
      <vt:lpstr>Примеры произведений по данному направлению</vt:lpstr>
      <vt:lpstr>Примеры произведений по данному направлению</vt:lpstr>
      <vt:lpstr>Примерные темы</vt:lpstr>
      <vt:lpstr>Цель оправдывает средства («Горе от ума»)</vt:lpstr>
      <vt:lpstr>Цель оправдывает средства</vt:lpstr>
      <vt:lpstr>Цель оправдывает средства</vt:lpstr>
      <vt:lpstr>Цель оправдывает средства («Мертвые души»</vt:lpstr>
      <vt:lpstr>Цель оправдывает средства («Мертвые души»</vt:lpstr>
      <vt:lpstr>Цель оправдывает средства («Мертвые души»</vt:lpstr>
      <vt:lpstr>Цель оправдывает средства («Преступление и наказание»)</vt:lpstr>
      <vt:lpstr>Цель оправдывает средства («Преступление и наказание»)</vt:lpstr>
      <vt:lpstr>Цель оправдывает средства («Война и мир»)</vt:lpstr>
      <vt:lpstr>Цель оправдывает средства («Война и мир»)</vt:lpstr>
      <vt:lpstr>Цель оправдывает средства («Война и мир»)</vt:lpstr>
      <vt:lpstr>Цель оправдывает средства («Прощание с Матерой»)</vt:lpstr>
      <vt:lpstr>Цель оправдывает средства («Прощание с Матерой»)</vt:lpstr>
      <vt:lpstr>Вывод</vt:lpstr>
      <vt:lpstr>«Смелость и трусость» </vt:lpstr>
      <vt:lpstr>Толкование понятий: смелость</vt:lpstr>
      <vt:lpstr>Толкование понятий: трусость</vt:lpstr>
      <vt:lpstr>Сочинение по направлению «Смелость и трусость»</vt:lpstr>
      <vt:lpstr>Примеры произведений по данному направлению</vt:lpstr>
      <vt:lpstr>Примеры произведений по данному направлению</vt:lpstr>
      <vt:lpstr>Примерные темы</vt:lpstr>
      <vt:lpstr>Пример итогового сочинения 2017-2018: «Как отличить трусость от благоразумия, а смелость от безрассудства? </vt:lpstr>
      <vt:lpstr>Пример итогового сочинения 2017-2018: «Как отличить трусость от благоразумия, а смелость от безрассудства?</vt:lpstr>
      <vt:lpstr>Пример итогового сочинения 2017-2018: «Как отличить трусость от благоразумия, а смелость от безрассудства?</vt:lpstr>
      <vt:lpstr>Пример итогового сочинения 2017-2018: «Как отличить трусость от благоразумия, а смелость от безрассудства?</vt:lpstr>
      <vt:lpstr>«Человек и общество» </vt:lpstr>
      <vt:lpstr>Примеры произведений по данному направлению</vt:lpstr>
      <vt:lpstr>Примеры произведений по данному направлению</vt:lpstr>
      <vt:lpstr>Примерные темы</vt:lpstr>
      <vt:lpstr> «Человек для общества или общество для человека»?</vt:lpstr>
      <vt:lpstr>«Человек для общества или общество для человека»?</vt:lpstr>
      <vt:lpstr>«Человек для общества или общество для человека»?</vt:lpstr>
      <vt:lpstr>«Человек для общества или общество для человека»?</vt:lpstr>
      <vt:lpstr>Методика оценивания: критерии 1-2</vt:lpstr>
      <vt:lpstr>Методика оценивания: критерии 3-5</vt:lpstr>
      <vt:lpstr>Рекомендации по написанию сочинения </vt:lpstr>
      <vt:lpstr>Вступление. Основные требования</vt:lpstr>
      <vt:lpstr>Вступление к теме №1 и № 2</vt:lpstr>
      <vt:lpstr>Основная часть. Рекомендации</vt:lpstr>
      <vt:lpstr>Заключение. Рекомендации </vt:lpstr>
      <vt:lpstr>Источники</vt:lpstr>
    </vt:vector>
  </TitlesOfParts>
  <Company>SPecialiST RePack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Итоговое сочинение</dc:title>
  <dc:creator>Пользователь</dc:creator>
  <cp:lastModifiedBy>PAE</cp:lastModifiedBy>
  <cp:revision>32</cp:revision>
  <dcterms:created xsi:type="dcterms:W3CDTF">2017-09-02T07:59:35Z</dcterms:created>
  <dcterms:modified xsi:type="dcterms:W3CDTF">2017-09-26T07:49:31Z</dcterms:modified>
</cp:coreProperties>
</file>