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Программа повышения квалификации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«Введение в искусственный интеллект:</a:t>
            </a:r>
            <a:br/>
            <a:r>
              <a:t>методика преподавания для учителей-предметников»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CCEE"/>
                </a:solidFill>
              </a:defRPr>
            </a:pPr>
            <a:r>
              <a:t>36 часов • Очно-заочная с ДОТ • Все предметники 5–9 классов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</a:defRPr>
            </a:pPr>
            <a:r>
              <a:t>Структура программы (36 ч)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474720" cy="2103120"/>
          </a:xfrm>
          <a:prstGeom prst="rect">
            <a:avLst/>
          </a:prstGeom>
          <a:solidFill>
            <a:srgbClr val="F0F0F0"/>
          </a:solidFill>
          <a:ln w="1270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C6E"/>
                </a:solidFill>
              </a:defRPr>
            </a:pPr>
            <a:r>
              <a:t>Модуль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Основы ИИ</a:t>
            </a:r>
            <a:br/>
            <a:r>
              <a:t>и контекст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7CBD"/>
                </a:solidFill>
              </a:defRPr>
            </a:pPr>
            <a:r>
              <a:t>6 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2Л + 3П + 1С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3474720" cy="2103120"/>
          </a:xfrm>
          <a:prstGeom prst="rect">
            <a:avLst/>
          </a:prstGeom>
          <a:solidFill>
            <a:srgbClr val="F0F0F0"/>
          </a:solidFill>
          <a:ln w="1270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C6E"/>
                </a:solidFill>
              </a:defRPr>
            </a:pPr>
            <a:r>
              <a:t>Модуль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УМК «Введение</a:t>
            </a:r>
            <a:br/>
            <a:r>
              <a:t>в ИИ»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517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7CBD"/>
                </a:solidFill>
              </a:defRPr>
            </a:pPr>
            <a:r>
              <a:t>6 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0175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2Л + 3П + 1С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371600"/>
            <a:ext cx="3474720" cy="2103120"/>
          </a:xfrm>
          <a:prstGeom prst="rect">
            <a:avLst/>
          </a:prstGeom>
          <a:solidFill>
            <a:srgbClr val="F0F0F0"/>
          </a:solidFill>
          <a:ln w="1270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9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C6E"/>
                </a:solidFill>
              </a:defRPr>
            </a:pPr>
            <a:r>
              <a:t>Модуль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18288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Инструменты ИИ</a:t>
            </a:r>
            <a:br/>
            <a:r>
              <a:t>в работе учителя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26517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7CBD"/>
                </a:solidFill>
              </a:defRPr>
            </a:pPr>
            <a:r>
              <a:t>8 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0175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2Л + 4П + 2С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31920"/>
            <a:ext cx="3474720" cy="2103120"/>
          </a:xfrm>
          <a:prstGeom prst="rect">
            <a:avLst/>
          </a:prstGeom>
          <a:solidFill>
            <a:srgbClr val="F0F0F0"/>
          </a:solidFill>
          <a:ln w="1270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233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C6E"/>
                </a:solidFill>
              </a:defRPr>
            </a:pPr>
            <a:r>
              <a:t>Модуль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3891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Методика для</a:t>
            </a:r>
            <a:br/>
            <a:r>
              <a:t>разных предметов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1207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7CBD"/>
                </a:solidFill>
              </a:defRPr>
            </a:pPr>
            <a:r>
              <a:t>8 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77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2Л + 4П + 2С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3931920"/>
            <a:ext cx="3474720" cy="2103120"/>
          </a:xfrm>
          <a:prstGeom prst="rect">
            <a:avLst/>
          </a:prstGeom>
          <a:solidFill>
            <a:srgbClr val="F0F0F0"/>
          </a:solidFill>
          <a:ln w="1270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40233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C6E"/>
                </a:solidFill>
              </a:defRPr>
            </a:pPr>
            <a:r>
              <a:t>Модуль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3891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Проектирование</a:t>
            </a:r>
            <a:br/>
            <a:r>
              <a:t>и AI-аудит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21207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7CBD"/>
                </a:solidFill>
              </a:defRPr>
            </a:pPr>
            <a:r>
              <a:t>6 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577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1Л + 4П + 1С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3931920"/>
            <a:ext cx="3474720" cy="2103120"/>
          </a:xfrm>
          <a:prstGeom prst="rect">
            <a:avLst/>
          </a:prstGeom>
          <a:solidFill>
            <a:srgbClr val="E8F0FE"/>
          </a:solidFill>
          <a:ln w="1270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19" y="40233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C6E"/>
                </a:solidFill>
              </a:defRPr>
            </a:pPr>
            <a:r>
              <a:t>Аттестация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19" y="43891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Тест +</a:t>
            </a:r>
            <a:br/>
            <a:r>
              <a:t>защита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21207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7CBD"/>
                </a:solidFill>
              </a:defRPr>
            </a:pPr>
            <a:r>
              <a:t>2 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19" y="5577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2П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Сквозная линия: AI-аудит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011680" cy="3200400"/>
          </a:xfrm>
          <a:prstGeom prst="rect">
            <a:avLst/>
          </a:prstGeom>
          <a:solidFill>
            <a:srgbClr val="244D8A"/>
          </a:solidFill>
          <a:ln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7CBD"/>
                </a:solidFill>
              </a:defRPr>
            </a:pPr>
            <a:r>
              <a:t>Модуль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5П-аудит понимания ИИ</a:t>
            </a:r>
            <a:br/>
            <a:r>
              <a:t>+ проверка с 3 ролей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CCEE"/>
                </a:solidFill>
              </a:defRPr>
            </a:pPr>
            <a:r>
              <a:t>Знакомство с моделью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3840480"/>
            <a:ext cx="274320" cy="274320"/>
          </a:xfrm>
          <a:prstGeom prst="round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4640" y="1371600"/>
            <a:ext cx="2011680" cy="3200400"/>
          </a:xfrm>
          <a:prstGeom prst="rect">
            <a:avLst/>
          </a:prstGeom>
          <a:solidFill>
            <a:srgbClr val="244D8A"/>
          </a:solidFill>
          <a:ln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7CBD"/>
                </a:solidFill>
              </a:defRPr>
            </a:pPr>
            <a:r>
              <a:t>Модуль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82880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Аудит КТП</a:t>
            </a:r>
            <a:br/>
            <a:r>
              <a:t>на интеграцию 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CCEE"/>
                </a:solidFill>
              </a:defRPr>
            </a:pPr>
            <a:r>
              <a:t>Применение к планам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3840480"/>
            <a:ext cx="274320" cy="274320"/>
          </a:xfrm>
          <a:prstGeom prst="round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12080" y="1371600"/>
            <a:ext cx="2011680" cy="3200400"/>
          </a:xfrm>
          <a:prstGeom prst="rect">
            <a:avLst/>
          </a:prstGeom>
          <a:solidFill>
            <a:srgbClr val="244D8A"/>
          </a:solidFill>
          <a:ln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7CBD"/>
                </a:solidFill>
              </a:defRPr>
            </a:pPr>
            <a:r>
              <a:t>Модуль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82880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Совет экспертов (5 ролей)</a:t>
            </a:r>
            <a:br/>
            <a:r>
              <a:t>+ факты/выводы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CCEE"/>
                </a:solidFill>
              </a:defRPr>
            </a:pPr>
            <a:r>
              <a:t>Методический инструмент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0" y="3840480"/>
            <a:ext cx="274320" cy="274320"/>
          </a:xfrm>
          <a:prstGeom prst="round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1371600"/>
            <a:ext cx="2011680" cy="3200400"/>
          </a:xfrm>
          <a:prstGeom prst="rect">
            <a:avLst/>
          </a:prstGeom>
          <a:solidFill>
            <a:srgbClr val="244D8A"/>
          </a:solidFill>
          <a:ln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7CBD"/>
                </a:solidFill>
              </a:defRPr>
            </a:pPr>
            <a:r>
              <a:t>Модуль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182880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Аудит уроков</a:t>
            </a:r>
            <a:br/>
            <a:r>
              <a:t>по предметам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CCEE"/>
                </a:solidFill>
              </a:defRPr>
            </a:pPr>
            <a:r>
              <a:t>Предметная адаптация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3840480"/>
            <a:ext cx="274320" cy="274320"/>
          </a:xfrm>
          <a:prstGeom prst="round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966960" y="1371600"/>
            <a:ext cx="2011680" cy="3200400"/>
          </a:xfrm>
          <a:prstGeom prst="rect">
            <a:avLst/>
          </a:prstGeom>
          <a:solidFill>
            <a:srgbClr val="244D8A"/>
          </a:solidFill>
          <a:ln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7CBD"/>
                </a:solidFill>
              </a:defRPr>
            </a:pPr>
            <a:r>
              <a:t>Модуль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182880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Полный цикл:</a:t>
            </a:r>
            <a:br/>
            <a:r>
              <a:t>5 шагов аудита → доработка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CCEE"/>
                </a:solidFill>
              </a:defRPr>
            </a:pPr>
            <a:r>
              <a:t>Кульминация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</a:defRPr>
            </a:pPr>
            <a:r>
              <a:t>Ключевые цифры программы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1645920"/>
          </a:xfrm>
          <a:prstGeom prst="rect">
            <a:avLst/>
          </a:prstGeom>
          <a:solidFill>
            <a:srgbClr val="F0F0F0"/>
          </a:solidFill>
          <a:ln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3C6E"/>
                </a:solidFill>
              </a:defRPr>
            </a:pPr>
            <a: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часов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645920"/>
            <a:ext cx="2743200" cy="1645920"/>
          </a:xfrm>
          <a:prstGeom prst="rect">
            <a:avLst/>
          </a:prstGeom>
          <a:solidFill>
            <a:srgbClr val="F0F0F0"/>
          </a:solidFill>
          <a:ln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828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3C6E"/>
                </a:solidFill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часов практики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645920"/>
            <a:ext cx="2743200" cy="1645920"/>
          </a:xfrm>
          <a:prstGeom prst="rect">
            <a:avLst/>
          </a:prstGeom>
          <a:solidFill>
            <a:srgbClr val="F0F0F0"/>
          </a:solidFill>
          <a:ln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828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3C6E"/>
                </a:solidFill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модулей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931920"/>
            <a:ext cx="2743200" cy="1645920"/>
          </a:xfrm>
          <a:prstGeom prst="rect">
            <a:avLst/>
          </a:prstGeom>
          <a:solidFill>
            <a:srgbClr val="F0F0F0"/>
          </a:solidFill>
          <a:ln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114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3C6E"/>
                </a:solidFill>
              </a:defRPr>
            </a:pPr>
            <a:r>
              <a:t>10+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46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промптов для AI-аудита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931920"/>
            <a:ext cx="2743200" cy="1645920"/>
          </a:xfrm>
          <a:prstGeom prst="rect">
            <a:avLst/>
          </a:prstGeom>
          <a:solidFill>
            <a:srgbClr val="F0F0F0"/>
          </a:solidFill>
          <a:ln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4114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3C6E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846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предметных треков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3931920"/>
            <a:ext cx="2743200" cy="1645920"/>
          </a:xfrm>
          <a:prstGeom prst="rect">
            <a:avLst/>
          </a:prstGeom>
          <a:solidFill>
            <a:srgbClr val="F0F0F0"/>
          </a:solidFill>
          <a:ln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4114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3C6E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846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ролей для проверки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Для кого эта программа?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474720" cy="2011680"/>
          </a:xfrm>
          <a:prstGeom prst="rect">
            <a:avLst/>
          </a:prstGeom>
          <a:solidFill>
            <a:srgbClr val="244D8A"/>
          </a:solidFill>
          <a:ln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Информатика</a:t>
            </a:r>
            <a:br/>
            <a:r>
              <a:t>и технология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CCEE"/>
                </a:solidFill>
              </a:defRPr>
            </a:pPr>
            <a:r>
              <a:t>Прямая интеграция</a:t>
            </a:r>
            <a:br/>
            <a:r>
              <a:t>модулей ИИ в КТП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71600"/>
            <a:ext cx="3474720" cy="2011680"/>
          </a:xfrm>
          <a:prstGeom prst="rect">
            <a:avLst/>
          </a:prstGeom>
          <a:solidFill>
            <a:srgbClr val="244D8A"/>
          </a:solidFill>
          <a:ln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Естественно-научный</a:t>
            </a:r>
            <a:br/>
            <a:r>
              <a:t>цикл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4688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CCEE"/>
                </a:solidFill>
              </a:defRPr>
            </a:pPr>
            <a:r>
              <a:t>ИИ как инструмент</a:t>
            </a:r>
            <a:br/>
            <a:r>
              <a:t>исследования и анализа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1371600"/>
            <a:ext cx="3474720" cy="2011680"/>
          </a:xfrm>
          <a:prstGeom prst="rect">
            <a:avLst/>
          </a:prstGeom>
          <a:solidFill>
            <a:srgbClr val="244D8A"/>
          </a:solidFill>
          <a:ln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19" y="15544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Гуманитарный</a:t>
            </a:r>
            <a:br/>
            <a:r>
              <a:t>цикл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4688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CCEE"/>
                </a:solidFill>
              </a:defRPr>
            </a:pPr>
            <a:r>
              <a:t>Этика ИИ, генерация</a:t>
            </a:r>
            <a:br/>
            <a:r>
              <a:t>текста, авторство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3474720" cy="2011680"/>
          </a:xfrm>
          <a:prstGeom prst="rect">
            <a:avLst/>
          </a:prstGeom>
          <a:solidFill>
            <a:srgbClr val="244D8A"/>
          </a:solidFill>
          <a:ln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Математика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292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CCEE"/>
                </a:solidFill>
              </a:defRPr>
            </a:pPr>
            <a:r>
              <a:t>Данные, машинное</a:t>
            </a:r>
            <a:br/>
            <a:r>
              <a:t>обучение, статистика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931920"/>
            <a:ext cx="3474720" cy="2011680"/>
          </a:xfrm>
          <a:prstGeom prst="rect">
            <a:avLst/>
          </a:prstGeom>
          <a:solidFill>
            <a:srgbClr val="244D8A"/>
          </a:solidFill>
          <a:ln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41148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Начальная</a:t>
            </a:r>
            <a:br/>
            <a:r>
              <a:t>школа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0292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CCEE"/>
                </a:solidFill>
              </a:defRPr>
            </a:pPr>
            <a:r>
              <a:t>Базовые представления</a:t>
            </a:r>
            <a:br/>
            <a:r>
              <a:t>об ИИ и технологиях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3931920"/>
            <a:ext cx="3474720" cy="2011680"/>
          </a:xfrm>
          <a:prstGeom prst="rect">
            <a:avLst/>
          </a:prstGeom>
          <a:solidFill>
            <a:srgbClr val="244D8A"/>
          </a:solidFill>
          <a:ln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19" y="41148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Завуч /</a:t>
            </a:r>
            <a:br/>
            <a:r>
              <a:t>методист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50292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CCEE"/>
                </a:solidFill>
              </a:defRPr>
            </a:pPr>
            <a:r>
              <a:t>Проектирование</a:t>
            </a:r>
            <a:br/>
            <a:r>
              <a:t>КПК и контроль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</a:defRPr>
            </a:pPr>
            <a:r>
              <a:t>Модель AI-аудита: 5П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201168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3C6E"/>
                </a:solidFill>
              </a:defRPr>
            </a:pPr>
            <a:r>
              <a:t>Понятность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Что неясно?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A7CBD"/>
                </a:solidFill>
              </a:defRPr>
            </a:pPr>
            <a:r>
              <a:t>Шаг 1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828800"/>
            <a:ext cx="2011680" cy="2011680"/>
          </a:xfrm>
          <a:prstGeom prst="rect">
            <a:avLst/>
          </a:prstGeom>
          <a:solidFill>
            <a:srgbClr val="E8F0FE"/>
          </a:solidFill>
          <a:ln w="1270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3C6E"/>
                </a:solidFill>
              </a:defRPr>
            </a:pPr>
            <a:r>
              <a:t>Полнота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743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Чего не хватает?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920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A7CBD"/>
                </a:solidFill>
              </a:defRPr>
            </a:pPr>
            <a:r>
              <a:t>Шаг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1828800"/>
            <a:ext cx="201168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3C6E"/>
                </a:solidFill>
              </a:defRPr>
            </a:pPr>
            <a:r>
              <a:t>Противоречия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743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Где логика</a:t>
            </a:r>
            <a:br/>
            <a:r>
              <a:t>ломается?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920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A7CBD"/>
                </a:solidFill>
              </a:defRPr>
            </a:pPr>
            <a:r>
              <a:t>Шаг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1828800"/>
            <a:ext cx="2011680" cy="2011680"/>
          </a:xfrm>
          <a:prstGeom prst="rect">
            <a:avLst/>
          </a:prstGeom>
          <a:solidFill>
            <a:srgbClr val="E8F0FE"/>
          </a:solidFill>
          <a:ln w="1270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3C6E"/>
                </a:solidFill>
              </a:defRPr>
            </a:pPr>
            <a:r>
              <a:t>Проблемы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743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Что может пойти</a:t>
            </a:r>
            <a:br/>
            <a:r>
              <a:t>не так?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920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A7CBD"/>
                </a:solidFill>
              </a:defRPr>
            </a:pPr>
            <a:r>
              <a:t>Шаг 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66960" y="1828800"/>
            <a:ext cx="201168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3C6E"/>
                </a:solidFill>
              </a:defRPr>
            </a:pPr>
            <a:r>
              <a:t>Предложения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2743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Как исправить?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1920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A7CBD"/>
                </a:solidFill>
              </a:defRPr>
            </a:pPr>
            <a:r>
              <a:t>Шаг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</a:defRPr>
            </a:pPr>
            <a:r>
              <a:t>Формула промпта: Роль → Материал → Критерии (5П) → Формат → Ограничение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«Совет экспертов» — 5 ролей для проверки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2011680" cy="2286000"/>
          </a:xfrm>
          <a:prstGeom prst="rect">
            <a:avLst/>
          </a:prstGeom>
          <a:solidFill>
            <a:srgbClr val="244D8A"/>
          </a:solidFill>
          <a:ln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👤 Ученик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CCEE"/>
                </a:solidFill>
              </a:defRPr>
            </a:pPr>
            <a:r>
              <a:t>Что непонятно?</a:t>
            </a:r>
            <a:br/>
            <a:r>
              <a:t>Где скучно?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1828800"/>
            <a:ext cx="2011680" cy="2286000"/>
          </a:xfrm>
          <a:prstGeom prst="rect">
            <a:avLst/>
          </a:prstGeom>
          <a:solidFill>
            <a:srgbClr val="244D8A"/>
          </a:solidFill>
          <a:ln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📋 Завуч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743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CCEE"/>
                </a:solidFill>
              </a:defRPr>
            </a:pPr>
            <a:r>
              <a:t>Результаты?</a:t>
            </a:r>
            <a:br/>
            <a:r>
              <a:t>Ресурсы?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1828800"/>
            <a:ext cx="2011680" cy="2286000"/>
          </a:xfrm>
          <a:prstGeom prst="rect">
            <a:avLst/>
          </a:prstGeom>
          <a:solidFill>
            <a:srgbClr val="244D8A"/>
          </a:solidFill>
          <a:ln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❓ Новичок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743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CCEE"/>
                </a:solidFill>
              </a:defRPr>
            </a:pPr>
            <a:r>
              <a:t>Какие шаги</a:t>
            </a:r>
            <a:br/>
            <a:r>
              <a:t>пропущены?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828800"/>
            <a:ext cx="2011680" cy="2286000"/>
          </a:xfrm>
          <a:prstGeom prst="rect">
            <a:avLst/>
          </a:prstGeom>
          <a:solidFill>
            <a:srgbClr val="244D8A"/>
          </a:solidFill>
          <a:ln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⚠ Скептик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743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CCEE"/>
                </a:solidFill>
              </a:defRPr>
            </a:pPr>
            <a:r>
              <a:t>Почему не</a:t>
            </a:r>
            <a:br/>
            <a:r>
              <a:t>сработает?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66960" y="1828800"/>
            <a:ext cx="2011680" cy="2286000"/>
          </a:xfrm>
          <a:prstGeom prst="rect">
            <a:avLst/>
          </a:prstGeom>
          <a:solidFill>
            <a:srgbClr val="244D8A"/>
          </a:solidFill>
          <a:ln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✏ Редактор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743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CCEE"/>
                </a:solidFill>
              </a:defRPr>
            </a:pPr>
            <a:r>
              <a:t>Где вода</a:t>
            </a:r>
            <a:br/>
            <a:r>
              <a:t>и штампы?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CCEE"/>
                </a:solidFill>
              </a:defRPr>
            </a:pPr>
            <a:r>
              <a:t>Один материал — 5 точек зрения. Сначала диагностика, потом улучшение.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Итог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CCEE"/>
                </a:solidFill>
              </a:defRPr>
            </a:pPr>
            <a:r>
              <a:t>Программа КПК содержит готовые промпты</a:t>
            </a:r>
            <a:br/>
            <a:r>
              <a:t>для каждого модуля и формирует навык AI-аудита</a:t>
            </a:r>
            <a:br/>
            <a:r>
              <a:t>как регулярную практику учителя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Сначала диагностика → Потом улучшение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